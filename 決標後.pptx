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1264" r:id="rId2"/>
    <p:sldId id="1293" r:id="rId3"/>
    <p:sldId id="1294" r:id="rId4"/>
    <p:sldId id="1289" r:id="rId5"/>
    <p:sldId id="1296" r:id="rId6"/>
    <p:sldId id="1297" r:id="rId7"/>
    <p:sldId id="1298" r:id="rId8"/>
    <p:sldId id="1299" r:id="rId9"/>
    <p:sldId id="1300" r:id="rId10"/>
    <p:sldId id="1301" r:id="rId11"/>
    <p:sldId id="1302" r:id="rId12"/>
    <p:sldId id="1303" r:id="rId13"/>
    <p:sldId id="1304" r:id="rId14"/>
    <p:sldId id="1305" r:id="rId15"/>
    <p:sldId id="1306" r:id="rId16"/>
    <p:sldId id="1307" r:id="rId17"/>
    <p:sldId id="1308" r:id="rId18"/>
    <p:sldId id="1309" r:id="rId19"/>
    <p:sldId id="1295" r:id="rId20"/>
    <p:sldId id="1292" r:id="rId21"/>
    <p:sldId id="1092" r:id="rId22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264"/>
            <p14:sldId id="1293"/>
            <p14:sldId id="1294"/>
            <p14:sldId id="1289"/>
            <p14:sldId id="1296"/>
            <p14:sldId id="1297"/>
            <p14:sldId id="1298"/>
            <p14:sldId id="1299"/>
            <p14:sldId id="1300"/>
            <p14:sldId id="1301"/>
            <p14:sldId id="1302"/>
            <p14:sldId id="1303"/>
            <p14:sldId id="1304"/>
            <p14:sldId id="1305"/>
            <p14:sldId id="1306"/>
            <p14:sldId id="1307"/>
            <p14:sldId id="1308"/>
            <p14:sldId id="1309"/>
            <p14:sldId id="1295"/>
            <p14:sldId id="1292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  <p:cmAuthor id="6" name="劉 約成" initials="劉" lastIdx="2" clrIdx="5">
    <p:extLst>
      <p:ext uri="{19B8F6BF-5375-455C-9EA6-DF929625EA0E}">
        <p15:presenceInfo xmlns:p15="http://schemas.microsoft.com/office/powerpoint/2012/main" userId="8a2f789c1194b5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6D9A"/>
    <a:srgbClr val="FF3D7A"/>
    <a:srgbClr val="FFC1D4"/>
    <a:srgbClr val="FFF2CC"/>
    <a:srgbClr val="F47131"/>
    <a:srgbClr val="343536"/>
    <a:srgbClr val="FF9999"/>
    <a:srgbClr val="FD7777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1" autoAdjust="0"/>
    <p:restoredTop sz="92043" autoAdjust="0"/>
  </p:normalViewPr>
  <p:slideViewPr>
    <p:cSldViewPr snapToGrid="0">
      <p:cViewPr varScale="1">
        <p:scale>
          <a:sx n="92" d="100"/>
          <a:sy n="92" d="100"/>
        </p:scale>
        <p:origin x="696" y="-628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609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r>
              <a:rPr lang="en-US" altLang="zh-TW" dirty="0"/>
              <a:t>S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9765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219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1478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6832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90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9747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381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919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564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9900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456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64555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97455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0710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5624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593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43453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03341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163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3520C00C-01CE-4655-9312-AD0E6B9A7DED}"/>
              </a:ext>
            </a:extLst>
          </p:cNvPr>
          <p:cNvGrpSpPr/>
          <p:nvPr/>
        </p:nvGrpSpPr>
        <p:grpSpPr>
          <a:xfrm>
            <a:off x="2422088" y="2039589"/>
            <a:ext cx="12482441" cy="1107996"/>
            <a:chOff x="2825712" y="1467601"/>
            <a:chExt cx="7840000" cy="1107996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6033369C-8ACD-4F00-880A-AAF0AFAD759D}"/>
                </a:ext>
              </a:extLst>
            </p:cNvPr>
            <p:cNvSpPr txBox="1"/>
            <p:nvPr/>
          </p:nvSpPr>
          <p:spPr>
            <a:xfrm>
              <a:off x="2825712" y="1513767"/>
              <a:ext cx="97321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6000" b="1" dirty="0">
                  <a:effectLst>
                    <a:outerShdw dist="38100" dir="120000" sx="108000" sy="108000" algn="tl" rotWithShape="0">
                      <a:srgbClr val="FF6F3C"/>
                    </a:outerShdw>
                  </a:effectLst>
                  <a:cs typeface="+mn-ea"/>
                  <a:sym typeface="+mn-lt"/>
                </a:rPr>
                <a:t>02</a:t>
              </a:r>
              <a:endParaRPr lang="zh-TW" altLang="en-US" sz="6000" b="1" dirty="0">
                <a:effectLst>
                  <a:outerShdw dist="38100" dir="120000" sx="108000" sy="108000" algn="tl" rotWithShape="0">
                    <a:srgbClr val="FF6F3C"/>
                  </a:outerShdw>
                </a:effectLst>
                <a:cs typeface="+mn-ea"/>
                <a:sym typeface="+mn-lt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62250469-7D63-474A-B25E-529B67A3AA3D}"/>
                </a:ext>
              </a:extLst>
            </p:cNvPr>
            <p:cNvSpPr txBox="1"/>
            <p:nvPr/>
          </p:nvSpPr>
          <p:spPr>
            <a:xfrm>
              <a:off x="3894650" y="1467601"/>
              <a:ext cx="6771062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6600" b="1" spc="600" dirty="0">
                  <a:cs typeface="+mn-ea"/>
                  <a:sym typeface="+mn-lt"/>
                </a:rPr>
                <a:t>標題 </a:t>
              </a:r>
              <a:r>
                <a:rPr lang="en-US" altLang="zh-TW" sz="4400" b="1" spc="600" dirty="0">
                  <a:cs typeface="+mn-ea"/>
                  <a:sym typeface="+mn-lt"/>
                </a:rPr>
                <a:t>(</a:t>
              </a:r>
              <a:r>
                <a:rPr lang="zh-TW" altLang="en-US" sz="4400" b="1" spc="600" dirty="0">
                  <a:cs typeface="+mn-ea"/>
                  <a:sym typeface="+mn-lt"/>
                </a:rPr>
                <a:t>決標後模組</a:t>
              </a:r>
              <a:r>
                <a:rPr lang="en-US" altLang="zh-TW" sz="4400" b="1" spc="600" dirty="0">
                  <a:cs typeface="+mn-ea"/>
                  <a:sym typeface="+mn-lt"/>
                </a:rPr>
                <a:t>)</a:t>
              </a:r>
              <a:endParaRPr lang="zh-TW" altLang="en-US" sz="6600" b="1" spc="600" dirty="0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14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純上傳文件流程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63318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3" y="1476375"/>
            <a:ext cx="6170720" cy="462804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3092784" y="4459730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/>
          <p:cNvSpPr txBox="1"/>
          <p:nvPr/>
        </p:nvSpPr>
        <p:spPr>
          <a:xfrm>
            <a:off x="6606466" y="1671081"/>
            <a:ext cx="509177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選擇文件類型並點擊新增文件按鈕以上傳文件</a:t>
            </a:r>
          </a:p>
        </p:txBody>
      </p:sp>
      <p:sp>
        <p:nvSpPr>
          <p:cNvPr id="35" name="矩形 34"/>
          <p:cNvSpPr/>
          <p:nvPr/>
        </p:nvSpPr>
        <p:spPr>
          <a:xfrm>
            <a:off x="2460733" y="396462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/>
          <p:cNvCxnSpPr>
            <a:stCxn id="26" idx="3"/>
          </p:cNvCxnSpPr>
          <p:nvPr/>
        </p:nvCxnSpPr>
        <p:spPr>
          <a:xfrm>
            <a:off x="3711390" y="4603271"/>
            <a:ext cx="8337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肘形接點 41"/>
          <p:cNvCxnSpPr>
            <a:stCxn id="35" idx="3"/>
          </p:cNvCxnSpPr>
          <p:nvPr/>
        </p:nvCxnSpPr>
        <p:spPr>
          <a:xfrm>
            <a:off x="4329953" y="4095941"/>
            <a:ext cx="201706" cy="507330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/>
          <p:cNvSpPr/>
          <p:nvPr/>
        </p:nvSpPr>
        <p:spPr>
          <a:xfrm>
            <a:off x="564776" y="5235388"/>
            <a:ext cx="2299448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8" name="直線接點 47"/>
          <p:cNvCxnSpPr>
            <a:cxnSpLocks/>
            <a:stCxn id="46" idx="3"/>
          </p:cNvCxnSpPr>
          <p:nvPr/>
        </p:nvCxnSpPr>
        <p:spPr>
          <a:xfrm>
            <a:off x="2864224" y="5398994"/>
            <a:ext cx="369532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/>
          <p:cNvSpPr txBox="1"/>
          <p:nvPr/>
        </p:nvSpPr>
        <p:spPr>
          <a:xfrm>
            <a:off x="6620347" y="2282866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54" name="矩形 53"/>
          <p:cNvSpPr/>
          <p:nvPr/>
        </p:nvSpPr>
        <p:spPr>
          <a:xfrm>
            <a:off x="380999" y="5775007"/>
            <a:ext cx="6133054" cy="3272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0" name="肘形接點 59"/>
          <p:cNvCxnSpPr>
            <a:cxnSpLocks/>
            <a:stCxn id="54" idx="3"/>
            <a:endCxn id="51" idx="1"/>
          </p:cNvCxnSpPr>
          <p:nvPr/>
        </p:nvCxnSpPr>
        <p:spPr>
          <a:xfrm flipV="1">
            <a:off x="6514053" y="2467532"/>
            <a:ext cx="106294" cy="347108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F89D145-F36C-4384-AED9-60371C4F2CFF}"/>
              </a:ext>
            </a:extLst>
          </p:cNvPr>
          <p:cNvSpPr txBox="1"/>
          <p:nvPr/>
        </p:nvSpPr>
        <p:spPr>
          <a:xfrm>
            <a:off x="7165286" y="3132559"/>
            <a:ext cx="4881369" cy="2826306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以下功能為相同操作方式：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A5.1 </a:t>
            </a:r>
            <a:r>
              <a:rPr lang="zh-TW" altLang="en-US" sz="2000" b="1" dirty="0">
                <a:cs typeface="+mn-ea"/>
                <a:sym typeface="+mn-lt"/>
              </a:rPr>
              <a:t>刊登決標公告及通知投標廠商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A5.2 </a:t>
            </a:r>
            <a:r>
              <a:rPr lang="zh-TW" altLang="en-US" sz="2000" b="1" dirty="0">
                <a:cs typeface="+mn-ea"/>
                <a:sym typeface="+mn-lt"/>
              </a:rPr>
              <a:t>核對資格文件正本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A6.1 </a:t>
            </a:r>
            <a:r>
              <a:rPr lang="zh-TW" altLang="en-US" sz="2000" b="1" dirty="0">
                <a:cs typeface="+mn-ea"/>
                <a:sym typeface="+mn-lt"/>
              </a:rPr>
              <a:t>採購文件紙本編目成冊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A6.2 </a:t>
            </a:r>
            <a:r>
              <a:rPr lang="zh-TW" altLang="en-US" sz="2000" b="1" dirty="0">
                <a:cs typeface="+mn-ea"/>
                <a:sym typeface="+mn-lt"/>
              </a:rPr>
              <a:t>招標文件、契約文件及錄影畫面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          </a:t>
            </a:r>
            <a:r>
              <a:rPr lang="zh-TW" altLang="en-US" sz="2000" b="1" dirty="0">
                <a:cs typeface="+mn-ea"/>
                <a:sym typeface="+mn-lt"/>
              </a:rPr>
              <a:t>電子存檔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A6.3 </a:t>
            </a:r>
            <a:r>
              <a:rPr lang="zh-TW" altLang="en-US" sz="2000" b="1" dirty="0">
                <a:cs typeface="+mn-ea"/>
                <a:sym typeface="+mn-lt"/>
              </a:rPr>
              <a:t>簽報歸檔作業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A6.4 </a:t>
            </a:r>
            <a:r>
              <a:rPr lang="zh-TW" altLang="en-US" sz="2000" b="1" dirty="0">
                <a:cs typeface="+mn-ea"/>
                <a:sym typeface="+mn-lt"/>
              </a:rPr>
              <a:t>上傳工程契約書及圖說電子檔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 flipH="1">
            <a:off x="1297278" y="2232618"/>
            <a:ext cx="4300496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20659F6-BF57-476D-9E3C-F855CD029EA2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6274676" y="1855747"/>
            <a:ext cx="33179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4F51EBC-4050-4932-B984-DDBB6D495930}"/>
              </a:ext>
            </a:extLst>
          </p:cNvPr>
          <p:cNvCxnSpPr>
            <a:cxnSpLocks/>
          </p:cNvCxnSpPr>
          <p:nvPr/>
        </p:nvCxnSpPr>
        <p:spPr>
          <a:xfrm>
            <a:off x="6274676" y="1855747"/>
            <a:ext cx="0" cy="25357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3986B839-6B69-4579-AE16-5F9B7E7310BB}"/>
              </a:ext>
            </a:extLst>
          </p:cNvPr>
          <p:cNvCxnSpPr>
            <a:cxnSpLocks/>
          </p:cNvCxnSpPr>
          <p:nvPr/>
        </p:nvCxnSpPr>
        <p:spPr>
          <a:xfrm flipH="1">
            <a:off x="4497454" y="4391472"/>
            <a:ext cx="177722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4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1C16EEAF-5FDE-483F-8913-7D33CEDF8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47" y="1564161"/>
            <a:ext cx="5553401" cy="237721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文件上傳操作說明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文件上傳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2533428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片 9">
            <a:extLst>
              <a:ext uri="{FF2B5EF4-FFF2-40B4-BE49-F238E27FC236}">
                <a16:creationId xmlns:a16="http://schemas.microsoft.com/office/drawing/2014/main" id="{09B91760-73CB-4CC4-9E30-3A1AC62D6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9881" y="2184817"/>
            <a:ext cx="5780779" cy="3513124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02D1887D-F48C-46F9-BAC0-590617BE2C3E}"/>
              </a:ext>
            </a:extLst>
          </p:cNvPr>
          <p:cNvSpPr/>
          <p:nvPr/>
        </p:nvSpPr>
        <p:spPr>
          <a:xfrm>
            <a:off x="2541974" y="3429000"/>
            <a:ext cx="926439" cy="42829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E8362EBA-5FDA-4CA3-B983-FA12786EDAE9}"/>
              </a:ext>
            </a:extLst>
          </p:cNvPr>
          <p:cNvCxnSpPr>
            <a:stCxn id="20" idx="3"/>
          </p:cNvCxnSpPr>
          <p:nvPr/>
        </p:nvCxnSpPr>
        <p:spPr>
          <a:xfrm flipV="1">
            <a:off x="3468413" y="3643148"/>
            <a:ext cx="1702677" cy="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語音泡泡: 圓角矩形 15">
            <a:extLst>
              <a:ext uri="{FF2B5EF4-FFF2-40B4-BE49-F238E27FC236}">
                <a16:creationId xmlns:a16="http://schemas.microsoft.com/office/drawing/2014/main" id="{5E9FEA2F-F6A8-4BB5-99FC-C700AACD668B}"/>
              </a:ext>
            </a:extLst>
          </p:cNvPr>
          <p:cNvSpPr/>
          <p:nvPr/>
        </p:nvSpPr>
        <p:spPr>
          <a:xfrm flipH="1">
            <a:off x="688699" y="4681314"/>
            <a:ext cx="4676895" cy="630621"/>
          </a:xfrm>
          <a:prstGeom prst="wedgeRoundRectCallout">
            <a:avLst>
              <a:gd name="adj1" fmla="val -93633"/>
              <a:gd name="adj2" fmla="val -8575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</a:rPr>
              <a:t>於彈出的檔案總管視窗內選取欲上傳文件</a:t>
            </a:r>
            <a:endParaRPr lang="en-US" altLang="zh-TW" dirty="0">
              <a:solidFill>
                <a:schemeClr val="tx1"/>
              </a:solidFill>
            </a:endParaRPr>
          </a:p>
          <a:p>
            <a:pPr algn="ctr"/>
            <a:r>
              <a:rPr lang="en-US" altLang="zh-TW" dirty="0">
                <a:solidFill>
                  <a:schemeClr val="tx1"/>
                </a:solidFill>
              </a:rPr>
              <a:t>(</a:t>
            </a:r>
            <a:r>
              <a:rPr lang="zh-TW" altLang="en-US" dirty="0">
                <a:solidFill>
                  <a:schemeClr val="tx1"/>
                </a:solidFill>
              </a:rPr>
              <a:t>上傳文件支援多選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57AFC4-D1DA-4826-81E9-8EE354B05D9B}"/>
              </a:ext>
            </a:extLst>
          </p:cNvPr>
          <p:cNvSpPr/>
          <p:nvPr/>
        </p:nvSpPr>
        <p:spPr>
          <a:xfrm>
            <a:off x="6489338" y="3643148"/>
            <a:ext cx="2507517" cy="7186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CB8D278-7A94-444C-898C-2226A870788E}"/>
              </a:ext>
            </a:extLst>
          </p:cNvPr>
          <p:cNvSpPr txBox="1"/>
          <p:nvPr/>
        </p:nvSpPr>
        <p:spPr>
          <a:xfrm>
            <a:off x="494195" y="3458482"/>
            <a:ext cx="156966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b="1" dirty="0"/>
              <a:t>點擊新增文件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BB73B996-CECF-45DA-A69D-826C11EA79D3}"/>
              </a:ext>
            </a:extLst>
          </p:cNvPr>
          <p:cNvCxnSpPr>
            <a:stCxn id="44" idx="3"/>
            <a:endCxn id="20" idx="1"/>
          </p:cNvCxnSpPr>
          <p:nvPr/>
        </p:nvCxnSpPr>
        <p:spPr>
          <a:xfrm>
            <a:off x="2063855" y="3643148"/>
            <a:ext cx="47811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585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742A72CF-7331-4703-8107-11E6E61FA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10" y="1584428"/>
            <a:ext cx="9438923" cy="407643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設定保證金額。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ED99307-D06F-4A06-BAA8-A25E303426F6}"/>
              </a:ext>
            </a:extLst>
          </p:cNvPr>
          <p:cNvSpPr txBox="1"/>
          <p:nvPr/>
        </p:nvSpPr>
        <p:spPr>
          <a:xfrm>
            <a:off x="9942333" y="3622647"/>
            <a:ext cx="16146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設定保證金額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E8F130-E107-4F6C-A90A-EE666FDD80CE}"/>
              </a:ext>
            </a:extLst>
          </p:cNvPr>
          <p:cNvSpPr/>
          <p:nvPr/>
        </p:nvSpPr>
        <p:spPr>
          <a:xfrm>
            <a:off x="3581400" y="3522133"/>
            <a:ext cx="5833533" cy="609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CF171CA0-EDD7-480E-B0D9-8D60A3953096}"/>
              </a:ext>
            </a:extLst>
          </p:cNvPr>
          <p:cNvCxnSpPr>
            <a:stCxn id="21" idx="1"/>
          </p:cNvCxnSpPr>
          <p:nvPr/>
        </p:nvCxnSpPr>
        <p:spPr>
          <a:xfrm flipH="1">
            <a:off x="9414933" y="3807313"/>
            <a:ext cx="527400" cy="26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46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312E9E19-A213-478D-A60C-67B9004F7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684069"/>
            <a:ext cx="8612414" cy="295566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44C82D55-31A8-4335-89DF-F48C3065B21C}"/>
              </a:ext>
            </a:extLst>
          </p:cNvPr>
          <p:cNvSpPr txBox="1"/>
          <p:nvPr/>
        </p:nvSpPr>
        <p:spPr>
          <a:xfrm>
            <a:off x="8717037" y="3982682"/>
            <a:ext cx="156996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設定減收類型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61E94A-FA5D-4EC1-A533-6BFDE3735E28}"/>
              </a:ext>
            </a:extLst>
          </p:cNvPr>
          <p:cNvSpPr/>
          <p:nvPr/>
        </p:nvSpPr>
        <p:spPr>
          <a:xfrm>
            <a:off x="3141134" y="3912805"/>
            <a:ext cx="2497666" cy="5090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60AD05B-6BAA-47F7-9409-E92B00401758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5638800" y="4167348"/>
            <a:ext cx="307823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351983" y="3121523"/>
            <a:ext cx="4165483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帶入使用者輸入之保證金額</a:t>
            </a:r>
            <a:r>
              <a:rPr lang="en-US" altLang="zh-TW" sz="1400" b="1" dirty="0">
                <a:cs typeface="+mn-ea"/>
                <a:sym typeface="+mn-lt"/>
              </a:rPr>
              <a:t>(</a:t>
            </a:r>
            <a:r>
              <a:rPr lang="en-US" altLang="zh-TW" sz="1400" b="1" dirty="0">
                <a:cs typeface="+mn-ea"/>
                <a:sym typeface="+mn-lt"/>
                <a:hlinkClick r:id="rId4" action="ppaction://hlinksldjump"/>
              </a:rPr>
              <a:t>P.4</a:t>
            </a:r>
            <a:r>
              <a:rPr lang="en-US" altLang="zh-TW" sz="1400" b="1" dirty="0">
                <a:cs typeface="+mn-ea"/>
                <a:sym typeface="+mn-lt"/>
              </a:rPr>
              <a:t>)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8912E2-8A5C-402B-AF2C-67F97F55712C}"/>
              </a:ext>
            </a:extLst>
          </p:cNvPr>
          <p:cNvSpPr txBox="1"/>
          <p:nvPr/>
        </p:nvSpPr>
        <p:spPr>
          <a:xfrm>
            <a:off x="3733859" y="4770499"/>
            <a:ext cx="2895542" cy="1123712"/>
          </a:xfrm>
          <a:prstGeom prst="wedgeRoundRectCallout">
            <a:avLst>
              <a:gd name="adj1" fmla="val -29851"/>
              <a:gd name="adj2" fmla="val -795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減收類型：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優良廠商、金質獎廠商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卓越廠商、非減收廠商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37804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43AE871-EBBA-466F-A006-AEB199E60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564161"/>
            <a:ext cx="8175296" cy="368517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4C82D55-31A8-4335-89DF-F48C3065B21C}"/>
              </a:ext>
            </a:extLst>
          </p:cNvPr>
          <p:cNvSpPr txBox="1"/>
          <p:nvPr/>
        </p:nvSpPr>
        <p:spPr>
          <a:xfrm>
            <a:off x="8742437" y="4028364"/>
            <a:ext cx="156996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設定減收期限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61E94A-FA5D-4EC1-A533-6BFDE3735E28}"/>
              </a:ext>
            </a:extLst>
          </p:cNvPr>
          <p:cNvSpPr/>
          <p:nvPr/>
        </p:nvSpPr>
        <p:spPr>
          <a:xfrm>
            <a:off x="2963333" y="3982682"/>
            <a:ext cx="3666067" cy="4877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A60AD05B-6BAA-47F7-9409-E92B00401758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6629400" y="4213030"/>
            <a:ext cx="2113037" cy="13511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351983" y="3121523"/>
            <a:ext cx="5469350" cy="442674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若廠商可以減收將帶入下列兩格表單提供設定。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8912E2-8A5C-402B-AF2C-67F97F55712C}"/>
              </a:ext>
            </a:extLst>
          </p:cNvPr>
          <p:cNvSpPr txBox="1"/>
          <p:nvPr/>
        </p:nvSpPr>
        <p:spPr>
          <a:xfrm>
            <a:off x="3094755" y="5196126"/>
            <a:ext cx="2514455" cy="442674"/>
          </a:xfrm>
          <a:prstGeom prst="wedgeRoundRectCallout">
            <a:avLst>
              <a:gd name="adj1" fmla="val -29851"/>
              <a:gd name="adj2" fmla="val -795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減收後的應繳金額。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1A7C70A4-2F6F-48A8-98F5-F98F1D49257C}"/>
              </a:ext>
            </a:extLst>
          </p:cNvPr>
          <p:cNvSpPr/>
          <p:nvPr/>
        </p:nvSpPr>
        <p:spPr>
          <a:xfrm>
            <a:off x="6797197" y="3564198"/>
            <a:ext cx="508000" cy="330469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74512BE5-3513-4E1F-B0B5-DEA954390357}"/>
              </a:ext>
            </a:extLst>
          </p:cNvPr>
          <p:cNvCxnSpPr>
            <a:stCxn id="14" idx="1"/>
          </p:cNvCxnSpPr>
          <p:nvPr/>
        </p:nvCxnSpPr>
        <p:spPr>
          <a:xfrm flipH="1">
            <a:off x="6536267" y="4213030"/>
            <a:ext cx="2206170" cy="2030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873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D6ED992C-6542-440E-A29B-C9CA028B6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496754"/>
            <a:ext cx="7491228" cy="169997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設定廠商減收類型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17E9309-EA26-471D-9F95-27912E950402}"/>
              </a:ext>
            </a:extLst>
          </p:cNvPr>
          <p:cNvSpPr txBox="1"/>
          <p:nvPr/>
        </p:nvSpPr>
        <p:spPr>
          <a:xfrm>
            <a:off x="4461933" y="2053891"/>
            <a:ext cx="3429000" cy="442674"/>
          </a:xfrm>
          <a:prstGeom prst="wedgeRoundRectCallout">
            <a:avLst>
              <a:gd name="adj1" fmla="val -29588"/>
              <a:gd name="adj2" fmla="val 8911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選擇廠商繳納方式</a:t>
            </a:r>
            <a:r>
              <a:rPr lang="en-US" altLang="zh-TW" sz="2000" b="1" dirty="0">
                <a:cs typeface="+mn-ea"/>
                <a:sym typeface="+mn-lt"/>
              </a:rPr>
              <a:t>(</a:t>
            </a:r>
            <a:r>
              <a:rPr lang="zh-TW" altLang="en-US" sz="2000" b="1" dirty="0">
                <a:cs typeface="+mn-ea"/>
                <a:sym typeface="+mn-lt"/>
              </a:rPr>
              <a:t>可多選</a:t>
            </a:r>
            <a:r>
              <a:rPr lang="en-US" altLang="zh-TW" sz="2000" b="1" dirty="0">
                <a:cs typeface="+mn-ea"/>
                <a:sym typeface="+mn-lt"/>
              </a:rPr>
              <a:t>)</a:t>
            </a:r>
            <a:r>
              <a:rPr lang="zh-TW" altLang="en-US" sz="2000" b="1" dirty="0">
                <a:cs typeface="+mn-ea"/>
                <a:sym typeface="+mn-lt"/>
              </a:rPr>
              <a:t>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2AE78521-3635-4CD0-B270-036A76C14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934" y="3196730"/>
            <a:ext cx="5204089" cy="3376811"/>
          </a:xfrm>
          <a:prstGeom prst="rect">
            <a:avLst/>
          </a:prstGeom>
        </p:spPr>
      </p:pic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715FFDFC-C4A2-4FB8-8744-4A442B26F07B}"/>
              </a:ext>
            </a:extLst>
          </p:cNvPr>
          <p:cNvCxnSpPr>
            <a:cxnSpLocks/>
          </p:cNvCxnSpPr>
          <p:nvPr/>
        </p:nvCxnSpPr>
        <p:spPr>
          <a:xfrm>
            <a:off x="3395133" y="3053702"/>
            <a:ext cx="1193800" cy="375298"/>
          </a:xfrm>
          <a:prstGeom prst="bentConnector3">
            <a:avLst>
              <a:gd name="adj1" fmla="val -35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B4AD370-4BAB-4C53-8C6A-6C236A447231}"/>
              </a:ext>
            </a:extLst>
          </p:cNvPr>
          <p:cNvSpPr txBox="1"/>
          <p:nvPr/>
        </p:nvSpPr>
        <p:spPr>
          <a:xfrm>
            <a:off x="719668" y="4663798"/>
            <a:ext cx="2980266" cy="442674"/>
          </a:xfrm>
          <a:prstGeom prst="wedgeRoundRectCallout">
            <a:avLst>
              <a:gd name="adj1" fmla="val 46956"/>
              <a:gd name="adj2" fmla="val -171002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動態帶入表單提供設定。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9864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A5.3 </a:t>
            </a:r>
            <a:r>
              <a:rPr lang="zh-TW" altLang="en-US" sz="2400" b="1" dirty="0">
                <a:cs typeface="+mn-ea"/>
                <a:sym typeface="+mn-lt"/>
              </a:rPr>
              <a:t>相關文件上傳及完成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繳納履約保證金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ACB9579D-A67B-4438-B623-50D569F76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00" y="1564161"/>
            <a:ext cx="6486438" cy="403163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9AD267D6-2877-45D0-B12A-7B058F011B9D}"/>
              </a:ext>
            </a:extLst>
          </p:cNvPr>
          <p:cNvSpPr/>
          <p:nvPr/>
        </p:nvSpPr>
        <p:spPr>
          <a:xfrm>
            <a:off x="3015824" y="3426797"/>
            <a:ext cx="618606" cy="2870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9D2B90-B288-409C-954B-FE8269822CF1}"/>
              </a:ext>
            </a:extLst>
          </p:cNvPr>
          <p:cNvSpPr txBox="1"/>
          <p:nvPr/>
        </p:nvSpPr>
        <p:spPr>
          <a:xfrm>
            <a:off x="6622638" y="2876621"/>
            <a:ext cx="509177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選擇文件類型並點擊新增文件按鈕以上傳文件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CF64567-80D9-4D81-9AEC-5EC4A8A1D7B7}"/>
              </a:ext>
            </a:extLst>
          </p:cNvPr>
          <p:cNvSpPr/>
          <p:nvPr/>
        </p:nvSpPr>
        <p:spPr>
          <a:xfrm>
            <a:off x="2776780" y="2745303"/>
            <a:ext cx="1869220" cy="262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F9AB67AC-D624-4797-9D84-2D10CF2E84A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634430" y="3570338"/>
            <a:ext cx="121927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接點 41">
            <a:extLst>
              <a:ext uri="{FF2B5EF4-FFF2-40B4-BE49-F238E27FC236}">
                <a16:creationId xmlns:a16="http://schemas.microsoft.com/office/drawing/2014/main" id="{9CD9ABC7-7C72-4855-9A3B-9C3B25D7CEBA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646000" y="2876621"/>
            <a:ext cx="207700" cy="67132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32B58BFA-786F-46BE-818F-DDECE32CB3A4}"/>
              </a:ext>
            </a:extLst>
          </p:cNvPr>
          <p:cNvSpPr/>
          <p:nvPr/>
        </p:nvSpPr>
        <p:spPr>
          <a:xfrm>
            <a:off x="380998" y="4538916"/>
            <a:ext cx="2997201" cy="287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0648488F-2398-4A7F-9C2F-42D9AEB074F3}"/>
              </a:ext>
            </a:extLst>
          </p:cNvPr>
          <p:cNvCxnSpPr>
            <a:cxnSpLocks/>
          </p:cNvCxnSpPr>
          <p:nvPr/>
        </p:nvCxnSpPr>
        <p:spPr>
          <a:xfrm flipV="1">
            <a:off x="3354913" y="4702521"/>
            <a:ext cx="3182196" cy="1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F019A30-8379-46EF-A75C-6BA4B56C2BD1}"/>
              </a:ext>
            </a:extLst>
          </p:cNvPr>
          <p:cNvSpPr txBox="1"/>
          <p:nvPr/>
        </p:nvSpPr>
        <p:spPr>
          <a:xfrm>
            <a:off x="6629492" y="3633440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C70AA1-1D3A-41C3-BC62-A59379918FE6}"/>
              </a:ext>
            </a:extLst>
          </p:cNvPr>
          <p:cNvSpPr/>
          <p:nvPr/>
        </p:nvSpPr>
        <p:spPr>
          <a:xfrm>
            <a:off x="145344" y="5244857"/>
            <a:ext cx="6299382" cy="3334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4" name="肘形接點 59">
            <a:extLst>
              <a:ext uri="{FF2B5EF4-FFF2-40B4-BE49-F238E27FC236}">
                <a16:creationId xmlns:a16="http://schemas.microsoft.com/office/drawing/2014/main" id="{BA608F26-9FB5-4C12-848F-6C382C3086D4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6444726" y="3818106"/>
            <a:ext cx="184766" cy="159345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EE3505B2-69E7-4B52-BCF4-84272F865BBB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4853700" y="3061287"/>
            <a:ext cx="1768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082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564161"/>
            <a:ext cx="7272738" cy="376075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設定發還履約保證金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32B58BFA-786F-46BE-818F-DDECE32CB3A4}"/>
              </a:ext>
            </a:extLst>
          </p:cNvPr>
          <p:cNvSpPr/>
          <p:nvPr/>
        </p:nvSpPr>
        <p:spPr>
          <a:xfrm>
            <a:off x="579385" y="4097943"/>
            <a:ext cx="3182196" cy="4012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F019A30-8379-46EF-A75C-6BA4B56C2BD1}"/>
              </a:ext>
            </a:extLst>
          </p:cNvPr>
          <p:cNvSpPr txBox="1"/>
          <p:nvPr/>
        </p:nvSpPr>
        <p:spPr>
          <a:xfrm>
            <a:off x="5324596" y="5589533"/>
            <a:ext cx="54263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取消來完成或放棄編輯。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C70AA1-1D3A-41C3-BC62-A59379918FE6}"/>
              </a:ext>
            </a:extLst>
          </p:cNvPr>
          <p:cNvSpPr/>
          <p:nvPr/>
        </p:nvSpPr>
        <p:spPr>
          <a:xfrm>
            <a:off x="205221" y="4920678"/>
            <a:ext cx="7103051" cy="3334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4" name="肘形接點 59">
            <a:extLst>
              <a:ext uri="{FF2B5EF4-FFF2-40B4-BE49-F238E27FC236}">
                <a16:creationId xmlns:a16="http://schemas.microsoft.com/office/drawing/2014/main" id="{BA608F26-9FB5-4C12-848F-6C382C3086D4}"/>
              </a:ext>
            </a:extLst>
          </p:cNvPr>
          <p:cNvCxnSpPr>
            <a:cxnSpLocks/>
            <a:endCxn id="21" idx="0"/>
          </p:cNvCxnSpPr>
          <p:nvPr/>
        </p:nvCxnSpPr>
        <p:spPr>
          <a:xfrm rot="16200000" flipH="1">
            <a:off x="7407096" y="4958879"/>
            <a:ext cx="896568" cy="364739"/>
          </a:xfrm>
          <a:prstGeom prst="bentConnector3">
            <a:avLst>
              <a:gd name="adj1" fmla="val 2096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B6998189-2596-4EB4-8795-1EB448925B1E}"/>
              </a:ext>
            </a:extLst>
          </p:cNvPr>
          <p:cNvCxnSpPr>
            <a:cxnSpLocks/>
          </p:cNvCxnSpPr>
          <p:nvPr/>
        </p:nvCxnSpPr>
        <p:spPr>
          <a:xfrm>
            <a:off x="3731151" y="4298549"/>
            <a:ext cx="39418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1E1C7A76-BF12-4F8F-8159-F7343CB088E5}"/>
              </a:ext>
            </a:extLst>
          </p:cNvPr>
          <p:cNvCxnSpPr>
            <a:cxnSpLocks/>
          </p:cNvCxnSpPr>
          <p:nvPr/>
        </p:nvCxnSpPr>
        <p:spPr>
          <a:xfrm>
            <a:off x="7673011" y="4298547"/>
            <a:ext cx="0" cy="7888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06B5E4F-6B1F-48C1-854F-7E9075BB2946}"/>
              </a:ext>
            </a:extLst>
          </p:cNvPr>
          <p:cNvCxnSpPr>
            <a:endCxn id="23" idx="3"/>
          </p:cNvCxnSpPr>
          <p:nvPr/>
        </p:nvCxnSpPr>
        <p:spPr>
          <a:xfrm flipH="1">
            <a:off x="7308272" y="5087383"/>
            <a:ext cx="3647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205220" y="2559451"/>
            <a:ext cx="6403397" cy="4012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15406798-F3E9-4238-99E9-450B65E2A606}"/>
              </a:ext>
            </a:extLst>
          </p:cNvPr>
          <p:cNvCxnSpPr/>
          <p:nvPr/>
        </p:nvCxnSpPr>
        <p:spPr>
          <a:xfrm>
            <a:off x="3387416" y="2960661"/>
            <a:ext cx="0" cy="26052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287B919-7D2A-446D-A3D0-BBF64E448DB2}"/>
              </a:ext>
            </a:extLst>
          </p:cNvPr>
          <p:cNvSpPr txBox="1"/>
          <p:nvPr/>
        </p:nvSpPr>
        <p:spPr>
          <a:xfrm>
            <a:off x="2299882" y="3219027"/>
            <a:ext cx="16763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選擇發還狀態。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6835688" y="2033660"/>
            <a:ext cx="5195453" cy="1123712"/>
          </a:xfrm>
          <a:prstGeom prst="wedgeRoundRectCallout">
            <a:avLst>
              <a:gd name="adj1" fmla="val -54270"/>
              <a:gd name="adj2" fmla="val 1450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若選擇已發還、沒入需選擇發還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沒入日期。</a:t>
            </a:r>
            <a:endParaRPr lang="en-US" altLang="zh-TW" sz="2000" b="1" dirty="0">
              <a:cs typeface="+mn-ea"/>
              <a:sym typeface="+mn-lt"/>
            </a:endParaRPr>
          </a:p>
          <a:p>
            <a:endParaRPr lang="en-US" altLang="zh-TW" sz="2000" b="1" dirty="0">
              <a:cs typeface="+mn-ea"/>
              <a:sym typeface="+mn-lt"/>
            </a:endParaRPr>
          </a:p>
          <a:p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574A4037-667C-4AA3-AC37-7B2FEE8C9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0222" y="2569088"/>
            <a:ext cx="1968460" cy="41579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91BB290C-1D45-4AC0-929E-FB610247B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981" y="2569087"/>
            <a:ext cx="1950576" cy="415797"/>
          </a:xfrm>
          <a:prstGeom prst="rect">
            <a:avLst/>
          </a:prstGeom>
        </p:spPr>
      </p:pic>
      <p:sp>
        <p:nvSpPr>
          <p:cNvPr id="55" name="矩形 54">
            <a:extLst>
              <a:ext uri="{FF2B5EF4-FFF2-40B4-BE49-F238E27FC236}">
                <a16:creationId xmlns:a16="http://schemas.microsoft.com/office/drawing/2014/main" id="{CACB7C96-D7AA-4D99-9E04-C63E6D7F39D1}"/>
              </a:ext>
            </a:extLst>
          </p:cNvPr>
          <p:cNvSpPr/>
          <p:nvPr/>
        </p:nvSpPr>
        <p:spPr>
          <a:xfrm>
            <a:off x="7834745" y="2639292"/>
            <a:ext cx="1193937" cy="321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12EFA8B-9D3D-40C7-A24D-9B115667E52E}"/>
              </a:ext>
            </a:extLst>
          </p:cNvPr>
          <p:cNvSpPr/>
          <p:nvPr/>
        </p:nvSpPr>
        <p:spPr>
          <a:xfrm>
            <a:off x="9850689" y="2639292"/>
            <a:ext cx="1193937" cy="321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39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0544"/>
          <a:stretch/>
        </p:blipFill>
        <p:spPr>
          <a:xfrm>
            <a:off x="2078926" y="925384"/>
            <a:ext cx="8034145" cy="163918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設定發還履約保證金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7086599" y="2053108"/>
            <a:ext cx="1108365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D16685E-7E1D-45F4-908C-77A15D2AA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7373" y="3256879"/>
            <a:ext cx="5716300" cy="3143773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  <p:sp>
        <p:nvSpPr>
          <p:cNvPr id="25" name="箭號: 向下 24">
            <a:extLst>
              <a:ext uri="{FF2B5EF4-FFF2-40B4-BE49-F238E27FC236}">
                <a16:creationId xmlns:a16="http://schemas.microsoft.com/office/drawing/2014/main" id="{0F28F618-0BF1-42CB-985A-FFCC506BCCAB}"/>
              </a:ext>
            </a:extLst>
          </p:cNvPr>
          <p:cNvSpPr/>
          <p:nvPr/>
        </p:nvSpPr>
        <p:spPr>
          <a:xfrm>
            <a:off x="5841999" y="3062193"/>
            <a:ext cx="508000" cy="546234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2306783" y="2630130"/>
            <a:ext cx="6227617" cy="442674"/>
          </a:xfrm>
          <a:prstGeom prst="wedgeRoundRectCallout">
            <a:avLst>
              <a:gd name="adj1" fmla="val 28548"/>
              <a:gd name="adj2" fmla="val -9816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若選擇轉入履約金，則帶入所選繳納方式提供編輯。</a:t>
            </a:r>
            <a:endParaRPr lang="en-US" altLang="zh-TW" sz="2000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782698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1D16685E-7E1D-45F4-908C-77A15D2AA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355" y="1964411"/>
            <a:ext cx="5716300" cy="3143773"/>
          </a:xfrm>
          <a:prstGeom prst="rect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06442F3-7FEE-4258-AAEF-D76FD0E828FA}"/>
              </a:ext>
            </a:extLst>
          </p:cNvPr>
          <p:cNvCxnSpPr>
            <a:cxnSpLocks/>
          </p:cNvCxnSpPr>
          <p:nvPr/>
        </p:nvCxnSpPr>
        <p:spPr>
          <a:xfrm>
            <a:off x="9017334" y="3429000"/>
            <a:ext cx="0" cy="95379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>
            <a:extLst>
              <a:ext uri="{FF2B5EF4-FFF2-40B4-BE49-F238E27FC236}">
                <a16:creationId xmlns:a16="http://schemas.microsoft.com/office/drawing/2014/main" id="{CF4E49CE-3E4C-4BD4-BA9C-87840697B1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60544"/>
          <a:stretch/>
        </p:blipFill>
        <p:spPr>
          <a:xfrm>
            <a:off x="87709" y="952665"/>
            <a:ext cx="8034145" cy="163918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設定轉入履約保證金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發還履約保證金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802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16DC0E9-046F-4C9B-AD22-9E01DFACBDFE}"/>
              </a:ext>
            </a:extLst>
          </p:cNvPr>
          <p:cNvSpPr/>
          <p:nvPr/>
        </p:nvSpPr>
        <p:spPr>
          <a:xfrm>
            <a:off x="5160818" y="2034067"/>
            <a:ext cx="1108365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箭號: 向下 24">
            <a:extLst>
              <a:ext uri="{FF2B5EF4-FFF2-40B4-BE49-F238E27FC236}">
                <a16:creationId xmlns:a16="http://schemas.microsoft.com/office/drawing/2014/main" id="{0F28F618-0BF1-42CB-985A-FFCC506BCCAB}"/>
              </a:ext>
            </a:extLst>
          </p:cNvPr>
          <p:cNvSpPr/>
          <p:nvPr/>
        </p:nvSpPr>
        <p:spPr>
          <a:xfrm>
            <a:off x="9256363" y="1834667"/>
            <a:ext cx="508000" cy="596805"/>
          </a:xfrm>
          <a:prstGeom prst="downArrow">
            <a:avLst>
              <a:gd name="adj1" fmla="val 100000"/>
              <a:gd name="adj2" fmla="val 5708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7686E77-4CFF-4379-8E97-6134515624E2}"/>
              </a:ext>
            </a:extLst>
          </p:cNvPr>
          <p:cNvSpPr txBox="1"/>
          <p:nvPr/>
        </p:nvSpPr>
        <p:spPr>
          <a:xfrm>
            <a:off x="5903526" y="1410402"/>
            <a:ext cx="6227617" cy="442674"/>
          </a:xfrm>
          <a:prstGeom prst="wedgeRoundRectCallout">
            <a:avLst>
              <a:gd name="adj1" fmla="val -49316"/>
              <a:gd name="adj2" fmla="val 8961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若選擇轉入履約金，則帶入所選繳納方式提供編輯。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795F5DF-169D-49A0-8A8C-0C60A6C04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583" y="4167015"/>
            <a:ext cx="6908324" cy="1882338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</p:pic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1D857E0E-29B0-41CA-A336-5681597C997E}"/>
              </a:ext>
            </a:extLst>
          </p:cNvPr>
          <p:cNvCxnSpPr>
            <a:stCxn id="7" idx="1"/>
            <a:endCxn id="9" idx="0"/>
          </p:cNvCxnSpPr>
          <p:nvPr/>
        </p:nvCxnSpPr>
        <p:spPr>
          <a:xfrm rot="10800000" flipV="1">
            <a:off x="3779745" y="3536297"/>
            <a:ext cx="2550610" cy="63071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7DCBB73-4987-4BDD-A492-A2F4F7A48E7B}"/>
              </a:ext>
            </a:extLst>
          </p:cNvPr>
          <p:cNvSpPr txBox="1"/>
          <p:nvPr/>
        </p:nvSpPr>
        <p:spPr>
          <a:xfrm>
            <a:off x="325583" y="3325461"/>
            <a:ext cx="557794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設定完後須回到</a:t>
            </a:r>
            <a:r>
              <a:rPr lang="en-US" altLang="zh-TW" b="1" dirty="0"/>
              <a:t>A5.3</a:t>
            </a:r>
            <a:r>
              <a:rPr lang="zh-TW" altLang="en-US" b="1" dirty="0"/>
              <a:t>繳納保證金中設定轉入相關資訊。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71BFFCD-CF90-4233-9074-E28F2DAA1D28}"/>
              </a:ext>
            </a:extLst>
          </p:cNvPr>
          <p:cNvSpPr txBox="1"/>
          <p:nvPr/>
        </p:nvSpPr>
        <p:spPr>
          <a:xfrm>
            <a:off x="8221180" y="3691329"/>
            <a:ext cx="176102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b="1" dirty="0"/>
              <a:t>輸入繳納金額。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6B00E1-5B50-4105-B373-4044988300FA}"/>
              </a:ext>
            </a:extLst>
          </p:cNvPr>
          <p:cNvSpPr/>
          <p:nvPr/>
        </p:nvSpPr>
        <p:spPr>
          <a:xfrm>
            <a:off x="7571438" y="3093673"/>
            <a:ext cx="4294979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66E2251-B351-47F8-8CDC-5AD37F329062}"/>
              </a:ext>
            </a:extLst>
          </p:cNvPr>
          <p:cNvSpPr/>
          <p:nvPr/>
        </p:nvSpPr>
        <p:spPr>
          <a:xfrm>
            <a:off x="7578365" y="4382795"/>
            <a:ext cx="4350399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349554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退還超出保證金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A5.3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、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A5.4 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總繳納金額超出應繳金額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id="{835D19A2-B742-4916-8FDA-19FFDD092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346" y="3429000"/>
            <a:ext cx="9470511" cy="1788589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4CB207A8-57CF-44E2-B084-708E8538100B}"/>
              </a:ext>
            </a:extLst>
          </p:cNvPr>
          <p:cNvSpPr txBox="1"/>
          <p:nvPr/>
        </p:nvSpPr>
        <p:spPr>
          <a:xfrm>
            <a:off x="3083101" y="2182461"/>
            <a:ext cx="571499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若最終發生廠商多繳或是轉入金額後超出應繳保證金時</a:t>
            </a:r>
            <a:endParaRPr lang="en-US" altLang="zh-TW" b="1" dirty="0"/>
          </a:p>
          <a:p>
            <a:pPr algn="ctr"/>
            <a:r>
              <a:rPr lang="zh-TW" altLang="en-US" b="1" dirty="0"/>
              <a:t>可至</a:t>
            </a:r>
            <a:r>
              <a:rPr lang="en-US" altLang="zh-TW" b="1" dirty="0"/>
              <a:t>A5.3</a:t>
            </a:r>
            <a:r>
              <a:rPr lang="zh-TW" altLang="en-US" b="1" dirty="0"/>
              <a:t>自動產出的應退區域設定退款資訊。</a:t>
            </a:r>
          </a:p>
        </p:txBody>
      </p:sp>
    </p:spTree>
    <p:extLst>
      <p:ext uri="{BB962C8B-B14F-4D97-AF65-F5344CB8AC3E}">
        <p14:creationId xmlns:p14="http://schemas.microsoft.com/office/powerpoint/2010/main" val="30104581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退還超出保證金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A5.5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單價調整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待補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9550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設定契約資訊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93CB9FCC-7DA7-4C1F-B727-79A8F81CF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58" y="2046366"/>
            <a:ext cx="5700407" cy="411586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CEBB396-9C29-49B1-9014-A920021D4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3872" y="2249728"/>
            <a:ext cx="5680457" cy="391249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4433224" y="1564161"/>
            <a:ext cx="303368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根據契約內容設定相關資訊</a:t>
            </a:r>
          </a:p>
        </p:txBody>
      </p:sp>
    </p:spTree>
    <p:extLst>
      <p:ext uri="{BB962C8B-B14F-4D97-AF65-F5344CB8AC3E}">
        <p14:creationId xmlns:p14="http://schemas.microsoft.com/office/powerpoint/2010/main" val="23728856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設定機關人員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3428420" y="1555831"/>
            <a:ext cx="171819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機關人事指派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D537690-C83F-4EF0-BCAA-204E0047D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85" y="1978154"/>
            <a:ext cx="6859665" cy="4184073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23ADD9C1-8F4F-418C-BEEE-807409B1F2F2}"/>
              </a:ext>
            </a:extLst>
          </p:cNvPr>
          <p:cNvSpPr txBox="1"/>
          <p:nvPr/>
        </p:nvSpPr>
        <p:spPr>
          <a:xfrm flipH="1">
            <a:off x="5971309" y="2859823"/>
            <a:ext cx="6165272" cy="783193"/>
          </a:xfrm>
          <a:prstGeom prst="wedgeRoundRectCallout">
            <a:avLst>
              <a:gd name="adj1" fmla="val 30539"/>
              <a:gd name="adj2" fmla="val -9440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點擊此按鍵進入人事指派頁面。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注意：此行為將會跳離此頁，請確保已存取資料。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979678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設定各廠商人員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023BC65-438A-4FD8-9B83-F95D987470F6}"/>
              </a:ext>
            </a:extLst>
          </p:cNvPr>
          <p:cNvSpPr txBox="1"/>
          <p:nvPr/>
        </p:nvSpPr>
        <p:spPr>
          <a:xfrm>
            <a:off x="3428420" y="1713420"/>
            <a:ext cx="171819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設定相關廠商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E3AF63A-4226-4C65-A186-B0D843B1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261" y="2120194"/>
            <a:ext cx="8186512" cy="3987731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41356C4A-D6D5-4B8C-9F81-BB92DBDF7019}"/>
              </a:ext>
            </a:extLst>
          </p:cNvPr>
          <p:cNvSpPr/>
          <p:nvPr/>
        </p:nvSpPr>
        <p:spPr>
          <a:xfrm>
            <a:off x="241525" y="2682285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07F620-E951-4DD2-B1DA-7AE3E43A156E}"/>
              </a:ext>
            </a:extLst>
          </p:cNvPr>
          <p:cNvSpPr/>
          <p:nvPr/>
        </p:nvSpPr>
        <p:spPr>
          <a:xfrm>
            <a:off x="241525" y="3696134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55A94C-9C6F-402D-AEB2-46A98FE100BB}"/>
              </a:ext>
            </a:extLst>
          </p:cNvPr>
          <p:cNvSpPr/>
          <p:nvPr/>
        </p:nvSpPr>
        <p:spPr>
          <a:xfrm>
            <a:off x="241525" y="4709983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4D0C85-B54F-4911-8C0B-EF1953AA6559}"/>
              </a:ext>
            </a:extLst>
          </p:cNvPr>
          <p:cNvSpPr/>
          <p:nvPr/>
        </p:nvSpPr>
        <p:spPr>
          <a:xfrm>
            <a:off x="241525" y="5742354"/>
            <a:ext cx="7995002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E8FEB939-1D8A-4354-8021-7BEE8F9B2B0C}"/>
              </a:ext>
            </a:extLst>
          </p:cNvPr>
          <p:cNvCxnSpPr>
            <a:stCxn id="15" idx="3"/>
            <a:endCxn id="11" idx="3"/>
          </p:cNvCxnSpPr>
          <p:nvPr/>
        </p:nvCxnSpPr>
        <p:spPr>
          <a:xfrm flipV="1">
            <a:off x="8236527" y="2842146"/>
            <a:ext cx="12700" cy="3060069"/>
          </a:xfrm>
          <a:prstGeom prst="bentConnector3">
            <a:avLst>
              <a:gd name="adj1" fmla="val 1800000"/>
            </a:avLst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接點: 肘形 23">
            <a:extLst>
              <a:ext uri="{FF2B5EF4-FFF2-40B4-BE49-F238E27FC236}">
                <a16:creationId xmlns:a16="http://schemas.microsoft.com/office/drawing/2014/main" id="{388682AA-6A28-4C2F-9FE2-8BB27A259201}"/>
              </a:ext>
            </a:extLst>
          </p:cNvPr>
          <p:cNvCxnSpPr>
            <a:stCxn id="12" idx="3"/>
            <a:endCxn id="13" idx="3"/>
          </p:cNvCxnSpPr>
          <p:nvPr/>
        </p:nvCxnSpPr>
        <p:spPr>
          <a:xfrm>
            <a:off x="8236527" y="3855995"/>
            <a:ext cx="12700" cy="1013849"/>
          </a:xfrm>
          <a:prstGeom prst="bentConnector3">
            <a:avLst>
              <a:gd name="adj1" fmla="val 1800000"/>
            </a:avLst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A7C54570-FB09-4FD9-B738-46A9A235014B}"/>
              </a:ext>
            </a:extLst>
          </p:cNvPr>
          <p:cNvCxnSpPr>
            <a:cxnSpLocks/>
          </p:cNvCxnSpPr>
          <p:nvPr/>
        </p:nvCxnSpPr>
        <p:spPr>
          <a:xfrm>
            <a:off x="8478982" y="4362919"/>
            <a:ext cx="706582" cy="0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7CE15B1-3529-41BB-B6F0-D54CE9F0C99A}"/>
              </a:ext>
            </a:extLst>
          </p:cNvPr>
          <p:cNvSpPr txBox="1"/>
          <p:nvPr/>
        </p:nvSpPr>
        <p:spPr>
          <a:xfrm>
            <a:off x="9185564" y="4178253"/>
            <a:ext cx="268085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新增相應類型廠商資訊。</a:t>
            </a:r>
          </a:p>
        </p:txBody>
      </p: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DD1EEE66-530B-423C-8487-D7C120A587DC}"/>
              </a:ext>
            </a:extLst>
          </p:cNvPr>
          <p:cNvCxnSpPr>
            <a:cxnSpLocks/>
          </p:cNvCxnSpPr>
          <p:nvPr/>
        </p:nvCxnSpPr>
        <p:spPr>
          <a:xfrm>
            <a:off x="5627944" y="4298725"/>
            <a:ext cx="706582" cy="0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297ED18-831D-43FE-9528-6D89F1B69508}"/>
              </a:ext>
            </a:extLst>
          </p:cNvPr>
          <p:cNvSpPr txBox="1"/>
          <p:nvPr/>
        </p:nvSpPr>
        <p:spPr>
          <a:xfrm>
            <a:off x="3273136" y="4114059"/>
            <a:ext cx="235480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監造可選 自辦</a:t>
            </a:r>
            <a:r>
              <a:rPr lang="en-US" altLang="zh-TW" b="1" dirty="0"/>
              <a:t>/</a:t>
            </a:r>
            <a:r>
              <a:rPr lang="zh-TW" altLang="en-US" b="1" dirty="0"/>
              <a:t>委辦。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1A4F4C4-1351-4499-85B0-A389C617BFE8}"/>
              </a:ext>
            </a:extLst>
          </p:cNvPr>
          <p:cNvSpPr/>
          <p:nvPr/>
        </p:nvSpPr>
        <p:spPr>
          <a:xfrm>
            <a:off x="6334525" y="4159369"/>
            <a:ext cx="1902001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29453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設定廠商人員表單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>
            <a:extLst>
              <a:ext uri="{FF2B5EF4-FFF2-40B4-BE49-F238E27FC236}">
                <a16:creationId xmlns:a16="http://schemas.microsoft.com/office/drawing/2014/main" id="{91DE820D-ADCF-4346-BC3A-D1207A1B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44" y="1868961"/>
            <a:ext cx="9420799" cy="4384978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DC38C38A-8E21-4F3A-B454-39F740256D08}"/>
              </a:ext>
            </a:extLst>
          </p:cNvPr>
          <p:cNvSpPr txBox="1"/>
          <p:nvPr/>
        </p:nvSpPr>
        <p:spPr>
          <a:xfrm>
            <a:off x="530601" y="1448335"/>
            <a:ext cx="281305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廠商設定表單</a:t>
            </a:r>
            <a:r>
              <a:rPr lang="en-US" altLang="zh-TW" b="1" dirty="0"/>
              <a:t>(</a:t>
            </a:r>
            <a:r>
              <a:rPr lang="zh-TW" altLang="en-US" b="1" dirty="0"/>
              <a:t>施工為例</a:t>
            </a:r>
            <a:r>
              <a:rPr lang="en-US" altLang="zh-TW" b="1" dirty="0"/>
              <a:t>)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DBD6CAD7-5D4C-4274-AC1E-523D88D87EDB}"/>
              </a:ext>
            </a:extLst>
          </p:cNvPr>
          <p:cNvSpPr txBox="1"/>
          <p:nvPr/>
        </p:nvSpPr>
        <p:spPr>
          <a:xfrm flipH="1">
            <a:off x="5562600" y="2379312"/>
            <a:ext cx="2854036" cy="442674"/>
          </a:xfrm>
          <a:prstGeom prst="wedgeRoundRectCallout">
            <a:avLst>
              <a:gd name="adj1" fmla="val -55978"/>
              <a:gd name="adj2" fmla="val -300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此按鍵可快速新增廠商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506FA75-A2AE-436C-B341-2D6695B00A6E}"/>
              </a:ext>
            </a:extLst>
          </p:cNvPr>
          <p:cNvSpPr txBox="1"/>
          <p:nvPr/>
        </p:nvSpPr>
        <p:spPr>
          <a:xfrm flipH="1">
            <a:off x="4350327" y="3429000"/>
            <a:ext cx="3782291" cy="783193"/>
          </a:xfrm>
          <a:prstGeom prst="wedgeRoundRectCallout">
            <a:avLst>
              <a:gd name="adj1" fmla="val -55978"/>
              <a:gd name="adj2" fmla="val -3004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此按鍵可快速新增廠商使用者。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cs typeface="+mn-ea"/>
                <a:sym typeface="+mn-lt"/>
              </a:rPr>
              <a:t>機關使用者由單豋進入設定。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3F75C1-A683-4B0E-9D70-9D94948446F4}"/>
              </a:ext>
            </a:extLst>
          </p:cNvPr>
          <p:cNvSpPr/>
          <p:nvPr/>
        </p:nvSpPr>
        <p:spPr>
          <a:xfrm>
            <a:off x="214744" y="1956496"/>
            <a:ext cx="315857" cy="3197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782EE172-FE8E-49D2-8BA0-084DA1461DA3}"/>
              </a:ext>
            </a:extLst>
          </p:cNvPr>
          <p:cNvCxnSpPr>
            <a:stCxn id="33" idx="2"/>
          </p:cNvCxnSpPr>
          <p:nvPr/>
        </p:nvCxnSpPr>
        <p:spPr>
          <a:xfrm>
            <a:off x="372673" y="2276217"/>
            <a:ext cx="1400" cy="54576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AC6714E-CBB8-4C76-91F6-23BAF1B7BAAF}"/>
              </a:ext>
            </a:extLst>
          </p:cNvPr>
          <p:cNvSpPr txBox="1"/>
          <p:nvPr/>
        </p:nvSpPr>
        <p:spPr>
          <a:xfrm>
            <a:off x="189431" y="2491789"/>
            <a:ext cx="366482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/>
              <a:t>此按鍵可移除該區表單 </a:t>
            </a:r>
            <a:endParaRPr lang="en-US" altLang="zh-TW" b="1" dirty="0"/>
          </a:p>
          <a:p>
            <a:pPr algn="ctr"/>
            <a:r>
              <a:rPr lang="zh-TW" altLang="en-US" b="1" dirty="0"/>
              <a:t>。</a:t>
            </a:r>
            <a:endParaRPr lang="en-US" altLang="zh-TW" b="1" dirty="0"/>
          </a:p>
        </p:txBody>
      </p:sp>
    </p:spTree>
    <p:extLst>
      <p:ext uri="{BB962C8B-B14F-4D97-AF65-F5344CB8AC3E}">
        <p14:creationId xmlns:p14="http://schemas.microsoft.com/office/powerpoint/2010/main" val="2346557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檢視詳細價目表</a:t>
            </a:r>
            <a:r>
              <a:rPr lang="en-US" altLang="zh-TW" sz="2400" b="1" dirty="0">
                <a:cs typeface="+mn-ea"/>
                <a:sym typeface="+mn-lt"/>
              </a:rPr>
              <a:t>(</a:t>
            </a:r>
            <a:r>
              <a:rPr lang="zh-TW" altLang="en-US" sz="2400" b="1" dirty="0">
                <a:cs typeface="+mn-ea"/>
                <a:sym typeface="+mn-lt"/>
              </a:rPr>
              <a:t>由系統資料帶入</a:t>
            </a:r>
            <a:r>
              <a:rPr lang="en-US" altLang="zh-TW" sz="2400" b="1" dirty="0">
                <a:cs typeface="+mn-ea"/>
                <a:sym typeface="+mn-lt"/>
              </a:rPr>
              <a:t>)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A5.6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簽訂契約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702660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808AF41B-65C2-49A9-8FB5-6B544C055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295" y="1510146"/>
            <a:ext cx="7114488" cy="4800599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A3A85F7A-4BCA-4CED-8829-A7A6B466680F}"/>
              </a:ext>
            </a:extLst>
          </p:cNvPr>
          <p:cNvSpPr txBox="1"/>
          <p:nvPr/>
        </p:nvSpPr>
        <p:spPr>
          <a:xfrm flipH="1">
            <a:off x="4939145" y="4956257"/>
            <a:ext cx="5784273" cy="783193"/>
          </a:xfrm>
          <a:prstGeom prst="wedgeRoundRectCallout">
            <a:avLst>
              <a:gd name="adj1" fmla="val 47618"/>
              <a:gd name="adj2" fmla="val 8602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點擊此按鍵進入</a:t>
            </a:r>
            <a:r>
              <a:rPr lang="en-US" altLang="zh-TW" sz="2000" b="1" dirty="0">
                <a:cs typeface="+mn-ea"/>
                <a:sym typeface="+mn-lt"/>
              </a:rPr>
              <a:t>6.4</a:t>
            </a:r>
            <a:r>
              <a:rPr lang="zh-TW" altLang="en-US" sz="2000" b="1" dirty="0">
                <a:cs typeface="+mn-ea"/>
                <a:sym typeface="+mn-lt"/>
              </a:rPr>
              <a:t>上傳圖說。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注意：此行為將會跳離此頁，請確保已存取資料。</a:t>
            </a:r>
            <a:endParaRPr lang="en-US" altLang="zh-TW" sz="20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706528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點擊編輯以上傳相關文件，並在選取狀態後點擊完成。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960746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 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A5</a:t>
            </a:r>
            <a:r>
              <a:rPr lang="zh-TW" altLang="en-US" sz="3200" b="1" i="0" dirty="0">
                <a:solidFill>
                  <a:srgbClr val="277988"/>
                </a:solidFill>
                <a:effectLst/>
                <a:latin typeface="Noto Sans TC"/>
              </a:rPr>
              <a:t>採購文件紙本歸檔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006309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片 44">
            <a:extLst>
              <a:ext uri="{FF2B5EF4-FFF2-40B4-BE49-F238E27FC236}">
                <a16:creationId xmlns:a16="http://schemas.microsoft.com/office/drawing/2014/main" id="{FA68D052-1155-4B27-9540-28BDDBB9F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824" y="1564161"/>
            <a:ext cx="9010965" cy="4702983"/>
          </a:xfrm>
          <a:prstGeom prst="rect">
            <a:avLst/>
          </a:prstGeom>
        </p:spPr>
      </p:pic>
      <p:sp>
        <p:nvSpPr>
          <p:cNvPr id="52" name="文字方塊 51">
            <a:extLst>
              <a:ext uri="{FF2B5EF4-FFF2-40B4-BE49-F238E27FC236}">
                <a16:creationId xmlns:a16="http://schemas.microsoft.com/office/drawing/2014/main" id="{8E133749-F174-4A9B-B9E5-F2B8B57F0218}"/>
              </a:ext>
            </a:extLst>
          </p:cNvPr>
          <p:cNvSpPr txBox="1"/>
          <p:nvPr/>
        </p:nvSpPr>
        <p:spPr>
          <a:xfrm flipH="1">
            <a:off x="5852498" y="1841515"/>
            <a:ext cx="2482029" cy="783193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點擊編輯</a:t>
            </a:r>
            <a:r>
              <a:rPr lang="en-US" altLang="zh-TW" sz="2000" b="1" dirty="0">
                <a:cs typeface="+mn-ea"/>
                <a:sym typeface="+mn-lt"/>
              </a:rPr>
              <a:t>/</a:t>
            </a:r>
            <a:r>
              <a:rPr lang="zh-TW" altLang="en-US" sz="2000" b="1" dirty="0">
                <a:cs typeface="+mn-ea"/>
                <a:sym typeface="+mn-lt"/>
              </a:rPr>
              <a:t>取消編輯開關編輯功能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830359E-A5E8-4321-BC08-C8375A5D83DA}"/>
              </a:ext>
            </a:extLst>
          </p:cNvPr>
          <p:cNvSpPr/>
          <p:nvPr/>
        </p:nvSpPr>
        <p:spPr>
          <a:xfrm>
            <a:off x="2532993" y="3429000"/>
            <a:ext cx="6684579" cy="3757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9381F2E2-96AC-4FDA-B173-5BFE7CB57AE9}"/>
              </a:ext>
            </a:extLst>
          </p:cNvPr>
          <p:cNvSpPr txBox="1"/>
          <p:nvPr/>
        </p:nvSpPr>
        <p:spPr>
          <a:xfrm>
            <a:off x="8561406" y="4712779"/>
            <a:ext cx="348524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3.</a:t>
            </a:r>
            <a:r>
              <a:rPr lang="zh-TW" altLang="en-US" b="1" dirty="0"/>
              <a:t>選擇辦理狀態後選擇完成</a:t>
            </a:r>
            <a:r>
              <a:rPr lang="en-US" altLang="zh-TW" b="1" dirty="0"/>
              <a:t>/</a:t>
            </a:r>
            <a:r>
              <a:rPr lang="zh-TW" altLang="en-US" b="1" dirty="0"/>
              <a:t>取消</a:t>
            </a:r>
            <a:endParaRPr lang="en-US" altLang="zh-TW" b="1" dirty="0"/>
          </a:p>
          <a:p>
            <a:r>
              <a:rPr lang="zh-TW" altLang="en-US" b="1" dirty="0"/>
              <a:t>來完成或放棄編輯。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6E992574-D70B-40D0-9972-76DE314BAA5A}"/>
              </a:ext>
            </a:extLst>
          </p:cNvPr>
          <p:cNvSpPr txBox="1"/>
          <p:nvPr/>
        </p:nvSpPr>
        <p:spPr>
          <a:xfrm>
            <a:off x="8958950" y="2622057"/>
            <a:ext cx="269016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b="1" dirty="0"/>
              <a:t>2.</a:t>
            </a:r>
            <a:r>
              <a:rPr lang="zh-TW" altLang="en-US" b="1" dirty="0"/>
              <a:t>選擇文件類型並點擊新</a:t>
            </a:r>
            <a:endParaRPr lang="en-US" altLang="zh-TW" b="1" dirty="0"/>
          </a:p>
          <a:p>
            <a:r>
              <a:rPr lang="zh-TW" altLang="en-US" b="1" dirty="0"/>
              <a:t>增文件按鈕以上傳文件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FD7EBE0-9611-4356-B1F5-EADB693A651A}"/>
              </a:ext>
            </a:extLst>
          </p:cNvPr>
          <p:cNvSpPr/>
          <p:nvPr/>
        </p:nvSpPr>
        <p:spPr>
          <a:xfrm>
            <a:off x="567835" y="4712779"/>
            <a:ext cx="4110043" cy="4944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A970F2B-2F01-4164-8837-47BDB75C3715}"/>
              </a:ext>
            </a:extLst>
          </p:cNvPr>
          <p:cNvSpPr/>
          <p:nvPr/>
        </p:nvSpPr>
        <p:spPr>
          <a:xfrm>
            <a:off x="335823" y="5515896"/>
            <a:ext cx="9010966" cy="64633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81B8FB3D-A914-4928-A7BC-8C16432AB8DB}"/>
              </a:ext>
            </a:extLst>
          </p:cNvPr>
          <p:cNvCxnSpPr>
            <a:stCxn id="55" idx="2"/>
            <a:endCxn id="59" idx="3"/>
          </p:cNvCxnSpPr>
          <p:nvPr/>
        </p:nvCxnSpPr>
        <p:spPr>
          <a:xfrm rot="5400000">
            <a:off x="9585434" y="5120465"/>
            <a:ext cx="479952" cy="95724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5256001-F375-4A8C-9696-BBA02B692E62}"/>
              </a:ext>
            </a:extLst>
          </p:cNvPr>
          <p:cNvCxnSpPr>
            <a:stCxn id="58" idx="3"/>
          </p:cNvCxnSpPr>
          <p:nvPr/>
        </p:nvCxnSpPr>
        <p:spPr>
          <a:xfrm flipV="1">
            <a:off x="4677878" y="4937760"/>
            <a:ext cx="3883528" cy="2226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D5289EEE-2ADA-45B2-9510-C7E51DA87E3E}"/>
              </a:ext>
            </a:extLst>
          </p:cNvPr>
          <p:cNvCxnSpPr>
            <a:endCxn id="57" idx="2"/>
          </p:cNvCxnSpPr>
          <p:nvPr/>
        </p:nvCxnSpPr>
        <p:spPr>
          <a:xfrm flipV="1">
            <a:off x="9217572" y="3268388"/>
            <a:ext cx="1086458" cy="350711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964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0410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19602</TotalTime>
  <Words>1233</Words>
  <Application>Microsoft Office PowerPoint</Application>
  <PresentationFormat>寬螢幕</PresentationFormat>
  <Paragraphs>185</Paragraphs>
  <Slides>21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Noto Sans TC</vt:lpstr>
      <vt:lpstr>微軟正黑體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劉 約成</cp:lastModifiedBy>
  <cp:revision>1261</cp:revision>
  <cp:lastPrinted>2020-08-17T01:41:09Z</cp:lastPrinted>
  <dcterms:created xsi:type="dcterms:W3CDTF">2020-05-15T02:43:33Z</dcterms:created>
  <dcterms:modified xsi:type="dcterms:W3CDTF">2022-01-06T08:55:10Z</dcterms:modified>
</cp:coreProperties>
</file>
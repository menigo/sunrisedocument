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-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BC32F-BC28-4221-B6FF-D78B62618E79}" type="datetimeFigureOut">
              <a:rPr lang="zh-TW" altLang="en-US" smtClean="0"/>
              <a:t>2022/1/12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567D7-AF2A-47BD-9733-53C4274AEA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4274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7466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7641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4417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025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4588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0967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8527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9409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0909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2890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5066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4064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4976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585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2717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1219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邊形 2">
            <a:extLst>
              <a:ext uri="{FF2B5EF4-FFF2-40B4-BE49-F238E27FC236}">
                <a16:creationId xmlns:a16="http://schemas.microsoft.com/office/drawing/2014/main" id="{91D5AE83-63CE-48B5-A42F-B1CF0405B267}"/>
              </a:ext>
            </a:extLst>
          </p:cNvPr>
          <p:cNvSpPr/>
          <p:nvPr userDrawn="1"/>
        </p:nvSpPr>
        <p:spPr>
          <a:xfrm>
            <a:off x="-6724" y="-17772"/>
            <a:ext cx="9659805" cy="6875771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59805" h="6875771">
                <a:moveTo>
                  <a:pt x="6724" y="6875771"/>
                </a:moveTo>
                <a:cubicBezTo>
                  <a:pt x="4483" y="4594253"/>
                  <a:pt x="2241" y="2303211"/>
                  <a:pt x="0" y="21693"/>
                </a:cubicBezTo>
                <a:lnTo>
                  <a:pt x="9659805" y="0"/>
                </a:lnTo>
                <a:lnTo>
                  <a:pt x="4845984" y="6866246"/>
                </a:lnTo>
                <a:lnTo>
                  <a:pt x="6724" y="6875771"/>
                </a:lnTo>
                <a:close/>
              </a:path>
            </a:pathLst>
          </a:custGeom>
          <a:solidFill>
            <a:srgbClr val="FFC82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129AC101-C702-4CAD-8D0F-5F51CAD09064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D0E8D8B-50AB-4582-82DA-49360B3A9D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466" y="2249905"/>
            <a:ext cx="6382794" cy="5822548"/>
          </a:xfrm>
          <a:prstGeom prst="rect">
            <a:avLst/>
          </a:prstGeom>
        </p:spPr>
      </p:pic>
      <p:sp>
        <p:nvSpPr>
          <p:cNvPr id="18" name="矩形: 剪去單一角落 17">
            <a:extLst>
              <a:ext uri="{FF2B5EF4-FFF2-40B4-BE49-F238E27FC236}">
                <a16:creationId xmlns:a16="http://schemas.microsoft.com/office/drawing/2014/main" id="{5ADD64BA-5421-4E9B-9A93-97EB2E797B10}"/>
              </a:ext>
            </a:extLst>
          </p:cNvPr>
          <p:cNvSpPr/>
          <p:nvPr userDrawn="1"/>
        </p:nvSpPr>
        <p:spPr>
          <a:xfrm>
            <a:off x="-6726" y="0"/>
            <a:ext cx="12198726" cy="6882634"/>
          </a:xfrm>
          <a:prstGeom prst="snip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B85A7BCC-ACFE-4A9D-9F71-011F8FB51103}"/>
              </a:ext>
            </a:extLst>
          </p:cNvPr>
          <p:cNvSpPr/>
          <p:nvPr userDrawn="1"/>
        </p:nvSpPr>
        <p:spPr>
          <a:xfrm flipH="1">
            <a:off x="10164464" y="4054018"/>
            <a:ext cx="2041965" cy="2853251"/>
          </a:xfrm>
          <a:prstGeom prst="rtTriangle">
            <a:avLst/>
          </a:prstGeom>
          <a:solidFill>
            <a:srgbClr val="F5D6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7998DED-F427-4455-A05C-E7B56412BD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grpSp>
        <p:nvGrpSpPr>
          <p:cNvPr id="3" name="群組 2">
            <a:extLst>
              <a:ext uri="{FF2B5EF4-FFF2-40B4-BE49-F238E27FC236}">
                <a16:creationId xmlns:a16="http://schemas.microsoft.com/office/drawing/2014/main" id="{0027AE0E-B02F-4682-8455-DD002D2D488D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0637A318-5BE2-4A0C-AA7A-60FD8E8BEF7C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D9BE1FAC-67A3-4D46-802E-1D6C3B3B981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31809C49-1534-424B-A6CC-321159C1E2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A42BB81-D9CF-4756-B45E-08299331D4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CBABAB66-FCA0-479B-8E23-99A0AF2B57A9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投影片編號版面配置區 5">
            <a:extLst>
              <a:ext uri="{FF2B5EF4-FFF2-40B4-BE49-F238E27FC236}">
                <a16:creationId xmlns:a16="http://schemas.microsoft.com/office/drawing/2014/main" id="{C3C53CCB-49FE-47BB-9379-C78E720D13DC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003233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13262-28ED-4F8C-8558-DF4C8F8DE18F}" type="datetimeFigureOut">
              <a:rPr lang="zh-TW" altLang="en-US" smtClean="0"/>
              <a:t>2022/1/12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319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7" y="30746"/>
            <a:ext cx="8558569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 smtClean="0">
                <a:solidFill>
                  <a:srgbClr val="39759D"/>
                </a:solidFill>
                <a:cs typeface="+mn-ea"/>
                <a:sym typeface="+mn-lt"/>
              </a:rPr>
              <a:t>履約系統簽核流程操作說明</a:t>
            </a:r>
            <a:r>
              <a:rPr lang="en-US" altLang="zh-TW" sz="3200" b="1" dirty="0" smtClean="0">
                <a:solidFill>
                  <a:srgbClr val="39759D"/>
                </a:solidFill>
                <a:cs typeface="+mn-ea"/>
                <a:sym typeface="+mn-lt"/>
              </a:rPr>
              <a:t>-</a:t>
            </a:r>
            <a:r>
              <a:rPr lang="zh-TW" altLang="en-US" sz="3200" b="1" dirty="0" smtClean="0">
                <a:solidFill>
                  <a:srgbClr val="39759D"/>
                </a:solidFill>
                <a:cs typeface="+mn-ea"/>
                <a:sym typeface="+mn-lt"/>
              </a:rPr>
              <a:t>參與簽核人員設定</a:t>
            </a:r>
            <a:endParaRPr lang="zh-TW" altLang="en-US" sz="3200" b="1" dirty="0">
              <a:solidFill>
                <a:srgbClr val="39759D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8459946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416" y="1248216"/>
            <a:ext cx="6963584" cy="4718590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396971" y="1464816"/>
            <a:ext cx="3932808" cy="452761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6763461" y="1506530"/>
            <a:ext cx="318548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此處顯示目前所在階段及流程</a:t>
            </a:r>
            <a:endParaRPr lang="zh-TW" altLang="en-US" dirty="0" smtClean="0">
              <a:cs typeface="+mn-ea"/>
              <a:sym typeface="+mn-lt"/>
            </a:endParaRPr>
          </a:p>
        </p:txBody>
      </p:sp>
      <p:cxnSp>
        <p:nvCxnSpPr>
          <p:cNvPr id="27" name="直線接點 26"/>
          <p:cNvCxnSpPr>
            <a:stCxn id="29" idx="1"/>
            <a:endCxn id="25" idx="3"/>
          </p:cNvCxnSpPr>
          <p:nvPr/>
        </p:nvCxnSpPr>
        <p:spPr>
          <a:xfrm flipH="1">
            <a:off x="6329779" y="1691196"/>
            <a:ext cx="433682" cy="1"/>
          </a:xfrm>
          <a:prstGeom prst="line">
            <a:avLst/>
          </a:prstGeom>
          <a:ln cap="flat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2598236" y="2360645"/>
            <a:ext cx="1293702" cy="485192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04541" y="3295860"/>
            <a:ext cx="2194832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選擇執行類別</a:t>
            </a:r>
            <a:endParaRPr lang="en-US" altLang="zh-TW" dirty="0" smtClean="0">
              <a:cs typeface="+mn-ea"/>
              <a:sym typeface="+mn-lt"/>
            </a:endParaRPr>
          </a:p>
          <a:p>
            <a:pPr algn="l"/>
            <a:r>
              <a:rPr lang="en-US" altLang="zh-TW" dirty="0" smtClean="0">
                <a:cs typeface="+mn-ea"/>
                <a:sym typeface="+mn-lt"/>
              </a:rPr>
              <a:t>(</a:t>
            </a:r>
            <a:r>
              <a:rPr lang="zh-TW" altLang="en-US" dirty="0" smtClean="0">
                <a:cs typeface="+mn-ea"/>
                <a:sym typeface="+mn-lt"/>
              </a:rPr>
              <a:t>陳核、決行、會辦</a:t>
            </a:r>
            <a:r>
              <a:rPr lang="en-US" altLang="zh-TW" dirty="0" smtClean="0">
                <a:cs typeface="+mn-ea"/>
                <a:sym typeface="+mn-lt"/>
              </a:rPr>
              <a:t>)</a:t>
            </a:r>
            <a:endParaRPr lang="zh-TW" altLang="en-US" dirty="0" smtClean="0"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076322" y="2360645"/>
            <a:ext cx="2007237" cy="485192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1" name="肘形接點 40"/>
          <p:cNvCxnSpPr>
            <a:stCxn id="39" idx="2"/>
            <a:endCxn id="42" idx="0"/>
          </p:cNvCxnSpPr>
          <p:nvPr/>
        </p:nvCxnSpPr>
        <p:spPr>
          <a:xfrm rot="5400000">
            <a:off x="4635907" y="3289871"/>
            <a:ext cx="888068" cy="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3140947" y="3733905"/>
            <a:ext cx="3877985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選擇單位</a:t>
            </a:r>
            <a:endParaRPr lang="en-US" altLang="zh-TW" dirty="0" smtClean="0">
              <a:cs typeface="+mn-ea"/>
              <a:sym typeface="+mn-lt"/>
            </a:endParaRPr>
          </a:p>
          <a:p>
            <a:pPr algn="l"/>
            <a:r>
              <a:rPr lang="zh-TW" altLang="en-US" dirty="0" smtClean="0">
                <a:cs typeface="+mn-ea"/>
                <a:sym typeface="+mn-lt"/>
              </a:rPr>
              <a:t>如為</a:t>
            </a:r>
            <a:r>
              <a:rPr lang="zh-TW" altLang="en-US" dirty="0">
                <a:cs typeface="+mn-ea"/>
                <a:sym typeface="+mn-lt"/>
              </a:rPr>
              <a:t>廠商</a:t>
            </a:r>
            <a:r>
              <a:rPr lang="zh-TW" altLang="en-US" dirty="0" smtClean="0">
                <a:cs typeface="+mn-ea"/>
                <a:sym typeface="+mn-lt"/>
              </a:rPr>
              <a:t>單位將鎖死欄位</a:t>
            </a:r>
            <a:endParaRPr lang="en-US" altLang="zh-TW" dirty="0" smtClean="0">
              <a:cs typeface="+mn-ea"/>
              <a:sym typeface="+mn-lt"/>
            </a:endParaRPr>
          </a:p>
          <a:p>
            <a:pPr algn="l"/>
            <a:r>
              <a:rPr lang="zh-TW" altLang="en-US" dirty="0" smtClean="0">
                <a:cs typeface="+mn-ea"/>
                <a:sym typeface="+mn-lt"/>
              </a:rPr>
              <a:t>如為機關單位則可以於此處選取單位</a:t>
            </a:r>
            <a:endParaRPr lang="zh-TW" altLang="en-US" dirty="0" smtClean="0">
              <a:cs typeface="+mn-ea"/>
              <a:sym typeface="+mn-lt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158204" y="2360645"/>
            <a:ext cx="2127380" cy="485191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8356204" y="2603240"/>
            <a:ext cx="479886" cy="242596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083560" y="1917577"/>
            <a:ext cx="1698172" cy="362498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58" name="肘形接點 57"/>
          <p:cNvCxnSpPr>
            <a:stCxn id="35" idx="1"/>
            <a:endCxn id="36" idx="3"/>
          </p:cNvCxnSpPr>
          <p:nvPr/>
        </p:nvCxnSpPr>
        <p:spPr>
          <a:xfrm rot="10800000" flipV="1">
            <a:off x="2299374" y="2603240"/>
            <a:ext cx="298863" cy="1015785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>
            <a:stCxn id="54" idx="1"/>
            <a:endCxn id="61" idx="3"/>
          </p:cNvCxnSpPr>
          <p:nvPr/>
        </p:nvCxnSpPr>
        <p:spPr>
          <a:xfrm flipH="1">
            <a:off x="1876224" y="2098826"/>
            <a:ext cx="42073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字方塊 60"/>
          <p:cNvSpPr txBox="1"/>
          <p:nvPr/>
        </p:nvSpPr>
        <p:spPr>
          <a:xfrm>
            <a:off x="537396" y="1637161"/>
            <a:ext cx="1338828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執行權責</a:t>
            </a:r>
            <a:endParaRPr lang="en-US" altLang="zh-TW" dirty="0" smtClean="0">
              <a:cs typeface="+mn-ea"/>
              <a:sym typeface="+mn-lt"/>
            </a:endParaRPr>
          </a:p>
          <a:p>
            <a:pPr algn="l"/>
            <a:r>
              <a:rPr lang="zh-TW" altLang="en-US" dirty="0" smtClean="0">
                <a:cs typeface="+mn-ea"/>
                <a:sym typeface="+mn-lt"/>
              </a:rPr>
              <a:t>辦理、協辦</a:t>
            </a:r>
            <a:endParaRPr lang="en-US" altLang="zh-TW" dirty="0" smtClean="0">
              <a:cs typeface="+mn-ea"/>
              <a:sym typeface="+mn-lt"/>
            </a:endParaRPr>
          </a:p>
          <a:p>
            <a:pPr algn="l"/>
            <a:r>
              <a:rPr lang="zh-TW" altLang="en-US" dirty="0" smtClean="0">
                <a:cs typeface="+mn-ea"/>
                <a:sym typeface="+mn-lt"/>
              </a:rPr>
              <a:t>督導、核定</a:t>
            </a:r>
            <a:endParaRPr lang="zh-TW" altLang="en-US" dirty="0" smtClean="0">
              <a:cs typeface="+mn-ea"/>
              <a:sym typeface="+mn-lt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900176" y="1917577"/>
            <a:ext cx="1578823" cy="362498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9981696" y="1910804"/>
            <a:ext cx="2149796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cs typeface="+mn-ea"/>
                <a:sym typeface="+mn-lt"/>
              </a:rPr>
              <a:t>選擇已儲存人員設定</a:t>
            </a:r>
            <a:endParaRPr lang="en-US" altLang="zh-TW" dirty="0" smtClean="0">
              <a:cs typeface="+mn-ea"/>
              <a:sym typeface="+mn-lt"/>
            </a:endParaRPr>
          </a:p>
          <a:p>
            <a:pPr algn="ctr"/>
            <a:r>
              <a:rPr lang="en-US" altLang="zh-TW" dirty="0" smtClean="0">
                <a:cs typeface="+mn-ea"/>
                <a:sym typeface="+mn-lt"/>
              </a:rPr>
              <a:t>OR</a:t>
            </a:r>
            <a:endParaRPr lang="en-US" altLang="zh-TW" dirty="0" smtClean="0">
              <a:cs typeface="+mn-ea"/>
              <a:sym typeface="+mn-lt"/>
            </a:endParaRPr>
          </a:p>
          <a:p>
            <a:pPr algn="ctr"/>
            <a:r>
              <a:rPr lang="zh-TW" altLang="en-US" dirty="0" smtClean="0">
                <a:cs typeface="+mn-ea"/>
                <a:sym typeface="+mn-lt"/>
              </a:rPr>
              <a:t>存取當前人員設定</a:t>
            </a:r>
            <a:endParaRPr lang="zh-TW" altLang="en-US" dirty="0" smtClean="0">
              <a:cs typeface="+mn-ea"/>
              <a:sym typeface="+mn-lt"/>
            </a:endParaRPr>
          </a:p>
        </p:txBody>
      </p:sp>
      <p:cxnSp>
        <p:nvCxnSpPr>
          <p:cNvPr id="66" name="肘形接點 65"/>
          <p:cNvCxnSpPr>
            <a:stCxn id="63" idx="3"/>
            <a:endCxn id="64" idx="1"/>
          </p:cNvCxnSpPr>
          <p:nvPr/>
        </p:nvCxnSpPr>
        <p:spPr>
          <a:xfrm>
            <a:off x="9478999" y="2098826"/>
            <a:ext cx="502697" cy="412143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字方塊 66"/>
          <p:cNvSpPr txBox="1"/>
          <p:nvPr/>
        </p:nvSpPr>
        <p:spPr>
          <a:xfrm>
            <a:off x="7349652" y="3279385"/>
            <a:ext cx="249299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點擊新增將人編入群組</a:t>
            </a:r>
            <a:endParaRPr lang="zh-TW" altLang="en-US" dirty="0" smtClean="0">
              <a:cs typeface="+mn-ea"/>
              <a:sym typeface="+mn-lt"/>
            </a:endParaRPr>
          </a:p>
        </p:txBody>
      </p:sp>
      <p:cxnSp>
        <p:nvCxnSpPr>
          <p:cNvPr id="69" name="直線接點 68"/>
          <p:cNvCxnSpPr>
            <a:stCxn id="47" idx="2"/>
            <a:endCxn id="67" idx="0"/>
          </p:cNvCxnSpPr>
          <p:nvPr/>
        </p:nvCxnSpPr>
        <p:spPr>
          <a:xfrm>
            <a:off x="8596147" y="2845836"/>
            <a:ext cx="0" cy="4335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2598236" y="5477069"/>
            <a:ext cx="6880763" cy="489737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3586663" y="6116256"/>
            <a:ext cx="490390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設定結束點擊存檔</a:t>
            </a:r>
            <a:r>
              <a:rPr lang="en-US" altLang="zh-TW" dirty="0" smtClean="0">
                <a:cs typeface="+mn-ea"/>
                <a:sym typeface="+mn-lt"/>
              </a:rPr>
              <a:t>/</a:t>
            </a:r>
            <a:r>
              <a:rPr lang="zh-TW" altLang="en-US" dirty="0" smtClean="0">
                <a:cs typeface="+mn-ea"/>
                <a:sym typeface="+mn-lt"/>
              </a:rPr>
              <a:t>取消結束簽核流程人員設定</a:t>
            </a:r>
            <a:endParaRPr lang="zh-TW" altLang="en-US" dirty="0" smtClean="0">
              <a:cs typeface="+mn-ea"/>
              <a:sym typeface="+mn-lt"/>
            </a:endParaRPr>
          </a:p>
        </p:txBody>
      </p:sp>
      <p:cxnSp>
        <p:nvCxnSpPr>
          <p:cNvPr id="75" name="直線接點 74"/>
          <p:cNvCxnSpPr>
            <a:stCxn id="72" idx="2"/>
            <a:endCxn id="73" idx="0"/>
          </p:cNvCxnSpPr>
          <p:nvPr/>
        </p:nvCxnSpPr>
        <p:spPr>
          <a:xfrm flipH="1">
            <a:off x="6038617" y="5966806"/>
            <a:ext cx="1" cy="1494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群組 79"/>
          <p:cNvGrpSpPr/>
          <p:nvPr/>
        </p:nvGrpSpPr>
        <p:grpSpPr>
          <a:xfrm>
            <a:off x="1201957" y="875936"/>
            <a:ext cx="9187130" cy="369332"/>
            <a:chOff x="1876224" y="849465"/>
            <a:chExt cx="9187130" cy="369332"/>
          </a:xfrm>
        </p:grpSpPr>
        <p:sp>
          <p:nvSpPr>
            <p:cNvPr id="10" name="文字方塊 9"/>
            <p:cNvSpPr txBox="1"/>
            <p:nvPr/>
          </p:nvSpPr>
          <p:spPr>
            <a:xfrm>
              <a:off x="1876224" y="849465"/>
              <a:ext cx="9187130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zh-TW" altLang="en-US" dirty="0">
                  <a:cs typeface="+mn-ea"/>
                  <a:sym typeface="+mn-lt"/>
                </a:rPr>
                <a:t>使用</a:t>
              </a:r>
              <a:r>
                <a:rPr lang="zh-TW" altLang="en-US" dirty="0" smtClean="0">
                  <a:cs typeface="+mn-ea"/>
                  <a:sym typeface="+mn-lt"/>
                </a:rPr>
                <a:t>系統各流程時，於新增紀錄或點擊畫面中　　　　　　鈕時，將顯示以下設定畫面。</a:t>
              </a:r>
              <a:endParaRPr lang="zh-TW" altLang="en-US" dirty="0" smtClean="0">
                <a:cs typeface="+mn-ea"/>
                <a:sym typeface="+mn-lt"/>
              </a:endParaRPr>
            </a:p>
          </p:txBody>
        </p:sp>
        <p:pic>
          <p:nvPicPr>
            <p:cNvPr id="79" name="圖片 7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48099" y="898902"/>
              <a:ext cx="1133633" cy="247685"/>
            </a:xfrm>
            <a:prstGeom prst="rect">
              <a:avLst/>
            </a:prstGeom>
          </p:spPr>
        </p:pic>
      </p:grpSp>
      <p:sp>
        <p:nvSpPr>
          <p:cNvPr id="84" name="文字方塊 83"/>
          <p:cNvSpPr txBox="1"/>
          <p:nvPr/>
        </p:nvSpPr>
        <p:spPr>
          <a:xfrm>
            <a:off x="37577" y="6338436"/>
            <a:ext cx="33602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註 </a:t>
            </a:r>
            <a:r>
              <a:rPr lang="en-US" altLang="zh-TW" dirty="0" smtClean="0">
                <a:cs typeface="+mn-ea"/>
                <a:sym typeface="+mn-lt"/>
              </a:rPr>
              <a:t>:</a:t>
            </a:r>
            <a:r>
              <a:rPr lang="zh-TW" altLang="en-US" dirty="0" smtClean="0">
                <a:cs typeface="+mn-ea"/>
                <a:sym typeface="+mn-lt"/>
              </a:rPr>
              <a:t> 人員順序由左至右橫向排序</a:t>
            </a:r>
            <a:endParaRPr lang="zh-TW" altLang="en-US" dirty="0" smtClean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771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7" y="30746"/>
            <a:ext cx="8558569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 smtClean="0">
                <a:solidFill>
                  <a:srgbClr val="39759D"/>
                </a:solidFill>
                <a:cs typeface="+mn-ea"/>
                <a:sym typeface="+mn-lt"/>
              </a:rPr>
              <a:t>履約系統簽核流程操作說明</a:t>
            </a:r>
            <a:r>
              <a:rPr lang="en-US" altLang="zh-TW" sz="3200" b="1" dirty="0" smtClean="0">
                <a:solidFill>
                  <a:srgbClr val="39759D"/>
                </a:solidFill>
                <a:cs typeface="+mn-ea"/>
                <a:sym typeface="+mn-lt"/>
              </a:rPr>
              <a:t>-</a:t>
            </a:r>
            <a:r>
              <a:rPr lang="zh-TW" altLang="en-US" sz="3200" b="1" dirty="0" smtClean="0">
                <a:solidFill>
                  <a:srgbClr val="39759D"/>
                </a:solidFill>
                <a:cs typeface="+mn-ea"/>
                <a:sym typeface="+mn-lt"/>
              </a:rPr>
              <a:t>查看人員設定</a:t>
            </a:r>
            <a:endParaRPr lang="zh-TW" altLang="en-US" sz="3200" b="1" dirty="0">
              <a:solidFill>
                <a:srgbClr val="39759D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7580216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61" y="2033900"/>
            <a:ext cx="11139722" cy="250859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883861" y="2033899"/>
            <a:ext cx="5687922" cy="480700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6061066" y="1180169"/>
            <a:ext cx="533351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於流程中尋找簽章資訊頁籤並選取跳至該分頁</a:t>
            </a:r>
            <a:r>
              <a:rPr lang="en-US" altLang="zh-TW" dirty="0" smtClean="0">
                <a:cs typeface="+mn-ea"/>
                <a:sym typeface="+mn-lt"/>
              </a:rPr>
              <a:t>(</a:t>
            </a:r>
            <a:r>
              <a:rPr lang="zh-TW" altLang="en-US" dirty="0" smtClean="0">
                <a:cs typeface="+mn-ea"/>
                <a:sym typeface="+mn-lt"/>
              </a:rPr>
              <a:t>註</a:t>
            </a:r>
            <a:r>
              <a:rPr lang="en-US" altLang="zh-TW" dirty="0" smtClean="0">
                <a:cs typeface="+mn-ea"/>
                <a:sym typeface="+mn-lt"/>
              </a:rPr>
              <a:t>1)</a:t>
            </a:r>
            <a:endParaRPr lang="zh-TW" altLang="en-US" dirty="0" smtClean="0">
              <a:cs typeface="+mn-ea"/>
              <a:sym typeface="+mn-lt"/>
            </a:endParaRPr>
          </a:p>
        </p:txBody>
      </p:sp>
      <p:cxnSp>
        <p:nvCxnSpPr>
          <p:cNvPr id="13" name="直線接點 12"/>
          <p:cNvCxnSpPr>
            <a:stCxn id="4" idx="0"/>
            <a:endCxn id="9" idx="2"/>
          </p:cNvCxnSpPr>
          <p:nvPr/>
        </p:nvCxnSpPr>
        <p:spPr>
          <a:xfrm flipV="1">
            <a:off x="8727822" y="1549501"/>
            <a:ext cx="0" cy="4843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571500" y="3429000"/>
            <a:ext cx="330200" cy="292100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701956" y="1347169"/>
            <a:ext cx="387798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橘色原點標註人員為當下應操作人員</a:t>
            </a:r>
            <a:endParaRPr lang="zh-TW" altLang="en-US" dirty="0" smtClean="0">
              <a:cs typeface="+mn-ea"/>
              <a:sym typeface="+mn-lt"/>
            </a:endParaRPr>
          </a:p>
        </p:txBody>
      </p:sp>
      <p:cxnSp>
        <p:nvCxnSpPr>
          <p:cNvPr id="18" name="肘形接點 17"/>
          <p:cNvCxnSpPr>
            <a:stCxn id="15" idx="1"/>
            <a:endCxn id="16" idx="1"/>
          </p:cNvCxnSpPr>
          <p:nvPr/>
        </p:nvCxnSpPr>
        <p:spPr>
          <a:xfrm rot="10800000" flipH="1">
            <a:off x="571500" y="1531836"/>
            <a:ext cx="130456" cy="2043215"/>
          </a:xfrm>
          <a:prstGeom prst="bentConnector3">
            <a:avLst>
              <a:gd name="adj1" fmla="val -175231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7315200" y="2997200"/>
            <a:ext cx="889000" cy="1143000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3158484" y="4458295"/>
            <a:ext cx="364715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若以簽章則會於此處顯示簽章時間</a:t>
            </a:r>
            <a:endParaRPr lang="zh-TW" altLang="en-US" dirty="0" smtClean="0">
              <a:cs typeface="+mn-ea"/>
              <a:sym typeface="+mn-lt"/>
            </a:endParaRPr>
          </a:p>
        </p:txBody>
      </p:sp>
      <p:cxnSp>
        <p:nvCxnSpPr>
          <p:cNvPr id="48" name="肘形接點 47"/>
          <p:cNvCxnSpPr>
            <a:stCxn id="37" idx="2"/>
            <a:endCxn id="44" idx="3"/>
          </p:cNvCxnSpPr>
          <p:nvPr/>
        </p:nvCxnSpPr>
        <p:spPr>
          <a:xfrm rot="5400000">
            <a:off x="7031288" y="3914548"/>
            <a:ext cx="502761" cy="954064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8596146" y="2997200"/>
            <a:ext cx="916154" cy="1142999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7195381" y="5396467"/>
            <a:ext cx="371768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於簽核時的備注將在這裡顯示</a:t>
            </a:r>
            <a:r>
              <a:rPr lang="en-US" altLang="zh-TW" dirty="0" smtClean="0">
                <a:cs typeface="+mn-ea"/>
                <a:sym typeface="+mn-lt"/>
              </a:rPr>
              <a:t>(</a:t>
            </a:r>
            <a:r>
              <a:rPr lang="zh-TW" altLang="en-US" dirty="0" smtClean="0">
                <a:cs typeface="+mn-ea"/>
                <a:sym typeface="+mn-lt"/>
              </a:rPr>
              <a:t>註</a:t>
            </a:r>
            <a:r>
              <a:rPr lang="en-US" altLang="zh-TW" dirty="0" smtClean="0">
                <a:cs typeface="+mn-ea"/>
                <a:sym typeface="+mn-lt"/>
              </a:rPr>
              <a:t>2)</a:t>
            </a:r>
            <a:endParaRPr lang="zh-TW" altLang="en-US" dirty="0" smtClean="0">
              <a:cs typeface="+mn-ea"/>
              <a:sym typeface="+mn-lt"/>
            </a:endParaRPr>
          </a:p>
        </p:txBody>
      </p:sp>
      <p:cxnSp>
        <p:nvCxnSpPr>
          <p:cNvPr id="52" name="直線接點 51"/>
          <p:cNvCxnSpPr>
            <a:stCxn id="49" idx="2"/>
            <a:endCxn id="50" idx="0"/>
          </p:cNvCxnSpPr>
          <p:nvPr/>
        </p:nvCxnSpPr>
        <p:spPr>
          <a:xfrm>
            <a:off x="9054223" y="4140199"/>
            <a:ext cx="0" cy="12562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/>
          <p:cNvSpPr txBox="1"/>
          <p:nvPr/>
        </p:nvSpPr>
        <p:spPr>
          <a:xfrm>
            <a:off x="37577" y="6163241"/>
            <a:ext cx="8807219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註</a:t>
            </a:r>
            <a:r>
              <a:rPr lang="en-US" altLang="zh-TW" dirty="0" smtClean="0">
                <a:cs typeface="+mn-ea"/>
                <a:sym typeface="+mn-lt"/>
              </a:rPr>
              <a:t>1</a:t>
            </a:r>
            <a:r>
              <a:rPr lang="zh-TW" altLang="en-US" dirty="0" smtClean="0">
                <a:cs typeface="+mn-ea"/>
                <a:sym typeface="+mn-lt"/>
              </a:rPr>
              <a:t> </a:t>
            </a:r>
            <a:r>
              <a:rPr lang="en-US" altLang="zh-TW" dirty="0" smtClean="0">
                <a:cs typeface="+mn-ea"/>
                <a:sym typeface="+mn-lt"/>
              </a:rPr>
              <a:t>:</a:t>
            </a:r>
            <a:r>
              <a:rPr lang="zh-TW" altLang="en-US" dirty="0" smtClean="0">
                <a:cs typeface="+mn-ea"/>
                <a:sym typeface="+mn-lt"/>
              </a:rPr>
              <a:t> 若無顯示簽章資訊則代表該流程不需簽核，使用對應辦理權責編輯後完成即可。</a:t>
            </a:r>
            <a:endParaRPr lang="en-US" altLang="zh-TW" dirty="0" smtClean="0">
              <a:cs typeface="+mn-ea"/>
              <a:sym typeface="+mn-lt"/>
            </a:endParaRPr>
          </a:p>
          <a:p>
            <a:pPr algn="l"/>
            <a:r>
              <a:rPr lang="zh-TW" altLang="en-US" dirty="0">
                <a:cs typeface="+mn-ea"/>
                <a:sym typeface="+mn-lt"/>
              </a:rPr>
              <a:t>註</a:t>
            </a:r>
            <a:r>
              <a:rPr lang="en-US" altLang="zh-TW" dirty="0" smtClean="0">
                <a:cs typeface="+mn-ea"/>
                <a:sym typeface="+mn-lt"/>
              </a:rPr>
              <a:t>2</a:t>
            </a:r>
            <a:r>
              <a:rPr lang="zh-TW" altLang="en-US" dirty="0" smtClean="0">
                <a:cs typeface="+mn-ea"/>
                <a:sym typeface="+mn-lt"/>
              </a:rPr>
              <a:t> </a:t>
            </a:r>
            <a:r>
              <a:rPr lang="en-US" altLang="zh-TW" dirty="0" smtClean="0">
                <a:cs typeface="+mn-ea"/>
                <a:sym typeface="+mn-lt"/>
              </a:rPr>
              <a:t>:</a:t>
            </a:r>
            <a:r>
              <a:rPr lang="zh-TW" altLang="en-US" dirty="0" smtClean="0">
                <a:cs typeface="+mn-ea"/>
                <a:sym typeface="+mn-lt"/>
              </a:rPr>
              <a:t> </a:t>
            </a:r>
            <a:r>
              <a:rPr lang="zh-TW" altLang="en-US" dirty="0">
                <a:cs typeface="+mn-ea"/>
                <a:sym typeface="+mn-lt"/>
              </a:rPr>
              <a:t>簽</a:t>
            </a:r>
            <a:r>
              <a:rPr lang="zh-TW" altLang="en-US" dirty="0" smtClean="0">
                <a:cs typeface="+mn-ea"/>
                <a:sym typeface="+mn-lt"/>
              </a:rPr>
              <a:t>核於下一頁講解。</a:t>
            </a:r>
            <a:endParaRPr lang="zh-TW" altLang="en-US" dirty="0" smtClean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63122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7" y="30746"/>
            <a:ext cx="8558569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 smtClean="0">
                <a:solidFill>
                  <a:srgbClr val="39759D"/>
                </a:solidFill>
                <a:cs typeface="+mn-ea"/>
                <a:sym typeface="+mn-lt"/>
              </a:rPr>
              <a:t>履約系統簽核流程操作說明</a:t>
            </a:r>
            <a:r>
              <a:rPr lang="en-US" altLang="zh-TW" sz="3200" b="1" dirty="0" smtClean="0">
                <a:solidFill>
                  <a:srgbClr val="39759D"/>
                </a:solidFill>
                <a:cs typeface="+mn-ea"/>
                <a:sym typeface="+mn-lt"/>
              </a:rPr>
              <a:t>-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簽核</a:t>
            </a:r>
            <a:endParaRPr lang="zh-TW" altLang="en-US" sz="3200" b="1" dirty="0">
              <a:solidFill>
                <a:srgbClr val="39759D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5934400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00" y="861665"/>
            <a:ext cx="9937222" cy="331663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890000" y="3022600"/>
            <a:ext cx="965200" cy="1016000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780824" y="4622800"/>
            <a:ext cx="664797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於需要簽核之流程頁面右下角點擊</a:t>
            </a:r>
            <a:r>
              <a:rPr lang="zh-TW" altLang="en-US" dirty="0" smtClean="0">
                <a:solidFill>
                  <a:srgbClr val="FF0000"/>
                </a:solidFill>
                <a:cs typeface="+mn-ea"/>
                <a:sym typeface="+mn-lt"/>
              </a:rPr>
              <a:t>簽核程序</a:t>
            </a:r>
            <a:r>
              <a:rPr lang="zh-TW" altLang="en-US" dirty="0" smtClean="0">
                <a:cs typeface="+mn-ea"/>
                <a:sym typeface="+mn-lt"/>
              </a:rPr>
              <a:t>以呼叫簽核程序視窗</a:t>
            </a:r>
            <a:endParaRPr lang="zh-TW" altLang="en-US" dirty="0" smtClean="0">
              <a:cs typeface="+mn-ea"/>
              <a:sym typeface="+mn-lt"/>
            </a:endParaRPr>
          </a:p>
        </p:txBody>
      </p:sp>
      <p:cxnSp>
        <p:nvCxnSpPr>
          <p:cNvPr id="12" name="肘形接點 11"/>
          <p:cNvCxnSpPr>
            <a:stCxn id="10" idx="0"/>
            <a:endCxn id="8" idx="1"/>
          </p:cNvCxnSpPr>
          <p:nvPr/>
        </p:nvCxnSpPr>
        <p:spPr>
          <a:xfrm rot="5400000" flipH="1" flipV="1">
            <a:off x="6451305" y="2184106"/>
            <a:ext cx="1092200" cy="378518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546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7" y="30746"/>
            <a:ext cx="8558569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 smtClean="0">
                <a:solidFill>
                  <a:srgbClr val="39759D"/>
                </a:solidFill>
                <a:cs typeface="+mn-ea"/>
                <a:sym typeface="+mn-lt"/>
              </a:rPr>
              <a:t>履約系統簽核流程操作說明</a:t>
            </a:r>
            <a:r>
              <a:rPr lang="en-US" altLang="zh-TW" sz="3200" b="1" dirty="0" smtClean="0">
                <a:solidFill>
                  <a:srgbClr val="39759D"/>
                </a:solidFill>
                <a:cs typeface="+mn-ea"/>
                <a:sym typeface="+mn-lt"/>
              </a:rPr>
              <a:t>-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簽核</a:t>
            </a:r>
            <a:endParaRPr lang="zh-TW" altLang="en-US" sz="3200" b="1" dirty="0">
              <a:solidFill>
                <a:srgbClr val="39759D"/>
              </a:solidFill>
              <a:cs typeface="+mn-ea"/>
              <a:sym typeface="+mn-lt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150" y="695773"/>
            <a:ext cx="9719700" cy="468966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982150" y="1104900"/>
            <a:ext cx="1659450" cy="419100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2895600" y="1129784"/>
            <a:ext cx="233269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>
                <a:cs typeface="+mn-ea"/>
                <a:sym typeface="+mn-lt"/>
              </a:rPr>
              <a:t>需選取核定</a:t>
            </a:r>
            <a:r>
              <a:rPr lang="zh-TW" altLang="en-US" dirty="0" smtClean="0">
                <a:cs typeface="+mn-ea"/>
                <a:sym typeface="+mn-lt"/>
              </a:rPr>
              <a:t>結果</a:t>
            </a:r>
            <a:r>
              <a:rPr lang="en-US" altLang="zh-TW" dirty="0" smtClean="0">
                <a:cs typeface="+mn-ea"/>
                <a:sym typeface="+mn-lt"/>
              </a:rPr>
              <a:t>(</a:t>
            </a:r>
            <a:r>
              <a:rPr lang="zh-TW" altLang="en-US" dirty="0" smtClean="0">
                <a:cs typeface="+mn-ea"/>
                <a:sym typeface="+mn-lt"/>
              </a:rPr>
              <a:t>註</a:t>
            </a:r>
            <a:r>
              <a:rPr lang="en-US" altLang="zh-TW" dirty="0" smtClean="0">
                <a:cs typeface="+mn-ea"/>
                <a:sym typeface="+mn-lt"/>
              </a:rPr>
              <a:t>1)</a:t>
            </a:r>
          </a:p>
        </p:txBody>
      </p:sp>
      <p:cxnSp>
        <p:nvCxnSpPr>
          <p:cNvPr id="13" name="直線接點 12"/>
          <p:cNvCxnSpPr>
            <a:stCxn id="9" idx="1"/>
            <a:endCxn id="7" idx="3"/>
          </p:cNvCxnSpPr>
          <p:nvPr/>
        </p:nvCxnSpPr>
        <p:spPr>
          <a:xfrm flipH="1">
            <a:off x="2641600" y="1314450"/>
            <a:ext cx="25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5842000" y="1104900"/>
            <a:ext cx="4762500" cy="876300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7438420" y="306544"/>
            <a:ext cx="156966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設定發文字號</a:t>
            </a:r>
            <a:endParaRPr lang="zh-TW" altLang="en-US" dirty="0" smtClean="0">
              <a:cs typeface="+mn-ea"/>
              <a:sym typeface="+mn-lt"/>
            </a:endParaRPr>
          </a:p>
        </p:txBody>
      </p:sp>
      <p:cxnSp>
        <p:nvCxnSpPr>
          <p:cNvPr id="17" name="直線接點 16"/>
          <p:cNvCxnSpPr>
            <a:stCxn id="15" idx="2"/>
            <a:endCxn id="14" idx="0"/>
          </p:cNvCxnSpPr>
          <p:nvPr/>
        </p:nvCxnSpPr>
        <p:spPr>
          <a:xfrm>
            <a:off x="8223250" y="675876"/>
            <a:ext cx="0" cy="4290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1612900" y="1979479"/>
            <a:ext cx="4131750" cy="890722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451100" y="2257158"/>
            <a:ext cx="203132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於此處可登打備註</a:t>
            </a:r>
            <a:endParaRPr lang="zh-TW" altLang="en-US" dirty="0" smtClean="0">
              <a:cs typeface="+mn-ea"/>
              <a:sym typeface="+mn-lt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858000" y="3226116"/>
            <a:ext cx="939800" cy="1015683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35" name="肘形接點 34"/>
          <p:cNvCxnSpPr>
            <a:stCxn id="19" idx="3"/>
            <a:endCxn id="29" idx="0"/>
          </p:cNvCxnSpPr>
          <p:nvPr/>
        </p:nvCxnSpPr>
        <p:spPr>
          <a:xfrm>
            <a:off x="5744650" y="2424840"/>
            <a:ext cx="1583250" cy="80127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982150" y="3226116"/>
            <a:ext cx="9622350" cy="1206184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777662" y="4607144"/>
            <a:ext cx="203132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參與本次簽核人員</a:t>
            </a:r>
            <a:endParaRPr lang="zh-TW" altLang="en-US" dirty="0" smtClean="0">
              <a:cs typeface="+mn-ea"/>
              <a:sym typeface="+mn-lt"/>
            </a:endParaRPr>
          </a:p>
        </p:txBody>
      </p:sp>
      <p:cxnSp>
        <p:nvCxnSpPr>
          <p:cNvPr id="39" name="直線接點 38"/>
          <p:cNvCxnSpPr>
            <a:stCxn id="37" idx="0"/>
            <a:endCxn id="36" idx="2"/>
          </p:cNvCxnSpPr>
          <p:nvPr/>
        </p:nvCxnSpPr>
        <p:spPr>
          <a:xfrm flipV="1">
            <a:off x="5793325" y="4432300"/>
            <a:ext cx="0" cy="1748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982150" y="4976476"/>
            <a:ext cx="1786450" cy="281324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5793324" y="3226116"/>
            <a:ext cx="742951" cy="1015683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52" name="肘形接點 51"/>
          <p:cNvCxnSpPr>
            <a:stCxn id="41" idx="0"/>
            <a:endCxn id="48" idx="1"/>
          </p:cNvCxnSpPr>
          <p:nvPr/>
        </p:nvCxnSpPr>
        <p:spPr>
          <a:xfrm rot="5400000" flipH="1" flipV="1">
            <a:off x="3213090" y="2396243"/>
            <a:ext cx="1242518" cy="391794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字方塊 52"/>
          <p:cNvSpPr txBox="1"/>
          <p:nvPr/>
        </p:nvSpPr>
        <p:spPr>
          <a:xfrm>
            <a:off x="684242" y="5554562"/>
            <a:ext cx="526297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送出時的簽章時間以按下送出當下的此處時間為準</a:t>
            </a:r>
            <a:endParaRPr lang="zh-TW" altLang="en-US" dirty="0" smtClean="0">
              <a:cs typeface="+mn-ea"/>
              <a:sym typeface="+mn-lt"/>
            </a:endParaRPr>
          </a:p>
        </p:txBody>
      </p:sp>
      <p:cxnSp>
        <p:nvCxnSpPr>
          <p:cNvPr id="59" name="肘形接點 58"/>
          <p:cNvCxnSpPr>
            <a:stCxn id="41" idx="3"/>
            <a:endCxn id="53" idx="0"/>
          </p:cNvCxnSpPr>
          <p:nvPr/>
        </p:nvCxnSpPr>
        <p:spPr>
          <a:xfrm>
            <a:off x="2768600" y="5117138"/>
            <a:ext cx="547132" cy="437424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5842000" y="2082799"/>
            <a:ext cx="694275" cy="254315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7438420" y="2400757"/>
            <a:ext cx="341632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設定完成後點擊此鍵發文並簽章</a:t>
            </a:r>
            <a:endParaRPr lang="zh-TW" altLang="en-US" dirty="0" smtClean="0">
              <a:cs typeface="+mn-ea"/>
              <a:sym typeface="+mn-lt"/>
            </a:endParaRPr>
          </a:p>
        </p:txBody>
      </p:sp>
      <p:cxnSp>
        <p:nvCxnSpPr>
          <p:cNvPr id="65" name="肘形接點 64"/>
          <p:cNvCxnSpPr>
            <a:stCxn id="60" idx="3"/>
            <a:endCxn id="63" idx="0"/>
          </p:cNvCxnSpPr>
          <p:nvPr/>
        </p:nvCxnSpPr>
        <p:spPr>
          <a:xfrm>
            <a:off x="6536275" y="2209957"/>
            <a:ext cx="2610305" cy="190800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字方塊 67"/>
          <p:cNvSpPr txBox="1"/>
          <p:nvPr/>
        </p:nvSpPr>
        <p:spPr>
          <a:xfrm>
            <a:off x="61022" y="6346425"/>
            <a:ext cx="442140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註 </a:t>
            </a:r>
            <a:r>
              <a:rPr lang="en-US" altLang="zh-TW" dirty="0" smtClean="0">
                <a:cs typeface="+mn-ea"/>
                <a:sym typeface="+mn-lt"/>
              </a:rPr>
              <a:t>:</a:t>
            </a:r>
            <a:r>
              <a:rPr lang="zh-TW" altLang="en-US" dirty="0" smtClean="0">
                <a:cs typeface="+mn-ea"/>
                <a:sym typeface="+mn-lt"/>
              </a:rPr>
              <a:t> 簽章憑證將於憑證管理進行相關說明</a:t>
            </a:r>
            <a:endParaRPr lang="zh-TW" altLang="en-US" dirty="0" smtClean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5255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7" y="30746"/>
            <a:ext cx="8558569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 smtClean="0">
                <a:solidFill>
                  <a:srgbClr val="39759D"/>
                </a:solidFill>
                <a:cs typeface="+mn-ea"/>
                <a:sym typeface="+mn-lt"/>
              </a:rPr>
              <a:t>履約系統簽核流程操作說明</a:t>
            </a:r>
            <a:r>
              <a:rPr lang="en-US" altLang="zh-TW" sz="3200" b="1" dirty="0" smtClean="0">
                <a:solidFill>
                  <a:srgbClr val="39759D"/>
                </a:solidFill>
                <a:cs typeface="+mn-ea"/>
                <a:sym typeface="+mn-lt"/>
              </a:rPr>
              <a:t>-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簽核</a:t>
            </a:r>
            <a:endParaRPr lang="zh-TW" altLang="en-US" sz="3200" b="1" dirty="0">
              <a:solidFill>
                <a:srgbClr val="39759D"/>
              </a:solidFill>
              <a:cs typeface="+mn-ea"/>
              <a:sym typeface="+mn-lt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150" y="695773"/>
            <a:ext cx="9719700" cy="468966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982150" y="1104900"/>
            <a:ext cx="1659450" cy="419100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2895600" y="1129784"/>
            <a:ext cx="233269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>
                <a:cs typeface="+mn-ea"/>
                <a:sym typeface="+mn-lt"/>
              </a:rPr>
              <a:t>需選取核定</a:t>
            </a:r>
            <a:r>
              <a:rPr lang="zh-TW" altLang="en-US" dirty="0" smtClean="0">
                <a:cs typeface="+mn-ea"/>
                <a:sym typeface="+mn-lt"/>
              </a:rPr>
              <a:t>結果</a:t>
            </a:r>
            <a:r>
              <a:rPr lang="en-US" altLang="zh-TW" dirty="0" smtClean="0">
                <a:cs typeface="+mn-ea"/>
                <a:sym typeface="+mn-lt"/>
              </a:rPr>
              <a:t>(</a:t>
            </a:r>
            <a:r>
              <a:rPr lang="zh-TW" altLang="en-US" dirty="0" smtClean="0">
                <a:cs typeface="+mn-ea"/>
                <a:sym typeface="+mn-lt"/>
              </a:rPr>
              <a:t>註</a:t>
            </a:r>
            <a:r>
              <a:rPr lang="en-US" altLang="zh-TW" dirty="0" smtClean="0">
                <a:cs typeface="+mn-ea"/>
                <a:sym typeface="+mn-lt"/>
              </a:rPr>
              <a:t>1)</a:t>
            </a:r>
          </a:p>
        </p:txBody>
      </p:sp>
      <p:cxnSp>
        <p:nvCxnSpPr>
          <p:cNvPr id="13" name="直線接點 12"/>
          <p:cNvCxnSpPr>
            <a:stCxn id="9" idx="1"/>
            <a:endCxn id="7" idx="3"/>
          </p:cNvCxnSpPr>
          <p:nvPr/>
        </p:nvCxnSpPr>
        <p:spPr>
          <a:xfrm flipH="1">
            <a:off x="2641600" y="1314450"/>
            <a:ext cx="25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5842000" y="1104900"/>
            <a:ext cx="4762500" cy="876300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7438420" y="306544"/>
            <a:ext cx="156966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設定發文字號</a:t>
            </a:r>
            <a:endParaRPr lang="zh-TW" altLang="en-US" dirty="0" smtClean="0">
              <a:cs typeface="+mn-ea"/>
              <a:sym typeface="+mn-lt"/>
            </a:endParaRPr>
          </a:p>
        </p:txBody>
      </p:sp>
      <p:cxnSp>
        <p:nvCxnSpPr>
          <p:cNvPr id="17" name="直線接點 16"/>
          <p:cNvCxnSpPr>
            <a:stCxn id="15" idx="2"/>
            <a:endCxn id="14" idx="0"/>
          </p:cNvCxnSpPr>
          <p:nvPr/>
        </p:nvCxnSpPr>
        <p:spPr>
          <a:xfrm>
            <a:off x="8223250" y="675876"/>
            <a:ext cx="0" cy="4290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1612900" y="1979479"/>
            <a:ext cx="4131750" cy="890722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451100" y="2257158"/>
            <a:ext cx="203132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於此處可登打備註</a:t>
            </a:r>
            <a:endParaRPr lang="zh-TW" altLang="en-US" dirty="0" smtClean="0">
              <a:cs typeface="+mn-ea"/>
              <a:sym typeface="+mn-lt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858000" y="3313842"/>
            <a:ext cx="939800" cy="927957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35" name="肘形接點 34"/>
          <p:cNvCxnSpPr>
            <a:stCxn id="19" idx="3"/>
            <a:endCxn id="29" idx="0"/>
          </p:cNvCxnSpPr>
          <p:nvPr/>
        </p:nvCxnSpPr>
        <p:spPr>
          <a:xfrm>
            <a:off x="5744650" y="2424840"/>
            <a:ext cx="1583250" cy="88900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982150" y="3226116"/>
            <a:ext cx="9622350" cy="1206184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777662" y="4607144"/>
            <a:ext cx="203132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參與本次簽核人員</a:t>
            </a:r>
            <a:endParaRPr lang="zh-TW" altLang="en-US" dirty="0" smtClean="0">
              <a:cs typeface="+mn-ea"/>
              <a:sym typeface="+mn-lt"/>
            </a:endParaRPr>
          </a:p>
        </p:txBody>
      </p:sp>
      <p:cxnSp>
        <p:nvCxnSpPr>
          <p:cNvPr id="39" name="直線接點 38"/>
          <p:cNvCxnSpPr>
            <a:stCxn id="37" idx="0"/>
            <a:endCxn id="36" idx="2"/>
          </p:cNvCxnSpPr>
          <p:nvPr/>
        </p:nvCxnSpPr>
        <p:spPr>
          <a:xfrm flipV="1">
            <a:off x="5793325" y="4432300"/>
            <a:ext cx="0" cy="1748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982150" y="4976476"/>
            <a:ext cx="1786450" cy="281324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5793324" y="3325001"/>
            <a:ext cx="742951" cy="916798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52" name="肘形接點 51"/>
          <p:cNvCxnSpPr>
            <a:stCxn id="41" idx="0"/>
            <a:endCxn id="48" idx="1"/>
          </p:cNvCxnSpPr>
          <p:nvPr/>
        </p:nvCxnSpPr>
        <p:spPr>
          <a:xfrm rot="5400000" flipH="1" flipV="1">
            <a:off x="3213090" y="2396243"/>
            <a:ext cx="1242518" cy="391794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字方塊 52"/>
          <p:cNvSpPr txBox="1"/>
          <p:nvPr/>
        </p:nvSpPr>
        <p:spPr>
          <a:xfrm>
            <a:off x="684242" y="5554562"/>
            <a:ext cx="526297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送出時的簽章時間以按下送出當下的此處時間為準</a:t>
            </a:r>
            <a:endParaRPr lang="zh-TW" altLang="en-US" dirty="0" smtClean="0">
              <a:cs typeface="+mn-ea"/>
              <a:sym typeface="+mn-lt"/>
            </a:endParaRPr>
          </a:p>
        </p:txBody>
      </p:sp>
      <p:cxnSp>
        <p:nvCxnSpPr>
          <p:cNvPr id="59" name="肘形接點 58"/>
          <p:cNvCxnSpPr>
            <a:stCxn id="41" idx="3"/>
            <a:endCxn id="53" idx="0"/>
          </p:cNvCxnSpPr>
          <p:nvPr/>
        </p:nvCxnSpPr>
        <p:spPr>
          <a:xfrm>
            <a:off x="2768600" y="5117138"/>
            <a:ext cx="547132" cy="437424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5842000" y="2082799"/>
            <a:ext cx="694275" cy="254315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7438420" y="2400757"/>
            <a:ext cx="341632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設定完成後點擊此鍵發文並簽章</a:t>
            </a:r>
            <a:endParaRPr lang="zh-TW" altLang="en-US" dirty="0" smtClean="0">
              <a:cs typeface="+mn-ea"/>
              <a:sym typeface="+mn-lt"/>
            </a:endParaRPr>
          </a:p>
        </p:txBody>
      </p:sp>
      <p:cxnSp>
        <p:nvCxnSpPr>
          <p:cNvPr id="65" name="肘形接點 64"/>
          <p:cNvCxnSpPr>
            <a:stCxn id="60" idx="3"/>
            <a:endCxn id="63" idx="0"/>
          </p:cNvCxnSpPr>
          <p:nvPr/>
        </p:nvCxnSpPr>
        <p:spPr>
          <a:xfrm>
            <a:off x="6536275" y="2209957"/>
            <a:ext cx="2610305" cy="190800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字方塊 67"/>
          <p:cNvSpPr txBox="1"/>
          <p:nvPr/>
        </p:nvSpPr>
        <p:spPr>
          <a:xfrm>
            <a:off x="40628" y="6184530"/>
            <a:ext cx="9474068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註</a:t>
            </a:r>
            <a:r>
              <a:rPr lang="en-US" altLang="zh-TW" dirty="0" smtClean="0">
                <a:cs typeface="+mn-ea"/>
                <a:sym typeface="+mn-lt"/>
              </a:rPr>
              <a:t>1</a:t>
            </a:r>
            <a:r>
              <a:rPr lang="zh-TW" altLang="en-US" dirty="0" smtClean="0">
                <a:cs typeface="+mn-ea"/>
                <a:sym typeface="+mn-lt"/>
              </a:rPr>
              <a:t> </a:t>
            </a:r>
            <a:r>
              <a:rPr lang="en-US" altLang="zh-TW" dirty="0" smtClean="0">
                <a:cs typeface="+mn-ea"/>
                <a:sym typeface="+mn-lt"/>
              </a:rPr>
              <a:t>:</a:t>
            </a:r>
            <a:r>
              <a:rPr lang="zh-TW" altLang="en-US" dirty="0" smtClean="0">
                <a:cs typeface="+mn-ea"/>
                <a:sym typeface="+mn-lt"/>
              </a:rPr>
              <a:t> 此處除了陳核還有 會辦 </a:t>
            </a:r>
            <a:r>
              <a:rPr lang="en-US" altLang="zh-TW" dirty="0" smtClean="0">
                <a:cs typeface="+mn-ea"/>
                <a:sym typeface="+mn-lt"/>
              </a:rPr>
              <a:t>/</a:t>
            </a:r>
            <a:r>
              <a:rPr lang="zh-TW" altLang="en-US" dirty="0" smtClean="0">
                <a:cs typeface="+mn-ea"/>
                <a:sym typeface="+mn-lt"/>
              </a:rPr>
              <a:t> 決行 </a:t>
            </a:r>
            <a:r>
              <a:rPr lang="en-US" altLang="zh-TW" dirty="0" smtClean="0">
                <a:cs typeface="+mn-ea"/>
                <a:sym typeface="+mn-lt"/>
              </a:rPr>
              <a:t>/</a:t>
            </a:r>
            <a:r>
              <a:rPr lang="zh-TW" altLang="en-US" dirty="0" smtClean="0">
                <a:cs typeface="+mn-ea"/>
                <a:sym typeface="+mn-lt"/>
              </a:rPr>
              <a:t> 退回，依照當前帳號於流程中的角色顯示可選取行為。</a:t>
            </a:r>
            <a:endParaRPr lang="en-US" altLang="zh-TW" dirty="0" smtClean="0">
              <a:cs typeface="+mn-ea"/>
              <a:sym typeface="+mn-lt"/>
            </a:endParaRPr>
          </a:p>
          <a:p>
            <a:pPr algn="l"/>
            <a:r>
              <a:rPr lang="zh-TW" altLang="en-US" dirty="0" smtClean="0">
                <a:cs typeface="+mn-ea"/>
                <a:sym typeface="+mn-lt"/>
              </a:rPr>
              <a:t>註</a:t>
            </a:r>
            <a:r>
              <a:rPr lang="en-US" altLang="zh-TW" dirty="0" smtClean="0">
                <a:cs typeface="+mn-ea"/>
                <a:sym typeface="+mn-lt"/>
              </a:rPr>
              <a:t>2</a:t>
            </a:r>
            <a:r>
              <a:rPr lang="zh-TW" altLang="en-US" dirty="0" smtClean="0">
                <a:cs typeface="+mn-ea"/>
                <a:sym typeface="+mn-lt"/>
              </a:rPr>
              <a:t> </a:t>
            </a:r>
            <a:r>
              <a:rPr lang="en-US" altLang="zh-TW" dirty="0" smtClean="0">
                <a:cs typeface="+mn-ea"/>
                <a:sym typeface="+mn-lt"/>
              </a:rPr>
              <a:t>:</a:t>
            </a:r>
            <a:r>
              <a:rPr lang="zh-TW" altLang="en-US" dirty="0" smtClean="0">
                <a:cs typeface="+mn-ea"/>
                <a:sym typeface="+mn-lt"/>
              </a:rPr>
              <a:t> 簽章憑證將於憑證管理進行相關說明</a:t>
            </a:r>
            <a:endParaRPr lang="zh-TW" altLang="en-US" dirty="0" smtClean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661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418</Words>
  <Application>Microsoft Office PowerPoint</Application>
  <PresentationFormat>寬螢幕</PresentationFormat>
  <Paragraphs>48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微軟正黑體</vt:lpstr>
      <vt:lpstr>新細明體</vt:lpstr>
      <vt:lpstr>Arial</vt:lpstr>
      <vt:lpstr>Arial Black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1</cp:revision>
  <dcterms:created xsi:type="dcterms:W3CDTF">2022-01-12T13:46:18Z</dcterms:created>
  <dcterms:modified xsi:type="dcterms:W3CDTF">2022-01-12T13:49:15Z</dcterms:modified>
</cp:coreProperties>
</file>
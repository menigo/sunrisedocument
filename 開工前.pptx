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1264" r:id="rId2"/>
    <p:sldId id="1315" r:id="rId3"/>
    <p:sldId id="1316" r:id="rId4"/>
    <p:sldId id="1317" r:id="rId5"/>
    <p:sldId id="1338" r:id="rId6"/>
    <p:sldId id="1339" r:id="rId7"/>
    <p:sldId id="1312" r:id="rId8"/>
    <p:sldId id="1341" r:id="rId9"/>
    <p:sldId id="1342" r:id="rId10"/>
    <p:sldId id="1343" r:id="rId11"/>
    <p:sldId id="1318" r:id="rId12"/>
    <p:sldId id="1345" r:id="rId13"/>
    <p:sldId id="1347" r:id="rId14"/>
    <p:sldId id="1344" r:id="rId15"/>
    <p:sldId id="1346" r:id="rId16"/>
    <p:sldId id="1319" r:id="rId17"/>
    <p:sldId id="1349" r:id="rId18"/>
    <p:sldId id="1350" r:id="rId19"/>
    <p:sldId id="1356" r:id="rId20"/>
    <p:sldId id="1320" r:id="rId21"/>
    <p:sldId id="1321" r:id="rId22"/>
    <p:sldId id="1340" r:id="rId23"/>
    <p:sldId id="1322" r:id="rId24"/>
    <p:sldId id="1323" r:id="rId25"/>
    <p:sldId id="1348" r:id="rId26"/>
    <p:sldId id="1324" r:id="rId27"/>
    <p:sldId id="1325" r:id="rId28"/>
    <p:sldId id="1326" r:id="rId29"/>
    <p:sldId id="1327" r:id="rId30"/>
    <p:sldId id="1329" r:id="rId31"/>
    <p:sldId id="1328" r:id="rId32"/>
    <p:sldId id="1330" r:id="rId33"/>
    <p:sldId id="1331" r:id="rId34"/>
    <p:sldId id="1332" r:id="rId35"/>
    <p:sldId id="1333" r:id="rId36"/>
    <p:sldId id="1334" r:id="rId37"/>
    <p:sldId id="1335" r:id="rId38"/>
    <p:sldId id="1336" r:id="rId39"/>
    <p:sldId id="1337" r:id="rId40"/>
    <p:sldId id="1292" r:id="rId41"/>
    <p:sldId id="1092" r:id="rId42"/>
  </p:sldIdLst>
  <p:sldSz cx="12192000" cy="6858000"/>
  <p:notesSz cx="6735763" cy="986948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浩然 邱" initials="浩然" lastIdx="4" clrIdx="0">
    <p:extLst>
      <p:ext uri="{19B8F6BF-5375-455C-9EA6-DF929625EA0E}">
        <p15:presenceInfo xmlns:p15="http://schemas.microsoft.com/office/powerpoint/2012/main" userId="80fc205e9e64c697" providerId="Windows Live"/>
      </p:ext>
    </p:extLst>
  </p:cmAuthor>
  <p:cmAuthor id="2" name="YUFANG LIN" initials="YL" lastIdx="10" clrIdx="1">
    <p:extLst>
      <p:ext uri="{19B8F6BF-5375-455C-9EA6-DF929625EA0E}">
        <p15:presenceInfo xmlns:p15="http://schemas.microsoft.com/office/powerpoint/2012/main" userId="f33887a6e075659f" providerId="Windows Live"/>
      </p:ext>
    </p:extLst>
  </p:cmAuthor>
  <p:cmAuthor id="3" name="10140 sunrise" initials="1s" lastIdx="10" clrIdx="2">
    <p:extLst>
      <p:ext uri="{19B8F6BF-5375-455C-9EA6-DF929625EA0E}">
        <p15:presenceInfo xmlns:p15="http://schemas.microsoft.com/office/powerpoint/2012/main" userId="4d8244bf2ae8e4fa" providerId="Windows Live"/>
      </p:ext>
    </p:extLst>
  </p:cmAuthor>
  <p:cmAuthor id="4" name="妤珊" initials="妤珊" lastIdx="14" clrIdx="3">
    <p:extLst>
      <p:ext uri="{19B8F6BF-5375-455C-9EA6-DF929625EA0E}">
        <p15:presenceInfo xmlns:p15="http://schemas.microsoft.com/office/powerpoint/2012/main" userId="a9ed651b00258aaf" providerId="Windows Live"/>
      </p:ext>
    </p:extLst>
  </p:cmAuthor>
  <p:cmAuthor id="5" name="佳莉 陳" initials="佳莉" lastIdx="9" clrIdx="4">
    <p:extLst>
      <p:ext uri="{19B8F6BF-5375-455C-9EA6-DF929625EA0E}">
        <p15:presenceInfo xmlns:p15="http://schemas.microsoft.com/office/powerpoint/2012/main" userId="aed248d31d88f476" providerId="Windows Live"/>
      </p:ext>
    </p:extLst>
  </p:cmAuthor>
  <p:cmAuthor id="6" name="劉 約成" initials="劉" lastIdx="3" clrIdx="5">
    <p:extLst>
      <p:ext uri="{19B8F6BF-5375-455C-9EA6-DF929625EA0E}">
        <p15:presenceInfo xmlns:p15="http://schemas.microsoft.com/office/powerpoint/2012/main" userId="8a2f789c1194b54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F6D9A"/>
    <a:srgbClr val="FF3D7A"/>
    <a:srgbClr val="FFC1D4"/>
    <a:srgbClr val="FFF2CC"/>
    <a:srgbClr val="F47131"/>
    <a:srgbClr val="343536"/>
    <a:srgbClr val="FF9999"/>
    <a:srgbClr val="FD7777"/>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深色樣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A111915-BE36-4E01-A7E5-04B1672EAD32}" styleName="淺色樣式 2 - 輔色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淺色樣式 3 - 輔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66" autoAdjust="0"/>
    <p:restoredTop sz="93906" autoAdjust="0"/>
  </p:normalViewPr>
  <p:slideViewPr>
    <p:cSldViewPr snapToGrid="0">
      <p:cViewPr>
        <p:scale>
          <a:sx n="75" d="100"/>
          <a:sy n="75" d="100"/>
        </p:scale>
        <p:origin x="1158" y="810"/>
      </p:cViewPr>
      <p:guideLst/>
    </p:cSldViewPr>
  </p:slideViewPr>
  <p:notesTextViewPr>
    <p:cViewPr>
      <p:scale>
        <a:sx n="400" d="100"/>
        <a:sy n="400" d="100"/>
      </p:scale>
      <p:origin x="0" y="0"/>
    </p:cViewPr>
  </p:notesTextViewPr>
  <p:sorterViewPr>
    <p:cViewPr varScale="1">
      <p:scale>
        <a:sx n="100" d="100"/>
        <a:sy n="100" d="100"/>
      </p:scale>
      <p:origin x="0" y="-567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18831" cy="4951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15373" y="0"/>
            <a:ext cx="2918831" cy="495188"/>
          </a:xfrm>
          <a:prstGeom prst="rect">
            <a:avLst/>
          </a:prstGeom>
        </p:spPr>
        <p:txBody>
          <a:bodyPr vert="horz" lIns="91440" tIns="45720" rIns="91440" bIns="45720" rtlCol="0"/>
          <a:lstStyle>
            <a:lvl1pPr algn="r">
              <a:defRPr sz="1200"/>
            </a:lvl1pPr>
          </a:lstStyle>
          <a:p>
            <a:fld id="{A54DAA72-4A6A-4898-A5B9-E02DE5971D93}" type="datetimeFigureOut">
              <a:rPr lang="zh-TW" altLang="en-US" smtClean="0"/>
              <a:t>2022/1/12</a:t>
            </a:fld>
            <a:endParaRPr lang="zh-TW" altLang="en-US"/>
          </a:p>
        </p:txBody>
      </p:sp>
      <p:sp>
        <p:nvSpPr>
          <p:cNvPr id="4" name="頁尾版面配置區 3"/>
          <p:cNvSpPr>
            <a:spLocks noGrp="1"/>
          </p:cNvSpPr>
          <p:nvPr>
            <p:ph type="ftr" sz="quarter" idx="2"/>
          </p:nvPr>
        </p:nvSpPr>
        <p:spPr>
          <a:xfrm>
            <a:off x="0" y="9374301"/>
            <a:ext cx="2918831" cy="4951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15373" y="9374301"/>
            <a:ext cx="2918831" cy="495187"/>
          </a:xfrm>
          <a:prstGeom prst="rect">
            <a:avLst/>
          </a:prstGeom>
        </p:spPr>
        <p:txBody>
          <a:bodyPr vert="horz" lIns="91440" tIns="45720" rIns="91440" bIns="45720" rtlCol="0" anchor="b"/>
          <a:lstStyle>
            <a:lvl1pPr algn="r">
              <a:defRPr sz="1200"/>
            </a:lvl1pPr>
          </a:lstStyle>
          <a:p>
            <a:fld id="{D5BF73C7-3DE2-478C-B86C-387D4C7CAD43}" type="slidenum">
              <a:rPr lang="zh-TW" altLang="en-US" smtClean="0"/>
              <a:t>‹#›</a:t>
            </a:fld>
            <a:endParaRPr lang="zh-TW" altLang="en-US"/>
          </a:p>
        </p:txBody>
      </p:sp>
    </p:spTree>
    <p:extLst>
      <p:ext uri="{BB962C8B-B14F-4D97-AF65-F5344CB8AC3E}">
        <p14:creationId xmlns:p14="http://schemas.microsoft.com/office/powerpoint/2010/main" val="419368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18831" cy="4951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15373" y="0"/>
            <a:ext cx="2918831" cy="495188"/>
          </a:xfrm>
          <a:prstGeom prst="rect">
            <a:avLst/>
          </a:prstGeom>
        </p:spPr>
        <p:txBody>
          <a:bodyPr vert="horz" lIns="91440" tIns="45720" rIns="91440" bIns="45720" rtlCol="0"/>
          <a:lstStyle>
            <a:lvl1pPr algn="r">
              <a:defRPr sz="1200"/>
            </a:lvl1pPr>
          </a:lstStyle>
          <a:p>
            <a:fld id="{4D13E498-D6A5-433E-B682-A841DF578F72}" type="datetimeFigureOut">
              <a:rPr lang="zh-TW" altLang="en-US" smtClean="0"/>
              <a:t>2022/1/12</a:t>
            </a:fld>
            <a:endParaRPr lang="zh-TW" altLang="en-US"/>
          </a:p>
        </p:txBody>
      </p:sp>
      <p:sp>
        <p:nvSpPr>
          <p:cNvPr id="4" name="投影片影像版面配置區 3"/>
          <p:cNvSpPr>
            <a:spLocks noGrp="1" noRot="1" noChangeAspect="1"/>
          </p:cNvSpPr>
          <p:nvPr>
            <p:ph type="sldImg" idx="2"/>
          </p:nvPr>
        </p:nvSpPr>
        <p:spPr>
          <a:xfrm>
            <a:off x="407988" y="1233488"/>
            <a:ext cx="5919787" cy="33305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3577" y="4749691"/>
            <a:ext cx="5388610" cy="3886111"/>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374301"/>
            <a:ext cx="2918831" cy="4951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15373" y="9374301"/>
            <a:ext cx="2918831" cy="495187"/>
          </a:xfrm>
          <a:prstGeom prst="rect">
            <a:avLst/>
          </a:prstGeom>
        </p:spPr>
        <p:txBody>
          <a:bodyPr vert="horz" lIns="91440" tIns="45720" rIns="91440" bIns="45720" rtlCol="0" anchor="b"/>
          <a:lstStyle>
            <a:lvl1pPr algn="r">
              <a:defRPr sz="1200"/>
            </a:lvl1pPr>
          </a:lstStyle>
          <a:p>
            <a:fld id="{FB9C1CDC-CB3F-4C6F-802F-7C071E69026E}" type="slidenum">
              <a:rPr lang="zh-TW" altLang="en-US" smtClean="0"/>
              <a:t>‹#›</a:t>
            </a:fld>
            <a:endParaRPr lang="zh-TW" altLang="en-US"/>
          </a:p>
        </p:txBody>
      </p:sp>
    </p:spTree>
    <p:extLst>
      <p:ext uri="{BB962C8B-B14F-4D97-AF65-F5344CB8AC3E}">
        <p14:creationId xmlns:p14="http://schemas.microsoft.com/office/powerpoint/2010/main" val="2816333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a:t>
            </a:fld>
            <a:endParaRPr lang="zh-TW" altLang="en-US"/>
          </a:p>
        </p:txBody>
      </p:sp>
    </p:spTree>
    <p:extLst>
      <p:ext uri="{BB962C8B-B14F-4D97-AF65-F5344CB8AC3E}">
        <p14:creationId xmlns:p14="http://schemas.microsoft.com/office/powerpoint/2010/main" val="1856091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C154149-731F-429D-85D9-92844701DF64}" type="slidenum">
              <a:rPr lang="zh-TW" altLang="en-US" smtClean="0"/>
              <a:t>2</a:t>
            </a:fld>
            <a:endParaRPr lang="zh-TW" altLang="en-US"/>
          </a:p>
        </p:txBody>
      </p:sp>
    </p:spTree>
    <p:extLst>
      <p:ext uri="{BB962C8B-B14F-4D97-AF65-F5344CB8AC3E}">
        <p14:creationId xmlns:p14="http://schemas.microsoft.com/office/powerpoint/2010/main" val="918281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C154149-731F-429D-85D9-92844701DF64}" type="slidenum">
              <a:rPr lang="zh-TW" altLang="en-US" smtClean="0"/>
              <a:t>3</a:t>
            </a:fld>
            <a:endParaRPr lang="zh-TW" altLang="en-US"/>
          </a:p>
        </p:txBody>
      </p:sp>
    </p:spTree>
    <p:extLst>
      <p:ext uri="{BB962C8B-B14F-4D97-AF65-F5344CB8AC3E}">
        <p14:creationId xmlns:p14="http://schemas.microsoft.com/office/powerpoint/2010/main" val="3221024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C154149-731F-429D-85D9-92844701DF64}" type="slidenum">
              <a:rPr lang="zh-TW" altLang="en-US" smtClean="0"/>
              <a:t>4</a:t>
            </a:fld>
            <a:endParaRPr lang="zh-TW" altLang="en-US"/>
          </a:p>
        </p:txBody>
      </p:sp>
    </p:spTree>
    <p:extLst>
      <p:ext uri="{BB962C8B-B14F-4D97-AF65-F5344CB8AC3E}">
        <p14:creationId xmlns:p14="http://schemas.microsoft.com/office/powerpoint/2010/main" val="2445311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C154149-731F-429D-85D9-92844701DF64}" type="slidenum">
              <a:rPr lang="zh-TW" altLang="en-US" smtClean="0"/>
              <a:t>5</a:t>
            </a:fld>
            <a:endParaRPr lang="zh-TW" altLang="en-US"/>
          </a:p>
        </p:txBody>
      </p:sp>
    </p:spTree>
    <p:extLst>
      <p:ext uri="{BB962C8B-B14F-4D97-AF65-F5344CB8AC3E}">
        <p14:creationId xmlns:p14="http://schemas.microsoft.com/office/powerpoint/2010/main" val="2226094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C154149-731F-429D-85D9-92844701DF64}" type="slidenum">
              <a:rPr lang="zh-TW" altLang="en-US" smtClean="0"/>
              <a:t>6</a:t>
            </a:fld>
            <a:endParaRPr lang="zh-TW" altLang="en-US"/>
          </a:p>
        </p:txBody>
      </p:sp>
    </p:spTree>
    <p:extLst>
      <p:ext uri="{BB962C8B-B14F-4D97-AF65-F5344CB8AC3E}">
        <p14:creationId xmlns:p14="http://schemas.microsoft.com/office/powerpoint/2010/main" val="2508013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8</a:t>
            </a:fld>
            <a:endParaRPr lang="zh-TW" altLang="en-US"/>
          </a:p>
        </p:txBody>
      </p:sp>
    </p:spTree>
    <p:extLst>
      <p:ext uri="{BB962C8B-B14F-4D97-AF65-F5344CB8AC3E}">
        <p14:creationId xmlns:p14="http://schemas.microsoft.com/office/powerpoint/2010/main" val="3288335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9</a:t>
            </a:fld>
            <a:endParaRPr lang="zh-TW" altLang="en-US"/>
          </a:p>
        </p:txBody>
      </p:sp>
    </p:spTree>
    <p:extLst>
      <p:ext uri="{BB962C8B-B14F-4D97-AF65-F5344CB8AC3E}">
        <p14:creationId xmlns:p14="http://schemas.microsoft.com/office/powerpoint/2010/main" val="1111936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10</a:t>
            </a:fld>
            <a:endParaRPr lang="zh-TW" altLang="en-US"/>
          </a:p>
        </p:txBody>
      </p:sp>
    </p:spTree>
    <p:extLst>
      <p:ext uri="{BB962C8B-B14F-4D97-AF65-F5344CB8AC3E}">
        <p14:creationId xmlns:p14="http://schemas.microsoft.com/office/powerpoint/2010/main" val="1111097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12</a:t>
            </a:fld>
            <a:endParaRPr lang="zh-TW" altLang="en-US"/>
          </a:p>
        </p:txBody>
      </p:sp>
    </p:spTree>
    <p:extLst>
      <p:ext uri="{BB962C8B-B14F-4D97-AF65-F5344CB8AC3E}">
        <p14:creationId xmlns:p14="http://schemas.microsoft.com/office/powerpoint/2010/main" val="3302393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13</a:t>
            </a:fld>
            <a:endParaRPr lang="zh-TW" altLang="en-US"/>
          </a:p>
        </p:txBody>
      </p:sp>
    </p:spTree>
    <p:extLst>
      <p:ext uri="{BB962C8B-B14F-4D97-AF65-F5344CB8AC3E}">
        <p14:creationId xmlns:p14="http://schemas.microsoft.com/office/powerpoint/2010/main" val="567532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14</a:t>
            </a:fld>
            <a:endParaRPr lang="zh-TW" altLang="en-US"/>
          </a:p>
        </p:txBody>
      </p:sp>
    </p:spTree>
    <p:extLst>
      <p:ext uri="{BB962C8B-B14F-4D97-AF65-F5344CB8AC3E}">
        <p14:creationId xmlns:p14="http://schemas.microsoft.com/office/powerpoint/2010/main" val="228593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15</a:t>
            </a:fld>
            <a:endParaRPr lang="zh-TW" altLang="en-US"/>
          </a:p>
        </p:txBody>
      </p:sp>
    </p:spTree>
    <p:extLst>
      <p:ext uri="{BB962C8B-B14F-4D97-AF65-F5344CB8AC3E}">
        <p14:creationId xmlns:p14="http://schemas.microsoft.com/office/powerpoint/2010/main" val="34854984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17</a:t>
            </a:fld>
            <a:endParaRPr lang="zh-TW" altLang="en-US"/>
          </a:p>
        </p:txBody>
      </p:sp>
    </p:spTree>
    <p:extLst>
      <p:ext uri="{BB962C8B-B14F-4D97-AF65-F5344CB8AC3E}">
        <p14:creationId xmlns:p14="http://schemas.microsoft.com/office/powerpoint/2010/main" val="10626362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18</a:t>
            </a:fld>
            <a:endParaRPr lang="zh-TW" altLang="en-US"/>
          </a:p>
        </p:txBody>
      </p:sp>
    </p:spTree>
    <p:extLst>
      <p:ext uri="{BB962C8B-B14F-4D97-AF65-F5344CB8AC3E}">
        <p14:creationId xmlns:p14="http://schemas.microsoft.com/office/powerpoint/2010/main" val="5549509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19</a:t>
            </a:fld>
            <a:endParaRPr lang="zh-TW" altLang="en-US"/>
          </a:p>
        </p:txBody>
      </p:sp>
    </p:spTree>
    <p:extLst>
      <p:ext uri="{BB962C8B-B14F-4D97-AF65-F5344CB8AC3E}">
        <p14:creationId xmlns:p14="http://schemas.microsoft.com/office/powerpoint/2010/main" val="41993937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25</a:t>
            </a:fld>
            <a:endParaRPr lang="zh-TW" altLang="en-US"/>
          </a:p>
        </p:txBody>
      </p:sp>
    </p:spTree>
    <p:extLst>
      <p:ext uri="{BB962C8B-B14F-4D97-AF65-F5344CB8AC3E}">
        <p14:creationId xmlns:p14="http://schemas.microsoft.com/office/powerpoint/2010/main" val="1010202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40</a:t>
            </a:fld>
            <a:endParaRPr lang="zh-TW" altLang="en-US"/>
          </a:p>
        </p:txBody>
      </p:sp>
    </p:spTree>
    <p:extLst>
      <p:ext uri="{BB962C8B-B14F-4D97-AF65-F5344CB8AC3E}">
        <p14:creationId xmlns:p14="http://schemas.microsoft.com/office/powerpoint/2010/main" val="36116379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41</a:t>
            </a:fld>
            <a:endParaRPr lang="zh-TW" altLang="en-US"/>
          </a:p>
        </p:txBody>
      </p:sp>
    </p:spTree>
    <p:extLst>
      <p:ext uri="{BB962C8B-B14F-4D97-AF65-F5344CB8AC3E}">
        <p14:creationId xmlns:p14="http://schemas.microsoft.com/office/powerpoint/2010/main" val="48538498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32" name="平行四邊形 2">
            <a:extLst>
              <a:ext uri="{FF2B5EF4-FFF2-40B4-BE49-F238E27FC236}">
                <a16:creationId xmlns:a16="http://schemas.microsoft.com/office/drawing/2014/main" id="{7EA660E8-9556-4D3E-BCE8-C1715903129B}"/>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平行四邊形 2">
            <a:extLst>
              <a:ext uri="{FF2B5EF4-FFF2-40B4-BE49-F238E27FC236}">
                <a16:creationId xmlns:a16="http://schemas.microsoft.com/office/drawing/2014/main" id="{4DC73DC3-0A10-4B63-9D07-B05F0E5EDEFF}"/>
              </a:ext>
            </a:extLst>
          </p:cNvPr>
          <p:cNvSpPr/>
          <p:nvPr userDrawn="1"/>
        </p:nvSpPr>
        <p:spPr>
          <a:xfrm>
            <a:off x="-15832" y="1850938"/>
            <a:ext cx="6755168" cy="5036559"/>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 name="connsiteX0" fmla="*/ 4 w 9653085"/>
              <a:gd name="connsiteY0" fmla="*/ 6875771 h 6875771"/>
              <a:gd name="connsiteX1" fmla="*/ 1701624 w 9653085"/>
              <a:gd name="connsiteY1" fmla="*/ 21693 h 6875771"/>
              <a:gd name="connsiteX2" fmla="*/ 9653085 w 9653085"/>
              <a:gd name="connsiteY2" fmla="*/ 0 h 6875771"/>
              <a:gd name="connsiteX3" fmla="*/ 4839264 w 9653085"/>
              <a:gd name="connsiteY3" fmla="*/ 6866246 h 6875771"/>
              <a:gd name="connsiteX4" fmla="*/ 4 w 9653085"/>
              <a:gd name="connsiteY4" fmla="*/ 6875771 h 6875771"/>
              <a:gd name="connsiteX0" fmla="*/ 60 w 8009263"/>
              <a:gd name="connsiteY0" fmla="*/ 5924900 h 6866246"/>
              <a:gd name="connsiteX1" fmla="*/ 57802 w 8009263"/>
              <a:gd name="connsiteY1" fmla="*/ 21693 h 6866246"/>
              <a:gd name="connsiteX2" fmla="*/ 8009263 w 8009263"/>
              <a:gd name="connsiteY2" fmla="*/ 0 h 6866246"/>
              <a:gd name="connsiteX3" fmla="*/ 3195442 w 8009263"/>
              <a:gd name="connsiteY3" fmla="*/ 6866246 h 6866246"/>
              <a:gd name="connsiteX4" fmla="*/ 60 w 8009263"/>
              <a:gd name="connsiteY4" fmla="*/ 5924900 h 6866246"/>
              <a:gd name="connsiteX0" fmla="*/ 60 w 8009263"/>
              <a:gd name="connsiteY0" fmla="*/ 5924900 h 5924900"/>
              <a:gd name="connsiteX1" fmla="*/ 57802 w 8009263"/>
              <a:gd name="connsiteY1" fmla="*/ 21693 h 5924900"/>
              <a:gd name="connsiteX2" fmla="*/ 8009263 w 8009263"/>
              <a:gd name="connsiteY2" fmla="*/ 0 h 5924900"/>
              <a:gd name="connsiteX3" fmla="*/ 3872334 w 8009263"/>
              <a:gd name="connsiteY3" fmla="*/ 5899258 h 5924900"/>
              <a:gd name="connsiteX4" fmla="*/ 60 w 8009263"/>
              <a:gd name="connsiteY4" fmla="*/ 5924900 h 5924900"/>
              <a:gd name="connsiteX0" fmla="*/ 60 w 8009263"/>
              <a:gd name="connsiteY0" fmla="*/ 5924900 h 5947607"/>
              <a:gd name="connsiteX1" fmla="*/ 57802 w 8009263"/>
              <a:gd name="connsiteY1" fmla="*/ 21693 h 5947607"/>
              <a:gd name="connsiteX2" fmla="*/ 8009263 w 8009263"/>
              <a:gd name="connsiteY2" fmla="*/ 0 h 5947607"/>
              <a:gd name="connsiteX3" fmla="*/ 3823985 w 8009263"/>
              <a:gd name="connsiteY3" fmla="*/ 5947607 h 5947607"/>
              <a:gd name="connsiteX4" fmla="*/ 60 w 8009263"/>
              <a:gd name="connsiteY4" fmla="*/ 5924900 h 5947607"/>
              <a:gd name="connsiteX0" fmla="*/ 120 w 7977090"/>
              <a:gd name="connsiteY0" fmla="*/ 5989366 h 5989366"/>
              <a:gd name="connsiteX1" fmla="*/ 25629 w 7977090"/>
              <a:gd name="connsiteY1" fmla="*/ 21693 h 5989366"/>
              <a:gd name="connsiteX2" fmla="*/ 7977090 w 7977090"/>
              <a:gd name="connsiteY2" fmla="*/ 0 h 5989366"/>
              <a:gd name="connsiteX3" fmla="*/ 3791812 w 7977090"/>
              <a:gd name="connsiteY3" fmla="*/ 5947607 h 5989366"/>
              <a:gd name="connsiteX4" fmla="*/ 120 w 7977090"/>
              <a:gd name="connsiteY4" fmla="*/ 5989366 h 5989366"/>
              <a:gd name="connsiteX0" fmla="*/ 120 w 7977090"/>
              <a:gd name="connsiteY0" fmla="*/ 5989366 h 5989366"/>
              <a:gd name="connsiteX1" fmla="*/ 25629 w 7977090"/>
              <a:gd name="connsiteY1" fmla="*/ 21693 h 5989366"/>
              <a:gd name="connsiteX2" fmla="*/ 7977090 w 7977090"/>
              <a:gd name="connsiteY2" fmla="*/ 0 h 5989366"/>
              <a:gd name="connsiteX3" fmla="*/ 3791812 w 7977090"/>
              <a:gd name="connsiteY3" fmla="*/ 5947607 h 5989366"/>
              <a:gd name="connsiteX4" fmla="*/ 120 w 7977090"/>
              <a:gd name="connsiteY4" fmla="*/ 5989366 h 5989366"/>
              <a:gd name="connsiteX0" fmla="*/ 120 w 7977090"/>
              <a:gd name="connsiteY0" fmla="*/ 5941017 h 5947607"/>
              <a:gd name="connsiteX1" fmla="*/ 25629 w 7977090"/>
              <a:gd name="connsiteY1" fmla="*/ 21693 h 5947607"/>
              <a:gd name="connsiteX2" fmla="*/ 7977090 w 7977090"/>
              <a:gd name="connsiteY2" fmla="*/ 0 h 5947607"/>
              <a:gd name="connsiteX3" fmla="*/ 3791812 w 7977090"/>
              <a:gd name="connsiteY3" fmla="*/ 5947607 h 5947607"/>
              <a:gd name="connsiteX4" fmla="*/ 120 w 7977090"/>
              <a:gd name="connsiteY4" fmla="*/ 5941017 h 5947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90" h="5947607">
                <a:moveTo>
                  <a:pt x="120" y="5941017"/>
                </a:moveTo>
                <a:cubicBezTo>
                  <a:pt x="-2121" y="3659499"/>
                  <a:pt x="27870" y="2303211"/>
                  <a:pt x="25629" y="21693"/>
                </a:cubicBezTo>
                <a:lnTo>
                  <a:pt x="7977090" y="0"/>
                </a:lnTo>
                <a:lnTo>
                  <a:pt x="3791812" y="5947607"/>
                </a:lnTo>
                <a:lnTo>
                  <a:pt x="120" y="5941017"/>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直角三角形 34">
            <a:extLst>
              <a:ext uri="{FF2B5EF4-FFF2-40B4-BE49-F238E27FC236}">
                <a16:creationId xmlns:a16="http://schemas.microsoft.com/office/drawing/2014/main" id="{D0A39F62-CC10-4F89-ADF8-988F0E3A78ED}"/>
              </a:ext>
            </a:extLst>
          </p:cNvPr>
          <p:cNvSpPr/>
          <p:nvPr userDrawn="1"/>
        </p:nvSpPr>
        <p:spPr>
          <a:xfrm flipH="1">
            <a:off x="10270311" y="4172811"/>
            <a:ext cx="1921689" cy="2685188"/>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直角三角形 38">
            <a:extLst>
              <a:ext uri="{FF2B5EF4-FFF2-40B4-BE49-F238E27FC236}">
                <a16:creationId xmlns:a16="http://schemas.microsoft.com/office/drawing/2014/main" id="{B43B2F04-A419-4ED0-AAD0-8F6077BBA007}"/>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1" name="圖片 40">
            <a:extLst>
              <a:ext uri="{FF2B5EF4-FFF2-40B4-BE49-F238E27FC236}">
                <a16:creationId xmlns:a16="http://schemas.microsoft.com/office/drawing/2014/main" id="{34EDE549-9259-4005-B913-39370726E0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43" name="圖片 42">
            <a:extLst>
              <a:ext uri="{FF2B5EF4-FFF2-40B4-BE49-F238E27FC236}">
                <a16:creationId xmlns:a16="http://schemas.microsoft.com/office/drawing/2014/main" id="{C673B2F3-C27A-40A3-B2D8-0D900C4971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sp>
        <p:nvSpPr>
          <p:cNvPr id="34" name="矩形 33">
            <a:extLst>
              <a:ext uri="{FF2B5EF4-FFF2-40B4-BE49-F238E27FC236}">
                <a16:creationId xmlns:a16="http://schemas.microsoft.com/office/drawing/2014/main" id="{160FC2B7-D9EC-4820-AC6D-AEC37022133D}"/>
              </a:ext>
            </a:extLst>
          </p:cNvPr>
          <p:cNvSpPr/>
          <p:nvPr userDrawn="1"/>
        </p:nvSpPr>
        <p:spPr>
          <a:xfrm flipH="1">
            <a:off x="-2395469" y="4287002"/>
            <a:ext cx="1440000" cy="1440000"/>
          </a:xfrm>
          <a:prstGeom prst="rect">
            <a:avLst/>
          </a:prstGeom>
          <a:solidFill>
            <a:schemeClr val="accent4">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9" name="群組 48">
            <a:extLst>
              <a:ext uri="{FF2B5EF4-FFF2-40B4-BE49-F238E27FC236}">
                <a16:creationId xmlns:a16="http://schemas.microsoft.com/office/drawing/2014/main" id="{9D24200C-C5B0-46AC-A448-987F7FA4426B}"/>
              </a:ext>
            </a:extLst>
          </p:cNvPr>
          <p:cNvGrpSpPr/>
          <p:nvPr userDrawn="1"/>
        </p:nvGrpSpPr>
        <p:grpSpPr>
          <a:xfrm>
            <a:off x="9743406" y="1200733"/>
            <a:ext cx="1851248" cy="1165994"/>
            <a:chOff x="6498873" y="3874085"/>
            <a:chExt cx="1851248" cy="1165994"/>
          </a:xfrm>
        </p:grpSpPr>
        <p:pic>
          <p:nvPicPr>
            <p:cNvPr id="19" name="圖片 18">
              <a:extLst>
                <a:ext uri="{FF2B5EF4-FFF2-40B4-BE49-F238E27FC236}">
                  <a16:creationId xmlns:a16="http://schemas.microsoft.com/office/drawing/2014/main" id="{A84D87BA-7986-4419-A690-FF2B20C2C0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64500" y="4459386"/>
              <a:ext cx="580693" cy="580693"/>
            </a:xfrm>
            <a:prstGeom prst="rect">
              <a:avLst/>
            </a:prstGeom>
          </p:spPr>
        </p:pic>
        <p:pic>
          <p:nvPicPr>
            <p:cNvPr id="21" name="圖片 20">
              <a:extLst>
                <a:ext uri="{FF2B5EF4-FFF2-40B4-BE49-F238E27FC236}">
                  <a16:creationId xmlns:a16="http://schemas.microsoft.com/office/drawing/2014/main" id="{4CB09ECD-F120-4458-8B49-F02D1B5E834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498873" y="4035046"/>
              <a:ext cx="580693" cy="576085"/>
            </a:xfrm>
            <a:prstGeom prst="rect">
              <a:avLst/>
            </a:prstGeom>
          </p:spPr>
        </p:pic>
        <p:pic>
          <p:nvPicPr>
            <p:cNvPr id="17" name="圖片 16">
              <a:extLst>
                <a:ext uri="{FF2B5EF4-FFF2-40B4-BE49-F238E27FC236}">
                  <a16:creationId xmlns:a16="http://schemas.microsoft.com/office/drawing/2014/main" id="{D4B18A31-1A18-4E6B-BBCA-9FA2F35908A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764820" y="3874085"/>
              <a:ext cx="585301" cy="585301"/>
            </a:xfrm>
            <a:prstGeom prst="rect">
              <a:avLst/>
            </a:prstGeom>
          </p:spPr>
        </p:pic>
      </p:grpSp>
      <p:pic>
        <p:nvPicPr>
          <p:cNvPr id="14" name="圖片 13">
            <a:extLst>
              <a:ext uri="{FF2B5EF4-FFF2-40B4-BE49-F238E27FC236}">
                <a16:creationId xmlns:a16="http://schemas.microsoft.com/office/drawing/2014/main" id="{D61AC8BA-2A95-40FE-8EFB-286F64D9D6A2}"/>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718766" y="5112546"/>
            <a:ext cx="3315831" cy="1745453"/>
          </a:xfrm>
          <a:prstGeom prst="rect">
            <a:avLst/>
          </a:prstGeom>
          <a:effectLst>
            <a:outerShdw blurRad="50800" dist="38100" algn="l" rotWithShape="0">
              <a:prstClr val="black">
                <a:alpha val="40000"/>
              </a:prstClr>
            </a:outerShdw>
          </a:effectLst>
        </p:spPr>
      </p:pic>
      <p:grpSp>
        <p:nvGrpSpPr>
          <p:cNvPr id="6" name="群組 5">
            <a:extLst>
              <a:ext uri="{FF2B5EF4-FFF2-40B4-BE49-F238E27FC236}">
                <a16:creationId xmlns:a16="http://schemas.microsoft.com/office/drawing/2014/main" id="{7917C57A-BC95-42BB-811D-180AAAECBBE9}"/>
              </a:ext>
            </a:extLst>
          </p:cNvPr>
          <p:cNvGrpSpPr/>
          <p:nvPr userDrawn="1"/>
        </p:nvGrpSpPr>
        <p:grpSpPr>
          <a:xfrm>
            <a:off x="5545057" y="-17773"/>
            <a:ext cx="6890863" cy="6890863"/>
            <a:chOff x="5545057" y="-17773"/>
            <a:chExt cx="6890863" cy="6890863"/>
          </a:xfrm>
        </p:grpSpPr>
        <p:sp>
          <p:nvSpPr>
            <p:cNvPr id="4" name="矩形 3">
              <a:extLst>
                <a:ext uri="{FF2B5EF4-FFF2-40B4-BE49-F238E27FC236}">
                  <a16:creationId xmlns:a16="http://schemas.microsoft.com/office/drawing/2014/main" id="{00538DDB-9435-4944-9BD8-9314E3A8CCF4}"/>
                </a:ext>
              </a:extLst>
            </p:cNvPr>
            <p:cNvSpPr/>
            <p:nvPr userDrawn="1"/>
          </p:nvSpPr>
          <p:spPr>
            <a:xfrm>
              <a:off x="10616856" y="-1"/>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38CDE7E8-97E6-41A3-9024-1E591649239B}"/>
                </a:ext>
              </a:extLst>
            </p:cNvPr>
            <p:cNvSpPr/>
            <p:nvPr userDrawn="1"/>
          </p:nvSpPr>
          <p:spPr>
            <a:xfrm>
              <a:off x="11113370" y="-17773"/>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4035D045-3022-4E0A-91E4-0837CE910B00}"/>
                </a:ext>
              </a:extLst>
            </p:cNvPr>
            <p:cNvSpPr/>
            <p:nvPr userDrawn="1"/>
          </p:nvSpPr>
          <p:spPr>
            <a:xfrm>
              <a:off x="11609884" y="-1"/>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AD297F42-E53E-4CFB-ABBB-1AF6596F3D44}"/>
                </a:ext>
              </a:extLst>
            </p:cNvPr>
            <p:cNvSpPr/>
            <p:nvPr userDrawn="1"/>
          </p:nvSpPr>
          <p:spPr>
            <a:xfrm>
              <a:off x="10125717" y="-17773"/>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 name="群組 4">
              <a:extLst>
                <a:ext uri="{FF2B5EF4-FFF2-40B4-BE49-F238E27FC236}">
                  <a16:creationId xmlns:a16="http://schemas.microsoft.com/office/drawing/2014/main" id="{62131157-2C07-48D2-850C-67CFD748CFC0}"/>
                </a:ext>
              </a:extLst>
            </p:cNvPr>
            <p:cNvGrpSpPr/>
            <p:nvPr userDrawn="1"/>
          </p:nvGrpSpPr>
          <p:grpSpPr>
            <a:xfrm rot="5400000">
              <a:off x="8071627" y="-2335895"/>
              <a:ext cx="1837724" cy="6890863"/>
              <a:chOff x="10278117" y="134627"/>
              <a:chExt cx="1837724" cy="6890863"/>
            </a:xfrm>
          </p:grpSpPr>
          <p:sp>
            <p:nvSpPr>
              <p:cNvPr id="48" name="矩形 47">
                <a:extLst>
                  <a:ext uri="{FF2B5EF4-FFF2-40B4-BE49-F238E27FC236}">
                    <a16:creationId xmlns:a16="http://schemas.microsoft.com/office/drawing/2014/main" id="{BA05F7C6-13BC-4C90-A194-E2EF5003F3E4}"/>
                  </a:ext>
                </a:extLst>
              </p:cNvPr>
              <p:cNvSpPr/>
              <p:nvPr userDrawn="1"/>
            </p:nvSpPr>
            <p:spPr>
              <a:xfrm>
                <a:off x="10769256" y="152399"/>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267137-FE0B-4305-B655-A68F5E762645}"/>
                  </a:ext>
                </a:extLst>
              </p:cNvPr>
              <p:cNvSpPr/>
              <p:nvPr userDrawn="1"/>
            </p:nvSpPr>
            <p:spPr>
              <a:xfrm>
                <a:off x="11265770" y="134627"/>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DB363C2F-FD92-4EFE-BABF-C649F6817A2D}"/>
                  </a:ext>
                </a:extLst>
              </p:cNvPr>
              <p:cNvSpPr/>
              <p:nvPr userDrawn="1"/>
            </p:nvSpPr>
            <p:spPr>
              <a:xfrm>
                <a:off x="11762284" y="152399"/>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FE4B6A15-2202-4C22-86EA-E9198CCBF715}"/>
                  </a:ext>
                </a:extLst>
              </p:cNvPr>
              <p:cNvSpPr/>
              <p:nvPr userDrawn="1"/>
            </p:nvSpPr>
            <p:spPr>
              <a:xfrm>
                <a:off x="10278117" y="375257"/>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 name="流程圖: 卡片 1">
            <a:extLst>
              <a:ext uri="{FF2B5EF4-FFF2-40B4-BE49-F238E27FC236}">
                <a16:creationId xmlns:a16="http://schemas.microsoft.com/office/drawing/2014/main" id="{D3383D3D-9485-47D9-B260-309D35F9C03B}"/>
              </a:ext>
            </a:extLst>
          </p:cNvPr>
          <p:cNvSpPr/>
          <p:nvPr userDrawn="1"/>
        </p:nvSpPr>
        <p:spPr>
          <a:xfrm rot="10800000">
            <a:off x="-231010" y="296640"/>
            <a:ext cx="9409337" cy="2718482"/>
          </a:xfrm>
          <a:prstGeom prst="flowChartPunchedCard">
            <a:avLst/>
          </a:prstGeom>
          <a:solidFill>
            <a:srgbClr val="A4AC4D"/>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文字方塊 9">
            <a:extLst>
              <a:ext uri="{FF2B5EF4-FFF2-40B4-BE49-F238E27FC236}">
                <a16:creationId xmlns:a16="http://schemas.microsoft.com/office/drawing/2014/main" id="{9EFCBE47-441E-4136-B41F-A7DC71D5FB63}"/>
              </a:ext>
            </a:extLst>
          </p:cNvPr>
          <p:cNvSpPr txBox="1"/>
          <p:nvPr userDrawn="1"/>
        </p:nvSpPr>
        <p:spPr>
          <a:xfrm>
            <a:off x="289833" y="990105"/>
            <a:ext cx="9522590" cy="923330"/>
          </a:xfrm>
          <a:prstGeom prst="rect">
            <a:avLst/>
          </a:prstGeom>
          <a:noFill/>
          <a:effectLst>
            <a:outerShdw blurRad="50800" dist="38100" dir="5400000" algn="t" rotWithShape="0">
              <a:prstClr val="black">
                <a:alpha val="40000"/>
              </a:prstClr>
            </a:outerShdw>
          </a:effectLst>
        </p:spPr>
        <p:txBody>
          <a:bodyPr wrap="square" rtlCol="0">
            <a:spAutoFit/>
          </a:bodyPr>
          <a:lstStyle/>
          <a:p>
            <a:pPr algn="l"/>
            <a:r>
              <a:rPr lang="zh-TW" altLang="en-US" sz="5400" b="1" dirty="0">
                <a:solidFill>
                  <a:schemeClr val="bg1"/>
                </a:solidFill>
                <a:latin typeface="微軟正黑體" panose="020B0604030504040204" pitchFamily="34" charset="-120"/>
                <a:ea typeface="微軟正黑體" panose="020B0604030504040204" pitchFamily="34" charset="-120"/>
              </a:rPr>
              <a:t>工程履約管理資訊系統建置</a:t>
            </a:r>
          </a:p>
        </p:txBody>
      </p:sp>
      <p:pic>
        <p:nvPicPr>
          <p:cNvPr id="12" name="圖片 11">
            <a:extLst>
              <a:ext uri="{FF2B5EF4-FFF2-40B4-BE49-F238E27FC236}">
                <a16:creationId xmlns:a16="http://schemas.microsoft.com/office/drawing/2014/main" id="{6D0A68CC-2742-41B2-A7A3-2ABA0EEC8F6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006642" y="3329442"/>
            <a:ext cx="3129513" cy="3600035"/>
          </a:xfrm>
          <a:prstGeom prst="rect">
            <a:avLst/>
          </a:prstGeom>
          <a:effectLst>
            <a:outerShdw blurRad="50800" dist="38100" algn="l" rotWithShape="0">
              <a:prstClr val="black">
                <a:alpha val="40000"/>
              </a:prstClr>
            </a:outerShdw>
          </a:effectLst>
        </p:spPr>
      </p:pic>
      <p:grpSp>
        <p:nvGrpSpPr>
          <p:cNvPr id="3" name="群組 2">
            <a:extLst>
              <a:ext uri="{FF2B5EF4-FFF2-40B4-BE49-F238E27FC236}">
                <a16:creationId xmlns:a16="http://schemas.microsoft.com/office/drawing/2014/main" id="{DCB96681-C118-4BE9-9DF7-2CC63ED6DB66}"/>
              </a:ext>
            </a:extLst>
          </p:cNvPr>
          <p:cNvGrpSpPr/>
          <p:nvPr userDrawn="1"/>
        </p:nvGrpSpPr>
        <p:grpSpPr>
          <a:xfrm>
            <a:off x="573596" y="3467734"/>
            <a:ext cx="10625583" cy="1449750"/>
            <a:chOff x="573596" y="3467734"/>
            <a:chExt cx="10625583" cy="1449750"/>
          </a:xfrm>
        </p:grpSpPr>
        <p:pic>
          <p:nvPicPr>
            <p:cNvPr id="23" name="圖片 22">
              <a:extLst>
                <a:ext uri="{FF2B5EF4-FFF2-40B4-BE49-F238E27FC236}">
                  <a16:creationId xmlns:a16="http://schemas.microsoft.com/office/drawing/2014/main" id="{31306946-978D-4787-AFAA-053D20BAA019}"/>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8810671" y="4219272"/>
              <a:ext cx="2388508" cy="698212"/>
            </a:xfrm>
            <a:prstGeom prst="rect">
              <a:avLst/>
            </a:prstGeom>
          </p:spPr>
        </p:pic>
        <p:pic>
          <p:nvPicPr>
            <p:cNvPr id="40" name="圖片 39">
              <a:extLst>
                <a:ext uri="{FF2B5EF4-FFF2-40B4-BE49-F238E27FC236}">
                  <a16:creationId xmlns:a16="http://schemas.microsoft.com/office/drawing/2014/main" id="{7D15DA30-92DA-4FC8-903F-327D47A8F3ED}"/>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73596" y="3467734"/>
              <a:ext cx="3931121" cy="578106"/>
            </a:xfrm>
            <a:prstGeom prst="rect">
              <a:avLst/>
            </a:prstGeom>
          </p:spPr>
        </p:pic>
      </p:grpSp>
    </p:spTree>
    <p:extLst>
      <p:ext uri="{BB962C8B-B14F-4D97-AF65-F5344CB8AC3E}">
        <p14:creationId xmlns:p14="http://schemas.microsoft.com/office/powerpoint/2010/main" val="1786106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標題投影片">
    <p:spTree>
      <p:nvGrpSpPr>
        <p:cNvPr id="1" name=""/>
        <p:cNvGrpSpPr/>
        <p:nvPr/>
      </p:nvGrpSpPr>
      <p:grpSpPr>
        <a:xfrm>
          <a:off x="0" y="0"/>
          <a:ext cx="0" cy="0"/>
          <a:chOff x="0" y="0"/>
          <a:chExt cx="0" cy="0"/>
        </a:xfrm>
      </p:grpSpPr>
      <p:sp>
        <p:nvSpPr>
          <p:cNvPr id="7" name="流程圖: 接點 6">
            <a:extLst>
              <a:ext uri="{FF2B5EF4-FFF2-40B4-BE49-F238E27FC236}">
                <a16:creationId xmlns:a16="http://schemas.microsoft.com/office/drawing/2014/main" id="{C294AE49-9CCB-4A30-854D-316075F97540}"/>
              </a:ext>
            </a:extLst>
          </p:cNvPr>
          <p:cNvSpPr/>
          <p:nvPr userDrawn="1"/>
        </p:nvSpPr>
        <p:spPr>
          <a:xfrm>
            <a:off x="2697332" y="91033"/>
            <a:ext cx="6675934" cy="6675934"/>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直角三角形 34">
            <a:extLst>
              <a:ext uri="{FF2B5EF4-FFF2-40B4-BE49-F238E27FC236}">
                <a16:creationId xmlns:a16="http://schemas.microsoft.com/office/drawing/2014/main" id="{D0A39F62-CC10-4F89-ADF8-988F0E3A78ED}"/>
              </a:ext>
            </a:extLst>
          </p:cNvPr>
          <p:cNvSpPr/>
          <p:nvPr userDrawn="1"/>
        </p:nvSpPr>
        <p:spPr>
          <a:xfrm flipH="1">
            <a:off x="10270311" y="4172811"/>
            <a:ext cx="1921689" cy="2685188"/>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直角三角形 38">
            <a:extLst>
              <a:ext uri="{FF2B5EF4-FFF2-40B4-BE49-F238E27FC236}">
                <a16:creationId xmlns:a16="http://schemas.microsoft.com/office/drawing/2014/main" id="{B43B2F04-A419-4ED0-AAD0-8F6077BBA007}"/>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3" name="圖片 42">
            <a:extLst>
              <a:ext uri="{FF2B5EF4-FFF2-40B4-BE49-F238E27FC236}">
                <a16:creationId xmlns:a16="http://schemas.microsoft.com/office/drawing/2014/main" id="{C673B2F3-C27A-40A3-B2D8-0D900C4971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7332" y="2024814"/>
            <a:ext cx="6675934" cy="5822548"/>
          </a:xfrm>
          <a:prstGeom prst="rect">
            <a:avLst/>
          </a:prstGeom>
        </p:spPr>
      </p:pic>
      <p:sp>
        <p:nvSpPr>
          <p:cNvPr id="34" name="矩形 33">
            <a:extLst>
              <a:ext uri="{FF2B5EF4-FFF2-40B4-BE49-F238E27FC236}">
                <a16:creationId xmlns:a16="http://schemas.microsoft.com/office/drawing/2014/main" id="{160FC2B7-D9EC-4820-AC6D-AEC37022133D}"/>
              </a:ext>
            </a:extLst>
          </p:cNvPr>
          <p:cNvSpPr/>
          <p:nvPr userDrawn="1"/>
        </p:nvSpPr>
        <p:spPr>
          <a:xfrm flipH="1">
            <a:off x="-2395469" y="4287002"/>
            <a:ext cx="1440000" cy="1440000"/>
          </a:xfrm>
          <a:prstGeom prst="rect">
            <a:avLst/>
          </a:prstGeom>
          <a:solidFill>
            <a:schemeClr val="accent4">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圖片 13">
            <a:extLst>
              <a:ext uri="{FF2B5EF4-FFF2-40B4-BE49-F238E27FC236}">
                <a16:creationId xmlns:a16="http://schemas.microsoft.com/office/drawing/2014/main" id="{D61AC8BA-2A95-40FE-8EFB-286F64D9D6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95713" y="4225369"/>
            <a:ext cx="2700301" cy="1421438"/>
          </a:xfrm>
          <a:prstGeom prst="rect">
            <a:avLst/>
          </a:prstGeom>
          <a:effectLst>
            <a:outerShdw blurRad="50800" dist="38100" algn="l" rotWithShape="0">
              <a:prstClr val="black">
                <a:alpha val="40000"/>
              </a:prstClr>
            </a:outerShdw>
          </a:effectLst>
        </p:spPr>
      </p:pic>
      <p:sp>
        <p:nvSpPr>
          <p:cNvPr id="10" name="文字方塊 9">
            <a:extLst>
              <a:ext uri="{FF2B5EF4-FFF2-40B4-BE49-F238E27FC236}">
                <a16:creationId xmlns:a16="http://schemas.microsoft.com/office/drawing/2014/main" id="{9EFCBE47-441E-4136-B41F-A7DC71D5FB63}"/>
              </a:ext>
            </a:extLst>
          </p:cNvPr>
          <p:cNvSpPr txBox="1"/>
          <p:nvPr userDrawn="1"/>
        </p:nvSpPr>
        <p:spPr>
          <a:xfrm>
            <a:off x="1334704" y="1960400"/>
            <a:ext cx="9522590" cy="769441"/>
          </a:xfrm>
          <a:prstGeom prst="rect">
            <a:avLst/>
          </a:prstGeom>
          <a:noFill/>
          <a:effectLst>
            <a:outerShdw blurRad="50800" dist="38100" dir="5400000" algn="t" rotWithShape="0">
              <a:prstClr val="black">
                <a:alpha val="40000"/>
              </a:prstClr>
            </a:outerShdw>
          </a:effectLst>
        </p:spPr>
        <p:txBody>
          <a:bodyPr wrap="square" rtlCol="0">
            <a:spAutoFit/>
          </a:bodyPr>
          <a:lstStyle/>
          <a:p>
            <a:pPr algn="ctr"/>
            <a:r>
              <a:rPr lang="zh-TW" altLang="en-US" sz="4400" b="1" dirty="0">
                <a:solidFill>
                  <a:schemeClr val="bg1"/>
                </a:solidFill>
                <a:latin typeface="微軟正黑體" panose="020B0604030504040204" pitchFamily="34" charset="-120"/>
                <a:ea typeface="微軟正黑體" panose="020B0604030504040204" pitchFamily="34" charset="-120"/>
              </a:rPr>
              <a:t>工程履約管理資訊系統</a:t>
            </a:r>
          </a:p>
        </p:txBody>
      </p:sp>
      <p:pic>
        <p:nvPicPr>
          <p:cNvPr id="12" name="圖片 11">
            <a:extLst>
              <a:ext uri="{FF2B5EF4-FFF2-40B4-BE49-F238E27FC236}">
                <a16:creationId xmlns:a16="http://schemas.microsoft.com/office/drawing/2014/main" id="{6D0A68CC-2742-41B2-A7A3-2ABA0EEC8F6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449169" y="2759105"/>
            <a:ext cx="2528275" cy="2908401"/>
          </a:xfrm>
          <a:prstGeom prst="rect">
            <a:avLst/>
          </a:prstGeom>
          <a:effectLst>
            <a:outerShdw blurRad="50800" dist="38100" algn="l" rotWithShape="0">
              <a:prstClr val="black">
                <a:alpha val="40000"/>
              </a:prstClr>
            </a:outerShdw>
          </a:effectLst>
        </p:spPr>
      </p:pic>
      <p:pic>
        <p:nvPicPr>
          <p:cNvPr id="23" name="圖片 22">
            <a:extLst>
              <a:ext uri="{FF2B5EF4-FFF2-40B4-BE49-F238E27FC236}">
                <a16:creationId xmlns:a16="http://schemas.microsoft.com/office/drawing/2014/main" id="{31306946-978D-4787-AFAA-053D20BAA019}"/>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5031542" y="5812531"/>
            <a:ext cx="2128915" cy="622327"/>
          </a:xfrm>
          <a:prstGeom prst="rect">
            <a:avLst/>
          </a:prstGeom>
        </p:spPr>
      </p:pic>
      <p:pic>
        <p:nvPicPr>
          <p:cNvPr id="40" name="圖片 39">
            <a:extLst>
              <a:ext uri="{FF2B5EF4-FFF2-40B4-BE49-F238E27FC236}">
                <a16:creationId xmlns:a16="http://schemas.microsoft.com/office/drawing/2014/main" id="{7D15DA30-92DA-4FC8-903F-327D47A8F3E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069738" y="1174619"/>
            <a:ext cx="3931121" cy="578106"/>
          </a:xfrm>
          <a:prstGeom prst="rect">
            <a:avLst/>
          </a:prstGeom>
        </p:spPr>
      </p:pic>
    </p:spTree>
    <p:extLst>
      <p:ext uri="{BB962C8B-B14F-4D97-AF65-F5344CB8AC3E}">
        <p14:creationId xmlns:p14="http://schemas.microsoft.com/office/powerpoint/2010/main" val="1881894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grpSp>
        <p:nvGrpSpPr>
          <p:cNvPr id="8" name="群組 7">
            <a:extLst>
              <a:ext uri="{FF2B5EF4-FFF2-40B4-BE49-F238E27FC236}">
                <a16:creationId xmlns:a16="http://schemas.microsoft.com/office/drawing/2014/main" id="{1728D4F3-2E37-4A66-B424-B67D00BBF10F}"/>
              </a:ext>
            </a:extLst>
          </p:cNvPr>
          <p:cNvGrpSpPr/>
          <p:nvPr userDrawn="1"/>
        </p:nvGrpSpPr>
        <p:grpSpPr>
          <a:xfrm>
            <a:off x="5545057" y="-17773"/>
            <a:ext cx="6890863" cy="6890863"/>
            <a:chOff x="5545057" y="-17773"/>
            <a:chExt cx="6890863" cy="6890863"/>
          </a:xfrm>
        </p:grpSpPr>
        <p:sp>
          <p:nvSpPr>
            <p:cNvPr id="9" name="矩形 8">
              <a:extLst>
                <a:ext uri="{FF2B5EF4-FFF2-40B4-BE49-F238E27FC236}">
                  <a16:creationId xmlns:a16="http://schemas.microsoft.com/office/drawing/2014/main" id="{9B3A8D97-DD51-4F10-9E83-8018E9B83011}"/>
                </a:ext>
              </a:extLst>
            </p:cNvPr>
            <p:cNvSpPr/>
            <p:nvPr userDrawn="1"/>
          </p:nvSpPr>
          <p:spPr>
            <a:xfrm>
              <a:off x="10616856" y="-1"/>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8D35A7B1-00E3-4530-9944-25E584FB6BF6}"/>
                </a:ext>
              </a:extLst>
            </p:cNvPr>
            <p:cNvSpPr/>
            <p:nvPr userDrawn="1"/>
          </p:nvSpPr>
          <p:spPr>
            <a:xfrm>
              <a:off x="11113370" y="-17773"/>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997A6A7B-8311-4987-903A-8CE2CE0FF1C5}"/>
                </a:ext>
              </a:extLst>
            </p:cNvPr>
            <p:cNvSpPr/>
            <p:nvPr userDrawn="1"/>
          </p:nvSpPr>
          <p:spPr>
            <a:xfrm>
              <a:off x="11609884" y="-1"/>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F2174DB0-7A2B-4F62-A5EB-3ADA20995AAA}"/>
                </a:ext>
              </a:extLst>
            </p:cNvPr>
            <p:cNvSpPr/>
            <p:nvPr userDrawn="1"/>
          </p:nvSpPr>
          <p:spPr>
            <a:xfrm>
              <a:off x="10125717" y="-17773"/>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4" name="群組 13">
              <a:extLst>
                <a:ext uri="{FF2B5EF4-FFF2-40B4-BE49-F238E27FC236}">
                  <a16:creationId xmlns:a16="http://schemas.microsoft.com/office/drawing/2014/main" id="{832B3EAC-1689-4586-9680-CB512E4DCAA4}"/>
                </a:ext>
              </a:extLst>
            </p:cNvPr>
            <p:cNvGrpSpPr/>
            <p:nvPr userDrawn="1"/>
          </p:nvGrpSpPr>
          <p:grpSpPr>
            <a:xfrm rot="5400000">
              <a:off x="8071627" y="-2335895"/>
              <a:ext cx="1837724" cy="6890863"/>
              <a:chOff x="10278117" y="134627"/>
              <a:chExt cx="1837724" cy="6890863"/>
            </a:xfrm>
          </p:grpSpPr>
          <p:sp>
            <p:nvSpPr>
              <p:cNvPr id="18" name="矩形 17">
                <a:extLst>
                  <a:ext uri="{FF2B5EF4-FFF2-40B4-BE49-F238E27FC236}">
                    <a16:creationId xmlns:a16="http://schemas.microsoft.com/office/drawing/2014/main" id="{4A078F75-9D6F-4074-9E77-5FFAD4E5DF52}"/>
                  </a:ext>
                </a:extLst>
              </p:cNvPr>
              <p:cNvSpPr/>
              <p:nvPr userDrawn="1"/>
            </p:nvSpPr>
            <p:spPr>
              <a:xfrm>
                <a:off x="10769256" y="152399"/>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D444CFA0-59FB-42A9-BB2D-D7FA391CDF97}"/>
                  </a:ext>
                </a:extLst>
              </p:cNvPr>
              <p:cNvSpPr/>
              <p:nvPr userDrawn="1"/>
            </p:nvSpPr>
            <p:spPr>
              <a:xfrm>
                <a:off x="11265770" y="134627"/>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6EF934B6-B00C-48E1-956B-FCFE62368BFC}"/>
                  </a:ext>
                </a:extLst>
              </p:cNvPr>
              <p:cNvSpPr/>
              <p:nvPr userDrawn="1"/>
            </p:nvSpPr>
            <p:spPr>
              <a:xfrm>
                <a:off x="11762284" y="152399"/>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a:extLst>
                  <a:ext uri="{FF2B5EF4-FFF2-40B4-BE49-F238E27FC236}">
                    <a16:creationId xmlns:a16="http://schemas.microsoft.com/office/drawing/2014/main" id="{CEBCCA57-3087-4605-891B-DA4431F8067F}"/>
                  </a:ext>
                </a:extLst>
              </p:cNvPr>
              <p:cNvSpPr/>
              <p:nvPr userDrawn="1"/>
            </p:nvSpPr>
            <p:spPr>
              <a:xfrm>
                <a:off x="10278117" y="375257"/>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3" name="直角三角形 12">
            <a:extLst>
              <a:ext uri="{FF2B5EF4-FFF2-40B4-BE49-F238E27FC236}">
                <a16:creationId xmlns:a16="http://schemas.microsoft.com/office/drawing/2014/main" id="{D9252DC7-8ED9-4E5A-A054-698AF45E7F35}"/>
              </a:ext>
            </a:extLst>
          </p:cNvPr>
          <p:cNvSpPr/>
          <p:nvPr userDrawn="1"/>
        </p:nvSpPr>
        <p:spPr>
          <a:xfrm rot="10800000" flipH="1">
            <a:off x="-6724" y="0"/>
            <a:ext cx="3993776" cy="5580529"/>
          </a:xfrm>
          <a:prstGeom prst="rtTriangle">
            <a:avLst/>
          </a:prstGeom>
          <a:solidFill>
            <a:srgbClr val="F2B3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B2117E41-215F-4319-8FB3-1B25156C468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22" name="圖片 21">
            <a:extLst>
              <a:ext uri="{FF2B5EF4-FFF2-40B4-BE49-F238E27FC236}">
                <a16:creationId xmlns:a16="http://schemas.microsoft.com/office/drawing/2014/main" id="{7467E2B0-9BC6-42E1-BCD0-CFC6B6DC7B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grpSp>
        <p:nvGrpSpPr>
          <p:cNvPr id="17" name="群組 16">
            <a:extLst>
              <a:ext uri="{FF2B5EF4-FFF2-40B4-BE49-F238E27FC236}">
                <a16:creationId xmlns:a16="http://schemas.microsoft.com/office/drawing/2014/main" id="{81C52E3A-AD8A-4920-83BD-E372D1460659}"/>
              </a:ext>
            </a:extLst>
          </p:cNvPr>
          <p:cNvGrpSpPr/>
          <p:nvPr userDrawn="1"/>
        </p:nvGrpSpPr>
        <p:grpSpPr>
          <a:xfrm>
            <a:off x="9412884" y="93147"/>
            <a:ext cx="2828046" cy="338554"/>
            <a:chOff x="9412884" y="-21153"/>
            <a:chExt cx="2828046" cy="338554"/>
          </a:xfrm>
        </p:grpSpPr>
        <p:sp>
          <p:nvSpPr>
            <p:cNvPr id="23" name="文字方塊 22">
              <a:extLst>
                <a:ext uri="{FF2B5EF4-FFF2-40B4-BE49-F238E27FC236}">
                  <a16:creationId xmlns:a16="http://schemas.microsoft.com/office/drawing/2014/main" id="{58F15686-080F-4354-8044-CC473739B3FF}"/>
                </a:ext>
              </a:extLst>
            </p:cNvPr>
            <p:cNvSpPr txBox="1"/>
            <p:nvPr userDrawn="1"/>
          </p:nvSpPr>
          <p:spPr>
            <a:xfrm>
              <a:off x="9412884" y="-21153"/>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24" name="直線接點 23">
              <a:extLst>
                <a:ext uri="{FF2B5EF4-FFF2-40B4-BE49-F238E27FC236}">
                  <a16:creationId xmlns:a16="http://schemas.microsoft.com/office/drawing/2014/main" id="{BBA73F29-241F-4DE5-8289-17C263AFB006}"/>
                </a:ext>
              </a:extLst>
            </p:cNvPr>
            <p:cNvCxnSpPr>
              <a:cxnSpLocks/>
            </p:cNvCxnSpPr>
            <p:nvPr userDrawn="1"/>
          </p:nvCxnSpPr>
          <p:spPr>
            <a:xfrm>
              <a:off x="9500936" y="282053"/>
              <a:ext cx="2413429"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25" name="圖片 24">
            <a:extLst>
              <a:ext uri="{FF2B5EF4-FFF2-40B4-BE49-F238E27FC236}">
                <a16:creationId xmlns:a16="http://schemas.microsoft.com/office/drawing/2014/main" id="{4A773A06-6B88-46B7-904A-215E265438DD}"/>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26" name="矩形: 圓角 25">
            <a:extLst>
              <a:ext uri="{FF2B5EF4-FFF2-40B4-BE49-F238E27FC236}">
                <a16:creationId xmlns:a16="http://schemas.microsoft.com/office/drawing/2014/main" id="{A1EA72E4-D920-49B8-8D87-4919F65CB35F}"/>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投影片編號版面配置區 5">
            <a:extLst>
              <a:ext uri="{FF2B5EF4-FFF2-40B4-BE49-F238E27FC236}">
                <a16:creationId xmlns:a16="http://schemas.microsoft.com/office/drawing/2014/main" id="{3C87778F-9C90-4129-A46A-3B3A391B7472}"/>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28" name="圖片 27">
            <a:extLst>
              <a:ext uri="{FF2B5EF4-FFF2-40B4-BE49-F238E27FC236}">
                <a16:creationId xmlns:a16="http://schemas.microsoft.com/office/drawing/2014/main" id="{545DB909-5F23-4D0F-91E8-27044E584F7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Tree>
    <p:extLst>
      <p:ext uri="{BB962C8B-B14F-4D97-AF65-F5344CB8AC3E}">
        <p14:creationId xmlns:p14="http://schemas.microsoft.com/office/powerpoint/2010/main" val="2284748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節標題">
    <p:spTree>
      <p:nvGrpSpPr>
        <p:cNvPr id="1" name=""/>
        <p:cNvGrpSpPr/>
        <p:nvPr/>
      </p:nvGrpSpPr>
      <p:grpSpPr>
        <a:xfrm>
          <a:off x="0" y="0"/>
          <a:ext cx="0" cy="0"/>
          <a:chOff x="0" y="0"/>
          <a:chExt cx="0" cy="0"/>
        </a:xfrm>
      </p:grpSpPr>
      <p:sp>
        <p:nvSpPr>
          <p:cNvPr id="7" name="平行四邊形 2">
            <a:extLst>
              <a:ext uri="{FF2B5EF4-FFF2-40B4-BE49-F238E27FC236}">
                <a16:creationId xmlns:a16="http://schemas.microsoft.com/office/drawing/2014/main" id="{91D5AE83-63CE-48B5-A42F-B1CF0405B267}"/>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直角三角形 7">
            <a:extLst>
              <a:ext uri="{FF2B5EF4-FFF2-40B4-BE49-F238E27FC236}">
                <a16:creationId xmlns:a16="http://schemas.microsoft.com/office/drawing/2014/main" id="{129AC101-C702-4CAD-8D0F-5F51CAD09064}"/>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圖片 8">
            <a:extLst>
              <a:ext uri="{FF2B5EF4-FFF2-40B4-BE49-F238E27FC236}">
                <a16:creationId xmlns:a16="http://schemas.microsoft.com/office/drawing/2014/main" id="{FA42BB81-D9CF-4756-B45E-08299331D4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0" name="圖片 9">
            <a:extLst>
              <a:ext uri="{FF2B5EF4-FFF2-40B4-BE49-F238E27FC236}">
                <a16:creationId xmlns:a16="http://schemas.microsoft.com/office/drawing/2014/main" id="{6D0E8D8B-50AB-4582-82DA-49360B3A9D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00466" y="2249905"/>
            <a:ext cx="6382794" cy="5822548"/>
          </a:xfrm>
          <a:prstGeom prst="rect">
            <a:avLst/>
          </a:prstGeom>
        </p:spPr>
      </p:pic>
      <p:sp>
        <p:nvSpPr>
          <p:cNvPr id="11" name="直角三角形 10">
            <a:extLst>
              <a:ext uri="{FF2B5EF4-FFF2-40B4-BE49-F238E27FC236}">
                <a16:creationId xmlns:a16="http://schemas.microsoft.com/office/drawing/2014/main" id="{B85A7BCC-ACFE-4A9D-9F71-011F8FB51103}"/>
              </a:ext>
            </a:extLst>
          </p:cNvPr>
          <p:cNvSpPr/>
          <p:nvPr userDrawn="1"/>
        </p:nvSpPr>
        <p:spPr>
          <a:xfrm flipH="1">
            <a:off x="10150035" y="4004749"/>
            <a:ext cx="2041965" cy="2853251"/>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剪去單一角落 17">
            <a:extLst>
              <a:ext uri="{FF2B5EF4-FFF2-40B4-BE49-F238E27FC236}">
                <a16:creationId xmlns:a16="http://schemas.microsoft.com/office/drawing/2014/main" id="{5ADD64BA-5421-4E9B-9A93-97EB2E797B10}"/>
              </a:ext>
            </a:extLst>
          </p:cNvPr>
          <p:cNvSpPr/>
          <p:nvPr userDrawn="1"/>
        </p:nvSpPr>
        <p:spPr>
          <a:xfrm>
            <a:off x="429164" y="360965"/>
            <a:ext cx="11354937" cy="5822548"/>
          </a:xfrm>
          <a:prstGeom prst="snip1Rect">
            <a:avLst>
              <a:gd name="adj" fmla="val 0"/>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13" name="矩形: 圓角 12">
            <a:extLst>
              <a:ext uri="{FF2B5EF4-FFF2-40B4-BE49-F238E27FC236}">
                <a16:creationId xmlns:a16="http://schemas.microsoft.com/office/drawing/2014/main" id="{A2CEE06B-7EE8-4234-B9E8-51EFD415D61A}"/>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投影片編號版面配置區 5">
            <a:extLst>
              <a:ext uri="{FF2B5EF4-FFF2-40B4-BE49-F238E27FC236}">
                <a16:creationId xmlns:a16="http://schemas.microsoft.com/office/drawing/2014/main" id="{46C81F43-51BE-4193-A468-3AFF6C00E7E3}"/>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Tree>
    <p:extLst>
      <p:ext uri="{BB962C8B-B14F-4D97-AF65-F5344CB8AC3E}">
        <p14:creationId xmlns:p14="http://schemas.microsoft.com/office/powerpoint/2010/main" val="25883855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章節標題">
    <p:spTree>
      <p:nvGrpSpPr>
        <p:cNvPr id="1" name=""/>
        <p:cNvGrpSpPr/>
        <p:nvPr/>
      </p:nvGrpSpPr>
      <p:grpSpPr>
        <a:xfrm>
          <a:off x="0" y="0"/>
          <a:ext cx="0" cy="0"/>
          <a:chOff x="0" y="0"/>
          <a:chExt cx="0" cy="0"/>
        </a:xfrm>
      </p:grpSpPr>
      <p:sp>
        <p:nvSpPr>
          <p:cNvPr id="7" name="平行四邊形 2">
            <a:extLst>
              <a:ext uri="{FF2B5EF4-FFF2-40B4-BE49-F238E27FC236}">
                <a16:creationId xmlns:a16="http://schemas.microsoft.com/office/drawing/2014/main" id="{91D5AE83-63CE-48B5-A42F-B1CF0405B267}"/>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直角三角形 7">
            <a:extLst>
              <a:ext uri="{FF2B5EF4-FFF2-40B4-BE49-F238E27FC236}">
                <a16:creationId xmlns:a16="http://schemas.microsoft.com/office/drawing/2014/main" id="{129AC101-C702-4CAD-8D0F-5F51CAD09064}"/>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圖片 8">
            <a:extLst>
              <a:ext uri="{FF2B5EF4-FFF2-40B4-BE49-F238E27FC236}">
                <a16:creationId xmlns:a16="http://schemas.microsoft.com/office/drawing/2014/main" id="{FA42BB81-D9CF-4756-B45E-08299331D4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0" name="圖片 9">
            <a:extLst>
              <a:ext uri="{FF2B5EF4-FFF2-40B4-BE49-F238E27FC236}">
                <a16:creationId xmlns:a16="http://schemas.microsoft.com/office/drawing/2014/main" id="{6D0E8D8B-50AB-4582-82DA-49360B3A9D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00466" y="2249905"/>
            <a:ext cx="6382794" cy="5822548"/>
          </a:xfrm>
          <a:prstGeom prst="rect">
            <a:avLst/>
          </a:prstGeom>
        </p:spPr>
      </p:pic>
      <p:sp>
        <p:nvSpPr>
          <p:cNvPr id="11" name="直角三角形 10">
            <a:extLst>
              <a:ext uri="{FF2B5EF4-FFF2-40B4-BE49-F238E27FC236}">
                <a16:creationId xmlns:a16="http://schemas.microsoft.com/office/drawing/2014/main" id="{B85A7BCC-ACFE-4A9D-9F71-011F8FB51103}"/>
              </a:ext>
            </a:extLst>
          </p:cNvPr>
          <p:cNvSpPr/>
          <p:nvPr userDrawn="1"/>
        </p:nvSpPr>
        <p:spPr>
          <a:xfrm flipH="1">
            <a:off x="10150035" y="4004749"/>
            <a:ext cx="2041965" cy="2853251"/>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剪去單一角落 17">
            <a:extLst>
              <a:ext uri="{FF2B5EF4-FFF2-40B4-BE49-F238E27FC236}">
                <a16:creationId xmlns:a16="http://schemas.microsoft.com/office/drawing/2014/main" id="{5ADD64BA-5421-4E9B-9A93-97EB2E797B10}"/>
              </a:ext>
            </a:extLst>
          </p:cNvPr>
          <p:cNvSpPr/>
          <p:nvPr userDrawn="1"/>
        </p:nvSpPr>
        <p:spPr>
          <a:xfrm>
            <a:off x="429164" y="360965"/>
            <a:ext cx="11354937" cy="5822548"/>
          </a:xfrm>
          <a:prstGeom prst="snip1Rect">
            <a:avLst>
              <a:gd name="adj" fmla="val 0"/>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13" name="矩形: 圓角 12">
            <a:extLst>
              <a:ext uri="{FF2B5EF4-FFF2-40B4-BE49-F238E27FC236}">
                <a16:creationId xmlns:a16="http://schemas.microsoft.com/office/drawing/2014/main" id="{A2CEE06B-7EE8-4234-B9E8-51EFD415D61A}"/>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投影片編號版面配置區 5">
            <a:extLst>
              <a:ext uri="{FF2B5EF4-FFF2-40B4-BE49-F238E27FC236}">
                <a16:creationId xmlns:a16="http://schemas.microsoft.com/office/drawing/2014/main" id="{46C81F43-51BE-4193-A468-3AFF6C00E7E3}"/>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Tree>
    <p:extLst>
      <p:ext uri="{BB962C8B-B14F-4D97-AF65-F5344CB8AC3E}">
        <p14:creationId xmlns:p14="http://schemas.microsoft.com/office/powerpoint/2010/main" val="281314165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章節標題">
    <p:spTree>
      <p:nvGrpSpPr>
        <p:cNvPr id="1" name=""/>
        <p:cNvGrpSpPr/>
        <p:nvPr/>
      </p:nvGrpSpPr>
      <p:grpSpPr>
        <a:xfrm>
          <a:off x="0" y="0"/>
          <a:ext cx="0" cy="0"/>
          <a:chOff x="0" y="0"/>
          <a:chExt cx="0" cy="0"/>
        </a:xfrm>
      </p:grpSpPr>
      <p:grpSp>
        <p:nvGrpSpPr>
          <p:cNvPr id="6" name="群組 5">
            <a:extLst>
              <a:ext uri="{FF2B5EF4-FFF2-40B4-BE49-F238E27FC236}">
                <a16:creationId xmlns:a16="http://schemas.microsoft.com/office/drawing/2014/main" id="{92677794-8779-4C7C-B0DE-6B053A0CA186}"/>
              </a:ext>
            </a:extLst>
          </p:cNvPr>
          <p:cNvGrpSpPr/>
          <p:nvPr userDrawn="1"/>
        </p:nvGrpSpPr>
        <p:grpSpPr>
          <a:xfrm>
            <a:off x="0" y="-24635"/>
            <a:ext cx="12220859" cy="8125281"/>
            <a:chOff x="0" y="-24635"/>
            <a:chExt cx="12220859" cy="8125281"/>
          </a:xfrm>
        </p:grpSpPr>
        <p:pic>
          <p:nvPicPr>
            <p:cNvPr id="4" name="圖片 3">
              <a:extLst>
                <a:ext uri="{FF2B5EF4-FFF2-40B4-BE49-F238E27FC236}">
                  <a16:creationId xmlns:a16="http://schemas.microsoft.com/office/drawing/2014/main" id="{B80F4E42-67B0-4320-B65E-AE50173AC260}"/>
                </a:ext>
              </a:extLst>
            </p:cNvPr>
            <p:cNvPicPr>
              <a:picLocks noChangeAspect="1"/>
            </p:cNvPicPr>
            <p:nvPr userDrawn="1"/>
          </p:nvPicPr>
          <p:blipFill>
            <a:blip r:embed="rId2"/>
            <a:stretch>
              <a:fillRect/>
            </a:stretch>
          </p:blipFill>
          <p:spPr>
            <a:xfrm>
              <a:off x="0" y="0"/>
              <a:ext cx="12192000" cy="8100646"/>
            </a:xfrm>
            <a:prstGeom prst="rect">
              <a:avLst/>
            </a:prstGeom>
          </p:spPr>
        </p:pic>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13" name="矩形: 圓角 12">
              <a:extLst>
                <a:ext uri="{FF2B5EF4-FFF2-40B4-BE49-F238E27FC236}">
                  <a16:creationId xmlns:a16="http://schemas.microsoft.com/office/drawing/2014/main" id="{A2CEE06B-7EE8-4234-B9E8-51EFD415D61A}"/>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投影片編號版面配置區 5">
              <a:extLst>
                <a:ext uri="{FF2B5EF4-FFF2-40B4-BE49-F238E27FC236}">
                  <a16:creationId xmlns:a16="http://schemas.microsoft.com/office/drawing/2014/main" id="{46C81F43-51BE-4193-A468-3AFF6C00E7E3}"/>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
          <p:nvSpPr>
            <p:cNvPr id="5" name="矩形 4">
              <a:extLst>
                <a:ext uri="{FF2B5EF4-FFF2-40B4-BE49-F238E27FC236}">
                  <a16:creationId xmlns:a16="http://schemas.microsoft.com/office/drawing/2014/main" id="{F38EA68C-C2BB-4776-9F7F-171714D7AB39}"/>
                </a:ext>
              </a:extLst>
            </p:cNvPr>
            <p:cNvSpPr/>
            <p:nvPr userDrawn="1"/>
          </p:nvSpPr>
          <p:spPr>
            <a:xfrm>
              <a:off x="0" y="0"/>
              <a:ext cx="12192000" cy="7315200"/>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Tree>
    <p:extLst>
      <p:ext uri="{BB962C8B-B14F-4D97-AF65-F5344CB8AC3E}">
        <p14:creationId xmlns:p14="http://schemas.microsoft.com/office/powerpoint/2010/main" val="27517267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章節標題">
    <p:spTree>
      <p:nvGrpSpPr>
        <p:cNvPr id="1" name=""/>
        <p:cNvGrpSpPr/>
        <p:nvPr/>
      </p:nvGrpSpPr>
      <p:grpSpPr>
        <a:xfrm>
          <a:off x="0" y="0"/>
          <a:ext cx="0" cy="0"/>
          <a:chOff x="0" y="0"/>
          <a:chExt cx="0" cy="0"/>
        </a:xfrm>
      </p:grpSpPr>
      <p:sp>
        <p:nvSpPr>
          <p:cNvPr id="7" name="平行四邊形 2">
            <a:extLst>
              <a:ext uri="{FF2B5EF4-FFF2-40B4-BE49-F238E27FC236}">
                <a16:creationId xmlns:a16="http://schemas.microsoft.com/office/drawing/2014/main" id="{91D5AE83-63CE-48B5-A42F-B1CF0405B267}"/>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直角三角形 7">
            <a:extLst>
              <a:ext uri="{FF2B5EF4-FFF2-40B4-BE49-F238E27FC236}">
                <a16:creationId xmlns:a16="http://schemas.microsoft.com/office/drawing/2014/main" id="{129AC101-C702-4CAD-8D0F-5F51CAD09064}"/>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 name="圖片 9">
            <a:extLst>
              <a:ext uri="{FF2B5EF4-FFF2-40B4-BE49-F238E27FC236}">
                <a16:creationId xmlns:a16="http://schemas.microsoft.com/office/drawing/2014/main" id="{6D0E8D8B-50AB-4582-82DA-49360B3A9D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00466" y="2249905"/>
            <a:ext cx="6382794" cy="5822548"/>
          </a:xfrm>
          <a:prstGeom prst="rect">
            <a:avLst/>
          </a:prstGeom>
        </p:spPr>
      </p:pic>
      <p:sp>
        <p:nvSpPr>
          <p:cNvPr id="18" name="矩形: 剪去單一角落 17">
            <a:extLst>
              <a:ext uri="{FF2B5EF4-FFF2-40B4-BE49-F238E27FC236}">
                <a16:creationId xmlns:a16="http://schemas.microsoft.com/office/drawing/2014/main" id="{5ADD64BA-5421-4E9B-9A93-97EB2E797B10}"/>
              </a:ext>
            </a:extLst>
          </p:cNvPr>
          <p:cNvSpPr/>
          <p:nvPr userDrawn="1"/>
        </p:nvSpPr>
        <p:spPr>
          <a:xfrm>
            <a:off x="-6726" y="0"/>
            <a:ext cx="12198726" cy="6882634"/>
          </a:xfrm>
          <a:prstGeom prst="snip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直角三角形 10">
            <a:extLst>
              <a:ext uri="{FF2B5EF4-FFF2-40B4-BE49-F238E27FC236}">
                <a16:creationId xmlns:a16="http://schemas.microsoft.com/office/drawing/2014/main" id="{B85A7BCC-ACFE-4A9D-9F71-011F8FB51103}"/>
              </a:ext>
            </a:extLst>
          </p:cNvPr>
          <p:cNvSpPr/>
          <p:nvPr userDrawn="1"/>
        </p:nvSpPr>
        <p:spPr>
          <a:xfrm flipH="1">
            <a:off x="10164464" y="4054018"/>
            <a:ext cx="2041965" cy="2853251"/>
          </a:xfrm>
          <a:prstGeom prst="rtTriangle">
            <a:avLst/>
          </a:prstGeom>
          <a:solidFill>
            <a:srgbClr val="F5D6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pic>
        <p:nvPicPr>
          <p:cNvPr id="9" name="圖片 8">
            <a:extLst>
              <a:ext uri="{FF2B5EF4-FFF2-40B4-BE49-F238E27FC236}">
                <a16:creationId xmlns:a16="http://schemas.microsoft.com/office/drawing/2014/main" id="{FA42BB81-D9CF-4756-B45E-08299331D4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sp>
        <p:nvSpPr>
          <p:cNvPr id="20" name="矩形: 圓角 19">
            <a:extLst>
              <a:ext uri="{FF2B5EF4-FFF2-40B4-BE49-F238E27FC236}">
                <a16:creationId xmlns:a16="http://schemas.microsoft.com/office/drawing/2014/main" id="{CBABAB66-FCA0-479B-8E23-99A0AF2B57A9}"/>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投影片編號版面配置區 5">
            <a:extLst>
              <a:ext uri="{FF2B5EF4-FFF2-40B4-BE49-F238E27FC236}">
                <a16:creationId xmlns:a16="http://schemas.microsoft.com/office/drawing/2014/main" id="{C3C53CCB-49FE-47BB-9379-C78E720D13DC}"/>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spTree>
    <p:extLst>
      <p:ext uri="{BB962C8B-B14F-4D97-AF65-F5344CB8AC3E}">
        <p14:creationId xmlns:p14="http://schemas.microsoft.com/office/powerpoint/2010/main" val="265863844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直角三角形 5">
            <a:extLst>
              <a:ext uri="{FF2B5EF4-FFF2-40B4-BE49-F238E27FC236}">
                <a16:creationId xmlns:a16="http://schemas.microsoft.com/office/drawing/2014/main" id="{A4C4D7AF-CE6E-4188-887F-BA57E9F03AC9}"/>
              </a:ext>
            </a:extLst>
          </p:cNvPr>
          <p:cNvSpPr/>
          <p:nvPr userDrawn="1"/>
        </p:nvSpPr>
        <p:spPr>
          <a:xfrm rot="10800000" flipH="1" flipV="1">
            <a:off x="0" y="-17773"/>
            <a:ext cx="3993776" cy="6873091"/>
          </a:xfrm>
          <a:prstGeom prst="rtTriangle">
            <a:avLst/>
          </a:prstGeom>
          <a:solidFill>
            <a:schemeClr val="accent6">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7A608B48-861C-4D35-99DB-CBF9AA5E96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8" name="圖片 17">
            <a:extLst>
              <a:ext uri="{FF2B5EF4-FFF2-40B4-BE49-F238E27FC236}">
                <a16:creationId xmlns:a16="http://schemas.microsoft.com/office/drawing/2014/main" id="{D4E37BC3-DC25-4A0A-B676-81EF8113F3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grpSp>
        <p:nvGrpSpPr>
          <p:cNvPr id="8" name="群組 7">
            <a:extLst>
              <a:ext uri="{FF2B5EF4-FFF2-40B4-BE49-F238E27FC236}">
                <a16:creationId xmlns:a16="http://schemas.microsoft.com/office/drawing/2014/main" id="{2ABECC9A-6CE1-4078-9EE8-16767ADC07F5}"/>
              </a:ext>
            </a:extLst>
          </p:cNvPr>
          <p:cNvGrpSpPr/>
          <p:nvPr userDrawn="1"/>
        </p:nvGrpSpPr>
        <p:grpSpPr>
          <a:xfrm>
            <a:off x="5545057" y="-17773"/>
            <a:ext cx="6890863" cy="6890863"/>
            <a:chOff x="5545057" y="-17773"/>
            <a:chExt cx="6890863" cy="6890863"/>
          </a:xfrm>
          <a:solidFill>
            <a:schemeClr val="accent6">
              <a:lumMod val="20000"/>
              <a:lumOff val="80000"/>
              <a:alpha val="58000"/>
            </a:schemeClr>
          </a:solidFill>
        </p:grpSpPr>
        <p:sp>
          <p:nvSpPr>
            <p:cNvPr id="9" name="矩形 8">
              <a:extLst>
                <a:ext uri="{FF2B5EF4-FFF2-40B4-BE49-F238E27FC236}">
                  <a16:creationId xmlns:a16="http://schemas.microsoft.com/office/drawing/2014/main" id="{FF27CCCB-A475-4BDA-9C2F-972FA2789D6C}"/>
                </a:ext>
              </a:extLst>
            </p:cNvPr>
            <p:cNvSpPr/>
            <p:nvPr userDrawn="1"/>
          </p:nvSpPr>
          <p:spPr>
            <a:xfrm>
              <a:off x="10616856" y="-1"/>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BAAFEF7B-638F-4A0D-9ECD-84C6AB21C683}"/>
                </a:ext>
              </a:extLst>
            </p:cNvPr>
            <p:cNvSpPr/>
            <p:nvPr userDrawn="1"/>
          </p:nvSpPr>
          <p:spPr>
            <a:xfrm>
              <a:off x="11113370" y="-17773"/>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88765E9D-47CE-4B1A-B50D-4FEDF5DBCC8D}"/>
                </a:ext>
              </a:extLst>
            </p:cNvPr>
            <p:cNvSpPr/>
            <p:nvPr userDrawn="1"/>
          </p:nvSpPr>
          <p:spPr>
            <a:xfrm>
              <a:off x="11609884" y="-1"/>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7CF0E141-0401-42D8-A66C-DA5702A157C8}"/>
                </a:ext>
              </a:extLst>
            </p:cNvPr>
            <p:cNvSpPr/>
            <p:nvPr userDrawn="1"/>
          </p:nvSpPr>
          <p:spPr>
            <a:xfrm>
              <a:off x="10125717" y="-17773"/>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a:extLst>
                <a:ext uri="{FF2B5EF4-FFF2-40B4-BE49-F238E27FC236}">
                  <a16:creationId xmlns:a16="http://schemas.microsoft.com/office/drawing/2014/main" id="{0B56B3FC-65D6-488E-B707-8737B4025B74}"/>
                </a:ext>
              </a:extLst>
            </p:cNvPr>
            <p:cNvGrpSpPr/>
            <p:nvPr userDrawn="1"/>
          </p:nvGrpSpPr>
          <p:grpSpPr>
            <a:xfrm rot="5400000">
              <a:off x="8071627" y="-2335895"/>
              <a:ext cx="1837724" cy="6890863"/>
              <a:chOff x="10278117" y="134627"/>
              <a:chExt cx="1837724" cy="6890863"/>
            </a:xfrm>
            <a:grpFill/>
          </p:grpSpPr>
          <p:sp>
            <p:nvSpPr>
              <p:cNvPr id="14" name="矩形 13">
                <a:extLst>
                  <a:ext uri="{FF2B5EF4-FFF2-40B4-BE49-F238E27FC236}">
                    <a16:creationId xmlns:a16="http://schemas.microsoft.com/office/drawing/2014/main" id="{7E9DBD54-058C-4A41-97E8-ECBFD9228054}"/>
                  </a:ext>
                </a:extLst>
              </p:cNvPr>
              <p:cNvSpPr/>
              <p:nvPr userDrawn="1"/>
            </p:nvSpPr>
            <p:spPr>
              <a:xfrm>
                <a:off x="10769256" y="152399"/>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4D70E9BB-94FF-4099-828E-47965D98D3FB}"/>
                  </a:ext>
                </a:extLst>
              </p:cNvPr>
              <p:cNvSpPr/>
              <p:nvPr userDrawn="1"/>
            </p:nvSpPr>
            <p:spPr>
              <a:xfrm>
                <a:off x="11265770" y="134627"/>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B935BF0C-88F4-4DDD-BC0F-3C2AACFEA46E}"/>
                  </a:ext>
                </a:extLst>
              </p:cNvPr>
              <p:cNvSpPr/>
              <p:nvPr userDrawn="1"/>
            </p:nvSpPr>
            <p:spPr>
              <a:xfrm>
                <a:off x="11762284" y="152399"/>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267F3CB6-1431-4FE9-8E0F-DB0ED98B68F0}"/>
                  </a:ext>
                </a:extLst>
              </p:cNvPr>
              <p:cNvSpPr/>
              <p:nvPr userDrawn="1"/>
            </p:nvSpPr>
            <p:spPr>
              <a:xfrm>
                <a:off x="10278117" y="375257"/>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2" name="矩形: 圓角 21">
            <a:extLst>
              <a:ext uri="{FF2B5EF4-FFF2-40B4-BE49-F238E27FC236}">
                <a16:creationId xmlns:a16="http://schemas.microsoft.com/office/drawing/2014/main" id="{7B619B40-4E9F-403B-8B1D-E93592E100BB}"/>
              </a:ext>
            </a:extLst>
          </p:cNvPr>
          <p:cNvSpPr/>
          <p:nvPr userDrawn="1"/>
        </p:nvSpPr>
        <p:spPr>
          <a:xfrm>
            <a:off x="866775" y="1203600"/>
            <a:ext cx="10600152" cy="2821023"/>
          </a:xfrm>
          <a:prstGeom prst="roundRect">
            <a:avLst/>
          </a:prstGeom>
          <a:solidFill>
            <a:schemeClr val="bg1">
              <a:alpha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圖片 20">
            <a:extLst>
              <a:ext uri="{FF2B5EF4-FFF2-40B4-BE49-F238E27FC236}">
                <a16:creationId xmlns:a16="http://schemas.microsoft.com/office/drawing/2014/main" id="{E9D0C5BF-ADF7-408B-A1E4-6799C5D5E78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073" y="3361161"/>
            <a:ext cx="3129513" cy="3600035"/>
          </a:xfrm>
          <a:prstGeom prst="rect">
            <a:avLst/>
          </a:prstGeom>
          <a:effectLst>
            <a:outerShdw blurRad="50800" dist="38100" algn="l" rotWithShape="0">
              <a:prstClr val="black">
                <a:alpha val="40000"/>
              </a:prstClr>
            </a:outerShdw>
          </a:effectLst>
        </p:spPr>
      </p:pic>
      <p:pic>
        <p:nvPicPr>
          <p:cNvPr id="23" name="圖片 22">
            <a:extLst>
              <a:ext uri="{FF2B5EF4-FFF2-40B4-BE49-F238E27FC236}">
                <a16:creationId xmlns:a16="http://schemas.microsoft.com/office/drawing/2014/main" id="{18B0D5F4-ACD4-4B3A-9730-E52597CC275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975332" y="5190325"/>
            <a:ext cx="3315831" cy="1745453"/>
          </a:xfrm>
          <a:prstGeom prst="rect">
            <a:avLst/>
          </a:prstGeom>
          <a:effectLst>
            <a:outerShdw blurRad="50800" dist="38100" algn="l" rotWithShape="0">
              <a:prstClr val="black">
                <a:alpha val="40000"/>
              </a:prstClr>
            </a:outerShdw>
          </a:effectLst>
        </p:spPr>
      </p:pic>
      <p:grpSp>
        <p:nvGrpSpPr>
          <p:cNvPr id="24" name="群組 23">
            <a:extLst>
              <a:ext uri="{FF2B5EF4-FFF2-40B4-BE49-F238E27FC236}">
                <a16:creationId xmlns:a16="http://schemas.microsoft.com/office/drawing/2014/main" id="{592722F0-4BC6-43B3-9128-4DDEDD331480}"/>
              </a:ext>
            </a:extLst>
          </p:cNvPr>
          <p:cNvGrpSpPr/>
          <p:nvPr userDrawn="1"/>
        </p:nvGrpSpPr>
        <p:grpSpPr>
          <a:xfrm>
            <a:off x="5020393" y="4329381"/>
            <a:ext cx="1851248" cy="1165994"/>
            <a:chOff x="6498873" y="3874085"/>
            <a:chExt cx="1851248" cy="1165994"/>
          </a:xfrm>
        </p:grpSpPr>
        <p:pic>
          <p:nvPicPr>
            <p:cNvPr id="25" name="圖片 24">
              <a:extLst>
                <a:ext uri="{FF2B5EF4-FFF2-40B4-BE49-F238E27FC236}">
                  <a16:creationId xmlns:a16="http://schemas.microsoft.com/office/drawing/2014/main" id="{21CB0ECD-250E-434E-9600-51951E24BA8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164500" y="4459386"/>
              <a:ext cx="580693" cy="580693"/>
            </a:xfrm>
            <a:prstGeom prst="rect">
              <a:avLst/>
            </a:prstGeom>
          </p:spPr>
        </p:pic>
        <p:pic>
          <p:nvPicPr>
            <p:cNvPr id="26" name="圖片 25">
              <a:extLst>
                <a:ext uri="{FF2B5EF4-FFF2-40B4-BE49-F238E27FC236}">
                  <a16:creationId xmlns:a16="http://schemas.microsoft.com/office/drawing/2014/main" id="{458113B9-2319-452C-A5B8-E9C50DC03472}"/>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498873" y="4035046"/>
              <a:ext cx="580693" cy="576085"/>
            </a:xfrm>
            <a:prstGeom prst="rect">
              <a:avLst/>
            </a:prstGeom>
          </p:spPr>
        </p:pic>
        <p:pic>
          <p:nvPicPr>
            <p:cNvPr id="27" name="圖片 26">
              <a:extLst>
                <a:ext uri="{FF2B5EF4-FFF2-40B4-BE49-F238E27FC236}">
                  <a16:creationId xmlns:a16="http://schemas.microsoft.com/office/drawing/2014/main" id="{F008F6B1-FC91-4928-ABC2-ABBA9857FCE1}"/>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7764820" y="3874085"/>
              <a:ext cx="585301" cy="585301"/>
            </a:xfrm>
            <a:prstGeom prst="rect">
              <a:avLst/>
            </a:prstGeom>
          </p:spPr>
        </p:pic>
      </p:grpSp>
      <p:pic>
        <p:nvPicPr>
          <p:cNvPr id="30" name="圖片 29">
            <a:extLst>
              <a:ext uri="{FF2B5EF4-FFF2-40B4-BE49-F238E27FC236}">
                <a16:creationId xmlns:a16="http://schemas.microsoft.com/office/drawing/2014/main" id="{296BE42F-A56B-41E8-8B09-DC9915CB2A98}"/>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31" name="矩形: 圓角 30">
            <a:extLst>
              <a:ext uri="{FF2B5EF4-FFF2-40B4-BE49-F238E27FC236}">
                <a16:creationId xmlns:a16="http://schemas.microsoft.com/office/drawing/2014/main" id="{DA15AFFC-23AB-4D6B-BEE7-ADB8E2AEE09D}"/>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投影片編號版面配置區 5">
            <a:extLst>
              <a:ext uri="{FF2B5EF4-FFF2-40B4-BE49-F238E27FC236}">
                <a16:creationId xmlns:a16="http://schemas.microsoft.com/office/drawing/2014/main" id="{510E8B75-26CB-47F9-83FD-7A06E8527435}"/>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28" name="圖片 27">
            <a:extLst>
              <a:ext uri="{FF2B5EF4-FFF2-40B4-BE49-F238E27FC236}">
                <a16:creationId xmlns:a16="http://schemas.microsoft.com/office/drawing/2014/main" id="{6D39A919-E07C-4E22-B844-F3CA9F302019}"/>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76368" y="163231"/>
            <a:ext cx="2590800" cy="381000"/>
          </a:xfrm>
          <a:prstGeom prst="rect">
            <a:avLst/>
          </a:prstGeom>
        </p:spPr>
      </p:pic>
      <p:grpSp>
        <p:nvGrpSpPr>
          <p:cNvPr id="36" name="群組 35">
            <a:extLst>
              <a:ext uri="{FF2B5EF4-FFF2-40B4-BE49-F238E27FC236}">
                <a16:creationId xmlns:a16="http://schemas.microsoft.com/office/drawing/2014/main" id="{1478FBEA-332E-4164-B1DC-F2CC385AD4B3}"/>
              </a:ext>
            </a:extLst>
          </p:cNvPr>
          <p:cNvGrpSpPr/>
          <p:nvPr userDrawn="1"/>
        </p:nvGrpSpPr>
        <p:grpSpPr>
          <a:xfrm>
            <a:off x="9392813" y="-24635"/>
            <a:ext cx="2828046" cy="338554"/>
            <a:chOff x="9154688" y="-24635"/>
            <a:chExt cx="2828046" cy="338554"/>
          </a:xfrm>
        </p:grpSpPr>
        <p:sp>
          <p:nvSpPr>
            <p:cNvPr id="37" name="文字方塊 36">
              <a:extLst>
                <a:ext uri="{FF2B5EF4-FFF2-40B4-BE49-F238E27FC236}">
                  <a16:creationId xmlns:a16="http://schemas.microsoft.com/office/drawing/2014/main" id="{9C9A1C8D-3A71-4492-8FCC-4EFFB1A55321}"/>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38" name="直線接點 37">
              <a:extLst>
                <a:ext uri="{FF2B5EF4-FFF2-40B4-BE49-F238E27FC236}">
                  <a16:creationId xmlns:a16="http://schemas.microsoft.com/office/drawing/2014/main" id="{A31C8179-ECD9-44AB-97A1-FD896979DC0E}"/>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88998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6" name="直角三角形 5">
            <a:extLst>
              <a:ext uri="{FF2B5EF4-FFF2-40B4-BE49-F238E27FC236}">
                <a16:creationId xmlns:a16="http://schemas.microsoft.com/office/drawing/2014/main" id="{A4C4D7AF-CE6E-4188-887F-BA57E9F03AC9}"/>
              </a:ext>
            </a:extLst>
          </p:cNvPr>
          <p:cNvSpPr/>
          <p:nvPr userDrawn="1"/>
        </p:nvSpPr>
        <p:spPr>
          <a:xfrm rot="10800000" flipH="1" flipV="1">
            <a:off x="0" y="-17773"/>
            <a:ext cx="3993776" cy="6873091"/>
          </a:xfrm>
          <a:prstGeom prst="rtTriangle">
            <a:avLst/>
          </a:prstGeom>
          <a:solidFill>
            <a:schemeClr val="accent6">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7A608B48-861C-4D35-99DB-CBF9AA5E96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8" name="圖片 17">
            <a:extLst>
              <a:ext uri="{FF2B5EF4-FFF2-40B4-BE49-F238E27FC236}">
                <a16:creationId xmlns:a16="http://schemas.microsoft.com/office/drawing/2014/main" id="{D4E37BC3-DC25-4A0A-B676-81EF8113F3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grpSp>
        <p:nvGrpSpPr>
          <p:cNvPr id="8" name="群組 7">
            <a:extLst>
              <a:ext uri="{FF2B5EF4-FFF2-40B4-BE49-F238E27FC236}">
                <a16:creationId xmlns:a16="http://schemas.microsoft.com/office/drawing/2014/main" id="{2ABECC9A-6CE1-4078-9EE8-16767ADC07F5}"/>
              </a:ext>
            </a:extLst>
          </p:cNvPr>
          <p:cNvGrpSpPr/>
          <p:nvPr userDrawn="1"/>
        </p:nvGrpSpPr>
        <p:grpSpPr>
          <a:xfrm>
            <a:off x="5545057" y="-17773"/>
            <a:ext cx="6890863" cy="6890863"/>
            <a:chOff x="5545057" y="-17773"/>
            <a:chExt cx="6890863" cy="6890863"/>
          </a:xfrm>
          <a:solidFill>
            <a:schemeClr val="accent6">
              <a:lumMod val="20000"/>
              <a:lumOff val="80000"/>
              <a:alpha val="58000"/>
            </a:schemeClr>
          </a:solidFill>
        </p:grpSpPr>
        <p:sp>
          <p:nvSpPr>
            <p:cNvPr id="9" name="矩形 8">
              <a:extLst>
                <a:ext uri="{FF2B5EF4-FFF2-40B4-BE49-F238E27FC236}">
                  <a16:creationId xmlns:a16="http://schemas.microsoft.com/office/drawing/2014/main" id="{FF27CCCB-A475-4BDA-9C2F-972FA2789D6C}"/>
                </a:ext>
              </a:extLst>
            </p:cNvPr>
            <p:cNvSpPr/>
            <p:nvPr userDrawn="1"/>
          </p:nvSpPr>
          <p:spPr>
            <a:xfrm>
              <a:off x="10616856" y="-1"/>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BAAFEF7B-638F-4A0D-9ECD-84C6AB21C683}"/>
                </a:ext>
              </a:extLst>
            </p:cNvPr>
            <p:cNvSpPr/>
            <p:nvPr userDrawn="1"/>
          </p:nvSpPr>
          <p:spPr>
            <a:xfrm>
              <a:off x="11113370" y="-17773"/>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88765E9D-47CE-4B1A-B50D-4FEDF5DBCC8D}"/>
                </a:ext>
              </a:extLst>
            </p:cNvPr>
            <p:cNvSpPr/>
            <p:nvPr userDrawn="1"/>
          </p:nvSpPr>
          <p:spPr>
            <a:xfrm>
              <a:off x="11609884" y="-1"/>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7CF0E141-0401-42D8-A66C-DA5702A157C8}"/>
                </a:ext>
              </a:extLst>
            </p:cNvPr>
            <p:cNvSpPr/>
            <p:nvPr userDrawn="1"/>
          </p:nvSpPr>
          <p:spPr>
            <a:xfrm>
              <a:off x="10125717" y="-17773"/>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a:extLst>
                <a:ext uri="{FF2B5EF4-FFF2-40B4-BE49-F238E27FC236}">
                  <a16:creationId xmlns:a16="http://schemas.microsoft.com/office/drawing/2014/main" id="{0B56B3FC-65D6-488E-B707-8737B4025B74}"/>
                </a:ext>
              </a:extLst>
            </p:cNvPr>
            <p:cNvGrpSpPr/>
            <p:nvPr userDrawn="1"/>
          </p:nvGrpSpPr>
          <p:grpSpPr>
            <a:xfrm rot="5400000">
              <a:off x="8071627" y="-2335895"/>
              <a:ext cx="1837724" cy="6890863"/>
              <a:chOff x="10278117" y="134627"/>
              <a:chExt cx="1837724" cy="6890863"/>
            </a:xfrm>
            <a:grpFill/>
          </p:grpSpPr>
          <p:sp>
            <p:nvSpPr>
              <p:cNvPr id="14" name="矩形 13">
                <a:extLst>
                  <a:ext uri="{FF2B5EF4-FFF2-40B4-BE49-F238E27FC236}">
                    <a16:creationId xmlns:a16="http://schemas.microsoft.com/office/drawing/2014/main" id="{7E9DBD54-058C-4A41-97E8-ECBFD9228054}"/>
                  </a:ext>
                </a:extLst>
              </p:cNvPr>
              <p:cNvSpPr/>
              <p:nvPr userDrawn="1"/>
            </p:nvSpPr>
            <p:spPr>
              <a:xfrm>
                <a:off x="10769256" y="152399"/>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4D70E9BB-94FF-4099-828E-47965D98D3FB}"/>
                  </a:ext>
                </a:extLst>
              </p:cNvPr>
              <p:cNvSpPr/>
              <p:nvPr userDrawn="1"/>
            </p:nvSpPr>
            <p:spPr>
              <a:xfrm>
                <a:off x="11265770" y="134627"/>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B935BF0C-88F4-4DDD-BC0F-3C2AACFEA46E}"/>
                  </a:ext>
                </a:extLst>
              </p:cNvPr>
              <p:cNvSpPr/>
              <p:nvPr userDrawn="1"/>
            </p:nvSpPr>
            <p:spPr>
              <a:xfrm>
                <a:off x="11762284" y="152399"/>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267F3CB6-1431-4FE9-8E0F-DB0ED98B68F0}"/>
                  </a:ext>
                </a:extLst>
              </p:cNvPr>
              <p:cNvSpPr/>
              <p:nvPr userDrawn="1"/>
            </p:nvSpPr>
            <p:spPr>
              <a:xfrm>
                <a:off x="10278117" y="375257"/>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2" name="矩形: 圓角 21">
            <a:extLst>
              <a:ext uri="{FF2B5EF4-FFF2-40B4-BE49-F238E27FC236}">
                <a16:creationId xmlns:a16="http://schemas.microsoft.com/office/drawing/2014/main" id="{7B619B40-4E9F-403B-8B1D-E93592E100BB}"/>
              </a:ext>
            </a:extLst>
          </p:cNvPr>
          <p:cNvSpPr/>
          <p:nvPr userDrawn="1"/>
        </p:nvSpPr>
        <p:spPr>
          <a:xfrm>
            <a:off x="866775" y="1203600"/>
            <a:ext cx="10600152" cy="2821023"/>
          </a:xfrm>
          <a:prstGeom prst="roundRect">
            <a:avLst/>
          </a:prstGeom>
          <a:solidFill>
            <a:schemeClr val="bg1">
              <a:alpha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圖片 20">
            <a:extLst>
              <a:ext uri="{FF2B5EF4-FFF2-40B4-BE49-F238E27FC236}">
                <a16:creationId xmlns:a16="http://schemas.microsoft.com/office/drawing/2014/main" id="{E9D0C5BF-ADF7-408B-A1E4-6799C5D5E78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073" y="3361161"/>
            <a:ext cx="3129513" cy="3600035"/>
          </a:xfrm>
          <a:prstGeom prst="rect">
            <a:avLst/>
          </a:prstGeom>
          <a:effectLst>
            <a:outerShdw blurRad="50800" dist="38100" algn="l" rotWithShape="0">
              <a:prstClr val="black">
                <a:alpha val="40000"/>
              </a:prstClr>
            </a:outerShdw>
          </a:effectLst>
        </p:spPr>
      </p:pic>
      <p:pic>
        <p:nvPicPr>
          <p:cNvPr id="23" name="圖片 22">
            <a:extLst>
              <a:ext uri="{FF2B5EF4-FFF2-40B4-BE49-F238E27FC236}">
                <a16:creationId xmlns:a16="http://schemas.microsoft.com/office/drawing/2014/main" id="{18B0D5F4-ACD4-4B3A-9730-E52597CC275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975332" y="5190325"/>
            <a:ext cx="3315831" cy="1745453"/>
          </a:xfrm>
          <a:prstGeom prst="rect">
            <a:avLst/>
          </a:prstGeom>
          <a:effectLst>
            <a:outerShdw blurRad="50800" dist="38100" algn="l" rotWithShape="0">
              <a:prstClr val="black">
                <a:alpha val="40000"/>
              </a:prstClr>
            </a:outerShdw>
          </a:effectLst>
        </p:spPr>
      </p:pic>
      <p:pic>
        <p:nvPicPr>
          <p:cNvPr id="30" name="圖片 29">
            <a:extLst>
              <a:ext uri="{FF2B5EF4-FFF2-40B4-BE49-F238E27FC236}">
                <a16:creationId xmlns:a16="http://schemas.microsoft.com/office/drawing/2014/main" id="{296BE42F-A56B-41E8-8B09-DC9915CB2A98}"/>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31" name="矩形: 圓角 30">
            <a:extLst>
              <a:ext uri="{FF2B5EF4-FFF2-40B4-BE49-F238E27FC236}">
                <a16:creationId xmlns:a16="http://schemas.microsoft.com/office/drawing/2014/main" id="{DA15AFFC-23AB-4D6B-BEE7-ADB8E2AEE09D}"/>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投影片編號版面配置區 5">
            <a:extLst>
              <a:ext uri="{FF2B5EF4-FFF2-40B4-BE49-F238E27FC236}">
                <a16:creationId xmlns:a16="http://schemas.microsoft.com/office/drawing/2014/main" id="{510E8B75-26CB-47F9-83FD-7A06E8527435}"/>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28" name="圖片 27">
            <a:extLst>
              <a:ext uri="{FF2B5EF4-FFF2-40B4-BE49-F238E27FC236}">
                <a16:creationId xmlns:a16="http://schemas.microsoft.com/office/drawing/2014/main" id="{6D39A919-E07C-4E22-B844-F3CA9F30201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76368" y="163231"/>
            <a:ext cx="2590800" cy="381000"/>
          </a:xfrm>
          <a:prstGeom prst="rect">
            <a:avLst/>
          </a:prstGeom>
        </p:spPr>
      </p:pic>
      <p:grpSp>
        <p:nvGrpSpPr>
          <p:cNvPr id="36" name="群組 35">
            <a:extLst>
              <a:ext uri="{FF2B5EF4-FFF2-40B4-BE49-F238E27FC236}">
                <a16:creationId xmlns:a16="http://schemas.microsoft.com/office/drawing/2014/main" id="{1478FBEA-332E-4164-B1DC-F2CC385AD4B3}"/>
              </a:ext>
            </a:extLst>
          </p:cNvPr>
          <p:cNvGrpSpPr/>
          <p:nvPr userDrawn="1"/>
        </p:nvGrpSpPr>
        <p:grpSpPr>
          <a:xfrm>
            <a:off x="9392813" y="-24635"/>
            <a:ext cx="2828046" cy="338554"/>
            <a:chOff x="9154688" y="-24635"/>
            <a:chExt cx="2828046" cy="338554"/>
          </a:xfrm>
        </p:grpSpPr>
        <p:sp>
          <p:nvSpPr>
            <p:cNvPr id="37" name="文字方塊 36">
              <a:extLst>
                <a:ext uri="{FF2B5EF4-FFF2-40B4-BE49-F238E27FC236}">
                  <a16:creationId xmlns:a16="http://schemas.microsoft.com/office/drawing/2014/main" id="{9C9A1C8D-3A71-4492-8FCC-4EFFB1A55321}"/>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38" name="直線接點 37">
              <a:extLst>
                <a:ext uri="{FF2B5EF4-FFF2-40B4-BE49-F238E27FC236}">
                  <a16:creationId xmlns:a16="http://schemas.microsoft.com/office/drawing/2014/main" id="{A31C8179-ECD9-44AB-97A1-FD896979DC0E}"/>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75176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29" name="流程圖: 卡片 28">
            <a:extLst>
              <a:ext uri="{FF2B5EF4-FFF2-40B4-BE49-F238E27FC236}">
                <a16:creationId xmlns:a16="http://schemas.microsoft.com/office/drawing/2014/main" id="{14D41468-A94D-444C-A544-9C0D95591FAD}"/>
              </a:ext>
            </a:extLst>
          </p:cNvPr>
          <p:cNvSpPr/>
          <p:nvPr userDrawn="1"/>
        </p:nvSpPr>
        <p:spPr>
          <a:xfrm rot="10800000">
            <a:off x="39834" y="1200733"/>
            <a:ext cx="12152165" cy="3496688"/>
          </a:xfrm>
          <a:prstGeom prst="flowChartPunchedCard">
            <a:avLst/>
          </a:prstGeom>
          <a:solidFill>
            <a:srgbClr val="A4AC4D"/>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5" name="圖片 44">
            <a:extLst>
              <a:ext uri="{FF2B5EF4-FFF2-40B4-BE49-F238E27FC236}">
                <a16:creationId xmlns:a16="http://schemas.microsoft.com/office/drawing/2014/main" id="{24CDF243-C1A1-4DC0-809B-39238EF664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8494962">
            <a:off x="7782621" y="1880431"/>
            <a:ext cx="6382794" cy="5822548"/>
          </a:xfrm>
          <a:prstGeom prst="rect">
            <a:avLst/>
          </a:prstGeom>
        </p:spPr>
      </p:pic>
      <p:pic>
        <p:nvPicPr>
          <p:cNvPr id="21" name="圖片 20">
            <a:extLst>
              <a:ext uri="{FF2B5EF4-FFF2-40B4-BE49-F238E27FC236}">
                <a16:creationId xmlns:a16="http://schemas.microsoft.com/office/drawing/2014/main" id="{67CCD85F-CD51-4399-8CD9-773D46B19E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0389" y="3361161"/>
            <a:ext cx="3129513" cy="3600035"/>
          </a:xfrm>
          <a:prstGeom prst="rect">
            <a:avLst/>
          </a:prstGeom>
          <a:effectLst>
            <a:outerShdw blurRad="50800" dist="38100" algn="l" rotWithShape="0">
              <a:prstClr val="black">
                <a:alpha val="40000"/>
              </a:prstClr>
            </a:outerShdw>
          </a:effectLst>
        </p:spPr>
      </p:pic>
      <p:grpSp>
        <p:nvGrpSpPr>
          <p:cNvPr id="30" name="群組 29">
            <a:extLst>
              <a:ext uri="{FF2B5EF4-FFF2-40B4-BE49-F238E27FC236}">
                <a16:creationId xmlns:a16="http://schemas.microsoft.com/office/drawing/2014/main" id="{23C1FA75-23BA-4B79-BAF7-1E2DC82E7E28}"/>
              </a:ext>
            </a:extLst>
          </p:cNvPr>
          <p:cNvGrpSpPr/>
          <p:nvPr userDrawn="1"/>
        </p:nvGrpSpPr>
        <p:grpSpPr>
          <a:xfrm>
            <a:off x="4227279" y="1803273"/>
            <a:ext cx="3876633" cy="2308324"/>
            <a:chOff x="2037262" y="604715"/>
            <a:chExt cx="3876633" cy="2308324"/>
          </a:xfrm>
        </p:grpSpPr>
        <p:sp>
          <p:nvSpPr>
            <p:cNvPr id="31" name="文字方塊 30">
              <a:extLst>
                <a:ext uri="{FF2B5EF4-FFF2-40B4-BE49-F238E27FC236}">
                  <a16:creationId xmlns:a16="http://schemas.microsoft.com/office/drawing/2014/main" id="{A7C600E0-EC6B-4359-B882-F323443D2FBB}"/>
                </a:ext>
              </a:extLst>
            </p:cNvPr>
            <p:cNvSpPr txBox="1"/>
            <p:nvPr userDrawn="1"/>
          </p:nvSpPr>
          <p:spPr>
            <a:xfrm>
              <a:off x="2037262" y="604715"/>
              <a:ext cx="3876633" cy="2308324"/>
            </a:xfrm>
            <a:prstGeom prst="rect">
              <a:avLst/>
            </a:prstGeom>
            <a:noFill/>
            <a:effectLst>
              <a:outerShdw blurRad="50800" dist="38100" dir="5400000" algn="t" rotWithShape="0">
                <a:prstClr val="black">
                  <a:alpha val="40000"/>
                </a:prstClr>
              </a:outerShdw>
            </a:effectLst>
          </p:spPr>
          <p:txBody>
            <a:bodyPr wrap="square" rtlCol="0">
              <a:spAutoFit/>
            </a:bodyPr>
            <a:lstStyle/>
            <a:p>
              <a:pPr algn="l"/>
              <a:r>
                <a:rPr lang="zh-TW" altLang="en-US" sz="7200" b="1" dirty="0">
                  <a:solidFill>
                    <a:schemeClr val="bg1"/>
                  </a:solidFill>
                  <a:latin typeface="微軟正黑體" panose="020B0604030504040204" pitchFamily="34" charset="-120"/>
                  <a:ea typeface="微軟正黑體" panose="020B0604030504040204" pitchFamily="34" charset="-120"/>
                </a:rPr>
                <a:t>簡報結束</a:t>
              </a:r>
              <a:endParaRPr lang="en-US" altLang="zh-TW" sz="7200" b="1" dirty="0">
                <a:solidFill>
                  <a:schemeClr val="bg1"/>
                </a:solidFill>
                <a:latin typeface="微軟正黑體" panose="020B0604030504040204" pitchFamily="34" charset="-120"/>
                <a:ea typeface="微軟正黑體" panose="020B0604030504040204" pitchFamily="34" charset="-120"/>
              </a:endParaRPr>
            </a:p>
            <a:p>
              <a:pPr algn="l"/>
              <a:r>
                <a:rPr lang="zh-TW" altLang="en-US" sz="7200" b="1" dirty="0">
                  <a:solidFill>
                    <a:schemeClr val="bg1"/>
                  </a:solidFill>
                  <a:latin typeface="微軟正黑體" panose="020B0604030504040204" pitchFamily="34" charset="-120"/>
                  <a:ea typeface="微軟正黑體" panose="020B0604030504040204" pitchFamily="34" charset="-120"/>
                </a:rPr>
                <a:t>敬請指教</a:t>
              </a:r>
            </a:p>
          </p:txBody>
        </p:sp>
        <p:sp>
          <p:nvSpPr>
            <p:cNvPr id="32" name="橢圓 31">
              <a:extLst>
                <a:ext uri="{FF2B5EF4-FFF2-40B4-BE49-F238E27FC236}">
                  <a16:creationId xmlns:a16="http://schemas.microsoft.com/office/drawing/2014/main" id="{66646FF9-F0C0-470A-A21F-9937CCFB9D79}"/>
                </a:ext>
              </a:extLst>
            </p:cNvPr>
            <p:cNvSpPr/>
            <p:nvPr userDrawn="1"/>
          </p:nvSpPr>
          <p:spPr>
            <a:xfrm>
              <a:off x="2775103" y="1476461"/>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3" name="橢圓 32">
              <a:extLst>
                <a:ext uri="{FF2B5EF4-FFF2-40B4-BE49-F238E27FC236}">
                  <a16:creationId xmlns:a16="http://schemas.microsoft.com/office/drawing/2014/main" id="{79D8665E-25A6-4A86-A097-D32B2C65336F}"/>
                </a:ext>
              </a:extLst>
            </p:cNvPr>
            <p:cNvSpPr/>
            <p:nvPr userDrawn="1"/>
          </p:nvSpPr>
          <p:spPr>
            <a:xfrm>
              <a:off x="3482761" y="773390"/>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4" name="橢圓 33">
              <a:extLst>
                <a:ext uri="{FF2B5EF4-FFF2-40B4-BE49-F238E27FC236}">
                  <a16:creationId xmlns:a16="http://schemas.microsoft.com/office/drawing/2014/main" id="{D4B30263-7369-4516-8867-99B30CB1E22A}"/>
                </a:ext>
              </a:extLst>
            </p:cNvPr>
            <p:cNvSpPr/>
            <p:nvPr userDrawn="1"/>
          </p:nvSpPr>
          <p:spPr>
            <a:xfrm>
              <a:off x="4188446" y="2181642"/>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5" name="橢圓 34">
              <a:extLst>
                <a:ext uri="{FF2B5EF4-FFF2-40B4-BE49-F238E27FC236}">
                  <a16:creationId xmlns:a16="http://schemas.microsoft.com/office/drawing/2014/main" id="{B56AC0E4-4D4C-4A8F-B4D0-FC4F2CE9F196}"/>
                </a:ext>
              </a:extLst>
            </p:cNvPr>
            <p:cNvSpPr/>
            <p:nvPr userDrawn="1"/>
          </p:nvSpPr>
          <p:spPr>
            <a:xfrm>
              <a:off x="4706241" y="1036649"/>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6" name="橢圓 35">
              <a:extLst>
                <a:ext uri="{FF2B5EF4-FFF2-40B4-BE49-F238E27FC236}">
                  <a16:creationId xmlns:a16="http://schemas.microsoft.com/office/drawing/2014/main" id="{B79447F8-6EAC-4D14-81F3-38CE2F5793FE}"/>
                </a:ext>
              </a:extLst>
            </p:cNvPr>
            <p:cNvSpPr/>
            <p:nvPr userDrawn="1"/>
          </p:nvSpPr>
          <p:spPr>
            <a:xfrm>
              <a:off x="2366645" y="2571510"/>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7" name="橢圓 36">
              <a:extLst>
                <a:ext uri="{FF2B5EF4-FFF2-40B4-BE49-F238E27FC236}">
                  <a16:creationId xmlns:a16="http://schemas.microsoft.com/office/drawing/2014/main" id="{612CF0A4-A001-4520-A13F-D1C0845C8ADB}"/>
                </a:ext>
              </a:extLst>
            </p:cNvPr>
            <p:cNvSpPr/>
            <p:nvPr userDrawn="1"/>
          </p:nvSpPr>
          <p:spPr>
            <a:xfrm>
              <a:off x="5261629" y="2086254"/>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8" name="橢圓 37">
              <a:extLst>
                <a:ext uri="{FF2B5EF4-FFF2-40B4-BE49-F238E27FC236}">
                  <a16:creationId xmlns:a16="http://schemas.microsoft.com/office/drawing/2014/main" id="{3C326DC0-16D2-4675-BAA5-D2B984749A77}"/>
                </a:ext>
              </a:extLst>
            </p:cNvPr>
            <p:cNvSpPr/>
            <p:nvPr userDrawn="1"/>
          </p:nvSpPr>
          <p:spPr>
            <a:xfrm>
              <a:off x="5583359" y="1431739"/>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grpSp>
      <p:grpSp>
        <p:nvGrpSpPr>
          <p:cNvPr id="23" name="群組 22">
            <a:extLst>
              <a:ext uri="{FF2B5EF4-FFF2-40B4-BE49-F238E27FC236}">
                <a16:creationId xmlns:a16="http://schemas.microsoft.com/office/drawing/2014/main" id="{F751DC80-138D-4E51-AAE6-FCB51907FAC8}"/>
              </a:ext>
            </a:extLst>
          </p:cNvPr>
          <p:cNvGrpSpPr/>
          <p:nvPr userDrawn="1"/>
        </p:nvGrpSpPr>
        <p:grpSpPr>
          <a:xfrm>
            <a:off x="7012453" y="4844534"/>
            <a:ext cx="1851248" cy="1165994"/>
            <a:chOff x="6498873" y="3874085"/>
            <a:chExt cx="1851248" cy="1165994"/>
          </a:xfrm>
        </p:grpSpPr>
        <p:pic>
          <p:nvPicPr>
            <p:cNvPr id="24" name="圖片 23">
              <a:extLst>
                <a:ext uri="{FF2B5EF4-FFF2-40B4-BE49-F238E27FC236}">
                  <a16:creationId xmlns:a16="http://schemas.microsoft.com/office/drawing/2014/main" id="{6C58F170-9235-452E-B660-E57A15AE433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64500" y="4459386"/>
              <a:ext cx="580693" cy="580693"/>
            </a:xfrm>
            <a:prstGeom prst="rect">
              <a:avLst/>
            </a:prstGeom>
          </p:spPr>
        </p:pic>
        <p:pic>
          <p:nvPicPr>
            <p:cNvPr id="25" name="圖片 24">
              <a:extLst>
                <a:ext uri="{FF2B5EF4-FFF2-40B4-BE49-F238E27FC236}">
                  <a16:creationId xmlns:a16="http://schemas.microsoft.com/office/drawing/2014/main" id="{D5534188-2BCF-4719-8169-8E324F9459B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498873" y="4035046"/>
              <a:ext cx="580693" cy="576085"/>
            </a:xfrm>
            <a:prstGeom prst="rect">
              <a:avLst/>
            </a:prstGeom>
          </p:spPr>
        </p:pic>
        <p:pic>
          <p:nvPicPr>
            <p:cNvPr id="26" name="圖片 25">
              <a:extLst>
                <a:ext uri="{FF2B5EF4-FFF2-40B4-BE49-F238E27FC236}">
                  <a16:creationId xmlns:a16="http://schemas.microsoft.com/office/drawing/2014/main" id="{844A74E6-3E72-4A73-B6C4-68B99670AE9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764820" y="3874085"/>
              <a:ext cx="585301" cy="585301"/>
            </a:xfrm>
            <a:prstGeom prst="rect">
              <a:avLst/>
            </a:prstGeom>
          </p:spPr>
        </p:pic>
      </p:grpSp>
      <p:pic>
        <p:nvPicPr>
          <p:cNvPr id="46" name="圖片 45">
            <a:extLst>
              <a:ext uri="{FF2B5EF4-FFF2-40B4-BE49-F238E27FC236}">
                <a16:creationId xmlns:a16="http://schemas.microsoft.com/office/drawing/2014/main" id="{70EE7914-8CCF-42AE-A5FC-C8E1B79977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7080044">
            <a:off x="-1872226" y="-1648179"/>
            <a:ext cx="6382794" cy="5822548"/>
          </a:xfrm>
          <a:prstGeom prst="rect">
            <a:avLst/>
          </a:prstGeom>
        </p:spPr>
      </p:pic>
      <p:pic>
        <p:nvPicPr>
          <p:cNvPr id="22" name="圖片 21">
            <a:extLst>
              <a:ext uri="{FF2B5EF4-FFF2-40B4-BE49-F238E27FC236}">
                <a16:creationId xmlns:a16="http://schemas.microsoft.com/office/drawing/2014/main" id="{F5474AB3-E1D3-4DB7-99C4-1AF17C2D1BB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310648" y="5190325"/>
            <a:ext cx="3315831" cy="1745453"/>
          </a:xfrm>
          <a:prstGeom prst="rect">
            <a:avLst/>
          </a:prstGeom>
          <a:effectLst>
            <a:outerShdw blurRad="50800" dist="38100" algn="l" rotWithShape="0">
              <a:prstClr val="black">
                <a:alpha val="40000"/>
              </a:prstClr>
            </a:outerShdw>
          </a:effectLst>
        </p:spPr>
      </p:pic>
      <p:pic>
        <p:nvPicPr>
          <p:cNvPr id="28" name="圖片 27">
            <a:extLst>
              <a:ext uri="{FF2B5EF4-FFF2-40B4-BE49-F238E27FC236}">
                <a16:creationId xmlns:a16="http://schemas.microsoft.com/office/drawing/2014/main" id="{B9367D93-DDE8-445A-BD05-87F0C3BFA75D}"/>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39" name="矩形: 圓角 38">
            <a:extLst>
              <a:ext uri="{FF2B5EF4-FFF2-40B4-BE49-F238E27FC236}">
                <a16:creationId xmlns:a16="http://schemas.microsoft.com/office/drawing/2014/main" id="{BFB3A3C0-44EA-458A-B002-07C9BF0C07CF}"/>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投影片編號版面配置區 5">
            <a:extLst>
              <a:ext uri="{FF2B5EF4-FFF2-40B4-BE49-F238E27FC236}">
                <a16:creationId xmlns:a16="http://schemas.microsoft.com/office/drawing/2014/main" id="{A1736DF7-7646-4277-938E-B875AA44F08D}"/>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spTree>
    <p:extLst>
      <p:ext uri="{BB962C8B-B14F-4D97-AF65-F5344CB8AC3E}">
        <p14:creationId xmlns:p14="http://schemas.microsoft.com/office/powerpoint/2010/main" val="1467436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兩個內容">
    <p:spTree>
      <p:nvGrpSpPr>
        <p:cNvPr id="1" name=""/>
        <p:cNvGrpSpPr/>
        <p:nvPr/>
      </p:nvGrpSpPr>
      <p:grpSpPr>
        <a:xfrm>
          <a:off x="0" y="0"/>
          <a:ext cx="0" cy="0"/>
          <a:chOff x="0" y="0"/>
          <a:chExt cx="0" cy="0"/>
        </a:xfrm>
      </p:grpSpPr>
      <p:grpSp>
        <p:nvGrpSpPr>
          <p:cNvPr id="8" name="群組 7">
            <a:extLst>
              <a:ext uri="{FF2B5EF4-FFF2-40B4-BE49-F238E27FC236}">
                <a16:creationId xmlns:a16="http://schemas.microsoft.com/office/drawing/2014/main" id="{B8D1E175-7E5E-49D2-8C8F-57953C393336}"/>
              </a:ext>
            </a:extLst>
          </p:cNvPr>
          <p:cNvGrpSpPr/>
          <p:nvPr userDrawn="1"/>
        </p:nvGrpSpPr>
        <p:grpSpPr>
          <a:xfrm>
            <a:off x="5545057" y="-17773"/>
            <a:ext cx="6890863" cy="6890863"/>
            <a:chOff x="5545057" y="-17773"/>
            <a:chExt cx="6890863" cy="6890863"/>
          </a:xfrm>
        </p:grpSpPr>
        <p:sp>
          <p:nvSpPr>
            <p:cNvPr id="9" name="矩形 8">
              <a:extLst>
                <a:ext uri="{FF2B5EF4-FFF2-40B4-BE49-F238E27FC236}">
                  <a16:creationId xmlns:a16="http://schemas.microsoft.com/office/drawing/2014/main" id="{04B71323-241A-4DD9-A90C-44F8341B5B16}"/>
                </a:ext>
              </a:extLst>
            </p:cNvPr>
            <p:cNvSpPr/>
            <p:nvPr userDrawn="1"/>
          </p:nvSpPr>
          <p:spPr>
            <a:xfrm>
              <a:off x="10616856" y="-1"/>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F3E0770B-54C2-40F3-80E0-E88D553E765F}"/>
                </a:ext>
              </a:extLst>
            </p:cNvPr>
            <p:cNvSpPr/>
            <p:nvPr userDrawn="1"/>
          </p:nvSpPr>
          <p:spPr>
            <a:xfrm>
              <a:off x="11113370" y="-17773"/>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74FA5AAE-78E0-40C9-897E-5E3617225E3F}"/>
                </a:ext>
              </a:extLst>
            </p:cNvPr>
            <p:cNvSpPr/>
            <p:nvPr userDrawn="1"/>
          </p:nvSpPr>
          <p:spPr>
            <a:xfrm>
              <a:off x="11609884" y="-1"/>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FC03FC57-A6CB-40BC-8734-90CF4B3BD95C}"/>
                </a:ext>
              </a:extLst>
            </p:cNvPr>
            <p:cNvSpPr/>
            <p:nvPr userDrawn="1"/>
          </p:nvSpPr>
          <p:spPr>
            <a:xfrm>
              <a:off x="10125717" y="-17773"/>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a:extLst>
                <a:ext uri="{FF2B5EF4-FFF2-40B4-BE49-F238E27FC236}">
                  <a16:creationId xmlns:a16="http://schemas.microsoft.com/office/drawing/2014/main" id="{DFEACF88-AC18-42D0-8EC4-F7CA6876807B}"/>
                </a:ext>
              </a:extLst>
            </p:cNvPr>
            <p:cNvGrpSpPr/>
            <p:nvPr userDrawn="1"/>
          </p:nvGrpSpPr>
          <p:grpSpPr>
            <a:xfrm rot="5400000">
              <a:off x="8071627" y="-2335895"/>
              <a:ext cx="1837724" cy="6890863"/>
              <a:chOff x="10278117" y="134627"/>
              <a:chExt cx="1837724" cy="6890863"/>
            </a:xfrm>
          </p:grpSpPr>
          <p:sp>
            <p:nvSpPr>
              <p:cNvPr id="14" name="矩形 13">
                <a:extLst>
                  <a:ext uri="{FF2B5EF4-FFF2-40B4-BE49-F238E27FC236}">
                    <a16:creationId xmlns:a16="http://schemas.microsoft.com/office/drawing/2014/main" id="{3099506C-DE65-4CE9-82D2-A4CF7ECF63C0}"/>
                  </a:ext>
                </a:extLst>
              </p:cNvPr>
              <p:cNvSpPr/>
              <p:nvPr userDrawn="1"/>
            </p:nvSpPr>
            <p:spPr>
              <a:xfrm>
                <a:off x="10769256" y="152399"/>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CE7BC5AE-C6DC-496A-9B1F-075A6925DD7E}"/>
                  </a:ext>
                </a:extLst>
              </p:cNvPr>
              <p:cNvSpPr/>
              <p:nvPr userDrawn="1"/>
            </p:nvSpPr>
            <p:spPr>
              <a:xfrm>
                <a:off x="11265770" y="134627"/>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2AEA2862-02E0-49BB-A30E-E84EFECC52F6}"/>
                  </a:ext>
                </a:extLst>
              </p:cNvPr>
              <p:cNvSpPr/>
              <p:nvPr userDrawn="1"/>
            </p:nvSpPr>
            <p:spPr>
              <a:xfrm>
                <a:off x="11762284" y="152399"/>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FFD45587-7FF9-4BF0-85DB-4981F1DFD48A}"/>
                  </a:ext>
                </a:extLst>
              </p:cNvPr>
              <p:cNvSpPr/>
              <p:nvPr userDrawn="1"/>
            </p:nvSpPr>
            <p:spPr>
              <a:xfrm>
                <a:off x="10278117" y="375257"/>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8" name="直角三角形 17">
            <a:extLst>
              <a:ext uri="{FF2B5EF4-FFF2-40B4-BE49-F238E27FC236}">
                <a16:creationId xmlns:a16="http://schemas.microsoft.com/office/drawing/2014/main" id="{83EE823F-118C-4D47-ABCC-A01F8D4F43E3}"/>
              </a:ext>
            </a:extLst>
          </p:cNvPr>
          <p:cNvSpPr/>
          <p:nvPr userDrawn="1"/>
        </p:nvSpPr>
        <p:spPr>
          <a:xfrm rot="10800000" flipH="1">
            <a:off x="-6724" y="0"/>
            <a:ext cx="3993776" cy="5580529"/>
          </a:xfrm>
          <a:prstGeom prst="rtTriangle">
            <a:avLst/>
          </a:prstGeom>
          <a:solidFill>
            <a:srgbClr val="F2B3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6" name="圖片 25">
            <a:extLst>
              <a:ext uri="{FF2B5EF4-FFF2-40B4-BE49-F238E27FC236}">
                <a16:creationId xmlns:a16="http://schemas.microsoft.com/office/drawing/2014/main" id="{E500A02F-E3D6-4FE4-B54B-BD4B42F84A7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27" name="矩形: 圓角 26">
            <a:extLst>
              <a:ext uri="{FF2B5EF4-FFF2-40B4-BE49-F238E27FC236}">
                <a16:creationId xmlns:a16="http://schemas.microsoft.com/office/drawing/2014/main" id="{B18011D9-72BD-402F-B50E-C484B4E43D28}"/>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投影片編號版面配置區 5">
            <a:extLst>
              <a:ext uri="{FF2B5EF4-FFF2-40B4-BE49-F238E27FC236}">
                <a16:creationId xmlns:a16="http://schemas.microsoft.com/office/drawing/2014/main" id="{A9B62460-2E60-435E-A7D5-D9546AB0DF80}"/>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19" name="圖片 18">
            <a:extLst>
              <a:ext uri="{FF2B5EF4-FFF2-40B4-BE49-F238E27FC236}">
                <a16:creationId xmlns:a16="http://schemas.microsoft.com/office/drawing/2014/main" id="{32C0931A-6EED-4540-8783-7B689A04A9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grpSp>
        <p:nvGrpSpPr>
          <p:cNvPr id="25" name="群組 24">
            <a:extLst>
              <a:ext uri="{FF2B5EF4-FFF2-40B4-BE49-F238E27FC236}">
                <a16:creationId xmlns:a16="http://schemas.microsoft.com/office/drawing/2014/main" id="{CD2C02B6-88FA-45EB-8A5F-F8AB3ADBD15B}"/>
              </a:ext>
            </a:extLst>
          </p:cNvPr>
          <p:cNvGrpSpPr/>
          <p:nvPr userDrawn="1"/>
        </p:nvGrpSpPr>
        <p:grpSpPr>
          <a:xfrm>
            <a:off x="9392813" y="-24635"/>
            <a:ext cx="2828046" cy="338554"/>
            <a:chOff x="9154688" y="-24635"/>
            <a:chExt cx="2828046" cy="338554"/>
          </a:xfrm>
        </p:grpSpPr>
        <p:sp>
          <p:nvSpPr>
            <p:cNvPr id="29" name="文字方塊 28">
              <a:extLst>
                <a:ext uri="{FF2B5EF4-FFF2-40B4-BE49-F238E27FC236}">
                  <a16:creationId xmlns:a16="http://schemas.microsoft.com/office/drawing/2014/main" id="{2C4D23C2-89E8-4A21-A9A6-157E1A4A77F4}"/>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30" name="直線接點 29">
              <a:extLst>
                <a:ext uri="{FF2B5EF4-FFF2-40B4-BE49-F238E27FC236}">
                  <a16:creationId xmlns:a16="http://schemas.microsoft.com/office/drawing/2014/main" id="{101105DC-F468-4176-8DF3-903AE87FB9EB}"/>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48839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2B098E-EA06-4136-980A-D0F6D6356A3F}"/>
              </a:ext>
            </a:extLst>
          </p:cNvPr>
          <p:cNvSpPr>
            <a:spLocks noGrp="1"/>
          </p:cNvSpPr>
          <p:nvPr>
            <p:ph type="title"/>
          </p:nvPr>
        </p:nvSpPr>
        <p:spPr>
          <a:xfrm>
            <a:off x="839788" y="365125"/>
            <a:ext cx="10515600" cy="1325563"/>
          </a:xfrm>
          <a:prstGeom prst="rect">
            <a:avLst/>
          </a:prstGeo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EBA22BA-E0CB-48A5-A809-548B33BD2091}"/>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881B1AEE-2E9C-4FC1-8AA6-8D0C85F5F468}"/>
              </a:ext>
            </a:extLst>
          </p:cNvPr>
          <p:cNvSpPr>
            <a:spLocks noGrp="1"/>
          </p:cNvSpPr>
          <p:nvPr>
            <p:ph sz="half" idx="2"/>
          </p:nvPr>
        </p:nvSpPr>
        <p:spPr>
          <a:xfrm>
            <a:off x="839788" y="2505075"/>
            <a:ext cx="5157787" cy="368458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6209FAD-EA67-4F86-ACF7-3098509509F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DDF7E539-4784-4A75-BCB8-AE680AA3BCA7}"/>
              </a:ext>
            </a:extLst>
          </p:cNvPr>
          <p:cNvSpPr>
            <a:spLocks noGrp="1"/>
          </p:cNvSpPr>
          <p:nvPr>
            <p:ph sz="quarter" idx="4"/>
          </p:nvPr>
        </p:nvSpPr>
        <p:spPr>
          <a:xfrm>
            <a:off x="6172200" y="2505075"/>
            <a:ext cx="5183188" cy="368458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DAD9898-2C46-4F45-B195-4F1363730A06}"/>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2022/1/12</a:t>
            </a:fld>
            <a:endParaRPr lang="zh-TW" altLang="en-US"/>
          </a:p>
        </p:txBody>
      </p:sp>
      <p:sp>
        <p:nvSpPr>
          <p:cNvPr id="8" name="頁尾版面配置區 7">
            <a:extLst>
              <a:ext uri="{FF2B5EF4-FFF2-40B4-BE49-F238E27FC236}">
                <a16:creationId xmlns:a16="http://schemas.microsoft.com/office/drawing/2014/main" id="{650A54AC-B50C-443F-8FA8-49F7B3AF0753}"/>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9" name="投影片編號版面配置區 8">
            <a:extLst>
              <a:ext uri="{FF2B5EF4-FFF2-40B4-BE49-F238E27FC236}">
                <a16:creationId xmlns:a16="http://schemas.microsoft.com/office/drawing/2014/main" id="{57040000-43B1-419E-81DB-5ABFBAD74913}"/>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26979590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6C9A29-6B6B-45AF-9B6B-E187D5FAA1D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4C04BEBD-E502-4B36-BD2B-1D252459CF03}"/>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836D5FD-F0B3-4545-8CED-D461D319C61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2A8E6C9-D700-4319-B47B-A5C69CA7FE8B}"/>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2022/1/12</a:t>
            </a:fld>
            <a:endParaRPr lang="zh-TW" altLang="en-US"/>
          </a:p>
        </p:txBody>
      </p:sp>
      <p:sp>
        <p:nvSpPr>
          <p:cNvPr id="6" name="頁尾版面配置區 5">
            <a:extLst>
              <a:ext uri="{FF2B5EF4-FFF2-40B4-BE49-F238E27FC236}">
                <a16:creationId xmlns:a16="http://schemas.microsoft.com/office/drawing/2014/main" id="{C654DEE8-86D3-4458-A460-ECA98EC2F44C}"/>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7" name="投影片編號版面配置區 6">
            <a:extLst>
              <a:ext uri="{FF2B5EF4-FFF2-40B4-BE49-F238E27FC236}">
                <a16:creationId xmlns:a16="http://schemas.microsoft.com/office/drawing/2014/main" id="{0427792C-EB51-4367-A353-C5158C35790F}"/>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1237873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13E260-584C-4F81-9460-776151E6D4C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EE5F782-0EF2-444F-A059-78733F2DC2E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320DD44-CC6D-4FFE-8C74-E42C4A9F241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CE2D5BBA-011B-4C89-956E-47A16389F9C0}"/>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2022/1/12</a:t>
            </a:fld>
            <a:endParaRPr lang="zh-TW" altLang="en-US"/>
          </a:p>
        </p:txBody>
      </p:sp>
      <p:sp>
        <p:nvSpPr>
          <p:cNvPr id="6" name="頁尾版面配置區 5">
            <a:extLst>
              <a:ext uri="{FF2B5EF4-FFF2-40B4-BE49-F238E27FC236}">
                <a16:creationId xmlns:a16="http://schemas.microsoft.com/office/drawing/2014/main" id="{BC26A269-A884-4F16-AEAF-524A25518123}"/>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7" name="投影片編號版面配置區 6">
            <a:extLst>
              <a:ext uri="{FF2B5EF4-FFF2-40B4-BE49-F238E27FC236}">
                <a16:creationId xmlns:a16="http://schemas.microsoft.com/office/drawing/2014/main" id="{B2990DAD-DE57-4A40-B734-EDE7E6170CA8}"/>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3521275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EEC3E7-61A1-4A29-96C9-6ABA008C10C3}"/>
              </a:ext>
            </a:extLst>
          </p:cNvPr>
          <p:cNvSpPr>
            <a:spLocks noGrp="1"/>
          </p:cNvSpPr>
          <p:nvPr>
            <p:ph type="title"/>
          </p:nvPr>
        </p:nvSpPr>
        <p:spPr>
          <a:xfrm>
            <a:off x="838200" y="365125"/>
            <a:ext cx="10515600" cy="1325563"/>
          </a:xfrm>
          <a:prstGeom prst="rect">
            <a:avLst/>
          </a:prstGeom>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445E75-F54D-4CA9-8AD9-51378ACE1FEB}"/>
              </a:ext>
            </a:extLst>
          </p:cNvPr>
          <p:cNvSpPr>
            <a:spLocks noGrp="1"/>
          </p:cNvSpPr>
          <p:nvPr>
            <p:ph type="body" orient="vert" idx="1"/>
          </p:nvPr>
        </p:nvSpPr>
        <p:spPr>
          <a:xfrm>
            <a:off x="838200" y="1825625"/>
            <a:ext cx="10515600" cy="4351338"/>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E68006D-EE76-4A41-9935-C7CE820F8A36}"/>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2022/1/12</a:t>
            </a:fld>
            <a:endParaRPr lang="zh-TW" altLang="en-US"/>
          </a:p>
        </p:txBody>
      </p:sp>
      <p:sp>
        <p:nvSpPr>
          <p:cNvPr id="5" name="頁尾版面配置區 4">
            <a:extLst>
              <a:ext uri="{FF2B5EF4-FFF2-40B4-BE49-F238E27FC236}">
                <a16:creationId xmlns:a16="http://schemas.microsoft.com/office/drawing/2014/main" id="{D1ECCB14-D20D-4A3A-B7D6-E1F1A1DC46AC}"/>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6" name="投影片編號版面配置區 5">
            <a:extLst>
              <a:ext uri="{FF2B5EF4-FFF2-40B4-BE49-F238E27FC236}">
                <a16:creationId xmlns:a16="http://schemas.microsoft.com/office/drawing/2014/main" id="{B59DA8A3-B76C-45CC-9750-DD36484E58AB}"/>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33185651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6799E7B5-C417-4907-915F-473A4079B172}"/>
              </a:ext>
            </a:extLst>
          </p:cNvPr>
          <p:cNvSpPr>
            <a:spLocks noGrp="1"/>
          </p:cNvSpPr>
          <p:nvPr>
            <p:ph type="title" orient="vert"/>
          </p:nvPr>
        </p:nvSpPr>
        <p:spPr>
          <a:xfrm>
            <a:off x="8724900" y="365125"/>
            <a:ext cx="2628900" cy="5811838"/>
          </a:xfrm>
          <a:prstGeom prst="rect">
            <a:avLst/>
          </a:prstGeo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831BA27D-BD7E-4CE3-A910-3E4E81193D86}"/>
              </a:ext>
            </a:extLst>
          </p:cNvPr>
          <p:cNvSpPr>
            <a:spLocks noGrp="1"/>
          </p:cNvSpPr>
          <p:nvPr>
            <p:ph type="body" orient="vert" idx="1"/>
          </p:nvPr>
        </p:nvSpPr>
        <p:spPr>
          <a:xfrm>
            <a:off x="838200" y="365125"/>
            <a:ext cx="7734300" cy="5811838"/>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7CF3DF3-BD8C-4D1A-B313-2EABDBCBC94E}"/>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2022/1/12</a:t>
            </a:fld>
            <a:endParaRPr lang="zh-TW" altLang="en-US"/>
          </a:p>
        </p:txBody>
      </p:sp>
      <p:sp>
        <p:nvSpPr>
          <p:cNvPr id="5" name="頁尾版面配置區 4">
            <a:extLst>
              <a:ext uri="{FF2B5EF4-FFF2-40B4-BE49-F238E27FC236}">
                <a16:creationId xmlns:a16="http://schemas.microsoft.com/office/drawing/2014/main" id="{7AFEA5EA-5538-4651-82B4-46EE76A66187}"/>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6" name="投影片編號版面配置區 5">
            <a:extLst>
              <a:ext uri="{FF2B5EF4-FFF2-40B4-BE49-F238E27FC236}">
                <a16:creationId xmlns:a16="http://schemas.microsoft.com/office/drawing/2014/main" id="{E6029A47-17A3-4583-A568-98566201FA90}"/>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155985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1_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CC3C15-B907-4771-AE4D-6B6A529E81E6}"/>
              </a:ext>
            </a:extLst>
          </p:cNvPr>
          <p:cNvSpPr>
            <a:spLocks noGrp="1"/>
          </p:cNvSpPr>
          <p:nvPr>
            <p:ph type="title"/>
          </p:nvPr>
        </p:nvSpPr>
        <p:spPr>
          <a:xfrm>
            <a:off x="838200" y="365125"/>
            <a:ext cx="10515600" cy="1325563"/>
          </a:xfrm>
          <a:prstGeom prst="rect">
            <a:avLst/>
          </a:prstGeom>
        </p:spPr>
        <p:txBody>
          <a:bodyPr/>
          <a:lstStyle/>
          <a:p>
            <a:r>
              <a:rPr lang="zh-TW" altLang="en-US"/>
              <a:t>按一下以編輯母片標題樣式</a:t>
            </a:r>
          </a:p>
        </p:txBody>
      </p:sp>
    </p:spTree>
    <p:extLst>
      <p:ext uri="{BB962C8B-B14F-4D97-AF65-F5344CB8AC3E}">
        <p14:creationId xmlns:p14="http://schemas.microsoft.com/office/powerpoint/2010/main" val="1037958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D66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617144"/>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1" r:id="rId4"/>
    <p:sldLayoutId id="2147483662" r:id="rId5"/>
    <p:sldLayoutId id="2147483663" r:id="rId6"/>
    <p:sldLayoutId id="2147483661" r:id="rId7"/>
    <p:sldLayoutId id="2147483655" r:id="rId8"/>
    <p:sldLayoutId id="2147483660" r:id="rId9"/>
    <p:sldLayoutId id="2147483654" r:id="rId10"/>
    <p:sldLayoutId id="2147483652" r:id="rId11"/>
    <p:sldLayoutId id="2147483653" r:id="rId12"/>
    <p:sldLayoutId id="2147483656" r:id="rId13"/>
    <p:sldLayoutId id="2147483657" r:id="rId14"/>
    <p:sldLayoutId id="2147483658" r:id="rId15"/>
    <p:sldLayoutId id="2147483659"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 Target="slide7.xml"/><Relationship Id="rId7"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2.svg"/><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image" Target="../media/image16.svg"/></Relationships>
</file>

<file path=ppt/slides/_rels/slide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2.png"/><Relationship Id="rId4" Type="http://schemas.openxmlformats.org/officeDocument/2006/relationships/image" Target="../media/image12.sv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2.png"/><Relationship Id="rId4" Type="http://schemas.openxmlformats.org/officeDocument/2006/relationships/image" Target="../media/image12.sv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2.png"/><Relationship Id="rId4" Type="http://schemas.openxmlformats.org/officeDocument/2006/relationships/image" Target="../media/image12.sv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2.png"/><Relationship Id="rId4" Type="http://schemas.openxmlformats.org/officeDocument/2006/relationships/image" Target="../media/image12.sv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 Id="rId5" Type="http://schemas.openxmlformats.org/officeDocument/2006/relationships/hyperlink" Target="https://gpis.taipei/frontFunction/Affair/CItem/B.1/B.1.1%20%E5%B7%A5%E7%A8%8B%E5%8F%B8%E6%8C%87%E6%B4%BE%E9%80%9A%E7%9F%A5%E6%9B%B8(%E5%AF%A6%E4%BE%8B).pdf" TargetMode="External"/><Relationship Id="rId4" Type="http://schemas.openxmlformats.org/officeDocument/2006/relationships/hyperlink" Target="https://gpis.taipei/frontFunction/Affair/CItem/B.1/B.1.1%E5%B7%A5%E7%A8%8B%E5%8F%B8%E6%8C%87%E6%B4%BE%E9%80%9A%E7%9F%A5%E6%9B%B8(%E5%85%AC%E6%96%87%E7%AF%84%E6%9C%AC).docx"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hyperlink" Target="https://gpis.taipei/frontFunction/Affair/CItem/B.1/B.1.2%E5%B7%A5%E5%9C%B0%E8%B2%A0%E8%B2%AC%E4%BA%BA%E6%8E%88%E6%AC%8A%E6%9B%B8.docx" TargetMode="External"/><Relationship Id="rId13" Type="http://schemas.openxmlformats.org/officeDocument/2006/relationships/hyperlink" Target="https://gpis.taipei/frontFunction/Affair/CItem/B.1/B.1.2%E8%81%B7%E6%A5%AD%E5%AE%89%E5%85%A8%E8%A1%9B%E7%94%9F%E7%AE%A1%E7%90%86%E6%89%BF%E8%AB%BE%E6%9B%B8.docx" TargetMode="External"/><Relationship Id="rId3" Type="http://schemas.openxmlformats.org/officeDocument/2006/relationships/hyperlink" Target="https://gpis.taipei/RWD/frontFunction/Affair/wfrmCItem.aspx" TargetMode="External"/><Relationship Id="rId7" Type="http://schemas.openxmlformats.org/officeDocument/2006/relationships/hyperlink" Target="https://gpis.taipei/frontFunction/Affair/CItem/B.1/B.1.2%E9%96%8B%E5%B7%A5%E6%9F%A5%E5%A0%B1%E8%A1%A8.docx" TargetMode="External"/><Relationship Id="rId12" Type="http://schemas.openxmlformats.org/officeDocument/2006/relationships/hyperlink" Target="https://gpis.taipei/frontFunction/Affair/CItem/B.1/B.1.2%E5%88%87%E7%B5%90%E6%9B%B8.docx" TargetMode="External"/><Relationship Id="rId2" Type="http://schemas.openxmlformats.org/officeDocument/2006/relationships/slide" Target="slide2.xml"/><Relationship Id="rId16" Type="http://schemas.openxmlformats.org/officeDocument/2006/relationships/hyperlink" Target="https://gpis.taipei/frontFunction/Affair/CItem/B.1/B.1.2%20%E9%96%8B%E5%B7%A5%E9%80%9A%E7%9F%A5%E6%9B%B8(%E5%AF%A6%E4%BE%8B).pdf" TargetMode="External"/><Relationship Id="rId1" Type="http://schemas.openxmlformats.org/officeDocument/2006/relationships/slideLayout" Target="../slideLayouts/slideLayout4.xml"/><Relationship Id="rId6" Type="http://schemas.openxmlformats.org/officeDocument/2006/relationships/hyperlink" Target="https://gpis.taipei/frontFunction/Affair/CItem/B.1/B.1.2%20%E9%96%8B%E5%B7%A5%E5%A0%B1%E5%91%8A%E8%A1%A8.docx" TargetMode="External"/><Relationship Id="rId11" Type="http://schemas.openxmlformats.org/officeDocument/2006/relationships/hyperlink" Target="https://gpis.taipei/frontFunction/Affair/CItem/B.1/B.1.2%20%E5%B0%88%E4%BB%BB%E5%B7%A5%E7%A8%8B%E4%BA%BA%E5%93%A1%E9%80%9A%E7%9F%A5%E6%9B%B8.docx" TargetMode="External"/><Relationship Id="rId5" Type="http://schemas.openxmlformats.org/officeDocument/2006/relationships/hyperlink" Target="https://gpis.taipei/frontFunction/Affair/CItem/B.1/B.1.2%E6%AA%A2%E6%A0%B8%E8%A1%A8.doc" TargetMode="External"/><Relationship Id="rId15" Type="http://schemas.openxmlformats.org/officeDocument/2006/relationships/hyperlink" Target="https://gpis.taipei/frontFunction/Affair/CItem/B.1/B.1.2%E5%85%AC%E5%85%B1%E5%B7%A5%E7%A8%8B%E5%B0%88%E6%A5%AD%E5%B7%A5%E7%A8%8B%E9%A0%85%E7%9B%AE%E6%96%BD%E4%BD%9C%E6%83%85%E5%BD%A2%E8%A1%A8.odt" TargetMode="External"/><Relationship Id="rId10" Type="http://schemas.openxmlformats.org/officeDocument/2006/relationships/hyperlink" Target="https://gpis.taipei/frontFunction/Affair/CItem/B.1/B.1.2%E5%93%81%E7%AE%A1%E4%BA%BA%E5%93%A1%E6%8E%88%E6%AC%8A%E6%9B%B8.docx" TargetMode="External"/><Relationship Id="rId4" Type="http://schemas.openxmlformats.org/officeDocument/2006/relationships/hyperlink" Target="https://gpis.taipei/frontFunction/Affair/CItem/B.1/B.1.2%20%E9%96%8B%E5%B7%A5%E9%80%9A%E7%9F%A5%E6%9B%B8(%E5%85%AC%E6%96%87%E7%AF%84%E6%9C%AC).docx" TargetMode="External"/><Relationship Id="rId9" Type="http://schemas.openxmlformats.org/officeDocument/2006/relationships/hyperlink" Target="https://gpis.taipei/frontFunction/Affair/CItem/B.1/B.1.2%20%E5%AE%89%E8%A1%9B%E4%BA%BA%E5%93%A1%E8%A8%AD%E7%BD%AE%E5%A0%B1%E5%82%99%E6%9B%B8.docx" TargetMode="External"/><Relationship Id="rId14" Type="http://schemas.openxmlformats.org/officeDocument/2006/relationships/hyperlink" Target="https://gpis.taipei/frontFunction/Affair/CItem/B.1/B.1.2%E5%BB%BA%E9%80%A0%E5%9F%B7%E7%85%A7%E5%B7%A5%E7%A8%8B%E5%B0%88%E6%A5%AD%E5%B7%A5%E7%A8%8B%E9%A0%85%E7%9B%AE%E6%96%BD%E4%BD%9C%E6%83%85%E5%BD%A2%E8%A1%A8.odt"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7" Type="http://schemas.openxmlformats.org/officeDocument/2006/relationships/hyperlink" Target="https://gpis.taipei/frontFunction/Affair/CItem/B.1/B.1.3%E6%8F%90%E9%80%81%E6%9C%8D%E5%8B%99%E5%AF%A6%E6%96%BD%E8%A8%88%E7%95%AB%E6%9B%B8(%E5%AF%A6%E4%BE%8B).pdf" TargetMode="External"/><Relationship Id="rId2" Type="http://schemas.openxmlformats.org/officeDocument/2006/relationships/slide" Target="slide2.xml"/><Relationship Id="rId1" Type="http://schemas.openxmlformats.org/officeDocument/2006/relationships/slideLayout" Target="../slideLayouts/slideLayout4.xml"/><Relationship Id="rId6" Type="http://schemas.openxmlformats.org/officeDocument/2006/relationships/hyperlink" Target="https://gpis.taipei/frontFunction/Affair/CItem/B.1/B.1.3%E6%A0%B8%E5%AE%9A%E5%87%BD.docx" TargetMode="External"/><Relationship Id="rId5" Type="http://schemas.openxmlformats.org/officeDocument/2006/relationships/hyperlink" Target="https://gpis.taipei/frontFunction/Affair/CItem/B.1/B.1.3%E9%99%90%E6%9C%9F%E6%94%B9%E6%AD%A3.docx" TargetMode="External"/><Relationship Id="rId4" Type="http://schemas.openxmlformats.org/officeDocument/2006/relationships/hyperlink" Target="https://gpis.taipei/frontFunction/Affair/CItem/B.1/B.1.3%E9%96%8B%E6%9C%83%E9%80%9A%E7%9F%A5%E5%96%AE.docx"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7" Type="http://schemas.openxmlformats.org/officeDocument/2006/relationships/hyperlink" Target="https://gpis.taipei/frontFunction/Affair/CItem/B.1/B.1.4%20%E7%9B%A3%E9%80%A0%E5%BB%A0%E5%95%86%E6%B4%BE%E9%A7%90%E5%B7%A5%E5%9C%B0%E4%BA%BA%E5%93%A1%E5%A0%B1%E6%A0%B8(%E5%AF%A6%E4%BE%8B).pdf" TargetMode="External"/><Relationship Id="rId2" Type="http://schemas.openxmlformats.org/officeDocument/2006/relationships/slide" Target="slide2.xml"/><Relationship Id="rId1" Type="http://schemas.openxmlformats.org/officeDocument/2006/relationships/slideLayout" Target="../slideLayouts/slideLayout4.xml"/><Relationship Id="rId6" Type="http://schemas.openxmlformats.org/officeDocument/2006/relationships/hyperlink" Target="https://gpis.taipei/frontFunction/Affair/CItem/B.1/B.1.4%E7%9B%A3%E9%80%A0%E5%96%AE%E4%BD%8D%E7%8F%BE%E5%A0%B4%E4%BA%BA%E5%93%A1%E7%99%BB%E9%8C%84%E8%A1%A8.odt" TargetMode="External"/><Relationship Id="rId5" Type="http://schemas.openxmlformats.org/officeDocument/2006/relationships/hyperlink" Target="https://gpis.taipei/frontFunction/Affair/CItem/B.1/B.1.4%E7%94%A8%E4%BA%BA%E8%A8%88%E7%95%AB%E5%AF%A9%E6%9F%A5%E8%A1%A8.doc" TargetMode="External"/><Relationship Id="rId4" Type="http://schemas.openxmlformats.org/officeDocument/2006/relationships/hyperlink" Target="https://gpis.taipei/frontFunction/Affair/CItem/B.1/B.1.4%20%E6%A0%B8%E5%AE%9A%E5%87%BD.docx" TargetMode="External"/></Relationships>
</file>

<file path=ppt/slides/_rels/slide2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hyperlink" Target="https://gpis.taipei/frontFunction/Affair/CItem/B.1/B.1.5%E5%BB%A0%E5%95%86%E5%93%81%E7%AE%A1%E4%BA%BA%E5%93%A1%E7%99%BB%E9%8C%84%E8%A1%A8.odt" TargetMode="External"/><Relationship Id="rId3" Type="http://schemas.openxmlformats.org/officeDocument/2006/relationships/hyperlink" Target="https://gpis.taipei/RWD/frontFunction/Affair/wfrmCItem.aspx" TargetMode="External"/><Relationship Id="rId7" Type="http://schemas.openxmlformats.org/officeDocument/2006/relationships/hyperlink" Target="https://gpis.taipei/frontFunction/Affair/CItem/B.1/B.1.5%20%E5%BB%A0%E5%95%86%E5%AE%89%E8%A1%9B%E4%BA%BA%E5%93%A1%E5%88%87%E7%B5%90%E6%9B%B8.docx" TargetMode="External"/><Relationship Id="rId2" Type="http://schemas.openxmlformats.org/officeDocument/2006/relationships/slide" Target="slide2.xml"/><Relationship Id="rId1" Type="http://schemas.openxmlformats.org/officeDocument/2006/relationships/slideLayout" Target="../slideLayouts/slideLayout4.xml"/><Relationship Id="rId6" Type="http://schemas.openxmlformats.org/officeDocument/2006/relationships/hyperlink" Target="https://gpis.taipei/frontFunction/Affair/CItem/B.1/B.1.5%E8%81%B7%E6%A5%AD%E5%AE%89%E5%85%A8%E8%A1%9B%E7%94%9F%E4%BA%BA%E5%93%A1%E5%8B%9E%E4%BF%9D%E8%B3%87%E6%96%99.docx" TargetMode="External"/><Relationship Id="rId5" Type="http://schemas.openxmlformats.org/officeDocument/2006/relationships/hyperlink" Target="https://gpis.taipei/frontFunction/Affair/CItem/B.1/B.1.5%E5%BB%A0%E5%95%86%E8%81%B7%E6%A5%AD%E5%AE%89%E5%85%A8%E8%A1%9B%E7%94%9F%E4%BA%BA%E5%93%A1%E6%8E%88%E6%AC%8A%E6%9B%B8.docx" TargetMode="External"/><Relationship Id="rId10" Type="http://schemas.openxmlformats.org/officeDocument/2006/relationships/hyperlink" Target="https://gpis.taipei/frontFunction/Affair/CItem/B.1/B.1.5%20%E6%A0%B8%E5%AE%9A%E5%87%BD(%E5%AF%A6%E4%BE%8B).pdf" TargetMode="External"/><Relationship Id="rId4" Type="http://schemas.openxmlformats.org/officeDocument/2006/relationships/hyperlink" Target="https://gpis.taipei/frontFunction/Affair/CItem/B.1/B.1.5%E7%94%A8%E4%BA%BA%E8%A8%88%E7%95%AB%E5%AF%A9%E6%9F%A5%E8%A1%A8.doc" TargetMode="External"/><Relationship Id="rId9" Type="http://schemas.openxmlformats.org/officeDocument/2006/relationships/hyperlink" Target="https://gpis.taipei/frontFunction/Affair/CItem/B.1/B.1.5%20%E6%96%BD%E5%B7%A5%E5%BB%A0%E5%95%86%E6%B4%BE%E9%A7%90%E5%B7%A5%E5%9C%B0%E4%BA%BA%E5%93%A1%E5%A0%B1%E6%A0%B8(%E5%85%AC%E6%96%87%E7%AF%84%E6%9C%AC).docx"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7" Type="http://schemas.openxmlformats.org/officeDocument/2006/relationships/hyperlink" Target="https://gpis.taipei/frontFunction/Affair/CItem/B.1/B.1.6%E6%A0%B8%E5%AE%9A%E5%87%BD.pdf" TargetMode="External"/><Relationship Id="rId2" Type="http://schemas.openxmlformats.org/officeDocument/2006/relationships/slide" Target="slide2.xml"/><Relationship Id="rId1" Type="http://schemas.openxmlformats.org/officeDocument/2006/relationships/slideLayout" Target="../slideLayouts/slideLayout4.xml"/><Relationship Id="rId6" Type="http://schemas.openxmlformats.org/officeDocument/2006/relationships/hyperlink" Target="https://gpis.taipei/frontFunction/Affair/CItem/B.1/B.1.6%E5%AF%A9%E9%80%80%E5%87%BD.pdf" TargetMode="External"/><Relationship Id="rId5" Type="http://schemas.openxmlformats.org/officeDocument/2006/relationships/hyperlink" Target="https://gpis.taipei/frontFunction/Affair/CItem/B.1/B.1.6%E6%A0%B8%E5%AE%9A%E5%87%BD.docx" TargetMode="External"/><Relationship Id="rId4" Type="http://schemas.openxmlformats.org/officeDocument/2006/relationships/hyperlink" Target="https://gpis.taipei/frontFunction/Affair/CItem/B.1/B.1.6%E5%AF%A9%E9%80%80%E5%87%BD.docx"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7" Type="http://schemas.openxmlformats.org/officeDocument/2006/relationships/hyperlink" Target="https://gpis.taipei/frontFunction/Affair/CItem/B.1/B.1.7%20%E6%93%AC%E5%AE%9A%E6%96%BD%E5%B7%A5%E9%A0%90%E5%AE%9A%E9%80%B2%E5%BA%A6%E8%A1%A8(%E5%AF%A6%E4%BE%8B).pdf" TargetMode="External"/><Relationship Id="rId2" Type="http://schemas.openxmlformats.org/officeDocument/2006/relationships/slide" Target="slide2.xml"/><Relationship Id="rId1" Type="http://schemas.openxmlformats.org/officeDocument/2006/relationships/slideLayout" Target="../slideLayouts/slideLayout4.xml"/><Relationship Id="rId6" Type="http://schemas.openxmlformats.org/officeDocument/2006/relationships/hyperlink" Target="https://gpis.taipei/frontFunction/Affair/CItem/B.1/B.1.7%E5%B7%A5%E6%9C%9F%E8%A8%88%E7%AE%97%E8%A1%A8.doc" TargetMode="External"/><Relationship Id="rId5" Type="http://schemas.openxmlformats.org/officeDocument/2006/relationships/hyperlink" Target="https://gpis.taipei/frontFunction/Affair/CItem/B.1/B.1.7%20%E6%93%AC%E5%AE%9A%E6%96%BD%E5%B7%A5%E9%A0%90%E5%AE%9A%E9%80%B2%E5%BA%A6%E8%A1%A8(%E4%BD%BF%E7%94%A8%E8%A1%A8%E5%96%AE).docx" TargetMode="External"/><Relationship Id="rId4" Type="http://schemas.openxmlformats.org/officeDocument/2006/relationships/hyperlink" Target="https://gpis.taipei/frontFunction/Affair/CItem/B.1/B.1.7%20%E6%93%AC%E5%AE%9A%E6%96%BD%E5%B7%A5%E9%A0%90%E5%AE%9A%E9%80%B2%E5%BA%A6%E8%A1%A8(%E5%85%AC%E6%96%87%E7%AF%84%E6%9C%AC).docx"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 Id="rId6" Type="http://schemas.openxmlformats.org/officeDocument/2006/relationships/hyperlink" Target="https://gpis.taipei/frontFunction/Affair/CItem/B.1/B.1.8%E5%9F%BA%E6%9C%AC%E8%B3%87%E6%96%99%E8%A1%A8.odt" TargetMode="External"/><Relationship Id="rId5" Type="http://schemas.openxmlformats.org/officeDocument/2006/relationships/hyperlink" Target="https://gpis.taipei/frontFunction/Affair/CItem/B.1/B.1.8%E5%AF%A9%E6%9F%A5%E8%A1%A8(%E4%BD%BF%E7%94%A8%E8%A1%A8%E5%96%AE).docx" TargetMode="External"/><Relationship Id="rId4" Type="http://schemas.openxmlformats.org/officeDocument/2006/relationships/hyperlink" Target="https://gpis.taipei/frontFunction/Affair/CItem/B.1/B.1.8%20%E6%A0%B8%E5%AE%9A%E5%87%BD.docx"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 Id="rId4" Type="http://schemas.openxmlformats.org/officeDocument/2006/relationships/hyperlink" Target="https://gpis.taipei/frontFunction/Affair/CItem/B.1/B.1.8-1%E4%BA%8B%E6%A5%AD%E5%BB%A2%E6%A3%84%E7%89%A9%E6%B8%85%E7%90%86%E8%A8%88%E7%95%AB%E6%9B%B8(%E5%AF%A6%E4%BE%8B).pdf"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 Id="rId5" Type="http://schemas.openxmlformats.org/officeDocument/2006/relationships/hyperlink" Target="https://gpis.taipei/frontFunction/Affair/CItem/B.1/B.1.9(1)%E7%94%B3%E5%A0%B1%E7%A9%BA%E6%B0%A3%E6%B1%99%E6%9F%93%E9%98%B2%E5%88%B6%E8%B2%BB(%E4%BD%BF%E7%94%A8%E8%A1%A8%E5%96%AE).docx" TargetMode="External"/><Relationship Id="rId4" Type="http://schemas.openxmlformats.org/officeDocument/2006/relationships/hyperlink" Target="https://gpis.taipei/frontFunction/Affair/CItem/B.1/B.1.9_(1)%E7%A9%BA%E6%B1%99%E8%B2%BB%E6%9C%AA%E5%AE%8C%E6%88%90%E7%B9%B3%E7%B4%8D(%E5%85%AC%E6%96%87%E7%AF%84%E6%9C%AC).docx"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 Id="rId5" Type="http://schemas.openxmlformats.org/officeDocument/2006/relationships/hyperlink" Target="https://gpis.taipei/frontFunction/Affair/CItem/B.1/B.1.9%E6%A0%B8%E5%AE%9A%E5%87%BD(%E5%AF%A6%E4%BE%8B).pdf" TargetMode="External"/><Relationship Id="rId4" Type="http://schemas.openxmlformats.org/officeDocument/2006/relationships/hyperlink" Target="https://gpis.taipei/frontFunction/Affair/CItem/B.1/B.1.9(2)_%E6%A0%B8%E5%AE%9A%E5%87%BD(%E5%85%AC%E6%96%87%E7%AF%84%E6%9C%AC).docx"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 Id="rId4" Type="http://schemas.openxmlformats.org/officeDocument/2006/relationships/hyperlink" Target="https://gpis.taipei/frontFunction/Affair/CItem/B.1/B.1.10(1)%E5%BB%BA%E7%AF%89%E5%B7%A5%E7%A8%8B%E9%96%8B%E5%B7%A5%E7%94%B3%E5%A0%B1%E6%9B%B8(%E4%BD%BF%E7%94%A8%E8%A1%A8%E5%96%AE).pdf"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 Id="rId4" Type="http://schemas.openxmlformats.org/officeDocument/2006/relationships/hyperlink" Target="https://gpis.taipei/frontFunction/Affair/CItem/B.1/B.1.10(2)%E5%BB%BA%E7%AF%89%E5%B7%A5%E7%A8%8B%E6%96%BD%E5%B7%A5%E6%99%82%E6%AE%B5%E7%94%B3%E8%AB%8B(%E5%AF%A6%E4%BE%8B).pdf" TargetMode="External"/></Relationships>
</file>

<file path=ppt/slides/_rels/slide32.xml.rels><?xml version="1.0" encoding="UTF-8" standalone="yes"?>
<Relationships xmlns="http://schemas.openxmlformats.org/package/2006/relationships"><Relationship Id="rId8" Type="http://schemas.openxmlformats.org/officeDocument/2006/relationships/hyperlink" Target="https://gpis.taipei/frontFunction/Affair/CItem/B.1/B.1.11%20%E5%AF%A9%E9%80%80%E5%87%BD(%E5%AF%A6%E4%BE%8B).pdf" TargetMode="External"/><Relationship Id="rId3" Type="http://schemas.openxmlformats.org/officeDocument/2006/relationships/hyperlink" Target="https://gpis.taipei/RWD/frontFunction/Affair/wfrmCItem.aspx" TargetMode="External"/><Relationship Id="rId7" Type="http://schemas.openxmlformats.org/officeDocument/2006/relationships/hyperlink" Target="https://gpis.taipei/frontFunction/Affair/CItem/B.1/B.1.11%E9%96%8B%E6%9C%83%E9%80%9A%E7%9F%A5%E5%96%AE(%E5%AF%A6%E4%BE%8B).pdf" TargetMode="External"/><Relationship Id="rId2" Type="http://schemas.openxmlformats.org/officeDocument/2006/relationships/slide" Target="slide2.xml"/><Relationship Id="rId1" Type="http://schemas.openxmlformats.org/officeDocument/2006/relationships/slideLayout" Target="../slideLayouts/slideLayout4.xml"/><Relationship Id="rId6" Type="http://schemas.openxmlformats.org/officeDocument/2006/relationships/hyperlink" Target="https://gpis.taipei/frontFunction/Affair/CItem/B.1/B.1.11%20%E6%A0%B8%E5%AE%9A%E5%87%BD(%E5%85%AC%E6%96%87%E7%AF%84%E6%9C%AC).docx" TargetMode="External"/><Relationship Id="rId5" Type="http://schemas.openxmlformats.org/officeDocument/2006/relationships/hyperlink" Target="https://gpis.taipei/frontFunction/Affair/CItem/B.1/B.1.11%20%E5%AF%A9%E9%80%80%E5%87%BD(%E5%85%AC%E6%96%87%E7%AF%84%E6%9C%AC).docx" TargetMode="External"/><Relationship Id="rId4" Type="http://schemas.openxmlformats.org/officeDocument/2006/relationships/hyperlink" Target="https://gpis.taipei/frontFunction/Affair/CItem/B.1/B.1.11%20%E9%96%8B%E6%9C%83%E9%80%9A%E7%9F%A5%E5%96%AE(%E5%85%AC%E6%96%87%E7%AF%84%E6%9C%AC).docx" TargetMode="External"/><Relationship Id="rId9" Type="http://schemas.openxmlformats.org/officeDocument/2006/relationships/hyperlink" Target="https://gpis.taipei/frontFunction/Affair/CItem/B.1/B.1.11%20%E6%A0%B8%E5%AE%9A%E5%87%BD(%E5%AF%A6%E4%BE%8B).pdf"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7" Type="http://schemas.openxmlformats.org/officeDocument/2006/relationships/hyperlink" Target="https://gpis.taipei/frontFunction/Affair/CItem/B.1/B.1.12%20%E6%A0%B8%E5%AE%9A(%E5%AF%A6%E4%BE%8B).pdf" TargetMode="External"/><Relationship Id="rId2" Type="http://schemas.openxmlformats.org/officeDocument/2006/relationships/slide" Target="slide2.xml"/><Relationship Id="rId1" Type="http://schemas.openxmlformats.org/officeDocument/2006/relationships/slideLayout" Target="../slideLayouts/slideLayout4.xml"/><Relationship Id="rId6" Type="http://schemas.openxmlformats.org/officeDocument/2006/relationships/hyperlink" Target="https://gpis.taipei/frontFunction/Affair/CItem/B.1/B.1.12%20%E6%A0%B8%E5%AE%9A%E5%87%BD(%E5%85%AC%E6%96%87%E7%AF%84%E6%9C%AC).docx" TargetMode="External"/><Relationship Id="rId5" Type="http://schemas.openxmlformats.org/officeDocument/2006/relationships/hyperlink" Target="https://gpis.taipei/frontFunction/Affair/CItem/B.1/B.1.12%E9%99%90%E6%9C%9F%E6%94%B9%E6%AD%A3(%E5%85%AC%E6%96%87%E7%AF%84%E6%9C%AC).docx" TargetMode="External"/><Relationship Id="rId4" Type="http://schemas.openxmlformats.org/officeDocument/2006/relationships/hyperlink" Target="https://gpis.taipei/frontFunction/Affair/CItem/B.1/B.1.12%E9%96%8B%E6%9C%83%E9%80%9A%E7%9F%A5%E5%96%AE(%E5%85%AC%E6%96%87%E7%AF%84%E6%9C%AC).docx" TargetMode="External"/></Relationships>
</file>

<file path=ppt/slides/_rels/slide34.xml.rels><?xml version="1.0" encoding="UTF-8" standalone="yes"?>
<Relationships xmlns="http://schemas.openxmlformats.org/package/2006/relationships"><Relationship Id="rId8" Type="http://schemas.openxmlformats.org/officeDocument/2006/relationships/hyperlink" Target="https://gpis.taipei/frontFunction/Affair/CItem/B.1/B.1.13%20%E9%99%90%E6%9C%9F%E6%94%B9%E6%AD%A3(%E5%AF%A6%E4%BE%8B).pdf" TargetMode="External"/><Relationship Id="rId3" Type="http://schemas.openxmlformats.org/officeDocument/2006/relationships/hyperlink" Target="https://gpis.taipei/RWD/frontFunction/Affair/wfrmCItem.aspx" TargetMode="External"/><Relationship Id="rId7" Type="http://schemas.openxmlformats.org/officeDocument/2006/relationships/hyperlink" Target="https://gpis.taipei/frontFunction/Affair/CItem/B.1/B.1.13%20%E9%96%8B%E6%9C%83%E9%80%9A%E7%9F%A5%E5%96%AE(%E5%AF%A6%E4%BE%8B).pdf" TargetMode="External"/><Relationship Id="rId2" Type="http://schemas.openxmlformats.org/officeDocument/2006/relationships/slide" Target="slide2.xml"/><Relationship Id="rId1" Type="http://schemas.openxmlformats.org/officeDocument/2006/relationships/slideLayout" Target="../slideLayouts/slideLayout4.xml"/><Relationship Id="rId6" Type="http://schemas.openxmlformats.org/officeDocument/2006/relationships/hyperlink" Target="https://gpis.taipei/frontFunction/Affair/CItem/B.1/B.1.13%20%E6%A0%B8%E5%AE%9A%E5%87%BD(%E5%85%AC%E6%96%87%E7%AF%84%E6%9C%AC).docx" TargetMode="External"/><Relationship Id="rId5" Type="http://schemas.openxmlformats.org/officeDocument/2006/relationships/hyperlink" Target="https://gpis.taipei/frontFunction/Affair/CItem/B.1/B.1.13%20%E5%AF%A9%E9%80%80%E5%87%BD(%E5%85%AC%E6%96%87%E7%AF%84%E6%9C%AC).docx" TargetMode="External"/><Relationship Id="rId4" Type="http://schemas.openxmlformats.org/officeDocument/2006/relationships/hyperlink" Target="https://gpis.taipei/frontFunction/Affair/CItem/B.1/B.1.13%20%E9%96%8B%E6%9C%83%E9%80%9A%E7%9F%A5%E5%96%AE(%E5%85%AC%E6%96%87%E7%AF%84%E6%9C%AC).docx" TargetMode="External"/><Relationship Id="rId9" Type="http://schemas.openxmlformats.org/officeDocument/2006/relationships/hyperlink" Target="https://gpis.taipei/frontFunction/Affair/CItem/B.1/B.1.13%20%E6%A0%B8%E5%AE%9A(%E5%AF%A6%E4%BE%8B).pdf" TargetMode="External"/></Relationships>
</file>

<file path=ppt/slides/_rels/slide35.xml.rels><?xml version="1.0" encoding="UTF-8" standalone="yes"?>
<Relationships xmlns="http://schemas.openxmlformats.org/package/2006/relationships"><Relationship Id="rId8" Type="http://schemas.openxmlformats.org/officeDocument/2006/relationships/hyperlink" Target="https://gpis.taipei/frontFunction/Affair/CItem/B.1/B.1.15%20%E9%99%90%E6%9C%9F%E6%94%B9%E6%AD%A3(%E5%AF%A6%E4%BE%8B).pdf" TargetMode="External"/><Relationship Id="rId3" Type="http://schemas.openxmlformats.org/officeDocument/2006/relationships/hyperlink" Target="https://gpis.taipei/RWD/frontFunction/Affair/wfrmCItem.aspx" TargetMode="External"/><Relationship Id="rId7" Type="http://schemas.openxmlformats.org/officeDocument/2006/relationships/hyperlink" Target="https://gpis.taipei/frontFunction/Affair/CItem/B.1/B.1.15%20%E9%96%8B%E6%9C%83%E9%80%9A%E7%9F%A5%E5%96%AE(%E5%AF%A6%E4%BE%8B).pdf" TargetMode="External"/><Relationship Id="rId2" Type="http://schemas.openxmlformats.org/officeDocument/2006/relationships/slide" Target="slide2.xml"/><Relationship Id="rId1" Type="http://schemas.openxmlformats.org/officeDocument/2006/relationships/slideLayout" Target="../slideLayouts/slideLayout4.xml"/><Relationship Id="rId6" Type="http://schemas.openxmlformats.org/officeDocument/2006/relationships/hyperlink" Target="https://gpis.taipei/frontFunction/Affair/CItem/B.1/B.1.15%20%E6%A0%B8%E5%AE%9A%E5%87%BD(%E5%85%AC%E6%96%87%E7%AF%84%E6%9C%AC).docx" TargetMode="External"/><Relationship Id="rId5" Type="http://schemas.openxmlformats.org/officeDocument/2006/relationships/hyperlink" Target="https://gpis.taipei/frontFunction/Affair/CItem/B.1/B.1.15%20%E5%AF%A9%E9%80%80%E5%87%BD(%E5%85%AC%E6%96%87%E7%AF%84%E6%9C%AC).docx" TargetMode="External"/><Relationship Id="rId4" Type="http://schemas.openxmlformats.org/officeDocument/2006/relationships/hyperlink" Target="https://gpis.taipei/frontFunction/Affair/CItem/B.1/B.1.15%20%E9%96%8B%E6%9C%83%E9%80%9A%E7%9F%A5%E5%96%AE(%E5%85%AC%E6%96%87%E7%AF%84%E6%9C%AC).docx" TargetMode="External"/><Relationship Id="rId9" Type="http://schemas.openxmlformats.org/officeDocument/2006/relationships/hyperlink" Target="https://gpis.taipei/frontFunction/Affair/CItem/B.1/B.1.15%20%E6%A0%B8%E5%AE%9A(%E5%AF%A6%E4%BE%8B).pdf"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7" Type="http://schemas.openxmlformats.org/officeDocument/2006/relationships/hyperlink" Target="https://gpis.taipei/frontFunction/Affair/CItem/B.1/B.1.16%20%E7%B7%A8%E6%93%AC%E8%81%B7%E6%A5%AD%E5%AE%89%E5%85%A8%E8%A1%9B%E7%94%9F%E7%AE%A1%E7%90%86%E8%A8%88%E7%95%AB(%E5%AF%A6%E4%BE%8B).pdf" TargetMode="External"/><Relationship Id="rId2" Type="http://schemas.openxmlformats.org/officeDocument/2006/relationships/slide" Target="slide2.xml"/><Relationship Id="rId1" Type="http://schemas.openxmlformats.org/officeDocument/2006/relationships/slideLayout" Target="../slideLayouts/slideLayout4.xml"/><Relationship Id="rId6" Type="http://schemas.openxmlformats.org/officeDocument/2006/relationships/hyperlink" Target="https://gpis.taipei/frontFunction/Affair/CItem/B.1/B.1.16%20%E6%A0%B8%E5%AE%9A%E5%87%BD(%E5%85%AC%E6%96%87%E7%AF%84%E6%9C%AC).docx" TargetMode="External"/><Relationship Id="rId5" Type="http://schemas.openxmlformats.org/officeDocument/2006/relationships/hyperlink" Target="https://gpis.taipei/frontFunction/Affair/CItem/B.1/B.1.16%20%E5%AF%A9%E9%80%80%E5%87%BD(%E5%85%AC%E6%96%87%E7%AF%84%E6%9C%AC).docx" TargetMode="External"/><Relationship Id="rId4" Type="http://schemas.openxmlformats.org/officeDocument/2006/relationships/hyperlink" Target="https://gpis.taipei/frontFunction/Affair/CItem/B.1/B.1.16%20%E9%96%8B%E6%9C%83%E9%80%9A%E7%9F%A5%E5%96%AE(%E5%85%AC%E6%96%87%E7%AF%84%E6%9C%AC).docx"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7" Type="http://schemas.openxmlformats.org/officeDocument/2006/relationships/hyperlink" Target="https://gpis.taipei/frontFunction/Affair/CItem/B.1/B.1.17%20%E8%BE%A6%E7%90%86%E5%B7%A5%E7%A8%8B%E4%BF%9D%E9%9A%AA(%E5%AF%A6%E4%BE%8B).pdf" TargetMode="External"/><Relationship Id="rId2" Type="http://schemas.openxmlformats.org/officeDocument/2006/relationships/slide" Target="slide2.xml"/><Relationship Id="rId1" Type="http://schemas.openxmlformats.org/officeDocument/2006/relationships/slideLayout" Target="../slideLayouts/slideLayout4.xml"/><Relationship Id="rId6" Type="http://schemas.openxmlformats.org/officeDocument/2006/relationships/hyperlink" Target="https://gpis.taipei/frontFunction/Affair/CItem/B.1/B.1.16%E7%87%9F%E9%80%A0%E7%B6%9C%E5%90%88%E4%BF%9D%E9%9A%AA%E5%96%AE%E5%AF%A9%E6%9F%A5%E8%A1%A8.doc" TargetMode="External"/><Relationship Id="rId5" Type="http://schemas.openxmlformats.org/officeDocument/2006/relationships/hyperlink" Target="https://gpis.taipei/frontFunction/Affair/CItem/B.1/B.1.17%20%E5%82%99%E6%9F%A5(%E5%85%AC%E6%96%87%E7%AF%84%E6%9C%AC).docx" TargetMode="External"/><Relationship Id="rId4" Type="http://schemas.openxmlformats.org/officeDocument/2006/relationships/hyperlink" Target="https://gpis.taipei/frontFunction/Affair/CItem/B.1/B.1.17%20%E9%80%80%E5%9B%9E%E4%BF%AE%E6%AD%A3(%E5%85%AC%E6%96%87%E7%AF%84%E6%9C%AC).docx"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 Id="rId4" Type="http://schemas.openxmlformats.org/officeDocument/2006/relationships/hyperlink" Target="https://gpis.taipei/frontFunction/Affair/CItem/B.1/B.1.18%20%E5%90%91%E5%8B%9E%E6%AA%A2%E5%96%AE%E4%BD%8D%E7%94%B3%E8%AB%8B%E4%B8%81%E7%A8%AE%E5%B7%A5%E4%BD%9C%E5%A0%B4%E6%89%80%E5%AF%A9%E6%9F%A5(%E5%AF%A6%E4%BE%8B).pdf"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gpis.taipei/RWD/frontFunction/Affair/wfrmCItem.aspx" TargetMode="External"/><Relationship Id="rId2" Type="http://schemas.openxmlformats.org/officeDocument/2006/relationships/slide" Target="slide2.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群組 1">
            <a:extLst>
              <a:ext uri="{FF2B5EF4-FFF2-40B4-BE49-F238E27FC236}">
                <a16:creationId xmlns:a16="http://schemas.microsoft.com/office/drawing/2014/main" id="{3520C00C-01CE-4655-9312-AD0E6B9A7DED}"/>
              </a:ext>
            </a:extLst>
          </p:cNvPr>
          <p:cNvGrpSpPr/>
          <p:nvPr/>
        </p:nvGrpSpPr>
        <p:grpSpPr>
          <a:xfrm>
            <a:off x="2422088" y="2039589"/>
            <a:ext cx="12482441" cy="1107996"/>
            <a:chOff x="2825712" y="1467601"/>
            <a:chExt cx="7840000" cy="1107996"/>
          </a:xfrm>
        </p:grpSpPr>
        <p:sp>
          <p:nvSpPr>
            <p:cNvPr id="3" name="文字方塊 2">
              <a:extLst>
                <a:ext uri="{FF2B5EF4-FFF2-40B4-BE49-F238E27FC236}">
                  <a16:creationId xmlns:a16="http://schemas.microsoft.com/office/drawing/2014/main" id="{6033369C-8ACD-4F00-880A-AAF0AFAD759D}"/>
                </a:ext>
              </a:extLst>
            </p:cNvPr>
            <p:cNvSpPr txBox="1"/>
            <p:nvPr/>
          </p:nvSpPr>
          <p:spPr>
            <a:xfrm>
              <a:off x="2825712" y="1513767"/>
              <a:ext cx="973218" cy="1015663"/>
            </a:xfrm>
            <a:prstGeom prst="rect">
              <a:avLst/>
            </a:prstGeom>
            <a:noFill/>
          </p:spPr>
          <p:txBody>
            <a:bodyPr wrap="square" rtlCol="0">
              <a:spAutoFit/>
            </a:bodyPr>
            <a:lstStyle/>
            <a:p>
              <a:r>
                <a:rPr lang="en-US" altLang="zh-TW" sz="6000" b="1" dirty="0">
                  <a:effectLst>
                    <a:outerShdw dist="38100" dir="120000" sx="108000" sy="108000" algn="tl" rotWithShape="0">
                      <a:srgbClr val="FF6F3C"/>
                    </a:outerShdw>
                  </a:effectLst>
                  <a:cs typeface="+mn-ea"/>
                  <a:sym typeface="+mn-lt"/>
                </a:rPr>
                <a:t>02</a:t>
              </a:r>
              <a:endParaRPr lang="zh-TW" altLang="en-US" sz="6000" b="1" dirty="0">
                <a:effectLst>
                  <a:outerShdw dist="38100" dir="120000" sx="108000" sy="108000" algn="tl" rotWithShape="0">
                    <a:srgbClr val="FF6F3C"/>
                  </a:outerShdw>
                </a:effectLst>
                <a:cs typeface="+mn-ea"/>
                <a:sym typeface="+mn-lt"/>
              </a:endParaRPr>
            </a:p>
          </p:txBody>
        </p:sp>
        <p:sp>
          <p:nvSpPr>
            <p:cNvPr id="4" name="文字方塊 3">
              <a:extLst>
                <a:ext uri="{FF2B5EF4-FFF2-40B4-BE49-F238E27FC236}">
                  <a16:creationId xmlns:a16="http://schemas.microsoft.com/office/drawing/2014/main" id="{62250469-7D63-474A-B25E-529B67A3AA3D}"/>
                </a:ext>
              </a:extLst>
            </p:cNvPr>
            <p:cNvSpPr txBox="1"/>
            <p:nvPr/>
          </p:nvSpPr>
          <p:spPr>
            <a:xfrm>
              <a:off x="3894650" y="1467601"/>
              <a:ext cx="6771062" cy="1107996"/>
            </a:xfrm>
            <a:prstGeom prst="rect">
              <a:avLst/>
            </a:prstGeom>
            <a:noFill/>
          </p:spPr>
          <p:txBody>
            <a:bodyPr wrap="square" rtlCol="0">
              <a:spAutoFit/>
            </a:bodyPr>
            <a:lstStyle/>
            <a:p>
              <a:r>
                <a:rPr lang="zh-TW" altLang="en-US" sz="6600" b="1" spc="600" dirty="0">
                  <a:cs typeface="+mn-ea"/>
                  <a:sym typeface="+mn-lt"/>
                </a:rPr>
                <a:t>開工前模組</a:t>
              </a:r>
            </a:p>
          </p:txBody>
        </p:sp>
      </p:grpSp>
    </p:spTree>
    <p:extLst>
      <p:ext uri="{BB962C8B-B14F-4D97-AF65-F5344CB8AC3E}">
        <p14:creationId xmlns:p14="http://schemas.microsoft.com/office/powerpoint/2010/main" val="42091409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5">
            <a:extLst>
              <a:ext uri="{FF2B5EF4-FFF2-40B4-BE49-F238E27FC236}">
                <a16:creationId xmlns:a16="http://schemas.microsoft.com/office/drawing/2014/main" id="{81049192-BECB-4FE9-A506-BBC8A01AD83D}"/>
              </a:ext>
            </a:extLst>
          </p:cNvPr>
          <p:cNvGraphicFramePr>
            <a:graphicFrameLocks noGrp="1"/>
          </p:cNvGraphicFramePr>
          <p:nvPr>
            <p:extLst>
              <p:ext uri="{D42A27DB-BD31-4B8C-83A1-F6EECF244321}">
                <p14:modId xmlns:p14="http://schemas.microsoft.com/office/powerpoint/2010/main" val="2482932333"/>
              </p:ext>
            </p:extLst>
          </p:nvPr>
        </p:nvGraphicFramePr>
        <p:xfrm>
          <a:off x="339365" y="1958161"/>
          <a:ext cx="11513270" cy="3393228"/>
        </p:xfrm>
        <a:graphic>
          <a:graphicData uri="http://schemas.openxmlformats.org/drawingml/2006/table">
            <a:tbl>
              <a:tblPr firstRow="1" bandRow="1">
                <a:tableStyleId>{F5AB1C69-6EDB-4FF4-983F-18BD219EF322}</a:tableStyleId>
              </a:tblPr>
              <a:tblGrid>
                <a:gridCol w="3886986">
                  <a:extLst>
                    <a:ext uri="{9D8B030D-6E8A-4147-A177-3AD203B41FA5}">
                      <a16:colId xmlns:a16="http://schemas.microsoft.com/office/drawing/2014/main" val="1919288585"/>
                    </a:ext>
                  </a:extLst>
                </a:gridCol>
                <a:gridCol w="1906571">
                  <a:extLst>
                    <a:ext uri="{9D8B030D-6E8A-4147-A177-3AD203B41FA5}">
                      <a16:colId xmlns:a16="http://schemas.microsoft.com/office/drawing/2014/main" val="1539553019"/>
                    </a:ext>
                  </a:extLst>
                </a:gridCol>
                <a:gridCol w="1906571">
                  <a:extLst>
                    <a:ext uri="{9D8B030D-6E8A-4147-A177-3AD203B41FA5}">
                      <a16:colId xmlns:a16="http://schemas.microsoft.com/office/drawing/2014/main" val="4208292318"/>
                    </a:ext>
                  </a:extLst>
                </a:gridCol>
                <a:gridCol w="1906571">
                  <a:extLst>
                    <a:ext uri="{9D8B030D-6E8A-4147-A177-3AD203B41FA5}">
                      <a16:colId xmlns:a16="http://schemas.microsoft.com/office/drawing/2014/main" val="1677821463"/>
                    </a:ext>
                  </a:extLst>
                </a:gridCol>
                <a:gridCol w="1906571">
                  <a:extLst>
                    <a:ext uri="{9D8B030D-6E8A-4147-A177-3AD203B41FA5}">
                      <a16:colId xmlns:a16="http://schemas.microsoft.com/office/drawing/2014/main" val="2859121907"/>
                    </a:ext>
                  </a:extLst>
                </a:gridCol>
              </a:tblGrid>
              <a:tr h="776676">
                <a:tc>
                  <a:txBody>
                    <a:bodyPr/>
                    <a:lstStyle/>
                    <a:p>
                      <a:pPr algn="ctr"/>
                      <a:r>
                        <a:rPr lang="zh-TW" altLang="en-US" sz="2400" dirty="0">
                          <a:latin typeface="+mn-lt"/>
                          <a:ea typeface="+mn-ea"/>
                          <a:cs typeface="+mn-ea"/>
                          <a:sym typeface="+mn-lt"/>
                        </a:rPr>
                        <a:t>功能模組</a:t>
                      </a:r>
                    </a:p>
                  </a:txBody>
                  <a:tcPr anchor="ct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施工廠商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監造廠商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設計廠商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機關</a:t>
                      </a:r>
                    </a:p>
                  </a:txBody>
                  <a:tcPr>
                    <a:solidFill>
                      <a:srgbClr val="2981BC"/>
                    </a:solidFill>
                  </a:tcPr>
                </a:tc>
                <a:extLst>
                  <a:ext uri="{0D108BD9-81ED-4DB2-BD59-A6C34878D82A}">
                    <a16:rowId xmlns:a16="http://schemas.microsoft.com/office/drawing/2014/main" val="1278690638"/>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hlinkClick r:id="rId3" action="ppaction://hlinksldjump"/>
                        </a:rPr>
                        <a:t>B1.1</a:t>
                      </a:r>
                      <a:r>
                        <a:rPr lang="zh-TW" altLang="en-US" dirty="0">
                          <a:effectLst/>
                          <a:hlinkClick r:id="rId3" action="ppaction://hlinksldjump"/>
                        </a:rPr>
                        <a:t>工程司指派通知書</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682225972"/>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B1.2</a:t>
                      </a:r>
                      <a:r>
                        <a:rPr lang="zh-TW" altLang="en-US" dirty="0">
                          <a:effectLst/>
                        </a:rPr>
                        <a:t>開工通知書</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chemeClr val="tx1"/>
                          </a:solidFill>
                          <a:latin typeface="+mn-lt"/>
                          <a:ea typeface="+mn-ea"/>
                          <a:cs typeface="+mn-ea"/>
                          <a:sym typeface="+mn-lt"/>
                        </a:rPr>
                        <a:t>協辦</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731805535"/>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B1.3</a:t>
                      </a:r>
                      <a:r>
                        <a:rPr lang="zh-TW" altLang="en-US" dirty="0">
                          <a:effectLst/>
                        </a:rPr>
                        <a:t>服務實施計畫書</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chemeClr val="tx1"/>
                          </a:solidFill>
                          <a:latin typeface="+mn-lt"/>
                          <a:ea typeface="+mn-ea"/>
                          <a:cs typeface="+mn-ea"/>
                          <a:sym typeface="+mn-lt"/>
                        </a:rPr>
                        <a:t>核定</a:t>
                      </a:r>
                    </a:p>
                  </a:txBody>
                  <a:tcPr anchor="ctr"/>
                </a:tc>
                <a:extLst>
                  <a:ext uri="{0D108BD9-81ED-4DB2-BD59-A6C34878D82A}">
                    <a16:rowId xmlns:a16="http://schemas.microsoft.com/office/drawing/2014/main" val="1428251780"/>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B1.4</a:t>
                      </a:r>
                      <a:r>
                        <a:rPr lang="zh-TW" altLang="en-US" dirty="0">
                          <a:effectLst/>
                        </a:rPr>
                        <a:t>監造廠商派駐工地人員報核</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1">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524005173"/>
                  </a:ext>
                </a:extLst>
              </a:tr>
            </a:tbl>
          </a:graphicData>
        </a:graphic>
      </p:graphicFrame>
      <p:grpSp>
        <p:nvGrpSpPr>
          <p:cNvPr id="2" name="群組 1"/>
          <p:cNvGrpSpPr/>
          <p:nvPr/>
        </p:nvGrpSpPr>
        <p:grpSpPr>
          <a:xfrm>
            <a:off x="4982054" y="1695927"/>
            <a:ext cx="6171369" cy="512204"/>
            <a:chOff x="4982054" y="1695927"/>
            <a:chExt cx="6171369" cy="512204"/>
          </a:xfrm>
        </p:grpSpPr>
        <p:pic>
          <p:nvPicPr>
            <p:cNvPr id="11" name="圖形 10">
              <a:extLst>
                <a:ext uri="{FF2B5EF4-FFF2-40B4-BE49-F238E27FC236}">
                  <a16:creationId xmlns:a16="http://schemas.microsoft.com/office/drawing/2014/main" id="{1A7FC6C5-ACEE-46F7-AD28-C2D4CD217271}"/>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0669031" y="1717773"/>
              <a:ext cx="484392" cy="490358"/>
            </a:xfrm>
            <a:prstGeom prst="rect">
              <a:avLst/>
            </a:prstGeom>
          </p:spPr>
        </p:pic>
        <p:pic>
          <p:nvPicPr>
            <p:cNvPr id="12" name="圖形 11">
              <a:extLst>
                <a:ext uri="{FF2B5EF4-FFF2-40B4-BE49-F238E27FC236}">
                  <a16:creationId xmlns:a16="http://schemas.microsoft.com/office/drawing/2014/main" id="{DC1865B6-0298-437C-9038-68E2258F9D6C}"/>
                </a:ext>
              </a:extLst>
            </p:cNvPr>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6803423" y="1706145"/>
              <a:ext cx="484391" cy="490357"/>
            </a:xfrm>
            <a:prstGeom prst="rect">
              <a:avLst/>
            </a:prstGeom>
          </p:spPr>
        </p:pic>
        <p:pic>
          <p:nvPicPr>
            <p:cNvPr id="13" name="圖形 12">
              <a:extLst>
                <a:ext uri="{FF2B5EF4-FFF2-40B4-BE49-F238E27FC236}">
                  <a16:creationId xmlns:a16="http://schemas.microsoft.com/office/drawing/2014/main" id="{9AF9055B-D126-45ED-8BA2-026DA2822CE4}"/>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4982054" y="1695927"/>
              <a:ext cx="492000" cy="498060"/>
            </a:xfrm>
            <a:prstGeom prst="rect">
              <a:avLst/>
            </a:prstGeom>
          </p:spPr>
        </p:pic>
        <p:pic>
          <p:nvPicPr>
            <p:cNvPr id="17" name="圖片 16">
              <a:extLst>
                <a:ext uri="{FF2B5EF4-FFF2-40B4-BE49-F238E27FC236}">
                  <a16:creationId xmlns:a16="http://schemas.microsoft.com/office/drawing/2014/main" id="{7EA5CB42-A5B9-450E-AAED-36B211A09EE3}"/>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8736227" y="1717773"/>
              <a:ext cx="484391" cy="490356"/>
            </a:xfrm>
            <a:prstGeom prst="rect">
              <a:avLst/>
            </a:prstGeom>
          </p:spPr>
        </p:pic>
      </p:grpSp>
      <p:sp>
        <p:nvSpPr>
          <p:cNvPr id="15" name="矩形 14">
            <a:extLst>
              <a:ext uri="{FF2B5EF4-FFF2-40B4-BE49-F238E27FC236}">
                <a16:creationId xmlns:a16="http://schemas.microsoft.com/office/drawing/2014/main" id="{193D6FFF-3A91-4157-BF51-22F462B52FF3}"/>
              </a:ext>
            </a:extLst>
          </p:cNvPr>
          <p:cNvSpPr/>
          <p:nvPr/>
        </p:nvSpPr>
        <p:spPr>
          <a:xfrm>
            <a:off x="0" y="989896"/>
            <a:ext cx="12192000" cy="44379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000" b="1" dirty="0">
                <a:solidFill>
                  <a:schemeClr val="tx1"/>
                </a:solidFill>
                <a:cs typeface="+mn-ea"/>
                <a:sym typeface="+mn-lt"/>
              </a:rPr>
              <a:t>根據操作角色進行系統展示，功能模組權責分工表如下：</a:t>
            </a:r>
          </a:p>
        </p:txBody>
      </p:sp>
      <p:sp>
        <p:nvSpPr>
          <p:cNvPr id="14" name="矩形 13">
            <a:extLst>
              <a:ext uri="{FF2B5EF4-FFF2-40B4-BE49-F238E27FC236}">
                <a16:creationId xmlns:a16="http://schemas.microsoft.com/office/drawing/2014/main" id="{BBE3CAA2-B72C-48D2-ADF5-8D2CFB42A651}"/>
              </a:ext>
            </a:extLst>
          </p:cNvPr>
          <p:cNvSpPr/>
          <p:nvPr/>
        </p:nvSpPr>
        <p:spPr>
          <a:xfrm>
            <a:off x="0" y="-1832"/>
            <a:ext cx="9121620" cy="72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600" b="1" dirty="0">
                <a:solidFill>
                  <a:srgbClr val="39759D"/>
                </a:solidFill>
                <a:cs typeface="+mn-ea"/>
                <a:sym typeface="+mn-lt"/>
              </a:rPr>
              <a:t>開工前模組目錄</a:t>
            </a:r>
            <a:endParaRPr lang="zh-TW" altLang="en-US" sz="3600" b="1" dirty="0">
              <a:solidFill>
                <a:srgbClr val="FF0000"/>
              </a:solidFill>
              <a:cs typeface="+mn-ea"/>
              <a:sym typeface="+mn-lt"/>
            </a:endParaRPr>
          </a:p>
        </p:txBody>
      </p:sp>
      <p:cxnSp>
        <p:nvCxnSpPr>
          <p:cNvPr id="19" name="直線接點 18">
            <a:extLst>
              <a:ext uri="{FF2B5EF4-FFF2-40B4-BE49-F238E27FC236}">
                <a16:creationId xmlns:a16="http://schemas.microsoft.com/office/drawing/2014/main" id="{3898D3D1-AD27-47E0-AE37-B4F6EA448127}"/>
              </a:ext>
            </a:extLst>
          </p:cNvPr>
          <p:cNvCxnSpPr>
            <a:cxnSpLocks/>
          </p:cNvCxnSpPr>
          <p:nvPr/>
        </p:nvCxnSpPr>
        <p:spPr>
          <a:xfrm>
            <a:off x="123290" y="727662"/>
            <a:ext cx="3199332"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78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5">
            <a:extLst>
              <a:ext uri="{FF2B5EF4-FFF2-40B4-BE49-F238E27FC236}">
                <a16:creationId xmlns:a16="http://schemas.microsoft.com/office/drawing/2014/main" id="{81049192-BECB-4FE9-A506-BBC8A01AD83D}"/>
              </a:ext>
            </a:extLst>
          </p:cNvPr>
          <p:cNvGraphicFramePr>
            <a:graphicFrameLocks noGrp="1"/>
          </p:cNvGraphicFramePr>
          <p:nvPr>
            <p:extLst>
              <p:ext uri="{D42A27DB-BD31-4B8C-83A1-F6EECF244321}">
                <p14:modId xmlns:p14="http://schemas.microsoft.com/office/powerpoint/2010/main" val="1553707855"/>
              </p:ext>
            </p:extLst>
          </p:nvPr>
        </p:nvGraphicFramePr>
        <p:xfrm>
          <a:off x="339365" y="1958161"/>
          <a:ext cx="11513270" cy="3393228"/>
        </p:xfrm>
        <a:graphic>
          <a:graphicData uri="http://schemas.openxmlformats.org/drawingml/2006/table">
            <a:tbl>
              <a:tblPr firstRow="1" bandRow="1">
                <a:tableStyleId>{F5AB1C69-6EDB-4FF4-983F-18BD219EF322}</a:tableStyleId>
              </a:tblPr>
              <a:tblGrid>
                <a:gridCol w="3886986">
                  <a:extLst>
                    <a:ext uri="{9D8B030D-6E8A-4147-A177-3AD203B41FA5}">
                      <a16:colId xmlns:a16="http://schemas.microsoft.com/office/drawing/2014/main" val="1919288585"/>
                    </a:ext>
                  </a:extLst>
                </a:gridCol>
                <a:gridCol w="1906571">
                  <a:extLst>
                    <a:ext uri="{9D8B030D-6E8A-4147-A177-3AD203B41FA5}">
                      <a16:colId xmlns:a16="http://schemas.microsoft.com/office/drawing/2014/main" val="1539553019"/>
                    </a:ext>
                  </a:extLst>
                </a:gridCol>
                <a:gridCol w="1906571">
                  <a:extLst>
                    <a:ext uri="{9D8B030D-6E8A-4147-A177-3AD203B41FA5}">
                      <a16:colId xmlns:a16="http://schemas.microsoft.com/office/drawing/2014/main" val="4208292318"/>
                    </a:ext>
                  </a:extLst>
                </a:gridCol>
                <a:gridCol w="1906571">
                  <a:extLst>
                    <a:ext uri="{9D8B030D-6E8A-4147-A177-3AD203B41FA5}">
                      <a16:colId xmlns:a16="http://schemas.microsoft.com/office/drawing/2014/main" val="1677821463"/>
                    </a:ext>
                  </a:extLst>
                </a:gridCol>
                <a:gridCol w="1906571">
                  <a:extLst>
                    <a:ext uri="{9D8B030D-6E8A-4147-A177-3AD203B41FA5}">
                      <a16:colId xmlns:a16="http://schemas.microsoft.com/office/drawing/2014/main" val="2859121907"/>
                    </a:ext>
                  </a:extLst>
                </a:gridCol>
              </a:tblGrid>
              <a:tr h="776676">
                <a:tc>
                  <a:txBody>
                    <a:bodyPr/>
                    <a:lstStyle/>
                    <a:p>
                      <a:pPr algn="ctr"/>
                      <a:r>
                        <a:rPr lang="zh-TW" altLang="en-US" sz="2400" dirty="0">
                          <a:latin typeface="+mn-lt"/>
                          <a:ea typeface="+mn-ea"/>
                          <a:cs typeface="+mn-ea"/>
                          <a:sym typeface="+mn-lt"/>
                        </a:rPr>
                        <a:t>功能模組</a:t>
                      </a:r>
                    </a:p>
                  </a:txBody>
                  <a:tcPr anchor="ct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施工廠商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監造廠商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設計廠商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機關</a:t>
                      </a:r>
                    </a:p>
                  </a:txBody>
                  <a:tcPr>
                    <a:solidFill>
                      <a:srgbClr val="2981BC"/>
                    </a:solidFill>
                  </a:tcPr>
                </a:tc>
                <a:extLst>
                  <a:ext uri="{0D108BD9-81ED-4DB2-BD59-A6C34878D82A}">
                    <a16:rowId xmlns:a16="http://schemas.microsoft.com/office/drawing/2014/main" val="1278690638"/>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B1.5</a:t>
                      </a:r>
                      <a:r>
                        <a:rPr lang="zh-TW" altLang="en-US" dirty="0">
                          <a:effectLst/>
                        </a:rPr>
                        <a:t>施工廠商派駐工地人員報核</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682225972"/>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B1.6</a:t>
                      </a:r>
                      <a:r>
                        <a:rPr lang="zh-TW" altLang="en-US" dirty="0">
                          <a:effectLst/>
                        </a:rPr>
                        <a:t>鄰近建築物現況調查</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731805535"/>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B1.7</a:t>
                      </a:r>
                      <a:r>
                        <a:rPr lang="zh-TW" altLang="en-US" dirty="0">
                          <a:effectLst/>
                        </a:rPr>
                        <a:t>擬定施工預定進度表</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1428251780"/>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B1.8</a:t>
                      </a:r>
                      <a:r>
                        <a:rPr lang="zh-TW" altLang="en-US" dirty="0">
                          <a:effectLst/>
                        </a:rPr>
                        <a:t>合法土資場或借土區資料送審</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1">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524005173"/>
                  </a:ext>
                </a:extLst>
              </a:tr>
            </a:tbl>
          </a:graphicData>
        </a:graphic>
      </p:graphicFrame>
      <p:grpSp>
        <p:nvGrpSpPr>
          <p:cNvPr id="2" name="群組 1"/>
          <p:cNvGrpSpPr/>
          <p:nvPr/>
        </p:nvGrpSpPr>
        <p:grpSpPr>
          <a:xfrm>
            <a:off x="4982054" y="1695927"/>
            <a:ext cx="6171369" cy="512204"/>
            <a:chOff x="4982054" y="1695927"/>
            <a:chExt cx="6171369" cy="512204"/>
          </a:xfrm>
        </p:grpSpPr>
        <p:pic>
          <p:nvPicPr>
            <p:cNvPr id="11" name="圖形 10">
              <a:extLst>
                <a:ext uri="{FF2B5EF4-FFF2-40B4-BE49-F238E27FC236}">
                  <a16:creationId xmlns:a16="http://schemas.microsoft.com/office/drawing/2014/main" id="{1A7FC6C5-ACEE-46F7-AD28-C2D4CD217271}"/>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0669031" y="1717773"/>
              <a:ext cx="484392" cy="490358"/>
            </a:xfrm>
            <a:prstGeom prst="rect">
              <a:avLst/>
            </a:prstGeom>
          </p:spPr>
        </p:pic>
        <p:pic>
          <p:nvPicPr>
            <p:cNvPr id="12" name="圖形 11">
              <a:extLst>
                <a:ext uri="{FF2B5EF4-FFF2-40B4-BE49-F238E27FC236}">
                  <a16:creationId xmlns:a16="http://schemas.microsoft.com/office/drawing/2014/main" id="{DC1865B6-0298-437C-9038-68E2258F9D6C}"/>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6803423" y="1706145"/>
              <a:ext cx="484391" cy="490357"/>
            </a:xfrm>
            <a:prstGeom prst="rect">
              <a:avLst/>
            </a:prstGeom>
          </p:spPr>
        </p:pic>
        <p:pic>
          <p:nvPicPr>
            <p:cNvPr id="13" name="圖形 12">
              <a:extLst>
                <a:ext uri="{FF2B5EF4-FFF2-40B4-BE49-F238E27FC236}">
                  <a16:creationId xmlns:a16="http://schemas.microsoft.com/office/drawing/2014/main" id="{9AF9055B-D126-45ED-8BA2-026DA2822CE4}"/>
                </a:ext>
              </a:extLst>
            </p:cNvPr>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4982054" y="1695927"/>
              <a:ext cx="492000" cy="498060"/>
            </a:xfrm>
            <a:prstGeom prst="rect">
              <a:avLst/>
            </a:prstGeom>
          </p:spPr>
        </p:pic>
        <p:pic>
          <p:nvPicPr>
            <p:cNvPr id="17" name="圖片 16">
              <a:extLst>
                <a:ext uri="{FF2B5EF4-FFF2-40B4-BE49-F238E27FC236}">
                  <a16:creationId xmlns:a16="http://schemas.microsoft.com/office/drawing/2014/main" id="{7EA5CB42-A5B9-450E-AAED-36B211A09EE3}"/>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8736227" y="1717773"/>
              <a:ext cx="484391" cy="490356"/>
            </a:xfrm>
            <a:prstGeom prst="rect">
              <a:avLst/>
            </a:prstGeom>
          </p:spPr>
        </p:pic>
      </p:grpSp>
      <p:sp>
        <p:nvSpPr>
          <p:cNvPr id="15" name="矩形 14">
            <a:extLst>
              <a:ext uri="{FF2B5EF4-FFF2-40B4-BE49-F238E27FC236}">
                <a16:creationId xmlns:a16="http://schemas.microsoft.com/office/drawing/2014/main" id="{193D6FFF-3A91-4157-BF51-22F462B52FF3}"/>
              </a:ext>
            </a:extLst>
          </p:cNvPr>
          <p:cNvSpPr/>
          <p:nvPr/>
        </p:nvSpPr>
        <p:spPr>
          <a:xfrm>
            <a:off x="0" y="989896"/>
            <a:ext cx="12192000" cy="44379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000" b="1" dirty="0">
                <a:solidFill>
                  <a:schemeClr val="tx1"/>
                </a:solidFill>
                <a:cs typeface="+mn-ea"/>
                <a:sym typeface="+mn-lt"/>
              </a:rPr>
              <a:t>根據操作角色進行系統展示，功能模組權責分工表如下：</a:t>
            </a:r>
          </a:p>
        </p:txBody>
      </p:sp>
      <p:sp>
        <p:nvSpPr>
          <p:cNvPr id="14" name="矩形 13">
            <a:extLst>
              <a:ext uri="{FF2B5EF4-FFF2-40B4-BE49-F238E27FC236}">
                <a16:creationId xmlns:a16="http://schemas.microsoft.com/office/drawing/2014/main" id="{BBE3CAA2-B72C-48D2-ADF5-8D2CFB42A651}"/>
              </a:ext>
            </a:extLst>
          </p:cNvPr>
          <p:cNvSpPr/>
          <p:nvPr/>
        </p:nvSpPr>
        <p:spPr>
          <a:xfrm>
            <a:off x="0" y="-1832"/>
            <a:ext cx="9121620" cy="72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600" b="1" dirty="0">
                <a:solidFill>
                  <a:srgbClr val="39759D"/>
                </a:solidFill>
                <a:cs typeface="+mn-ea"/>
                <a:sym typeface="+mn-lt"/>
              </a:rPr>
              <a:t>決標後模組目錄</a:t>
            </a:r>
            <a:endParaRPr lang="zh-TW" altLang="en-US" sz="3600" b="1" dirty="0">
              <a:solidFill>
                <a:srgbClr val="FF0000"/>
              </a:solidFill>
              <a:cs typeface="+mn-ea"/>
              <a:sym typeface="+mn-lt"/>
            </a:endParaRPr>
          </a:p>
        </p:txBody>
      </p:sp>
      <p:cxnSp>
        <p:nvCxnSpPr>
          <p:cNvPr id="20" name="直線接點 19">
            <a:extLst>
              <a:ext uri="{FF2B5EF4-FFF2-40B4-BE49-F238E27FC236}">
                <a16:creationId xmlns:a16="http://schemas.microsoft.com/office/drawing/2014/main" id="{3898D3D1-AD27-47E0-AE37-B4F6EA448127}"/>
              </a:ext>
            </a:extLst>
          </p:cNvPr>
          <p:cNvCxnSpPr>
            <a:cxnSpLocks/>
          </p:cNvCxnSpPr>
          <p:nvPr/>
        </p:nvCxnSpPr>
        <p:spPr>
          <a:xfrm>
            <a:off x="123290" y="727662"/>
            <a:ext cx="3199332"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791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5">
            <a:extLst>
              <a:ext uri="{FF2B5EF4-FFF2-40B4-BE49-F238E27FC236}">
                <a16:creationId xmlns:a16="http://schemas.microsoft.com/office/drawing/2014/main" id="{81049192-BECB-4FE9-A506-BBC8A01AD83D}"/>
              </a:ext>
            </a:extLst>
          </p:cNvPr>
          <p:cNvGraphicFramePr>
            <a:graphicFrameLocks noGrp="1"/>
          </p:cNvGraphicFramePr>
          <p:nvPr>
            <p:extLst>
              <p:ext uri="{D42A27DB-BD31-4B8C-83A1-F6EECF244321}">
                <p14:modId xmlns:p14="http://schemas.microsoft.com/office/powerpoint/2010/main" val="1481028299"/>
              </p:ext>
            </p:extLst>
          </p:nvPr>
        </p:nvGraphicFramePr>
        <p:xfrm>
          <a:off x="339365" y="1958161"/>
          <a:ext cx="11513270" cy="3393228"/>
        </p:xfrm>
        <a:graphic>
          <a:graphicData uri="http://schemas.openxmlformats.org/drawingml/2006/table">
            <a:tbl>
              <a:tblPr firstRow="1" bandRow="1">
                <a:tableStyleId>{F5AB1C69-6EDB-4FF4-983F-18BD219EF322}</a:tableStyleId>
              </a:tblPr>
              <a:tblGrid>
                <a:gridCol w="3886986">
                  <a:extLst>
                    <a:ext uri="{9D8B030D-6E8A-4147-A177-3AD203B41FA5}">
                      <a16:colId xmlns:a16="http://schemas.microsoft.com/office/drawing/2014/main" val="1919288585"/>
                    </a:ext>
                  </a:extLst>
                </a:gridCol>
                <a:gridCol w="1906571">
                  <a:extLst>
                    <a:ext uri="{9D8B030D-6E8A-4147-A177-3AD203B41FA5}">
                      <a16:colId xmlns:a16="http://schemas.microsoft.com/office/drawing/2014/main" val="1539553019"/>
                    </a:ext>
                  </a:extLst>
                </a:gridCol>
                <a:gridCol w="1906571">
                  <a:extLst>
                    <a:ext uri="{9D8B030D-6E8A-4147-A177-3AD203B41FA5}">
                      <a16:colId xmlns:a16="http://schemas.microsoft.com/office/drawing/2014/main" val="4208292318"/>
                    </a:ext>
                  </a:extLst>
                </a:gridCol>
                <a:gridCol w="1906571">
                  <a:extLst>
                    <a:ext uri="{9D8B030D-6E8A-4147-A177-3AD203B41FA5}">
                      <a16:colId xmlns:a16="http://schemas.microsoft.com/office/drawing/2014/main" val="1677821463"/>
                    </a:ext>
                  </a:extLst>
                </a:gridCol>
                <a:gridCol w="1906571">
                  <a:extLst>
                    <a:ext uri="{9D8B030D-6E8A-4147-A177-3AD203B41FA5}">
                      <a16:colId xmlns:a16="http://schemas.microsoft.com/office/drawing/2014/main" val="2859121907"/>
                    </a:ext>
                  </a:extLst>
                </a:gridCol>
              </a:tblGrid>
              <a:tr h="776676">
                <a:tc>
                  <a:txBody>
                    <a:bodyPr/>
                    <a:lstStyle/>
                    <a:p>
                      <a:pPr algn="ctr"/>
                      <a:r>
                        <a:rPr lang="zh-TW" altLang="en-US" sz="2400" dirty="0">
                          <a:latin typeface="+mn-lt"/>
                          <a:ea typeface="+mn-ea"/>
                          <a:cs typeface="+mn-ea"/>
                          <a:sym typeface="+mn-lt"/>
                        </a:rPr>
                        <a:t>功能模組</a:t>
                      </a:r>
                    </a:p>
                  </a:txBody>
                  <a:tcPr anchor="ct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施工廠商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監造廠商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設計廠商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機關</a:t>
                      </a:r>
                    </a:p>
                  </a:txBody>
                  <a:tcPr>
                    <a:solidFill>
                      <a:srgbClr val="2981BC"/>
                    </a:solidFill>
                  </a:tcPr>
                </a:tc>
                <a:extLst>
                  <a:ext uri="{0D108BD9-81ED-4DB2-BD59-A6C34878D82A}">
                    <a16:rowId xmlns:a16="http://schemas.microsoft.com/office/drawing/2014/main" val="1278690638"/>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B1.8-1</a:t>
                      </a:r>
                      <a:r>
                        <a:rPr lang="zh-TW" altLang="en-US" dirty="0">
                          <a:effectLst/>
                        </a:rPr>
                        <a:t>事業廢棄物清理計畫書報核</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682225972"/>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B1.9.1</a:t>
                      </a:r>
                      <a:r>
                        <a:rPr lang="zh-TW" altLang="en-US" dirty="0">
                          <a:effectLst/>
                        </a:rPr>
                        <a:t>申報空氣汙染防制費</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731805535"/>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B1.9.2</a:t>
                      </a:r>
                      <a:r>
                        <a:rPr lang="zh-TW" altLang="en-US" dirty="0">
                          <a:effectLst/>
                        </a:rPr>
                        <a:t>向機關申報開工</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1428251780"/>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B1.10.1</a:t>
                      </a:r>
                      <a:r>
                        <a:rPr lang="zh-TW" altLang="en-US" dirty="0">
                          <a:effectLst/>
                        </a:rPr>
                        <a:t>向主管機關申報開工</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extLst>
                  <a:ext uri="{0D108BD9-81ED-4DB2-BD59-A6C34878D82A}">
                    <a16:rowId xmlns:a16="http://schemas.microsoft.com/office/drawing/2014/main" val="3915219922"/>
                  </a:ext>
                </a:extLst>
              </a:tr>
            </a:tbl>
          </a:graphicData>
        </a:graphic>
      </p:graphicFrame>
      <p:grpSp>
        <p:nvGrpSpPr>
          <p:cNvPr id="2" name="群組 1"/>
          <p:cNvGrpSpPr/>
          <p:nvPr/>
        </p:nvGrpSpPr>
        <p:grpSpPr>
          <a:xfrm>
            <a:off x="4982054" y="1695927"/>
            <a:ext cx="6171369" cy="512204"/>
            <a:chOff x="4982054" y="1695927"/>
            <a:chExt cx="6171369" cy="512204"/>
          </a:xfrm>
        </p:grpSpPr>
        <p:pic>
          <p:nvPicPr>
            <p:cNvPr id="11" name="圖形 10">
              <a:extLst>
                <a:ext uri="{FF2B5EF4-FFF2-40B4-BE49-F238E27FC236}">
                  <a16:creationId xmlns:a16="http://schemas.microsoft.com/office/drawing/2014/main" id="{1A7FC6C5-ACEE-46F7-AD28-C2D4CD217271}"/>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0669031" y="1717773"/>
              <a:ext cx="484392" cy="490358"/>
            </a:xfrm>
            <a:prstGeom prst="rect">
              <a:avLst/>
            </a:prstGeom>
          </p:spPr>
        </p:pic>
        <p:pic>
          <p:nvPicPr>
            <p:cNvPr id="12" name="圖形 11">
              <a:extLst>
                <a:ext uri="{FF2B5EF4-FFF2-40B4-BE49-F238E27FC236}">
                  <a16:creationId xmlns:a16="http://schemas.microsoft.com/office/drawing/2014/main" id="{DC1865B6-0298-437C-9038-68E2258F9D6C}"/>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6803423" y="1706145"/>
              <a:ext cx="484391" cy="490357"/>
            </a:xfrm>
            <a:prstGeom prst="rect">
              <a:avLst/>
            </a:prstGeom>
          </p:spPr>
        </p:pic>
        <p:pic>
          <p:nvPicPr>
            <p:cNvPr id="13" name="圖形 12">
              <a:extLst>
                <a:ext uri="{FF2B5EF4-FFF2-40B4-BE49-F238E27FC236}">
                  <a16:creationId xmlns:a16="http://schemas.microsoft.com/office/drawing/2014/main" id="{9AF9055B-D126-45ED-8BA2-026DA2822CE4}"/>
                </a:ext>
              </a:extLst>
            </p:cNvPr>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4982054" y="1695927"/>
              <a:ext cx="492000" cy="498060"/>
            </a:xfrm>
            <a:prstGeom prst="rect">
              <a:avLst/>
            </a:prstGeom>
          </p:spPr>
        </p:pic>
        <p:pic>
          <p:nvPicPr>
            <p:cNvPr id="17" name="圖片 16">
              <a:extLst>
                <a:ext uri="{FF2B5EF4-FFF2-40B4-BE49-F238E27FC236}">
                  <a16:creationId xmlns:a16="http://schemas.microsoft.com/office/drawing/2014/main" id="{7EA5CB42-A5B9-450E-AAED-36B211A09EE3}"/>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8736227" y="1717773"/>
              <a:ext cx="484391" cy="490356"/>
            </a:xfrm>
            <a:prstGeom prst="rect">
              <a:avLst/>
            </a:prstGeom>
          </p:spPr>
        </p:pic>
      </p:grpSp>
      <p:sp>
        <p:nvSpPr>
          <p:cNvPr id="15" name="矩形 14">
            <a:extLst>
              <a:ext uri="{FF2B5EF4-FFF2-40B4-BE49-F238E27FC236}">
                <a16:creationId xmlns:a16="http://schemas.microsoft.com/office/drawing/2014/main" id="{193D6FFF-3A91-4157-BF51-22F462B52FF3}"/>
              </a:ext>
            </a:extLst>
          </p:cNvPr>
          <p:cNvSpPr/>
          <p:nvPr/>
        </p:nvSpPr>
        <p:spPr>
          <a:xfrm>
            <a:off x="0" y="989896"/>
            <a:ext cx="12192000" cy="44379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000" b="1" dirty="0">
                <a:solidFill>
                  <a:schemeClr val="tx1"/>
                </a:solidFill>
                <a:cs typeface="+mn-ea"/>
                <a:sym typeface="+mn-lt"/>
              </a:rPr>
              <a:t>根據操作角色進行系統展示，功能模組權責分工表如下：</a:t>
            </a:r>
          </a:p>
        </p:txBody>
      </p:sp>
      <p:sp>
        <p:nvSpPr>
          <p:cNvPr id="14" name="矩形 13">
            <a:extLst>
              <a:ext uri="{FF2B5EF4-FFF2-40B4-BE49-F238E27FC236}">
                <a16:creationId xmlns:a16="http://schemas.microsoft.com/office/drawing/2014/main" id="{BBE3CAA2-B72C-48D2-ADF5-8D2CFB42A651}"/>
              </a:ext>
            </a:extLst>
          </p:cNvPr>
          <p:cNvSpPr/>
          <p:nvPr/>
        </p:nvSpPr>
        <p:spPr>
          <a:xfrm>
            <a:off x="0" y="-1832"/>
            <a:ext cx="9121620" cy="72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600" b="1" dirty="0">
                <a:solidFill>
                  <a:srgbClr val="39759D"/>
                </a:solidFill>
                <a:cs typeface="+mn-ea"/>
                <a:sym typeface="+mn-lt"/>
              </a:rPr>
              <a:t>決標後模組目錄</a:t>
            </a:r>
            <a:endParaRPr lang="zh-TW" altLang="en-US" sz="3600" b="1" dirty="0">
              <a:solidFill>
                <a:srgbClr val="FF0000"/>
              </a:solidFill>
              <a:cs typeface="+mn-ea"/>
              <a:sym typeface="+mn-lt"/>
            </a:endParaRPr>
          </a:p>
        </p:txBody>
      </p:sp>
      <p:cxnSp>
        <p:nvCxnSpPr>
          <p:cNvPr id="20" name="直線接點 19">
            <a:extLst>
              <a:ext uri="{FF2B5EF4-FFF2-40B4-BE49-F238E27FC236}">
                <a16:creationId xmlns:a16="http://schemas.microsoft.com/office/drawing/2014/main" id="{3898D3D1-AD27-47E0-AE37-B4F6EA448127}"/>
              </a:ext>
            </a:extLst>
          </p:cNvPr>
          <p:cNvCxnSpPr>
            <a:cxnSpLocks/>
          </p:cNvCxnSpPr>
          <p:nvPr/>
        </p:nvCxnSpPr>
        <p:spPr>
          <a:xfrm>
            <a:off x="123290" y="727662"/>
            <a:ext cx="3199332"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8114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5">
            <a:extLst>
              <a:ext uri="{FF2B5EF4-FFF2-40B4-BE49-F238E27FC236}">
                <a16:creationId xmlns:a16="http://schemas.microsoft.com/office/drawing/2014/main" id="{81049192-BECB-4FE9-A506-BBC8A01AD83D}"/>
              </a:ext>
            </a:extLst>
          </p:cNvPr>
          <p:cNvGraphicFramePr>
            <a:graphicFrameLocks noGrp="1"/>
          </p:cNvGraphicFramePr>
          <p:nvPr>
            <p:extLst>
              <p:ext uri="{D42A27DB-BD31-4B8C-83A1-F6EECF244321}">
                <p14:modId xmlns:p14="http://schemas.microsoft.com/office/powerpoint/2010/main" val="3579979232"/>
              </p:ext>
            </p:extLst>
          </p:nvPr>
        </p:nvGraphicFramePr>
        <p:xfrm>
          <a:off x="339365" y="1958161"/>
          <a:ext cx="11513270" cy="3393228"/>
        </p:xfrm>
        <a:graphic>
          <a:graphicData uri="http://schemas.openxmlformats.org/drawingml/2006/table">
            <a:tbl>
              <a:tblPr firstRow="1" bandRow="1">
                <a:tableStyleId>{F5AB1C69-6EDB-4FF4-983F-18BD219EF322}</a:tableStyleId>
              </a:tblPr>
              <a:tblGrid>
                <a:gridCol w="3886986">
                  <a:extLst>
                    <a:ext uri="{9D8B030D-6E8A-4147-A177-3AD203B41FA5}">
                      <a16:colId xmlns:a16="http://schemas.microsoft.com/office/drawing/2014/main" val="1919288585"/>
                    </a:ext>
                  </a:extLst>
                </a:gridCol>
                <a:gridCol w="1906571">
                  <a:extLst>
                    <a:ext uri="{9D8B030D-6E8A-4147-A177-3AD203B41FA5}">
                      <a16:colId xmlns:a16="http://schemas.microsoft.com/office/drawing/2014/main" val="1539553019"/>
                    </a:ext>
                  </a:extLst>
                </a:gridCol>
                <a:gridCol w="1906571">
                  <a:extLst>
                    <a:ext uri="{9D8B030D-6E8A-4147-A177-3AD203B41FA5}">
                      <a16:colId xmlns:a16="http://schemas.microsoft.com/office/drawing/2014/main" val="4208292318"/>
                    </a:ext>
                  </a:extLst>
                </a:gridCol>
                <a:gridCol w="1906571">
                  <a:extLst>
                    <a:ext uri="{9D8B030D-6E8A-4147-A177-3AD203B41FA5}">
                      <a16:colId xmlns:a16="http://schemas.microsoft.com/office/drawing/2014/main" val="1677821463"/>
                    </a:ext>
                  </a:extLst>
                </a:gridCol>
                <a:gridCol w="1906571">
                  <a:extLst>
                    <a:ext uri="{9D8B030D-6E8A-4147-A177-3AD203B41FA5}">
                      <a16:colId xmlns:a16="http://schemas.microsoft.com/office/drawing/2014/main" val="2859121907"/>
                    </a:ext>
                  </a:extLst>
                </a:gridCol>
              </a:tblGrid>
              <a:tr h="776676">
                <a:tc>
                  <a:txBody>
                    <a:bodyPr/>
                    <a:lstStyle/>
                    <a:p>
                      <a:pPr algn="ctr"/>
                      <a:r>
                        <a:rPr lang="zh-TW" altLang="en-US" sz="2400" dirty="0">
                          <a:latin typeface="+mn-lt"/>
                          <a:ea typeface="+mn-ea"/>
                          <a:cs typeface="+mn-ea"/>
                          <a:sym typeface="+mn-lt"/>
                        </a:rPr>
                        <a:t>功能模組</a:t>
                      </a:r>
                    </a:p>
                  </a:txBody>
                  <a:tcPr anchor="ct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施工廠商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監造廠商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設計廠商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機關</a:t>
                      </a:r>
                    </a:p>
                  </a:txBody>
                  <a:tcPr>
                    <a:solidFill>
                      <a:srgbClr val="2981BC"/>
                    </a:solidFill>
                  </a:tcPr>
                </a:tc>
                <a:extLst>
                  <a:ext uri="{0D108BD9-81ED-4DB2-BD59-A6C34878D82A}">
                    <a16:rowId xmlns:a16="http://schemas.microsoft.com/office/drawing/2014/main" val="1278690638"/>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B1.10.2</a:t>
                      </a:r>
                      <a:r>
                        <a:rPr lang="zh-TW" altLang="en-US" dirty="0">
                          <a:effectLst/>
                        </a:rPr>
                        <a:t>建築工程施工時段申請</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682225972"/>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B1.11</a:t>
                      </a:r>
                      <a:r>
                        <a:rPr lang="zh-TW" altLang="en-US" dirty="0">
                          <a:effectLst/>
                        </a:rPr>
                        <a:t>監造計畫</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731805535"/>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B1.12</a:t>
                      </a:r>
                      <a:r>
                        <a:rPr lang="zh-TW" altLang="en-US" dirty="0">
                          <a:effectLst/>
                        </a:rPr>
                        <a:t>安全衛生監督查驗計畫</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1428251780"/>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B1.13</a:t>
                      </a:r>
                      <a:r>
                        <a:rPr lang="zh-TW" altLang="en-US" dirty="0">
                          <a:effectLst/>
                        </a:rPr>
                        <a:t>整體施工計畫</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extLst>
                  <a:ext uri="{0D108BD9-81ED-4DB2-BD59-A6C34878D82A}">
                    <a16:rowId xmlns:a16="http://schemas.microsoft.com/office/drawing/2014/main" val="2302247319"/>
                  </a:ext>
                </a:extLst>
              </a:tr>
            </a:tbl>
          </a:graphicData>
        </a:graphic>
      </p:graphicFrame>
      <p:grpSp>
        <p:nvGrpSpPr>
          <p:cNvPr id="2" name="群組 1"/>
          <p:cNvGrpSpPr/>
          <p:nvPr/>
        </p:nvGrpSpPr>
        <p:grpSpPr>
          <a:xfrm>
            <a:off x="4982054" y="1695927"/>
            <a:ext cx="6171369" cy="512204"/>
            <a:chOff x="4982054" y="1695927"/>
            <a:chExt cx="6171369" cy="512204"/>
          </a:xfrm>
        </p:grpSpPr>
        <p:pic>
          <p:nvPicPr>
            <p:cNvPr id="11" name="圖形 10">
              <a:extLst>
                <a:ext uri="{FF2B5EF4-FFF2-40B4-BE49-F238E27FC236}">
                  <a16:creationId xmlns:a16="http://schemas.microsoft.com/office/drawing/2014/main" id="{1A7FC6C5-ACEE-46F7-AD28-C2D4CD217271}"/>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0669031" y="1717773"/>
              <a:ext cx="484392" cy="490358"/>
            </a:xfrm>
            <a:prstGeom prst="rect">
              <a:avLst/>
            </a:prstGeom>
          </p:spPr>
        </p:pic>
        <p:pic>
          <p:nvPicPr>
            <p:cNvPr id="12" name="圖形 11">
              <a:extLst>
                <a:ext uri="{FF2B5EF4-FFF2-40B4-BE49-F238E27FC236}">
                  <a16:creationId xmlns:a16="http://schemas.microsoft.com/office/drawing/2014/main" id="{DC1865B6-0298-437C-9038-68E2258F9D6C}"/>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6803423" y="1706145"/>
              <a:ext cx="484391" cy="490357"/>
            </a:xfrm>
            <a:prstGeom prst="rect">
              <a:avLst/>
            </a:prstGeom>
          </p:spPr>
        </p:pic>
        <p:pic>
          <p:nvPicPr>
            <p:cNvPr id="13" name="圖形 12">
              <a:extLst>
                <a:ext uri="{FF2B5EF4-FFF2-40B4-BE49-F238E27FC236}">
                  <a16:creationId xmlns:a16="http://schemas.microsoft.com/office/drawing/2014/main" id="{9AF9055B-D126-45ED-8BA2-026DA2822CE4}"/>
                </a:ext>
              </a:extLst>
            </p:cNvPr>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4982054" y="1695927"/>
              <a:ext cx="492000" cy="498060"/>
            </a:xfrm>
            <a:prstGeom prst="rect">
              <a:avLst/>
            </a:prstGeom>
          </p:spPr>
        </p:pic>
        <p:pic>
          <p:nvPicPr>
            <p:cNvPr id="17" name="圖片 16">
              <a:extLst>
                <a:ext uri="{FF2B5EF4-FFF2-40B4-BE49-F238E27FC236}">
                  <a16:creationId xmlns:a16="http://schemas.microsoft.com/office/drawing/2014/main" id="{7EA5CB42-A5B9-450E-AAED-36B211A09EE3}"/>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8736227" y="1717773"/>
              <a:ext cx="484391" cy="490356"/>
            </a:xfrm>
            <a:prstGeom prst="rect">
              <a:avLst/>
            </a:prstGeom>
          </p:spPr>
        </p:pic>
      </p:grpSp>
      <p:sp>
        <p:nvSpPr>
          <p:cNvPr id="15" name="矩形 14">
            <a:extLst>
              <a:ext uri="{FF2B5EF4-FFF2-40B4-BE49-F238E27FC236}">
                <a16:creationId xmlns:a16="http://schemas.microsoft.com/office/drawing/2014/main" id="{193D6FFF-3A91-4157-BF51-22F462B52FF3}"/>
              </a:ext>
            </a:extLst>
          </p:cNvPr>
          <p:cNvSpPr/>
          <p:nvPr/>
        </p:nvSpPr>
        <p:spPr>
          <a:xfrm>
            <a:off x="0" y="989896"/>
            <a:ext cx="12192000" cy="44379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000" b="1" dirty="0">
                <a:solidFill>
                  <a:schemeClr val="tx1"/>
                </a:solidFill>
                <a:cs typeface="+mn-ea"/>
                <a:sym typeface="+mn-lt"/>
              </a:rPr>
              <a:t>根據操作角色進行系統展示，功能模組權責分工表如下：</a:t>
            </a:r>
          </a:p>
        </p:txBody>
      </p:sp>
      <p:sp>
        <p:nvSpPr>
          <p:cNvPr id="14" name="矩形 13">
            <a:extLst>
              <a:ext uri="{FF2B5EF4-FFF2-40B4-BE49-F238E27FC236}">
                <a16:creationId xmlns:a16="http://schemas.microsoft.com/office/drawing/2014/main" id="{BBE3CAA2-B72C-48D2-ADF5-8D2CFB42A651}"/>
              </a:ext>
            </a:extLst>
          </p:cNvPr>
          <p:cNvSpPr/>
          <p:nvPr/>
        </p:nvSpPr>
        <p:spPr>
          <a:xfrm>
            <a:off x="0" y="-1832"/>
            <a:ext cx="9121620" cy="72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600" b="1" dirty="0">
                <a:solidFill>
                  <a:srgbClr val="39759D"/>
                </a:solidFill>
                <a:cs typeface="+mn-ea"/>
                <a:sym typeface="+mn-lt"/>
              </a:rPr>
              <a:t>決標後模組目錄</a:t>
            </a:r>
            <a:endParaRPr lang="zh-TW" altLang="en-US" sz="3600" b="1" dirty="0">
              <a:solidFill>
                <a:srgbClr val="FF0000"/>
              </a:solidFill>
              <a:cs typeface="+mn-ea"/>
              <a:sym typeface="+mn-lt"/>
            </a:endParaRPr>
          </a:p>
        </p:txBody>
      </p:sp>
      <p:cxnSp>
        <p:nvCxnSpPr>
          <p:cNvPr id="20" name="直線接點 19">
            <a:extLst>
              <a:ext uri="{FF2B5EF4-FFF2-40B4-BE49-F238E27FC236}">
                <a16:creationId xmlns:a16="http://schemas.microsoft.com/office/drawing/2014/main" id="{3898D3D1-AD27-47E0-AE37-B4F6EA448127}"/>
              </a:ext>
            </a:extLst>
          </p:cNvPr>
          <p:cNvCxnSpPr>
            <a:cxnSpLocks/>
          </p:cNvCxnSpPr>
          <p:nvPr/>
        </p:nvCxnSpPr>
        <p:spPr>
          <a:xfrm>
            <a:off x="123290" y="727662"/>
            <a:ext cx="3199332"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581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5">
            <a:extLst>
              <a:ext uri="{FF2B5EF4-FFF2-40B4-BE49-F238E27FC236}">
                <a16:creationId xmlns:a16="http://schemas.microsoft.com/office/drawing/2014/main" id="{81049192-BECB-4FE9-A506-BBC8A01AD83D}"/>
              </a:ext>
            </a:extLst>
          </p:cNvPr>
          <p:cNvGraphicFramePr>
            <a:graphicFrameLocks noGrp="1"/>
          </p:cNvGraphicFramePr>
          <p:nvPr>
            <p:extLst>
              <p:ext uri="{D42A27DB-BD31-4B8C-83A1-F6EECF244321}">
                <p14:modId xmlns:p14="http://schemas.microsoft.com/office/powerpoint/2010/main" val="1624164861"/>
              </p:ext>
            </p:extLst>
          </p:nvPr>
        </p:nvGraphicFramePr>
        <p:xfrm>
          <a:off x="339365" y="1958161"/>
          <a:ext cx="11513270" cy="4047366"/>
        </p:xfrm>
        <a:graphic>
          <a:graphicData uri="http://schemas.openxmlformats.org/drawingml/2006/table">
            <a:tbl>
              <a:tblPr firstRow="1" bandRow="1">
                <a:tableStyleId>{F5AB1C69-6EDB-4FF4-983F-18BD219EF322}</a:tableStyleId>
              </a:tblPr>
              <a:tblGrid>
                <a:gridCol w="3886986">
                  <a:extLst>
                    <a:ext uri="{9D8B030D-6E8A-4147-A177-3AD203B41FA5}">
                      <a16:colId xmlns:a16="http://schemas.microsoft.com/office/drawing/2014/main" val="1919288585"/>
                    </a:ext>
                  </a:extLst>
                </a:gridCol>
                <a:gridCol w="1906571">
                  <a:extLst>
                    <a:ext uri="{9D8B030D-6E8A-4147-A177-3AD203B41FA5}">
                      <a16:colId xmlns:a16="http://schemas.microsoft.com/office/drawing/2014/main" val="1539553019"/>
                    </a:ext>
                  </a:extLst>
                </a:gridCol>
                <a:gridCol w="1906571">
                  <a:extLst>
                    <a:ext uri="{9D8B030D-6E8A-4147-A177-3AD203B41FA5}">
                      <a16:colId xmlns:a16="http://schemas.microsoft.com/office/drawing/2014/main" val="4208292318"/>
                    </a:ext>
                  </a:extLst>
                </a:gridCol>
                <a:gridCol w="1906571">
                  <a:extLst>
                    <a:ext uri="{9D8B030D-6E8A-4147-A177-3AD203B41FA5}">
                      <a16:colId xmlns:a16="http://schemas.microsoft.com/office/drawing/2014/main" val="1677821463"/>
                    </a:ext>
                  </a:extLst>
                </a:gridCol>
                <a:gridCol w="1906571">
                  <a:extLst>
                    <a:ext uri="{9D8B030D-6E8A-4147-A177-3AD203B41FA5}">
                      <a16:colId xmlns:a16="http://schemas.microsoft.com/office/drawing/2014/main" val="2859121907"/>
                    </a:ext>
                  </a:extLst>
                </a:gridCol>
              </a:tblGrid>
              <a:tr h="776676">
                <a:tc>
                  <a:txBody>
                    <a:bodyPr/>
                    <a:lstStyle/>
                    <a:p>
                      <a:pPr algn="ctr"/>
                      <a:r>
                        <a:rPr lang="zh-TW" altLang="en-US" sz="2400" dirty="0">
                          <a:latin typeface="+mn-lt"/>
                          <a:ea typeface="+mn-ea"/>
                          <a:cs typeface="+mn-ea"/>
                          <a:sym typeface="+mn-lt"/>
                        </a:rPr>
                        <a:t>功能模組</a:t>
                      </a:r>
                    </a:p>
                  </a:txBody>
                  <a:tcPr anchor="ct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施工廠商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監造廠商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設計廠商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機關</a:t>
                      </a:r>
                    </a:p>
                  </a:txBody>
                  <a:tcPr>
                    <a:solidFill>
                      <a:srgbClr val="2981BC"/>
                    </a:solidFill>
                  </a:tcPr>
                </a:tc>
                <a:extLst>
                  <a:ext uri="{0D108BD9-81ED-4DB2-BD59-A6C34878D82A}">
                    <a16:rowId xmlns:a16="http://schemas.microsoft.com/office/drawing/2014/main" val="1278690638"/>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B1.14</a:t>
                      </a:r>
                      <a:r>
                        <a:rPr lang="zh-TW" altLang="en-US" dirty="0">
                          <a:effectLst/>
                        </a:rPr>
                        <a:t>品質計畫</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682225972"/>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B1.15</a:t>
                      </a:r>
                      <a:r>
                        <a:rPr lang="zh-TW" altLang="en-US" dirty="0">
                          <a:effectLst/>
                        </a:rPr>
                        <a:t>職業安全衛生管理計畫</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731805535"/>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B1.16</a:t>
                      </a:r>
                      <a:r>
                        <a:rPr lang="zh-TW" altLang="en-US" dirty="0">
                          <a:effectLst/>
                        </a:rPr>
                        <a:t>工程保險</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1428251780"/>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B1.17</a:t>
                      </a:r>
                      <a:r>
                        <a:rPr lang="zh-TW" altLang="en-US" dirty="0">
                          <a:effectLst/>
                        </a:rPr>
                        <a:t>向勞檢單位申請丁種工作場所審查</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extLst>
                  <a:ext uri="{0D108BD9-81ED-4DB2-BD59-A6C34878D82A}">
                    <a16:rowId xmlns:a16="http://schemas.microsoft.com/office/drawing/2014/main" val="2302247319"/>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effectLst/>
                        </a:rPr>
                        <a:t>B1.18</a:t>
                      </a:r>
                      <a:r>
                        <a:rPr lang="zh-TW" altLang="en-US" dirty="0">
                          <a:effectLst/>
                        </a:rPr>
                        <a:t>挖掘許可證</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extLst>
                  <a:ext uri="{0D108BD9-81ED-4DB2-BD59-A6C34878D82A}">
                    <a16:rowId xmlns:a16="http://schemas.microsoft.com/office/drawing/2014/main" val="802946474"/>
                  </a:ext>
                </a:extLst>
              </a:tr>
            </a:tbl>
          </a:graphicData>
        </a:graphic>
      </p:graphicFrame>
      <p:grpSp>
        <p:nvGrpSpPr>
          <p:cNvPr id="2" name="群組 1"/>
          <p:cNvGrpSpPr/>
          <p:nvPr/>
        </p:nvGrpSpPr>
        <p:grpSpPr>
          <a:xfrm>
            <a:off x="4982054" y="1695927"/>
            <a:ext cx="6171369" cy="512204"/>
            <a:chOff x="4982054" y="1695927"/>
            <a:chExt cx="6171369" cy="512204"/>
          </a:xfrm>
        </p:grpSpPr>
        <p:pic>
          <p:nvPicPr>
            <p:cNvPr id="11" name="圖形 10">
              <a:extLst>
                <a:ext uri="{FF2B5EF4-FFF2-40B4-BE49-F238E27FC236}">
                  <a16:creationId xmlns:a16="http://schemas.microsoft.com/office/drawing/2014/main" id="{1A7FC6C5-ACEE-46F7-AD28-C2D4CD217271}"/>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0669031" y="1717773"/>
              <a:ext cx="484392" cy="490358"/>
            </a:xfrm>
            <a:prstGeom prst="rect">
              <a:avLst/>
            </a:prstGeom>
          </p:spPr>
        </p:pic>
        <p:pic>
          <p:nvPicPr>
            <p:cNvPr id="12" name="圖形 11">
              <a:extLst>
                <a:ext uri="{FF2B5EF4-FFF2-40B4-BE49-F238E27FC236}">
                  <a16:creationId xmlns:a16="http://schemas.microsoft.com/office/drawing/2014/main" id="{DC1865B6-0298-437C-9038-68E2258F9D6C}"/>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6803423" y="1706145"/>
              <a:ext cx="484391" cy="490357"/>
            </a:xfrm>
            <a:prstGeom prst="rect">
              <a:avLst/>
            </a:prstGeom>
          </p:spPr>
        </p:pic>
        <p:pic>
          <p:nvPicPr>
            <p:cNvPr id="13" name="圖形 12">
              <a:extLst>
                <a:ext uri="{FF2B5EF4-FFF2-40B4-BE49-F238E27FC236}">
                  <a16:creationId xmlns:a16="http://schemas.microsoft.com/office/drawing/2014/main" id="{9AF9055B-D126-45ED-8BA2-026DA2822CE4}"/>
                </a:ext>
              </a:extLst>
            </p:cNvPr>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4982054" y="1695927"/>
              <a:ext cx="492000" cy="498060"/>
            </a:xfrm>
            <a:prstGeom prst="rect">
              <a:avLst/>
            </a:prstGeom>
          </p:spPr>
        </p:pic>
        <p:pic>
          <p:nvPicPr>
            <p:cNvPr id="17" name="圖片 16">
              <a:extLst>
                <a:ext uri="{FF2B5EF4-FFF2-40B4-BE49-F238E27FC236}">
                  <a16:creationId xmlns:a16="http://schemas.microsoft.com/office/drawing/2014/main" id="{7EA5CB42-A5B9-450E-AAED-36B211A09EE3}"/>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8736227" y="1717773"/>
              <a:ext cx="484391" cy="490356"/>
            </a:xfrm>
            <a:prstGeom prst="rect">
              <a:avLst/>
            </a:prstGeom>
          </p:spPr>
        </p:pic>
      </p:grpSp>
      <p:sp>
        <p:nvSpPr>
          <p:cNvPr id="15" name="矩形 14">
            <a:extLst>
              <a:ext uri="{FF2B5EF4-FFF2-40B4-BE49-F238E27FC236}">
                <a16:creationId xmlns:a16="http://schemas.microsoft.com/office/drawing/2014/main" id="{193D6FFF-3A91-4157-BF51-22F462B52FF3}"/>
              </a:ext>
            </a:extLst>
          </p:cNvPr>
          <p:cNvSpPr/>
          <p:nvPr/>
        </p:nvSpPr>
        <p:spPr>
          <a:xfrm>
            <a:off x="0" y="989896"/>
            <a:ext cx="12192000" cy="44379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000" b="1" dirty="0">
                <a:solidFill>
                  <a:schemeClr val="tx1"/>
                </a:solidFill>
                <a:cs typeface="+mn-ea"/>
                <a:sym typeface="+mn-lt"/>
              </a:rPr>
              <a:t>根據操作角色進行系統展示，功能模組權責分工表如下：</a:t>
            </a:r>
          </a:p>
        </p:txBody>
      </p:sp>
      <p:sp>
        <p:nvSpPr>
          <p:cNvPr id="14" name="矩形 13">
            <a:extLst>
              <a:ext uri="{FF2B5EF4-FFF2-40B4-BE49-F238E27FC236}">
                <a16:creationId xmlns:a16="http://schemas.microsoft.com/office/drawing/2014/main" id="{BBE3CAA2-B72C-48D2-ADF5-8D2CFB42A651}"/>
              </a:ext>
            </a:extLst>
          </p:cNvPr>
          <p:cNvSpPr/>
          <p:nvPr/>
        </p:nvSpPr>
        <p:spPr>
          <a:xfrm>
            <a:off x="0" y="-1832"/>
            <a:ext cx="9121620" cy="72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600" b="1" dirty="0">
                <a:solidFill>
                  <a:srgbClr val="39759D"/>
                </a:solidFill>
                <a:cs typeface="+mn-ea"/>
                <a:sym typeface="+mn-lt"/>
              </a:rPr>
              <a:t>決標後模組目錄</a:t>
            </a:r>
            <a:endParaRPr lang="zh-TW" altLang="en-US" sz="3600" b="1" dirty="0">
              <a:solidFill>
                <a:srgbClr val="FF0000"/>
              </a:solidFill>
              <a:cs typeface="+mn-ea"/>
              <a:sym typeface="+mn-lt"/>
            </a:endParaRPr>
          </a:p>
        </p:txBody>
      </p:sp>
      <p:cxnSp>
        <p:nvCxnSpPr>
          <p:cNvPr id="20" name="直線接點 19">
            <a:extLst>
              <a:ext uri="{FF2B5EF4-FFF2-40B4-BE49-F238E27FC236}">
                <a16:creationId xmlns:a16="http://schemas.microsoft.com/office/drawing/2014/main" id="{3898D3D1-AD27-47E0-AE37-B4F6EA448127}"/>
              </a:ext>
            </a:extLst>
          </p:cNvPr>
          <p:cNvCxnSpPr>
            <a:cxnSpLocks/>
          </p:cNvCxnSpPr>
          <p:nvPr/>
        </p:nvCxnSpPr>
        <p:spPr>
          <a:xfrm>
            <a:off x="123290" y="727662"/>
            <a:ext cx="3199332"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1132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4288353" cy="584775"/>
          </a:xfrm>
          <a:prstGeom prst="rect">
            <a:avLst/>
          </a:prstGeom>
        </p:spPr>
        <p:txBody>
          <a:bodyPr wrap="none">
            <a:spAutoFit/>
          </a:bodyPr>
          <a:lstStyle/>
          <a:p>
            <a:pPr lvl="0">
              <a:defRPr/>
            </a:pPr>
            <a:r>
              <a:rPr lang="en-US" altLang="zh-TW" sz="3200" dirty="0"/>
              <a:t>B1.1</a:t>
            </a:r>
            <a:r>
              <a:rPr lang="zh-TW" altLang="en-US" sz="3200" dirty="0"/>
              <a:t>工程司指派通知書</a:t>
            </a:r>
          </a:p>
        </p:txBody>
      </p:sp>
      <p:sp>
        <p:nvSpPr>
          <p:cNvPr id="5" name="矩形 4"/>
          <p:cNvSpPr/>
          <p:nvPr/>
        </p:nvSpPr>
        <p:spPr>
          <a:xfrm>
            <a:off x="612780" y="1706742"/>
            <a:ext cx="10975655" cy="699038"/>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機關應於開工前以工程司指派通知書指定本工程之工程司，並載明其授權範圍。</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機關委託技術服務廠商執行監造作業者，通知施工廠商，變更時亦同。</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2645547"/>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4" name="五邊形 13"/>
          <p:cNvSpPr/>
          <p:nvPr/>
        </p:nvSpPr>
        <p:spPr>
          <a:xfrm>
            <a:off x="1783533" y="264554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3849131"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 </a:t>
            </a:r>
            <a:r>
              <a:rPr lang="zh-TW" altLang="en-US" sz="1200" u="sng" dirty="0"/>
              <a:t>工契</a:t>
            </a:r>
            <a:r>
              <a:rPr lang="en-US" altLang="zh-TW" sz="1200" u="sng" dirty="0"/>
              <a:t>1-(</a:t>
            </a:r>
            <a:r>
              <a:rPr lang="zh-TW" altLang="en-US" sz="1200" u="sng" dirty="0"/>
              <a:t>二</a:t>
            </a:r>
            <a:r>
              <a:rPr lang="en-US" altLang="zh-TW" sz="1200" u="sng" dirty="0"/>
              <a:t>)-3</a:t>
            </a:r>
            <a:r>
              <a:rPr lang="zh-TW" altLang="en-US" sz="1200" u="sng" dirty="0"/>
              <a:t>、</a:t>
            </a:r>
            <a:r>
              <a:rPr lang="en-US" altLang="zh-TW" sz="1200" u="sng" dirty="0"/>
              <a:t>10-(</a:t>
            </a:r>
            <a:r>
              <a:rPr lang="zh-TW" altLang="en-US" sz="1200" u="sng" dirty="0"/>
              <a:t>一</a:t>
            </a:r>
            <a:r>
              <a:rPr lang="en-US" altLang="zh-TW" sz="1200" u="sng" dirty="0"/>
              <a:t>)</a:t>
            </a:r>
            <a:r>
              <a:rPr lang="zh-TW" altLang="en-US" sz="1200" u="sng" dirty="0"/>
              <a:t>、基準</a:t>
            </a:r>
            <a:r>
              <a:rPr lang="en-US" altLang="zh-TW" sz="1200" u="sng" dirty="0"/>
              <a:t>6-1</a:t>
            </a:r>
            <a:r>
              <a:rPr lang="zh-TW" altLang="en-US" sz="1200" u="sng" dirty="0"/>
              <a:t>及表格</a:t>
            </a:r>
            <a:r>
              <a:rPr lang="en-US" altLang="zh-TW" sz="1200" u="sng" dirty="0"/>
              <a:t>1</a:t>
            </a:r>
            <a:r>
              <a:rPr lang="zh-TW" altLang="en-US" sz="1200" u="sng" dirty="0"/>
              <a:t>。</a:t>
            </a:r>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4158006" y="5916406"/>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7" name="文字方塊 16">
            <a:extLst>
              <a:ext uri="{FF2B5EF4-FFF2-40B4-BE49-F238E27FC236}">
                <a16:creationId xmlns:a16="http://schemas.microsoft.com/office/drawing/2014/main" id="{E76F24A1-2324-4936-BF8A-54022B7B4DAB}"/>
              </a:ext>
            </a:extLst>
          </p:cNvPr>
          <p:cNvSpPr txBox="1"/>
          <p:nvPr/>
        </p:nvSpPr>
        <p:spPr>
          <a:xfrm>
            <a:off x="612780" y="3007017"/>
            <a:ext cx="977774"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4"/>
              </a:rPr>
              <a:t>通知書</a:t>
            </a:r>
            <a:endParaRPr lang="zh-TW" altLang="en-US" sz="1400" dirty="0"/>
          </a:p>
        </p:txBody>
      </p:sp>
      <p:sp>
        <p:nvSpPr>
          <p:cNvPr id="21" name="文字方塊 20">
            <a:extLst>
              <a:ext uri="{FF2B5EF4-FFF2-40B4-BE49-F238E27FC236}">
                <a16:creationId xmlns:a16="http://schemas.microsoft.com/office/drawing/2014/main" id="{DF79F468-0B61-4A39-A2E3-05D8D4BCB5D0}"/>
              </a:ext>
            </a:extLst>
          </p:cNvPr>
          <p:cNvSpPr txBox="1"/>
          <p:nvPr/>
        </p:nvSpPr>
        <p:spPr>
          <a:xfrm>
            <a:off x="2017888" y="3007013"/>
            <a:ext cx="1110666"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5"/>
              </a:rPr>
              <a:t>通知書</a:t>
            </a:r>
            <a:r>
              <a:rPr lang="zh-TW" altLang="en-US" sz="1400" dirty="0">
                <a:solidFill>
                  <a:srgbClr val="0070C0"/>
                </a:solidFill>
                <a:latin typeface="新細明體" panose="02020500000000000000" pitchFamily="18" charset="-120"/>
                <a:ea typeface="新細明體" panose="02020500000000000000" pitchFamily="18" charset="-120"/>
                <a:hlinkClick r:id="rId5"/>
              </a:rPr>
              <a:t>實例</a:t>
            </a:r>
            <a:endParaRPr lang="zh-TW" altLang="en-US" sz="1400" dirty="0"/>
          </a:p>
        </p:txBody>
      </p:sp>
    </p:spTree>
    <p:extLst>
      <p:ext uri="{BB962C8B-B14F-4D97-AF65-F5344CB8AC3E}">
        <p14:creationId xmlns:p14="http://schemas.microsoft.com/office/powerpoint/2010/main" val="3979249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新增紀錄</a:t>
            </a:r>
            <a:endParaRPr lang="en-US" altLang="zh-TW" sz="2400" b="1" dirty="0">
              <a:cs typeface="+mn-ea"/>
              <a:sym typeface="+mn-lt"/>
            </a:endParaRP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B1.1</a:t>
            </a:r>
            <a:r>
              <a:rPr lang="zh-TW" altLang="en-US" sz="3200" b="1" dirty="0">
                <a:solidFill>
                  <a:srgbClr val="39759D"/>
                </a:solidFill>
                <a:cs typeface="+mn-ea"/>
                <a:sym typeface="+mn-lt"/>
              </a:rPr>
              <a:t>工程司指派通知書</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246389"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20" name="圖片 19">
            <a:extLst>
              <a:ext uri="{FF2B5EF4-FFF2-40B4-BE49-F238E27FC236}">
                <a16:creationId xmlns:a16="http://schemas.microsoft.com/office/drawing/2014/main" id="{3CAD9EAD-0D10-4D32-AFD9-5E27281A38F4}"/>
              </a:ext>
            </a:extLst>
          </p:cNvPr>
          <p:cNvPicPr>
            <a:picLocks noChangeAspect="1"/>
          </p:cNvPicPr>
          <p:nvPr/>
        </p:nvPicPr>
        <p:blipFill>
          <a:blip r:embed="rId3"/>
          <a:stretch>
            <a:fillRect/>
          </a:stretch>
        </p:blipFill>
        <p:spPr>
          <a:xfrm>
            <a:off x="220697" y="1409616"/>
            <a:ext cx="11750603" cy="4899744"/>
          </a:xfrm>
          <a:prstGeom prst="rect">
            <a:avLst/>
          </a:prstGeom>
        </p:spPr>
      </p:pic>
      <p:sp>
        <p:nvSpPr>
          <p:cNvPr id="21" name="矩形 20">
            <a:extLst>
              <a:ext uri="{FF2B5EF4-FFF2-40B4-BE49-F238E27FC236}">
                <a16:creationId xmlns:a16="http://schemas.microsoft.com/office/drawing/2014/main" id="{2D576C71-72E3-44D6-A94F-B9E99A8EE777}"/>
              </a:ext>
            </a:extLst>
          </p:cNvPr>
          <p:cNvSpPr/>
          <p:nvPr/>
        </p:nvSpPr>
        <p:spPr>
          <a:xfrm>
            <a:off x="10918516" y="1482634"/>
            <a:ext cx="824993" cy="4114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 name="文字方塊 21">
            <a:extLst>
              <a:ext uri="{FF2B5EF4-FFF2-40B4-BE49-F238E27FC236}">
                <a16:creationId xmlns:a16="http://schemas.microsoft.com/office/drawing/2014/main" id="{9B9C949F-0595-4905-8A40-886EB74798C5}"/>
              </a:ext>
            </a:extLst>
          </p:cNvPr>
          <p:cNvSpPr txBox="1"/>
          <p:nvPr/>
        </p:nvSpPr>
        <p:spPr>
          <a:xfrm>
            <a:off x="6828220" y="1503708"/>
            <a:ext cx="2954655"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cs typeface="+mn-ea"/>
                <a:sym typeface="+mn-lt"/>
              </a:rPr>
              <a:t>點擊新增紀錄新增一筆資料</a:t>
            </a:r>
          </a:p>
        </p:txBody>
      </p:sp>
      <p:cxnSp>
        <p:nvCxnSpPr>
          <p:cNvPr id="24" name="直線接點 23">
            <a:extLst>
              <a:ext uri="{FF2B5EF4-FFF2-40B4-BE49-F238E27FC236}">
                <a16:creationId xmlns:a16="http://schemas.microsoft.com/office/drawing/2014/main" id="{D8489FA3-E6A0-40BC-A678-7777FC2B5777}"/>
              </a:ext>
            </a:extLst>
          </p:cNvPr>
          <p:cNvCxnSpPr>
            <a:cxnSpLocks/>
            <a:stCxn id="22" idx="3"/>
            <a:endCxn id="21" idx="1"/>
          </p:cNvCxnSpPr>
          <p:nvPr/>
        </p:nvCxnSpPr>
        <p:spPr>
          <a:xfrm>
            <a:off x="9782875" y="1688374"/>
            <a:ext cx="113564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矩形: 剪去單一角落 12">
            <a:extLst>
              <a:ext uri="{FF2B5EF4-FFF2-40B4-BE49-F238E27FC236}">
                <a16:creationId xmlns:a16="http://schemas.microsoft.com/office/drawing/2014/main" id="{1D9E1DC9-BBA6-4D19-AB14-C6BD634AF384}"/>
              </a:ext>
            </a:extLst>
          </p:cNvPr>
          <p:cNvSpPr/>
          <p:nvPr/>
        </p:nvSpPr>
        <p:spPr>
          <a:xfrm>
            <a:off x="10192829" y="488486"/>
            <a:ext cx="1823344" cy="410649"/>
          </a:xfrm>
          <a:prstGeom prst="snip1Rect">
            <a:avLst>
              <a:gd name="adj" fmla="val 50000"/>
            </a:avLst>
          </a:prstGeom>
          <a:gradFill>
            <a:gsLst>
              <a:gs pos="2000">
                <a:schemeClr val="bg1">
                  <a:lumMod val="85000"/>
                </a:schemeClr>
              </a:gs>
              <a:gs pos="93000">
                <a:schemeClr val="bg2"/>
              </a:gs>
            </a:gsLst>
            <a:lin ang="10800000" scaled="0"/>
          </a:gradFill>
          <a:ln>
            <a:noFill/>
          </a:ln>
          <a:effectLst>
            <a:outerShdw blurRad="127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zh-TW" altLang="en-US" sz="1400" b="1" dirty="0">
                <a:solidFill>
                  <a:schemeClr val="tx1"/>
                </a:solidFill>
                <a:latin typeface="微軟正黑體" panose="020B0604030504040204" pitchFamily="34" charset="-120"/>
                <a:ea typeface="微軟正黑體" panose="020B0604030504040204" pitchFamily="34" charset="-120"/>
                <a:cs typeface="+mn-ea"/>
                <a:sym typeface="+mn-lt"/>
              </a:rPr>
              <a:t>機關（辦理）</a:t>
            </a:r>
          </a:p>
          <a:p>
            <a:pPr algn="ctr"/>
            <a:endParaRPr lang="zh-TW" altLang="en-US" sz="1400" dirty="0"/>
          </a:p>
        </p:txBody>
      </p:sp>
      <p:pic>
        <p:nvPicPr>
          <p:cNvPr id="14" name="圖片 13">
            <a:extLst>
              <a:ext uri="{FF2B5EF4-FFF2-40B4-BE49-F238E27FC236}">
                <a16:creationId xmlns:a16="http://schemas.microsoft.com/office/drawing/2014/main" id="{AE11760C-1441-43D8-BA3B-A96A7FB2417A}"/>
              </a:ext>
            </a:extLst>
          </p:cNvPr>
          <p:cNvPicPr>
            <a:picLocks noChangeAspect="1"/>
          </p:cNvPicPr>
          <p:nvPr/>
        </p:nvPicPr>
        <p:blipFill rotWithShape="1">
          <a:blip r:embed="rId4"/>
          <a:srcRect l="941" t="2765" r="1043" b="2990"/>
          <a:stretch/>
        </p:blipFill>
        <p:spPr>
          <a:xfrm>
            <a:off x="8165303" y="4993789"/>
            <a:ext cx="2753213" cy="875872"/>
          </a:xfrm>
          <a:prstGeom prst="rect">
            <a:avLst/>
          </a:prstGeom>
          <a:ln>
            <a:solidFill>
              <a:schemeClr val="accent1"/>
            </a:solidFill>
          </a:ln>
        </p:spPr>
      </p:pic>
      <p:sp>
        <p:nvSpPr>
          <p:cNvPr id="15" name="文字方塊 14">
            <a:extLst>
              <a:ext uri="{FF2B5EF4-FFF2-40B4-BE49-F238E27FC236}">
                <a16:creationId xmlns:a16="http://schemas.microsoft.com/office/drawing/2014/main" id="{6B4A87EF-D384-4FFD-9E23-3485EFDD9037}"/>
              </a:ext>
            </a:extLst>
          </p:cNvPr>
          <p:cNvSpPr txBox="1"/>
          <p:nvPr/>
        </p:nvSpPr>
        <p:spPr>
          <a:xfrm>
            <a:off x="7570040" y="4573789"/>
            <a:ext cx="4103905"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cs typeface="+mn-ea"/>
                <a:sym typeface="+mn-lt"/>
              </a:rPr>
              <a:t>若為第一次進入則會自動詢問是否新增</a:t>
            </a:r>
            <a:endParaRPr lang="en-US" altLang="zh-TW" b="1" dirty="0">
              <a:cs typeface="+mn-ea"/>
              <a:sym typeface="+mn-lt"/>
            </a:endParaRPr>
          </a:p>
        </p:txBody>
      </p:sp>
      <p:sp>
        <p:nvSpPr>
          <p:cNvPr id="16" name="矩形 15"/>
          <p:cNvSpPr/>
          <p:nvPr/>
        </p:nvSpPr>
        <p:spPr>
          <a:xfrm>
            <a:off x="7438306" y="4421079"/>
            <a:ext cx="4413192" cy="1740024"/>
          </a:xfrm>
          <a:prstGeom prst="rect">
            <a:avLst/>
          </a:prstGeom>
          <a:noFill/>
          <a:ln w="19050" cap="rnd">
            <a:solidFill>
              <a:srgbClr val="FF0000"/>
            </a:solidFill>
            <a:prstDash val="sysDash"/>
            <a:extLst>
              <a:ext uri="{C807C97D-BFC1-408E-A445-0C87EB9F89A2}">
                <ask:lineSketchStyleProps xmlns:ask="http://schemas.microsoft.com/office/drawing/2018/sketchyshapes" xmln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410824911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編輯資料</a:t>
            </a:r>
            <a:endParaRPr lang="en-US" altLang="zh-TW" sz="2400" b="1" dirty="0">
              <a:cs typeface="+mn-ea"/>
              <a:sym typeface="+mn-lt"/>
            </a:endParaRP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B1.1</a:t>
            </a:r>
            <a:r>
              <a:rPr lang="zh-TW" altLang="en-US" sz="3200" b="1" dirty="0">
                <a:solidFill>
                  <a:srgbClr val="39759D"/>
                </a:solidFill>
                <a:cs typeface="+mn-ea"/>
                <a:sym typeface="+mn-lt"/>
              </a:rPr>
              <a:t>工程司指派通知書</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246389"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7" name="圖片 6">
            <a:extLst>
              <a:ext uri="{FF2B5EF4-FFF2-40B4-BE49-F238E27FC236}">
                <a16:creationId xmlns:a16="http://schemas.microsoft.com/office/drawing/2014/main" id="{C4DF0D4A-F5E7-45EF-86A6-C18522CE97A4}"/>
              </a:ext>
            </a:extLst>
          </p:cNvPr>
          <p:cNvPicPr>
            <a:picLocks noChangeAspect="1"/>
          </p:cNvPicPr>
          <p:nvPr/>
        </p:nvPicPr>
        <p:blipFill>
          <a:blip r:embed="rId3"/>
          <a:stretch>
            <a:fillRect/>
          </a:stretch>
        </p:blipFill>
        <p:spPr>
          <a:xfrm>
            <a:off x="145344" y="1470260"/>
            <a:ext cx="7295912" cy="4754878"/>
          </a:xfrm>
          <a:prstGeom prst="rect">
            <a:avLst/>
          </a:prstGeom>
          <a:ln>
            <a:noFill/>
            <a:prstDash val="solid"/>
          </a:ln>
        </p:spPr>
      </p:pic>
      <p:sp>
        <p:nvSpPr>
          <p:cNvPr id="10" name="矩形 9">
            <a:extLst>
              <a:ext uri="{FF2B5EF4-FFF2-40B4-BE49-F238E27FC236}">
                <a16:creationId xmlns:a16="http://schemas.microsoft.com/office/drawing/2014/main" id="{4AE7403F-6337-48E1-9C6F-5A28705E1A3E}"/>
              </a:ext>
            </a:extLst>
          </p:cNvPr>
          <p:cNvSpPr/>
          <p:nvPr/>
        </p:nvSpPr>
        <p:spPr>
          <a:xfrm>
            <a:off x="2201091" y="2299063"/>
            <a:ext cx="5240165" cy="1012371"/>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2" name="直線接點 11">
            <a:extLst>
              <a:ext uri="{FF2B5EF4-FFF2-40B4-BE49-F238E27FC236}">
                <a16:creationId xmlns:a16="http://schemas.microsoft.com/office/drawing/2014/main" id="{6735E528-79F7-453F-95A7-0EAC88665889}"/>
              </a:ext>
            </a:extLst>
          </p:cNvPr>
          <p:cNvCxnSpPr>
            <a:cxnSpLocks/>
            <a:stCxn id="10" idx="3"/>
            <a:endCxn id="13" idx="1"/>
          </p:cNvCxnSpPr>
          <p:nvPr/>
        </p:nvCxnSpPr>
        <p:spPr>
          <a:xfrm flipV="1">
            <a:off x="7441256" y="2805248"/>
            <a:ext cx="1188119" cy="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06FAC2A3-7DEE-48EA-B462-4850C81445A8}"/>
              </a:ext>
            </a:extLst>
          </p:cNvPr>
          <p:cNvSpPr txBox="1"/>
          <p:nvPr/>
        </p:nvSpPr>
        <p:spPr>
          <a:xfrm>
            <a:off x="8629375" y="2620582"/>
            <a:ext cx="2031325"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cs typeface="+mn-ea"/>
                <a:sym typeface="+mn-lt"/>
              </a:rPr>
              <a:t>在此選擇發文設定</a:t>
            </a:r>
          </a:p>
        </p:txBody>
      </p:sp>
      <p:sp>
        <p:nvSpPr>
          <p:cNvPr id="19" name="矩形 18">
            <a:extLst>
              <a:ext uri="{FF2B5EF4-FFF2-40B4-BE49-F238E27FC236}">
                <a16:creationId xmlns:a16="http://schemas.microsoft.com/office/drawing/2014/main" id="{D6B2E66D-EAB9-45FD-91A6-A2D5694D07C3}"/>
              </a:ext>
            </a:extLst>
          </p:cNvPr>
          <p:cNvSpPr/>
          <p:nvPr/>
        </p:nvSpPr>
        <p:spPr>
          <a:xfrm>
            <a:off x="1737360" y="3546567"/>
            <a:ext cx="5240165" cy="2615660"/>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文字方塊 22">
            <a:extLst>
              <a:ext uri="{FF2B5EF4-FFF2-40B4-BE49-F238E27FC236}">
                <a16:creationId xmlns:a16="http://schemas.microsoft.com/office/drawing/2014/main" id="{E475A2D2-80AC-405D-B1E6-1B5F12861AE8}"/>
              </a:ext>
            </a:extLst>
          </p:cNvPr>
          <p:cNvSpPr txBox="1"/>
          <p:nvPr/>
        </p:nvSpPr>
        <p:spPr>
          <a:xfrm>
            <a:off x="7720147" y="4669731"/>
            <a:ext cx="3546567" cy="369332"/>
          </a:xfrm>
          <a:prstGeom prst="rect">
            <a:avLst/>
          </a:prstGeom>
          <a:solidFill>
            <a:schemeClr val="accent4">
              <a:lumMod val="40000"/>
              <a:lumOff val="60000"/>
            </a:schemeClr>
          </a:solidFill>
          <a:ln>
            <a:solidFill>
              <a:srgbClr val="FF0000"/>
            </a:solidFill>
          </a:ln>
        </p:spPr>
        <p:txBody>
          <a:bodyPr wrap="square" rtlCol="0">
            <a:spAutoFit/>
          </a:bodyPr>
          <a:lstStyle/>
          <a:p>
            <a:pPr algn="l"/>
            <a:r>
              <a:rPr lang="zh-TW" altLang="en-US" b="1" dirty="0">
                <a:cs typeface="+mn-ea"/>
                <a:sym typeface="+mn-lt"/>
              </a:rPr>
              <a:t>系統會自動將</a:t>
            </a:r>
            <a:r>
              <a:rPr lang="en-US" altLang="zh-TW" b="1" dirty="0">
                <a:cs typeface="+mn-ea"/>
                <a:sym typeface="+mn-lt"/>
              </a:rPr>
              <a:t>A5.6</a:t>
            </a:r>
            <a:r>
              <a:rPr lang="zh-TW" altLang="en-US" b="1" dirty="0">
                <a:cs typeface="+mn-ea"/>
                <a:sym typeface="+mn-lt"/>
              </a:rPr>
              <a:t>設定資料帶入</a:t>
            </a:r>
          </a:p>
        </p:txBody>
      </p:sp>
      <p:cxnSp>
        <p:nvCxnSpPr>
          <p:cNvPr id="27" name="直線接點 26">
            <a:extLst>
              <a:ext uri="{FF2B5EF4-FFF2-40B4-BE49-F238E27FC236}">
                <a16:creationId xmlns:a16="http://schemas.microsoft.com/office/drawing/2014/main" id="{63FB9BE4-B0AB-4495-8A26-4F8051D70AC7}"/>
              </a:ext>
            </a:extLst>
          </p:cNvPr>
          <p:cNvCxnSpPr>
            <a:cxnSpLocks/>
            <a:stCxn id="19" idx="3"/>
            <a:endCxn id="23" idx="1"/>
          </p:cNvCxnSpPr>
          <p:nvPr/>
        </p:nvCxnSpPr>
        <p:spPr>
          <a:xfrm>
            <a:off x="6977525" y="4854397"/>
            <a:ext cx="74262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矩形: 剪去單一角落 14">
            <a:extLst>
              <a:ext uri="{FF2B5EF4-FFF2-40B4-BE49-F238E27FC236}">
                <a16:creationId xmlns:a16="http://schemas.microsoft.com/office/drawing/2014/main" id="{281D1376-DDEA-4D6A-A6DD-41F8D42F4954}"/>
              </a:ext>
            </a:extLst>
          </p:cNvPr>
          <p:cNvSpPr/>
          <p:nvPr/>
        </p:nvSpPr>
        <p:spPr>
          <a:xfrm>
            <a:off x="10192829" y="488486"/>
            <a:ext cx="1823344" cy="410649"/>
          </a:xfrm>
          <a:prstGeom prst="snip1Rect">
            <a:avLst>
              <a:gd name="adj" fmla="val 50000"/>
            </a:avLst>
          </a:prstGeom>
          <a:gradFill>
            <a:gsLst>
              <a:gs pos="2000">
                <a:schemeClr val="bg1">
                  <a:lumMod val="85000"/>
                </a:schemeClr>
              </a:gs>
              <a:gs pos="93000">
                <a:schemeClr val="bg2"/>
              </a:gs>
            </a:gsLst>
            <a:lin ang="10800000" scaled="0"/>
          </a:gradFill>
          <a:ln>
            <a:noFill/>
          </a:ln>
          <a:effectLst>
            <a:outerShdw blurRad="127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zh-TW" altLang="en-US" sz="1400" b="1" dirty="0">
                <a:solidFill>
                  <a:schemeClr val="tx1"/>
                </a:solidFill>
                <a:latin typeface="微軟正黑體" panose="020B0604030504040204" pitchFamily="34" charset="-120"/>
                <a:ea typeface="微軟正黑體" panose="020B0604030504040204" pitchFamily="34" charset="-120"/>
                <a:cs typeface="+mn-ea"/>
                <a:sym typeface="+mn-lt"/>
              </a:rPr>
              <a:t>機關（辦理）</a:t>
            </a:r>
          </a:p>
          <a:p>
            <a:pPr algn="ctr"/>
            <a:endParaRPr lang="zh-TW" altLang="en-US" sz="1400" dirty="0"/>
          </a:p>
        </p:txBody>
      </p:sp>
    </p:spTree>
    <p:extLst>
      <p:ext uri="{BB962C8B-B14F-4D97-AF65-F5344CB8AC3E}">
        <p14:creationId xmlns:p14="http://schemas.microsoft.com/office/powerpoint/2010/main" val="5780953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D665"/>
        </a:solidFill>
        <a:effectLst/>
      </p:bgPr>
    </p:bg>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上傳相關文件後完成編輯</a:t>
            </a:r>
            <a:endParaRPr lang="en-US" altLang="zh-TW" sz="2400" b="1" dirty="0">
              <a:cs typeface="+mn-ea"/>
              <a:sym typeface="+mn-lt"/>
            </a:endParaRP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B1.1</a:t>
            </a:r>
            <a:r>
              <a:rPr lang="zh-TW" altLang="en-US" sz="3200" b="1" dirty="0">
                <a:solidFill>
                  <a:srgbClr val="39759D"/>
                </a:solidFill>
                <a:cs typeface="+mn-ea"/>
                <a:sym typeface="+mn-lt"/>
              </a:rPr>
              <a:t>工程司指派通知書</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246389"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8" name="圖片 7">
            <a:extLst>
              <a:ext uri="{FF2B5EF4-FFF2-40B4-BE49-F238E27FC236}">
                <a16:creationId xmlns:a16="http://schemas.microsoft.com/office/drawing/2014/main" id="{5705F623-2AAB-49ED-9F66-A379D7E6644F}"/>
              </a:ext>
            </a:extLst>
          </p:cNvPr>
          <p:cNvPicPr>
            <a:picLocks noChangeAspect="1"/>
          </p:cNvPicPr>
          <p:nvPr/>
        </p:nvPicPr>
        <p:blipFill>
          <a:blip r:embed="rId3"/>
          <a:stretch>
            <a:fillRect/>
          </a:stretch>
        </p:blipFill>
        <p:spPr>
          <a:xfrm>
            <a:off x="136199" y="1498497"/>
            <a:ext cx="10736577" cy="2629366"/>
          </a:xfrm>
          <a:prstGeom prst="rect">
            <a:avLst/>
          </a:prstGeom>
        </p:spPr>
      </p:pic>
      <p:sp>
        <p:nvSpPr>
          <p:cNvPr id="9" name="矩形 8">
            <a:extLst>
              <a:ext uri="{FF2B5EF4-FFF2-40B4-BE49-F238E27FC236}">
                <a16:creationId xmlns:a16="http://schemas.microsoft.com/office/drawing/2014/main" id="{EEB61778-2162-472A-B68C-20A5A2DEAE6B}"/>
              </a:ext>
            </a:extLst>
          </p:cNvPr>
          <p:cNvSpPr/>
          <p:nvPr/>
        </p:nvSpPr>
        <p:spPr>
          <a:xfrm>
            <a:off x="7831183" y="2220686"/>
            <a:ext cx="868680" cy="34616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文字方塊 10">
            <a:extLst>
              <a:ext uri="{FF2B5EF4-FFF2-40B4-BE49-F238E27FC236}">
                <a16:creationId xmlns:a16="http://schemas.microsoft.com/office/drawing/2014/main" id="{2E8A4C41-FF8F-426C-BAA9-ECF7D94E7B6D}"/>
              </a:ext>
            </a:extLst>
          </p:cNvPr>
          <p:cNvSpPr txBox="1"/>
          <p:nvPr/>
        </p:nvSpPr>
        <p:spPr>
          <a:xfrm>
            <a:off x="9104811" y="2220686"/>
            <a:ext cx="2031325"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cs typeface="+mn-ea"/>
                <a:sym typeface="+mn-lt"/>
              </a:rPr>
              <a:t>點擊按鈕上傳文件</a:t>
            </a:r>
          </a:p>
        </p:txBody>
      </p:sp>
      <p:sp>
        <p:nvSpPr>
          <p:cNvPr id="14" name="文字方塊 13">
            <a:extLst>
              <a:ext uri="{FF2B5EF4-FFF2-40B4-BE49-F238E27FC236}">
                <a16:creationId xmlns:a16="http://schemas.microsoft.com/office/drawing/2014/main" id="{BCBD9434-4EFA-411F-8490-BCBD72FBF4D0}"/>
              </a:ext>
            </a:extLst>
          </p:cNvPr>
          <p:cNvSpPr txBox="1"/>
          <p:nvPr/>
        </p:nvSpPr>
        <p:spPr>
          <a:xfrm>
            <a:off x="3484878" y="4561254"/>
            <a:ext cx="3877985"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cs typeface="+mn-ea"/>
                <a:sym typeface="+mn-lt"/>
              </a:rPr>
              <a:t>全數編輯完後點擊完成按鍵結束編輯</a:t>
            </a:r>
          </a:p>
        </p:txBody>
      </p:sp>
      <p:cxnSp>
        <p:nvCxnSpPr>
          <p:cNvPr id="16" name="直線接點 15">
            <a:extLst>
              <a:ext uri="{FF2B5EF4-FFF2-40B4-BE49-F238E27FC236}">
                <a16:creationId xmlns:a16="http://schemas.microsoft.com/office/drawing/2014/main" id="{544F8A5E-39C1-41BA-A7CA-F91C87294E4E}"/>
              </a:ext>
            </a:extLst>
          </p:cNvPr>
          <p:cNvCxnSpPr>
            <a:endCxn id="9" idx="3"/>
          </p:cNvCxnSpPr>
          <p:nvPr/>
        </p:nvCxnSpPr>
        <p:spPr>
          <a:xfrm flipH="1">
            <a:off x="8699863" y="2393768"/>
            <a:ext cx="404948" cy="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EA6A5BF1-455B-4E2B-81F2-677CD64AEC9E}"/>
              </a:ext>
            </a:extLst>
          </p:cNvPr>
          <p:cNvSpPr/>
          <p:nvPr/>
        </p:nvSpPr>
        <p:spPr>
          <a:xfrm>
            <a:off x="136199" y="3677194"/>
            <a:ext cx="10575344" cy="36933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0" name="直線接點 19">
            <a:extLst>
              <a:ext uri="{FF2B5EF4-FFF2-40B4-BE49-F238E27FC236}">
                <a16:creationId xmlns:a16="http://schemas.microsoft.com/office/drawing/2014/main" id="{BA638105-53B8-43A2-858E-9CC4C35A37FF}"/>
              </a:ext>
            </a:extLst>
          </p:cNvPr>
          <p:cNvCxnSpPr>
            <a:cxnSpLocks/>
            <a:stCxn id="17" idx="2"/>
            <a:endCxn id="14" idx="0"/>
          </p:cNvCxnSpPr>
          <p:nvPr/>
        </p:nvCxnSpPr>
        <p:spPr>
          <a:xfrm>
            <a:off x="5423871" y="4046524"/>
            <a:ext cx="0" cy="5147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矩形: 剪去單一角落 12">
            <a:extLst>
              <a:ext uri="{FF2B5EF4-FFF2-40B4-BE49-F238E27FC236}">
                <a16:creationId xmlns:a16="http://schemas.microsoft.com/office/drawing/2014/main" id="{07DA47B4-CE51-4121-BD64-42E925A410A8}"/>
              </a:ext>
            </a:extLst>
          </p:cNvPr>
          <p:cNvSpPr/>
          <p:nvPr/>
        </p:nvSpPr>
        <p:spPr>
          <a:xfrm>
            <a:off x="10198274" y="488486"/>
            <a:ext cx="1823344" cy="410649"/>
          </a:xfrm>
          <a:prstGeom prst="snip1Rect">
            <a:avLst>
              <a:gd name="adj" fmla="val 50000"/>
            </a:avLst>
          </a:prstGeom>
          <a:gradFill>
            <a:gsLst>
              <a:gs pos="2000">
                <a:schemeClr val="bg1">
                  <a:lumMod val="85000"/>
                </a:schemeClr>
              </a:gs>
              <a:gs pos="93000">
                <a:schemeClr val="bg2"/>
              </a:gs>
            </a:gsLst>
            <a:lin ang="10800000" scaled="0"/>
          </a:gradFill>
          <a:ln>
            <a:noFill/>
          </a:ln>
          <a:effectLst>
            <a:outerShdw blurRad="127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zh-TW" altLang="en-US" sz="1400" b="1" dirty="0">
                <a:solidFill>
                  <a:schemeClr val="tx1"/>
                </a:solidFill>
                <a:latin typeface="微軟正黑體" panose="020B0604030504040204" pitchFamily="34" charset="-120"/>
                <a:ea typeface="微軟正黑體" panose="020B0604030504040204" pitchFamily="34" charset="-120"/>
                <a:cs typeface="+mn-ea"/>
                <a:sym typeface="+mn-lt"/>
              </a:rPr>
              <a:t>機關（辦理）</a:t>
            </a:r>
          </a:p>
          <a:p>
            <a:pPr algn="ctr"/>
            <a:endParaRPr lang="zh-TW" altLang="en-US" sz="1400" dirty="0"/>
          </a:p>
        </p:txBody>
      </p:sp>
    </p:spTree>
    <p:extLst>
      <p:ext uri="{BB962C8B-B14F-4D97-AF65-F5344CB8AC3E}">
        <p14:creationId xmlns:p14="http://schemas.microsoft.com/office/powerpoint/2010/main" val="24404219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3057247" cy="584775"/>
          </a:xfrm>
          <a:prstGeom prst="rect">
            <a:avLst/>
          </a:prstGeom>
        </p:spPr>
        <p:txBody>
          <a:bodyPr wrap="none">
            <a:spAutoFit/>
          </a:bodyPr>
          <a:lstStyle/>
          <a:p>
            <a:pPr lvl="0">
              <a:defRPr/>
            </a:pPr>
            <a:r>
              <a:rPr lang="en-US" altLang="zh-TW" sz="3200" dirty="0"/>
              <a:t>B1.2</a:t>
            </a:r>
            <a:r>
              <a:rPr lang="zh-TW" altLang="en-US" sz="3200" dirty="0"/>
              <a:t>開工通知書</a:t>
            </a:r>
          </a:p>
        </p:txBody>
      </p:sp>
      <p:sp>
        <p:nvSpPr>
          <p:cNvPr id="5" name="矩形 4"/>
          <p:cNvSpPr/>
          <p:nvPr/>
        </p:nvSpPr>
        <p:spPr>
          <a:xfrm>
            <a:off x="612780" y="1706742"/>
            <a:ext cx="10975655" cy="699038"/>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機關應於開工前以開工通知書通知施工廠商開工日期，並註明應即提送後續相關文件。</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監造廠商應督促施工廠商如期開工。</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3075057"/>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3" name="五邊形 12"/>
          <p:cNvSpPr/>
          <p:nvPr/>
        </p:nvSpPr>
        <p:spPr>
          <a:xfrm>
            <a:off x="2848576" y="3075056"/>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14" name="五邊形 13"/>
          <p:cNvSpPr/>
          <p:nvPr/>
        </p:nvSpPr>
        <p:spPr>
          <a:xfrm>
            <a:off x="8484188" y="307505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3632726"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工契</a:t>
            </a:r>
            <a:r>
              <a:rPr lang="en-US" altLang="zh-TW" sz="1200" u="sng" dirty="0">
                <a:solidFill>
                  <a:srgbClr val="000000"/>
                </a:solidFill>
                <a:latin typeface="微軟正黑體" panose="020B0604030504040204" pitchFamily="34" charset="-120"/>
                <a:ea typeface="微軟正黑體" panose="020B0604030504040204" pitchFamily="34" charset="-120"/>
              </a:rPr>
              <a:t>7-(</a:t>
            </a:r>
            <a:r>
              <a:rPr lang="zh-TW" altLang="en-US" sz="1200" u="sng" dirty="0">
                <a:solidFill>
                  <a:srgbClr val="000000"/>
                </a:solidFill>
                <a:latin typeface="微軟正黑體" panose="020B0604030504040204" pitchFamily="34" charset="-120"/>
                <a:ea typeface="微軟正黑體" panose="020B0604030504040204" pitchFamily="34" charset="-120"/>
              </a:rPr>
              <a:t>一</a:t>
            </a:r>
            <a:r>
              <a:rPr lang="en-US" altLang="zh-TW" sz="1200" u="sng" dirty="0">
                <a:solidFill>
                  <a:srgbClr val="000000"/>
                </a:solidFill>
                <a:latin typeface="微軟正黑體" panose="020B0604030504040204" pitchFamily="34" charset="-120"/>
                <a:ea typeface="微軟正黑體" panose="020B0604030504040204" pitchFamily="34" charset="-120"/>
              </a:rPr>
              <a:t>)-1</a:t>
            </a:r>
            <a:r>
              <a:rPr lang="zh-TW" altLang="en-US" sz="1200" u="sng" dirty="0">
                <a:solidFill>
                  <a:srgbClr val="000000"/>
                </a:solidFill>
                <a:latin typeface="微軟正黑體" panose="020B0604030504040204" pitchFamily="34" charset="-120"/>
                <a:ea typeface="微軟正黑體" panose="020B0604030504040204" pitchFamily="34" charset="-120"/>
              </a:rPr>
              <a:t>、基準</a:t>
            </a:r>
            <a:r>
              <a:rPr lang="en-US" altLang="zh-TW" sz="1200" u="sng" dirty="0">
                <a:solidFill>
                  <a:srgbClr val="000000"/>
                </a:solidFill>
                <a:latin typeface="微軟正黑體" panose="020B0604030504040204" pitchFamily="34" charset="-120"/>
                <a:ea typeface="微軟正黑體" panose="020B0604030504040204" pitchFamily="34" charset="-120"/>
              </a:rPr>
              <a:t>7-1-(</a:t>
            </a:r>
            <a:r>
              <a:rPr lang="zh-TW" altLang="en-US" sz="1200" u="sng" dirty="0">
                <a:solidFill>
                  <a:srgbClr val="000000"/>
                </a:solidFill>
                <a:latin typeface="微軟正黑體" panose="020B0604030504040204" pitchFamily="34" charset="-120"/>
                <a:ea typeface="微軟正黑體" panose="020B0604030504040204" pitchFamily="34" charset="-120"/>
              </a:rPr>
              <a:t>三</a:t>
            </a:r>
            <a:r>
              <a:rPr lang="en-US" altLang="zh-TW" sz="1200" u="sng" dirty="0">
                <a:solidFill>
                  <a:srgbClr val="000000"/>
                </a:solidFill>
                <a:latin typeface="微軟正黑體" panose="020B0604030504040204" pitchFamily="34" charset="-120"/>
                <a:ea typeface="微軟正黑體" panose="020B0604030504040204" pitchFamily="34" charset="-120"/>
              </a:rPr>
              <a:t>)-1</a:t>
            </a:r>
            <a:r>
              <a:rPr lang="zh-TW" altLang="en-US" sz="1200" u="sng" dirty="0">
                <a:solidFill>
                  <a:srgbClr val="000000"/>
                </a:solidFill>
                <a:latin typeface="微軟正黑體" panose="020B0604030504040204" pitchFamily="34" charset="-120"/>
                <a:ea typeface="微軟正黑體" panose="020B0604030504040204" pitchFamily="34" charset="-120"/>
              </a:rPr>
              <a:t>及表格</a:t>
            </a:r>
            <a:r>
              <a:rPr lang="en-US" altLang="zh-TW" sz="1200" u="sng" dirty="0">
                <a:solidFill>
                  <a:srgbClr val="000000"/>
                </a:solidFill>
                <a:latin typeface="微軟正黑體" panose="020B0604030504040204" pitchFamily="34" charset="-120"/>
                <a:ea typeface="微軟正黑體" panose="020B0604030504040204" pitchFamily="34" charset="-120"/>
              </a:rPr>
              <a:t>2</a:t>
            </a:r>
            <a:r>
              <a:rPr lang="zh-TW" altLang="en-US" sz="1200" u="sng" dirty="0">
                <a:solidFill>
                  <a:srgbClr val="000000"/>
                </a:solidFill>
                <a:latin typeface="微軟正黑體" panose="020B0604030504040204" pitchFamily="34" charset="-120"/>
                <a:ea typeface="微軟正黑體" panose="020B0604030504040204" pitchFamily="34" charset="-120"/>
              </a:rPr>
              <a:t>。</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4014739" y="5916407"/>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AD5559B0-64AE-40EA-9261-60BB4B35EBAF}"/>
              </a:ext>
            </a:extLst>
          </p:cNvPr>
          <p:cNvSpPr txBox="1"/>
          <p:nvPr/>
        </p:nvSpPr>
        <p:spPr>
          <a:xfrm>
            <a:off x="612780" y="3381424"/>
            <a:ext cx="1031966"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4"/>
              </a:rPr>
              <a:t>通知書</a:t>
            </a:r>
            <a:endParaRPr lang="zh-TW" altLang="en-US" sz="1400" dirty="0"/>
          </a:p>
        </p:txBody>
      </p:sp>
      <p:sp>
        <p:nvSpPr>
          <p:cNvPr id="16" name="文字方塊 15">
            <a:extLst>
              <a:ext uri="{FF2B5EF4-FFF2-40B4-BE49-F238E27FC236}">
                <a16:creationId xmlns:a16="http://schemas.microsoft.com/office/drawing/2014/main" id="{F5C95C53-847B-43B8-A2BC-DA9B8D014B19}"/>
              </a:ext>
            </a:extLst>
          </p:cNvPr>
          <p:cNvSpPr txBox="1"/>
          <p:nvPr/>
        </p:nvSpPr>
        <p:spPr>
          <a:xfrm>
            <a:off x="2880361" y="3476576"/>
            <a:ext cx="1802674" cy="307777"/>
          </a:xfrm>
          <a:prstGeom prst="rect">
            <a:avLst/>
          </a:prstGeom>
          <a:noFill/>
        </p:spPr>
        <p:txBody>
          <a:bodyPr wrap="square">
            <a:spAutoFit/>
          </a:bodyPr>
          <a:lstStyle/>
          <a:p>
            <a:r>
              <a:rPr lang="zh-TW" altLang="en-US" sz="1400" b="0" i="0" u="none" strike="noStrike" dirty="0">
                <a:solidFill>
                  <a:srgbClr val="FF0000"/>
                </a:solidFill>
                <a:effectLst/>
                <a:latin typeface="新細明體" panose="02020500000000000000" pitchFamily="18" charset="-120"/>
                <a:ea typeface="新細明體" panose="02020500000000000000" pitchFamily="18" charset="-120"/>
                <a:hlinkClick r:id="rId5"/>
              </a:rPr>
              <a:t>檢查表</a:t>
            </a:r>
            <a:endParaRPr lang="zh-TW" altLang="en-US" sz="1400" dirty="0"/>
          </a:p>
        </p:txBody>
      </p:sp>
      <p:sp>
        <p:nvSpPr>
          <p:cNvPr id="19" name="文字方塊 18">
            <a:extLst>
              <a:ext uri="{FF2B5EF4-FFF2-40B4-BE49-F238E27FC236}">
                <a16:creationId xmlns:a16="http://schemas.microsoft.com/office/drawing/2014/main" id="{3983601E-61A1-40F3-A6AE-1994B3FB97D0}"/>
              </a:ext>
            </a:extLst>
          </p:cNvPr>
          <p:cNvSpPr txBox="1"/>
          <p:nvPr/>
        </p:nvSpPr>
        <p:spPr>
          <a:xfrm>
            <a:off x="2880361" y="3748630"/>
            <a:ext cx="1802674"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6"/>
              </a:rPr>
              <a:t>開工報告表</a:t>
            </a:r>
            <a:endParaRPr lang="zh-TW" altLang="en-US" sz="1400" dirty="0"/>
          </a:p>
        </p:txBody>
      </p:sp>
      <p:sp>
        <p:nvSpPr>
          <p:cNvPr id="21" name="文字方塊 20">
            <a:extLst>
              <a:ext uri="{FF2B5EF4-FFF2-40B4-BE49-F238E27FC236}">
                <a16:creationId xmlns:a16="http://schemas.microsoft.com/office/drawing/2014/main" id="{5C20E520-B397-48B4-8255-42CB868BDDFE}"/>
              </a:ext>
            </a:extLst>
          </p:cNvPr>
          <p:cNvSpPr txBox="1"/>
          <p:nvPr/>
        </p:nvSpPr>
        <p:spPr>
          <a:xfrm>
            <a:off x="2880361" y="4050701"/>
            <a:ext cx="1802674" cy="307777"/>
          </a:xfrm>
          <a:prstGeom prst="rect">
            <a:avLst/>
          </a:prstGeom>
          <a:noFill/>
        </p:spPr>
        <p:txBody>
          <a:bodyPr wrap="square">
            <a:spAutoFit/>
          </a:bodyPr>
          <a:lstStyle/>
          <a:p>
            <a:r>
              <a:rPr lang="zh-TW" altLang="en-US" sz="1400" b="0" i="0" u="none" strike="noStrike" dirty="0">
                <a:solidFill>
                  <a:srgbClr val="FF0000"/>
                </a:solidFill>
                <a:effectLst/>
                <a:latin typeface="新細明體" panose="02020500000000000000" pitchFamily="18" charset="-120"/>
                <a:ea typeface="新細明體" panose="02020500000000000000" pitchFamily="18" charset="-120"/>
                <a:hlinkClick r:id="rId7"/>
              </a:rPr>
              <a:t>開工查報表</a:t>
            </a:r>
            <a:endParaRPr lang="zh-TW" altLang="en-US" sz="1400" dirty="0"/>
          </a:p>
        </p:txBody>
      </p:sp>
      <p:sp>
        <p:nvSpPr>
          <p:cNvPr id="23" name="文字方塊 22">
            <a:extLst>
              <a:ext uri="{FF2B5EF4-FFF2-40B4-BE49-F238E27FC236}">
                <a16:creationId xmlns:a16="http://schemas.microsoft.com/office/drawing/2014/main" id="{876B0016-F75C-47CE-9C07-89B580B2ABC4}"/>
              </a:ext>
            </a:extLst>
          </p:cNvPr>
          <p:cNvSpPr txBox="1"/>
          <p:nvPr/>
        </p:nvSpPr>
        <p:spPr>
          <a:xfrm>
            <a:off x="2880361" y="4322755"/>
            <a:ext cx="1802674"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8"/>
              </a:rPr>
              <a:t>工地負責人授權書</a:t>
            </a:r>
            <a:endParaRPr lang="zh-TW" altLang="en-US" sz="1400" dirty="0"/>
          </a:p>
        </p:txBody>
      </p:sp>
      <p:sp>
        <p:nvSpPr>
          <p:cNvPr id="25" name="文字方塊 24">
            <a:extLst>
              <a:ext uri="{FF2B5EF4-FFF2-40B4-BE49-F238E27FC236}">
                <a16:creationId xmlns:a16="http://schemas.microsoft.com/office/drawing/2014/main" id="{D3C76222-4D4A-4699-AE8D-5376492CB07B}"/>
              </a:ext>
            </a:extLst>
          </p:cNvPr>
          <p:cNvSpPr txBox="1"/>
          <p:nvPr/>
        </p:nvSpPr>
        <p:spPr>
          <a:xfrm>
            <a:off x="2880361" y="4624826"/>
            <a:ext cx="1802674" cy="307777"/>
          </a:xfrm>
          <a:prstGeom prst="rect">
            <a:avLst/>
          </a:prstGeom>
          <a:noFill/>
        </p:spPr>
        <p:txBody>
          <a:bodyPr wrap="square">
            <a:spAutoFit/>
          </a:bodyPr>
          <a:lstStyle/>
          <a:p>
            <a:r>
              <a:rPr lang="zh-TW" altLang="en-US" sz="1400" b="0" i="0" u="none" strike="noStrike" dirty="0">
                <a:solidFill>
                  <a:srgbClr val="FF0000"/>
                </a:solidFill>
                <a:effectLst/>
                <a:latin typeface="新細明體" panose="02020500000000000000" pitchFamily="18" charset="-120"/>
                <a:ea typeface="新細明體" panose="02020500000000000000" pitchFamily="18" charset="-120"/>
                <a:hlinkClick r:id="rId9"/>
              </a:rPr>
              <a:t>安衛人員設置報備書</a:t>
            </a:r>
            <a:endParaRPr lang="zh-TW" altLang="en-US" sz="1400" dirty="0"/>
          </a:p>
        </p:txBody>
      </p:sp>
      <p:sp>
        <p:nvSpPr>
          <p:cNvPr id="27" name="文字方塊 26">
            <a:extLst>
              <a:ext uri="{FF2B5EF4-FFF2-40B4-BE49-F238E27FC236}">
                <a16:creationId xmlns:a16="http://schemas.microsoft.com/office/drawing/2014/main" id="{2795DC1A-6038-4457-ACC3-562788E32C5B}"/>
              </a:ext>
            </a:extLst>
          </p:cNvPr>
          <p:cNvSpPr txBox="1"/>
          <p:nvPr/>
        </p:nvSpPr>
        <p:spPr>
          <a:xfrm>
            <a:off x="2880361" y="4891174"/>
            <a:ext cx="1802674"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10"/>
              </a:rPr>
              <a:t>品管人員授權書</a:t>
            </a:r>
            <a:endParaRPr lang="zh-TW" altLang="en-US" sz="1400" dirty="0"/>
          </a:p>
        </p:txBody>
      </p:sp>
      <p:sp>
        <p:nvSpPr>
          <p:cNvPr id="29" name="文字方塊 28">
            <a:extLst>
              <a:ext uri="{FF2B5EF4-FFF2-40B4-BE49-F238E27FC236}">
                <a16:creationId xmlns:a16="http://schemas.microsoft.com/office/drawing/2014/main" id="{F86BD9A6-7E5A-40C5-9F39-C9283EA8AD6D}"/>
              </a:ext>
            </a:extLst>
          </p:cNvPr>
          <p:cNvSpPr txBox="1"/>
          <p:nvPr/>
        </p:nvSpPr>
        <p:spPr>
          <a:xfrm>
            <a:off x="4683031" y="3478252"/>
            <a:ext cx="3350623"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11"/>
              </a:rPr>
              <a:t>專任工程人員通知書</a:t>
            </a:r>
            <a:endParaRPr lang="zh-TW" altLang="en-US" sz="1400" dirty="0"/>
          </a:p>
        </p:txBody>
      </p:sp>
      <p:sp>
        <p:nvSpPr>
          <p:cNvPr id="31" name="文字方塊 30">
            <a:extLst>
              <a:ext uri="{FF2B5EF4-FFF2-40B4-BE49-F238E27FC236}">
                <a16:creationId xmlns:a16="http://schemas.microsoft.com/office/drawing/2014/main" id="{A5FCB73E-7C32-4235-A62F-B648F195D419}"/>
              </a:ext>
            </a:extLst>
          </p:cNvPr>
          <p:cNvSpPr txBox="1"/>
          <p:nvPr/>
        </p:nvSpPr>
        <p:spPr>
          <a:xfrm>
            <a:off x="4683032" y="3748630"/>
            <a:ext cx="3350623"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12"/>
              </a:rPr>
              <a:t>切結書</a:t>
            </a:r>
            <a:endParaRPr lang="zh-TW" altLang="en-US" sz="1400" dirty="0"/>
          </a:p>
        </p:txBody>
      </p:sp>
      <p:sp>
        <p:nvSpPr>
          <p:cNvPr id="33" name="文字方塊 32">
            <a:extLst>
              <a:ext uri="{FF2B5EF4-FFF2-40B4-BE49-F238E27FC236}">
                <a16:creationId xmlns:a16="http://schemas.microsoft.com/office/drawing/2014/main" id="{72CCA1AE-9D20-4284-9C21-63AAA7252FAB}"/>
              </a:ext>
            </a:extLst>
          </p:cNvPr>
          <p:cNvSpPr txBox="1"/>
          <p:nvPr/>
        </p:nvSpPr>
        <p:spPr>
          <a:xfrm>
            <a:off x="4683031" y="4050700"/>
            <a:ext cx="3350623"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13"/>
              </a:rPr>
              <a:t>職業安全衛生管理承諾書</a:t>
            </a:r>
            <a:endParaRPr lang="zh-TW" altLang="en-US" sz="1400" dirty="0"/>
          </a:p>
        </p:txBody>
      </p:sp>
      <p:sp>
        <p:nvSpPr>
          <p:cNvPr id="35" name="文字方塊 34">
            <a:extLst>
              <a:ext uri="{FF2B5EF4-FFF2-40B4-BE49-F238E27FC236}">
                <a16:creationId xmlns:a16="http://schemas.microsoft.com/office/drawing/2014/main" id="{E3A3D66D-AB35-45A0-BFFD-C06161617A24}"/>
              </a:ext>
            </a:extLst>
          </p:cNvPr>
          <p:cNvSpPr txBox="1"/>
          <p:nvPr/>
        </p:nvSpPr>
        <p:spPr>
          <a:xfrm>
            <a:off x="4683033" y="4302998"/>
            <a:ext cx="3350623"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14"/>
              </a:rPr>
              <a:t>建造執照工程專業工程項目施作情形表</a:t>
            </a:r>
            <a:endParaRPr lang="zh-TW" altLang="en-US" sz="1400" dirty="0"/>
          </a:p>
        </p:txBody>
      </p:sp>
      <p:sp>
        <p:nvSpPr>
          <p:cNvPr id="37" name="文字方塊 36">
            <a:extLst>
              <a:ext uri="{FF2B5EF4-FFF2-40B4-BE49-F238E27FC236}">
                <a16:creationId xmlns:a16="http://schemas.microsoft.com/office/drawing/2014/main" id="{76C8BD1A-17D5-4B47-8260-8C80699856AD}"/>
              </a:ext>
            </a:extLst>
          </p:cNvPr>
          <p:cNvSpPr txBox="1"/>
          <p:nvPr/>
        </p:nvSpPr>
        <p:spPr>
          <a:xfrm>
            <a:off x="4683030" y="4619119"/>
            <a:ext cx="3350623"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15"/>
              </a:rPr>
              <a:t>公共工程專業工程項目施作情形表</a:t>
            </a:r>
            <a:endParaRPr lang="zh-TW" altLang="en-US" sz="1400" dirty="0"/>
          </a:p>
        </p:txBody>
      </p:sp>
      <p:sp>
        <p:nvSpPr>
          <p:cNvPr id="39" name="文字方塊 38">
            <a:extLst>
              <a:ext uri="{FF2B5EF4-FFF2-40B4-BE49-F238E27FC236}">
                <a16:creationId xmlns:a16="http://schemas.microsoft.com/office/drawing/2014/main" id="{9FBB36D5-F4D6-4F51-8742-6D1E38E4BC13}"/>
              </a:ext>
            </a:extLst>
          </p:cNvPr>
          <p:cNvSpPr txBox="1"/>
          <p:nvPr/>
        </p:nvSpPr>
        <p:spPr>
          <a:xfrm>
            <a:off x="8641076" y="3379748"/>
            <a:ext cx="911564"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16"/>
              </a:rPr>
              <a:t>通知書</a:t>
            </a:r>
            <a:endParaRPr lang="zh-TW" altLang="en-US" sz="1400" dirty="0"/>
          </a:p>
        </p:txBody>
      </p:sp>
    </p:spTree>
    <p:extLst>
      <p:ext uri="{BB962C8B-B14F-4D97-AF65-F5344CB8AC3E}">
        <p14:creationId xmlns:p14="http://schemas.microsoft.com/office/powerpoint/2010/main" val="1528313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D665"/>
        </a:solidFill>
        <a:effectLst/>
      </p:bgPr>
    </p:bg>
    <p:spTree>
      <p:nvGrpSpPr>
        <p:cNvPr id="1" name=""/>
        <p:cNvGrpSpPr/>
        <p:nvPr/>
      </p:nvGrpSpPr>
      <p:grpSpPr>
        <a:xfrm>
          <a:off x="0" y="0"/>
          <a:ext cx="0" cy="0"/>
          <a:chOff x="0" y="0"/>
          <a:chExt cx="0" cy="0"/>
        </a:xfrm>
      </p:grpSpPr>
      <p:pic>
        <p:nvPicPr>
          <p:cNvPr id="14" name="圖片 13">
            <a:extLst>
              <a:ext uri="{FF2B5EF4-FFF2-40B4-BE49-F238E27FC236}">
                <a16:creationId xmlns:a16="http://schemas.microsoft.com/office/drawing/2014/main" id="{8D241119-7358-4A5C-8CCF-230A343ED377}"/>
              </a:ext>
            </a:extLst>
          </p:cNvPr>
          <p:cNvPicPr>
            <a:picLocks noChangeAspect="1"/>
          </p:cNvPicPr>
          <p:nvPr/>
        </p:nvPicPr>
        <p:blipFill>
          <a:blip r:embed="rId3"/>
          <a:stretch>
            <a:fillRect/>
          </a:stretch>
        </p:blipFill>
        <p:spPr>
          <a:xfrm>
            <a:off x="194979" y="1418620"/>
            <a:ext cx="11910455" cy="4191877"/>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新增紀錄</a:t>
            </a:r>
            <a:endParaRPr lang="en-US" altLang="zh-TW" sz="2400" b="1" dirty="0">
              <a:cs typeface="+mn-ea"/>
              <a:sym typeface="+mn-lt"/>
            </a:endParaRP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B1.2</a:t>
            </a:r>
            <a:r>
              <a:rPr lang="zh-TW" altLang="en-US" sz="3200" b="1" dirty="0">
                <a:solidFill>
                  <a:srgbClr val="39759D"/>
                </a:solidFill>
                <a:cs typeface="+mn-ea"/>
                <a:sym typeface="+mn-lt"/>
              </a:rPr>
              <a:t>開工通知書</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2913977"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67A70F71-E755-4D14-A3E1-DCDF5EBD3149}"/>
              </a:ext>
            </a:extLst>
          </p:cNvPr>
          <p:cNvSpPr/>
          <p:nvPr/>
        </p:nvSpPr>
        <p:spPr>
          <a:xfrm>
            <a:off x="11081802" y="1440064"/>
            <a:ext cx="824993" cy="41148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6B4A87EF-D384-4FFD-9E23-3485EFDD9037}"/>
              </a:ext>
            </a:extLst>
          </p:cNvPr>
          <p:cNvSpPr txBox="1"/>
          <p:nvPr/>
        </p:nvSpPr>
        <p:spPr>
          <a:xfrm>
            <a:off x="6991506" y="1461138"/>
            <a:ext cx="2954655"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cs typeface="+mn-ea"/>
                <a:sym typeface="+mn-lt"/>
              </a:rPr>
              <a:t>點擊新增紀錄新增一筆資料</a:t>
            </a:r>
          </a:p>
        </p:txBody>
      </p:sp>
      <p:cxnSp>
        <p:nvCxnSpPr>
          <p:cNvPr id="9" name="直線接點 8">
            <a:extLst>
              <a:ext uri="{FF2B5EF4-FFF2-40B4-BE49-F238E27FC236}">
                <a16:creationId xmlns:a16="http://schemas.microsoft.com/office/drawing/2014/main" id="{18B6BA14-968E-4F00-AA29-9F92E7027969}"/>
              </a:ext>
            </a:extLst>
          </p:cNvPr>
          <p:cNvCxnSpPr>
            <a:cxnSpLocks/>
            <a:stCxn id="8" idx="3"/>
            <a:endCxn id="7" idx="1"/>
          </p:cNvCxnSpPr>
          <p:nvPr/>
        </p:nvCxnSpPr>
        <p:spPr>
          <a:xfrm>
            <a:off x="9946161" y="1645804"/>
            <a:ext cx="113564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矩形: 剪去單一角落 14">
            <a:extLst>
              <a:ext uri="{FF2B5EF4-FFF2-40B4-BE49-F238E27FC236}">
                <a16:creationId xmlns:a16="http://schemas.microsoft.com/office/drawing/2014/main" id="{1F40D465-593F-4A1E-9DCA-430F99A3F107}"/>
              </a:ext>
            </a:extLst>
          </p:cNvPr>
          <p:cNvSpPr/>
          <p:nvPr/>
        </p:nvSpPr>
        <p:spPr>
          <a:xfrm>
            <a:off x="10198274" y="488486"/>
            <a:ext cx="1823344" cy="410649"/>
          </a:xfrm>
          <a:prstGeom prst="snip1Rect">
            <a:avLst>
              <a:gd name="adj" fmla="val 50000"/>
            </a:avLst>
          </a:prstGeom>
          <a:gradFill>
            <a:gsLst>
              <a:gs pos="2000">
                <a:schemeClr val="bg1">
                  <a:lumMod val="85000"/>
                </a:schemeClr>
              </a:gs>
              <a:gs pos="93000">
                <a:schemeClr val="bg2"/>
              </a:gs>
            </a:gsLst>
            <a:lin ang="10800000" scaled="0"/>
          </a:gradFill>
          <a:ln>
            <a:noFill/>
          </a:ln>
          <a:effectLst>
            <a:outerShdw blurRad="127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zh-TW" altLang="en-US" sz="1400" b="1" dirty="0">
                <a:solidFill>
                  <a:schemeClr val="tx1"/>
                </a:solidFill>
                <a:latin typeface="微軟正黑體" panose="020B0604030504040204" pitchFamily="34" charset="-120"/>
                <a:ea typeface="微軟正黑體" panose="020B0604030504040204" pitchFamily="34" charset="-120"/>
                <a:cs typeface="+mn-ea"/>
                <a:sym typeface="+mn-lt"/>
              </a:rPr>
              <a:t>機關（辦理）</a:t>
            </a:r>
          </a:p>
          <a:p>
            <a:pPr algn="ctr"/>
            <a:endParaRPr lang="zh-TW" altLang="en-US" sz="1400" dirty="0"/>
          </a:p>
        </p:txBody>
      </p:sp>
      <p:pic>
        <p:nvPicPr>
          <p:cNvPr id="16" name="圖片 15">
            <a:extLst>
              <a:ext uri="{FF2B5EF4-FFF2-40B4-BE49-F238E27FC236}">
                <a16:creationId xmlns:a16="http://schemas.microsoft.com/office/drawing/2014/main" id="{AE11760C-1441-43D8-BA3B-A96A7FB2417A}"/>
              </a:ext>
            </a:extLst>
          </p:cNvPr>
          <p:cNvPicPr>
            <a:picLocks noChangeAspect="1"/>
          </p:cNvPicPr>
          <p:nvPr/>
        </p:nvPicPr>
        <p:blipFill rotWithShape="1">
          <a:blip r:embed="rId4"/>
          <a:srcRect l="941" t="2765" r="1043" b="2990"/>
          <a:stretch/>
        </p:blipFill>
        <p:spPr>
          <a:xfrm>
            <a:off x="8220600" y="4235156"/>
            <a:ext cx="2753213" cy="875872"/>
          </a:xfrm>
          <a:prstGeom prst="rect">
            <a:avLst/>
          </a:prstGeom>
          <a:ln>
            <a:solidFill>
              <a:schemeClr val="accent1"/>
            </a:solidFill>
          </a:ln>
        </p:spPr>
      </p:pic>
      <p:sp>
        <p:nvSpPr>
          <p:cNvPr id="17" name="文字方塊 16">
            <a:extLst>
              <a:ext uri="{FF2B5EF4-FFF2-40B4-BE49-F238E27FC236}">
                <a16:creationId xmlns:a16="http://schemas.microsoft.com/office/drawing/2014/main" id="{6B4A87EF-D384-4FFD-9E23-3485EFDD9037}"/>
              </a:ext>
            </a:extLst>
          </p:cNvPr>
          <p:cNvSpPr txBox="1"/>
          <p:nvPr/>
        </p:nvSpPr>
        <p:spPr>
          <a:xfrm>
            <a:off x="7625337" y="3815156"/>
            <a:ext cx="4103905"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cs typeface="+mn-ea"/>
                <a:sym typeface="+mn-lt"/>
              </a:rPr>
              <a:t>若為第一次進入則會自動詢問是否新增</a:t>
            </a:r>
            <a:endParaRPr lang="en-US" altLang="zh-TW" b="1" dirty="0">
              <a:cs typeface="+mn-ea"/>
              <a:sym typeface="+mn-lt"/>
            </a:endParaRPr>
          </a:p>
        </p:txBody>
      </p:sp>
      <p:sp>
        <p:nvSpPr>
          <p:cNvPr id="18" name="矩形 17"/>
          <p:cNvSpPr/>
          <p:nvPr/>
        </p:nvSpPr>
        <p:spPr>
          <a:xfrm>
            <a:off x="7493603" y="3662446"/>
            <a:ext cx="4413192" cy="1740024"/>
          </a:xfrm>
          <a:prstGeom prst="rect">
            <a:avLst/>
          </a:prstGeom>
          <a:noFill/>
          <a:ln w="19050" cap="rnd">
            <a:solidFill>
              <a:srgbClr val="FF0000"/>
            </a:solidFill>
            <a:prstDash val="sysDash"/>
            <a:extLst>
              <a:ext uri="{C807C97D-BFC1-408E-A445-0C87EB9F89A2}">
                <ask:lineSketchStyleProps xmlns:ask="http://schemas.microsoft.com/office/drawing/2018/sketchyshapes" xmln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80069684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D665"/>
        </a:solidFill>
        <a:effectLst/>
      </p:bgPr>
    </p:bg>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新增紀錄</a:t>
            </a:r>
            <a:endParaRPr lang="en-US" altLang="zh-TW" sz="2400" b="1" dirty="0">
              <a:cs typeface="+mn-ea"/>
              <a:sym typeface="+mn-lt"/>
            </a:endParaRP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B1.2</a:t>
            </a:r>
            <a:r>
              <a:rPr lang="zh-TW" altLang="en-US" sz="3200" b="1" dirty="0">
                <a:solidFill>
                  <a:srgbClr val="39759D"/>
                </a:solidFill>
                <a:cs typeface="+mn-ea"/>
                <a:sym typeface="+mn-lt"/>
              </a:rPr>
              <a:t>開工通知書</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2913977"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15" name="圖片 14">
            <a:extLst>
              <a:ext uri="{FF2B5EF4-FFF2-40B4-BE49-F238E27FC236}">
                <a16:creationId xmlns:a16="http://schemas.microsoft.com/office/drawing/2014/main" id="{1145B6E6-A48E-4ABE-AF41-DDDBE6234B84}"/>
              </a:ext>
            </a:extLst>
          </p:cNvPr>
          <p:cNvPicPr>
            <a:picLocks noChangeAspect="1"/>
          </p:cNvPicPr>
          <p:nvPr/>
        </p:nvPicPr>
        <p:blipFill>
          <a:blip r:embed="rId3"/>
          <a:stretch>
            <a:fillRect/>
          </a:stretch>
        </p:blipFill>
        <p:spPr>
          <a:xfrm>
            <a:off x="145344" y="1440101"/>
            <a:ext cx="9776065" cy="3105772"/>
          </a:xfrm>
          <a:prstGeom prst="rect">
            <a:avLst/>
          </a:prstGeom>
        </p:spPr>
      </p:pic>
      <p:sp>
        <p:nvSpPr>
          <p:cNvPr id="16" name="矩形 15">
            <a:extLst>
              <a:ext uri="{FF2B5EF4-FFF2-40B4-BE49-F238E27FC236}">
                <a16:creationId xmlns:a16="http://schemas.microsoft.com/office/drawing/2014/main" id="{AC845708-3118-4AE2-A21A-776D786E778D}"/>
              </a:ext>
            </a:extLst>
          </p:cNvPr>
          <p:cNvSpPr/>
          <p:nvPr/>
        </p:nvSpPr>
        <p:spPr>
          <a:xfrm>
            <a:off x="2318657" y="1946366"/>
            <a:ext cx="2978332" cy="77724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文字方塊 16">
            <a:extLst>
              <a:ext uri="{FF2B5EF4-FFF2-40B4-BE49-F238E27FC236}">
                <a16:creationId xmlns:a16="http://schemas.microsoft.com/office/drawing/2014/main" id="{13046D93-BDAE-4BE9-8041-C17C7F7FFB7D}"/>
              </a:ext>
            </a:extLst>
          </p:cNvPr>
          <p:cNvSpPr txBox="1"/>
          <p:nvPr/>
        </p:nvSpPr>
        <p:spPr>
          <a:xfrm>
            <a:off x="5588079" y="2150320"/>
            <a:ext cx="6534253" cy="369332"/>
          </a:xfrm>
          <a:prstGeom prst="rect">
            <a:avLst/>
          </a:prstGeom>
          <a:solidFill>
            <a:schemeClr val="accent4">
              <a:lumMod val="40000"/>
              <a:lumOff val="60000"/>
            </a:schemeClr>
          </a:solidFill>
          <a:ln>
            <a:solidFill>
              <a:srgbClr val="FF0000"/>
            </a:solidFill>
          </a:ln>
        </p:spPr>
        <p:txBody>
          <a:bodyPr wrap="square" rtlCol="0">
            <a:spAutoFit/>
          </a:bodyPr>
          <a:lstStyle/>
          <a:p>
            <a:pPr algn="l"/>
            <a:r>
              <a:rPr lang="zh-TW" altLang="en-US" b="1" dirty="0">
                <a:cs typeface="+mn-ea"/>
                <a:sym typeface="+mn-lt"/>
              </a:rPr>
              <a:t>可指定是否設定開工日期，若不指定則不會出現選擇日期欄位。</a:t>
            </a:r>
          </a:p>
        </p:txBody>
      </p:sp>
      <p:cxnSp>
        <p:nvCxnSpPr>
          <p:cNvPr id="19" name="直線接點 18">
            <a:extLst>
              <a:ext uri="{FF2B5EF4-FFF2-40B4-BE49-F238E27FC236}">
                <a16:creationId xmlns:a16="http://schemas.microsoft.com/office/drawing/2014/main" id="{1D01141D-6C3B-4E96-A36F-B8D2A353A6E8}"/>
              </a:ext>
            </a:extLst>
          </p:cNvPr>
          <p:cNvCxnSpPr>
            <a:stCxn id="16" idx="3"/>
            <a:endCxn id="17" idx="1"/>
          </p:cNvCxnSpPr>
          <p:nvPr/>
        </p:nvCxnSpPr>
        <p:spPr>
          <a:xfrm>
            <a:off x="5296989" y="2334986"/>
            <a:ext cx="291090"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566BD1B1-F812-4686-8B94-1EBAF60BA858}"/>
              </a:ext>
            </a:extLst>
          </p:cNvPr>
          <p:cNvSpPr/>
          <p:nvPr/>
        </p:nvSpPr>
        <p:spPr>
          <a:xfrm>
            <a:off x="2318657" y="2795451"/>
            <a:ext cx="6616337" cy="167204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文字方塊 20">
            <a:extLst>
              <a:ext uri="{FF2B5EF4-FFF2-40B4-BE49-F238E27FC236}">
                <a16:creationId xmlns:a16="http://schemas.microsoft.com/office/drawing/2014/main" id="{BB490423-1A54-4128-B1DA-DB5E2FB81309}"/>
              </a:ext>
            </a:extLst>
          </p:cNvPr>
          <p:cNvSpPr txBox="1"/>
          <p:nvPr/>
        </p:nvSpPr>
        <p:spPr>
          <a:xfrm>
            <a:off x="2609747" y="4934493"/>
            <a:ext cx="2031325"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cs typeface="+mn-ea"/>
                <a:sym typeface="+mn-lt"/>
              </a:rPr>
              <a:t>編輯發文相關表單</a:t>
            </a:r>
          </a:p>
        </p:txBody>
      </p:sp>
      <p:cxnSp>
        <p:nvCxnSpPr>
          <p:cNvPr id="25" name="直線接點 24">
            <a:extLst>
              <a:ext uri="{FF2B5EF4-FFF2-40B4-BE49-F238E27FC236}">
                <a16:creationId xmlns:a16="http://schemas.microsoft.com/office/drawing/2014/main" id="{10AA8C0C-AD8A-4EF9-869A-31E76A44D940}"/>
              </a:ext>
            </a:extLst>
          </p:cNvPr>
          <p:cNvCxnSpPr>
            <a:stCxn id="21" idx="0"/>
          </p:cNvCxnSpPr>
          <p:nvPr/>
        </p:nvCxnSpPr>
        <p:spPr>
          <a:xfrm flipH="1" flipV="1">
            <a:off x="3624943" y="4467496"/>
            <a:ext cx="467" cy="4669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0" name="群組 29">
            <a:extLst>
              <a:ext uri="{FF2B5EF4-FFF2-40B4-BE49-F238E27FC236}">
                <a16:creationId xmlns:a16="http://schemas.microsoft.com/office/drawing/2014/main" id="{F69A6D07-061D-499E-94B0-7401D08F069D}"/>
              </a:ext>
            </a:extLst>
          </p:cNvPr>
          <p:cNvGrpSpPr/>
          <p:nvPr/>
        </p:nvGrpSpPr>
        <p:grpSpPr>
          <a:xfrm>
            <a:off x="5621547" y="4767097"/>
            <a:ext cx="5296969" cy="568296"/>
            <a:chOff x="5851244" y="4839805"/>
            <a:chExt cx="5296969" cy="568296"/>
          </a:xfrm>
        </p:grpSpPr>
        <p:sp>
          <p:nvSpPr>
            <p:cNvPr id="27" name="文字方塊 26">
              <a:extLst>
                <a:ext uri="{FF2B5EF4-FFF2-40B4-BE49-F238E27FC236}">
                  <a16:creationId xmlns:a16="http://schemas.microsoft.com/office/drawing/2014/main" id="{5534143A-E56C-4962-A190-5CED0F86FCDA}"/>
                </a:ext>
              </a:extLst>
            </p:cNvPr>
            <p:cNvSpPr txBox="1"/>
            <p:nvPr/>
          </p:nvSpPr>
          <p:spPr>
            <a:xfrm>
              <a:off x="5851244" y="4879655"/>
              <a:ext cx="5296969" cy="442674"/>
            </a:xfrm>
            <a:prstGeom prst="wedgeRoundRectCallout">
              <a:avLst>
                <a:gd name="adj1" fmla="val 29578"/>
                <a:gd name="adj2" fmla="val -137486"/>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拖曳右下形斜線區域          可放大編輯區域。</a:t>
              </a:r>
              <a:endParaRPr lang="en-US" altLang="zh-TW" sz="2000" b="1" dirty="0">
                <a:cs typeface="+mn-ea"/>
                <a:sym typeface="+mn-lt"/>
              </a:endParaRPr>
            </a:p>
          </p:txBody>
        </p:sp>
        <p:pic>
          <p:nvPicPr>
            <p:cNvPr id="29" name="圖片 28">
              <a:extLst>
                <a:ext uri="{FF2B5EF4-FFF2-40B4-BE49-F238E27FC236}">
                  <a16:creationId xmlns:a16="http://schemas.microsoft.com/office/drawing/2014/main" id="{FA38E8FA-423F-45A0-98B3-75C5082B8684}"/>
                </a:ext>
              </a:extLst>
            </p:cNvPr>
            <p:cNvPicPr>
              <a:picLocks noChangeAspect="1"/>
            </p:cNvPicPr>
            <p:nvPr/>
          </p:nvPicPr>
          <p:blipFill>
            <a:blip r:embed="rId4"/>
            <a:stretch>
              <a:fillRect/>
            </a:stretch>
          </p:blipFill>
          <p:spPr>
            <a:xfrm>
              <a:off x="8191447" y="4839805"/>
              <a:ext cx="816926" cy="568296"/>
            </a:xfrm>
            <a:prstGeom prst="ellipse">
              <a:avLst/>
            </a:prstGeom>
            <a:ln>
              <a:noFill/>
            </a:ln>
            <a:effectLst>
              <a:softEdge rad="112500"/>
            </a:effectLst>
          </p:spPr>
        </p:pic>
      </p:grpSp>
      <p:sp>
        <p:nvSpPr>
          <p:cNvPr id="31" name="文字方塊 30">
            <a:extLst>
              <a:ext uri="{FF2B5EF4-FFF2-40B4-BE49-F238E27FC236}">
                <a16:creationId xmlns:a16="http://schemas.microsoft.com/office/drawing/2014/main" id="{057B6E8E-79B3-423C-9216-363DD4AE8D28}"/>
              </a:ext>
            </a:extLst>
          </p:cNvPr>
          <p:cNvSpPr txBox="1"/>
          <p:nvPr/>
        </p:nvSpPr>
        <p:spPr>
          <a:xfrm>
            <a:off x="136200" y="5848586"/>
            <a:ext cx="8044190"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solidFill>
                  <a:srgbClr val="FF0000"/>
                </a:solidFill>
                <a:cs typeface="+mn-ea"/>
                <a:sym typeface="+mn-lt"/>
              </a:rPr>
              <a:t>若此處指定開工日期選擇“否</a:t>
            </a:r>
            <a:r>
              <a:rPr lang="en-US" altLang="zh-TW" b="1" dirty="0">
                <a:solidFill>
                  <a:srgbClr val="FF0000"/>
                </a:solidFill>
                <a:cs typeface="+mn-ea"/>
                <a:sym typeface="+mn-lt"/>
              </a:rPr>
              <a:t>”</a:t>
            </a:r>
            <a:r>
              <a:rPr lang="zh-TW" altLang="en-US" b="1" dirty="0">
                <a:solidFill>
                  <a:srgbClr val="FF0000"/>
                </a:solidFill>
                <a:cs typeface="+mn-ea"/>
                <a:sym typeface="+mn-lt"/>
              </a:rPr>
              <a:t>，則須於</a:t>
            </a:r>
            <a:r>
              <a:rPr lang="en-US" altLang="zh-TW" b="1" dirty="0">
                <a:solidFill>
                  <a:srgbClr val="FF0000"/>
                </a:solidFill>
                <a:cs typeface="+mn-ea"/>
                <a:sym typeface="+mn-lt"/>
              </a:rPr>
              <a:t>B1.7</a:t>
            </a:r>
            <a:r>
              <a:rPr lang="zh-TW" altLang="en-US" b="1" dirty="0">
                <a:solidFill>
                  <a:srgbClr val="FF0000"/>
                </a:solidFill>
                <a:cs typeface="+mn-ea"/>
                <a:sym typeface="+mn-lt"/>
              </a:rPr>
              <a:t>設定開工日期後才能執行</a:t>
            </a:r>
            <a:r>
              <a:rPr lang="en-US" altLang="zh-TW" b="1" dirty="0">
                <a:solidFill>
                  <a:srgbClr val="FF0000"/>
                </a:solidFill>
                <a:cs typeface="+mn-ea"/>
                <a:sym typeface="+mn-lt"/>
              </a:rPr>
              <a:t>B1.9.2</a:t>
            </a:r>
            <a:endParaRPr lang="zh-TW" altLang="en-US" b="1" dirty="0">
              <a:solidFill>
                <a:srgbClr val="FF0000"/>
              </a:solidFill>
              <a:cs typeface="+mn-ea"/>
              <a:sym typeface="+mn-lt"/>
            </a:endParaRPr>
          </a:p>
        </p:txBody>
      </p:sp>
      <p:sp>
        <p:nvSpPr>
          <p:cNvPr id="32" name="矩形: 剪去單一角落 31">
            <a:extLst>
              <a:ext uri="{FF2B5EF4-FFF2-40B4-BE49-F238E27FC236}">
                <a16:creationId xmlns:a16="http://schemas.microsoft.com/office/drawing/2014/main" id="{9287466E-5BAD-4906-A7E1-3D32D9AD25AD}"/>
              </a:ext>
            </a:extLst>
          </p:cNvPr>
          <p:cNvSpPr/>
          <p:nvPr/>
        </p:nvSpPr>
        <p:spPr>
          <a:xfrm>
            <a:off x="10198274" y="488486"/>
            <a:ext cx="1823344" cy="410649"/>
          </a:xfrm>
          <a:prstGeom prst="snip1Rect">
            <a:avLst>
              <a:gd name="adj" fmla="val 50000"/>
            </a:avLst>
          </a:prstGeom>
          <a:gradFill>
            <a:gsLst>
              <a:gs pos="2000">
                <a:schemeClr val="bg1">
                  <a:lumMod val="85000"/>
                </a:schemeClr>
              </a:gs>
              <a:gs pos="93000">
                <a:schemeClr val="bg2"/>
              </a:gs>
            </a:gsLst>
            <a:lin ang="10800000" scaled="0"/>
          </a:gradFill>
          <a:ln>
            <a:noFill/>
          </a:ln>
          <a:effectLst>
            <a:outerShdw blurRad="127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zh-TW" altLang="en-US" sz="1400" b="1" dirty="0">
                <a:solidFill>
                  <a:schemeClr val="tx1"/>
                </a:solidFill>
                <a:latin typeface="微軟正黑體" panose="020B0604030504040204" pitchFamily="34" charset="-120"/>
                <a:ea typeface="微軟正黑體" panose="020B0604030504040204" pitchFamily="34" charset="-120"/>
                <a:cs typeface="+mn-ea"/>
                <a:sym typeface="+mn-lt"/>
              </a:rPr>
              <a:t>機關（辦理）</a:t>
            </a:r>
          </a:p>
          <a:p>
            <a:pPr algn="ctr"/>
            <a:endParaRPr lang="zh-TW" altLang="en-US" sz="1400" dirty="0"/>
          </a:p>
        </p:txBody>
      </p:sp>
    </p:spTree>
    <p:extLst>
      <p:ext uri="{BB962C8B-B14F-4D97-AF65-F5344CB8AC3E}">
        <p14:creationId xmlns:p14="http://schemas.microsoft.com/office/powerpoint/2010/main" val="413408297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D665"/>
        </a:solidFill>
        <a:effectLst/>
      </p:bgPr>
    </p:bg>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選擇應繳文件</a:t>
            </a:r>
            <a:endParaRPr lang="en-US" altLang="zh-TW" sz="2400" b="1" dirty="0">
              <a:cs typeface="+mn-ea"/>
              <a:sym typeface="+mn-lt"/>
            </a:endParaRP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B1.2</a:t>
            </a:r>
            <a:r>
              <a:rPr lang="zh-TW" altLang="en-US" sz="3200" b="1" dirty="0">
                <a:solidFill>
                  <a:srgbClr val="39759D"/>
                </a:solidFill>
                <a:cs typeface="+mn-ea"/>
                <a:sym typeface="+mn-lt"/>
              </a:rPr>
              <a:t>開工通知書</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2913977"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10" name="圖片 9">
            <a:extLst>
              <a:ext uri="{FF2B5EF4-FFF2-40B4-BE49-F238E27FC236}">
                <a16:creationId xmlns:a16="http://schemas.microsoft.com/office/drawing/2014/main" id="{4994BFFB-6D05-4E15-992B-4AE1521711B1}"/>
              </a:ext>
            </a:extLst>
          </p:cNvPr>
          <p:cNvPicPr>
            <a:picLocks noChangeAspect="1"/>
          </p:cNvPicPr>
          <p:nvPr/>
        </p:nvPicPr>
        <p:blipFill>
          <a:blip r:embed="rId3"/>
          <a:stretch>
            <a:fillRect/>
          </a:stretch>
        </p:blipFill>
        <p:spPr>
          <a:xfrm>
            <a:off x="136200" y="1463471"/>
            <a:ext cx="9990081" cy="4591164"/>
          </a:xfrm>
          <a:prstGeom prst="rect">
            <a:avLst/>
          </a:prstGeom>
        </p:spPr>
      </p:pic>
      <p:sp>
        <p:nvSpPr>
          <p:cNvPr id="2" name="矩形 1">
            <a:extLst>
              <a:ext uri="{FF2B5EF4-FFF2-40B4-BE49-F238E27FC236}">
                <a16:creationId xmlns:a16="http://schemas.microsoft.com/office/drawing/2014/main" id="{13B74C82-8A13-42FC-A80F-714ACA7EAAAA}"/>
              </a:ext>
            </a:extLst>
          </p:cNvPr>
          <p:cNvSpPr/>
          <p:nvPr/>
        </p:nvSpPr>
        <p:spPr>
          <a:xfrm>
            <a:off x="145344" y="1979023"/>
            <a:ext cx="507799" cy="3847011"/>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文字方塊 6">
            <a:extLst>
              <a:ext uri="{FF2B5EF4-FFF2-40B4-BE49-F238E27FC236}">
                <a16:creationId xmlns:a16="http://schemas.microsoft.com/office/drawing/2014/main" id="{0CFAFD8F-CD6D-4DE3-9379-544D0D95B278}"/>
              </a:ext>
            </a:extLst>
          </p:cNvPr>
          <p:cNvSpPr txBox="1"/>
          <p:nvPr/>
        </p:nvSpPr>
        <p:spPr>
          <a:xfrm>
            <a:off x="3653912" y="5869969"/>
            <a:ext cx="2954655"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cs typeface="+mn-ea"/>
                <a:sym typeface="+mn-lt"/>
              </a:rPr>
              <a:t>打勾項目為廠商應繳交文件</a:t>
            </a:r>
          </a:p>
        </p:txBody>
      </p:sp>
      <p:cxnSp>
        <p:nvCxnSpPr>
          <p:cNvPr id="12" name="接點: 肘形 11">
            <a:extLst>
              <a:ext uri="{FF2B5EF4-FFF2-40B4-BE49-F238E27FC236}">
                <a16:creationId xmlns:a16="http://schemas.microsoft.com/office/drawing/2014/main" id="{77035181-5D9A-44CE-B759-13EFD6C433D3}"/>
              </a:ext>
            </a:extLst>
          </p:cNvPr>
          <p:cNvCxnSpPr>
            <a:cxnSpLocks/>
            <a:stCxn id="2" idx="2"/>
            <a:endCxn id="7" idx="1"/>
          </p:cNvCxnSpPr>
          <p:nvPr/>
        </p:nvCxnSpPr>
        <p:spPr>
          <a:xfrm rot="16200000" flipH="1">
            <a:off x="1912278" y="4313000"/>
            <a:ext cx="228601" cy="3254668"/>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矩形: 剪去單一角落 18">
            <a:extLst>
              <a:ext uri="{FF2B5EF4-FFF2-40B4-BE49-F238E27FC236}">
                <a16:creationId xmlns:a16="http://schemas.microsoft.com/office/drawing/2014/main" id="{79405E2D-3CD0-4841-8AF4-C5B4A5900493}"/>
              </a:ext>
            </a:extLst>
          </p:cNvPr>
          <p:cNvSpPr/>
          <p:nvPr/>
        </p:nvSpPr>
        <p:spPr>
          <a:xfrm>
            <a:off x="10198274" y="488486"/>
            <a:ext cx="1823344" cy="410649"/>
          </a:xfrm>
          <a:prstGeom prst="snip1Rect">
            <a:avLst>
              <a:gd name="adj" fmla="val 50000"/>
            </a:avLst>
          </a:prstGeom>
          <a:gradFill>
            <a:gsLst>
              <a:gs pos="2000">
                <a:schemeClr val="bg1">
                  <a:lumMod val="85000"/>
                </a:schemeClr>
              </a:gs>
              <a:gs pos="93000">
                <a:schemeClr val="bg2"/>
              </a:gs>
            </a:gsLst>
            <a:lin ang="10800000" scaled="0"/>
          </a:gradFill>
          <a:ln>
            <a:noFill/>
          </a:ln>
          <a:effectLst>
            <a:outerShdw blurRad="127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zh-TW" altLang="en-US" sz="1400" b="1" dirty="0">
                <a:solidFill>
                  <a:schemeClr val="tx1"/>
                </a:solidFill>
                <a:latin typeface="微軟正黑體" panose="020B0604030504040204" pitchFamily="34" charset="-120"/>
                <a:ea typeface="微軟正黑體" panose="020B0604030504040204" pitchFamily="34" charset="-120"/>
                <a:cs typeface="+mn-ea"/>
                <a:sym typeface="+mn-lt"/>
              </a:rPr>
              <a:t>機關（辦理）</a:t>
            </a:r>
          </a:p>
          <a:p>
            <a:pPr algn="ctr"/>
            <a:endParaRPr lang="zh-TW" altLang="en-US" sz="1400" dirty="0"/>
          </a:p>
        </p:txBody>
      </p:sp>
    </p:spTree>
    <p:extLst>
      <p:ext uri="{BB962C8B-B14F-4D97-AF65-F5344CB8AC3E}">
        <p14:creationId xmlns:p14="http://schemas.microsoft.com/office/powerpoint/2010/main" val="96473951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D665"/>
        </a:solidFill>
        <a:effectLst/>
      </p:bgPr>
    </p:bg>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選擇應繳文件</a:t>
            </a:r>
            <a:endParaRPr lang="en-US" altLang="zh-TW" sz="2400" b="1" dirty="0">
              <a:cs typeface="+mn-ea"/>
              <a:sym typeface="+mn-lt"/>
            </a:endParaRP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B1.2</a:t>
            </a:r>
            <a:r>
              <a:rPr lang="zh-TW" altLang="en-US" sz="3200" b="1" dirty="0">
                <a:solidFill>
                  <a:srgbClr val="39759D"/>
                </a:solidFill>
                <a:cs typeface="+mn-ea"/>
                <a:sym typeface="+mn-lt"/>
              </a:rPr>
              <a:t>開工通知書</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2913977"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7" name="圖片 6">
            <a:extLst>
              <a:ext uri="{FF2B5EF4-FFF2-40B4-BE49-F238E27FC236}">
                <a16:creationId xmlns:a16="http://schemas.microsoft.com/office/drawing/2014/main" id="{BBCFDD1A-499B-44B0-9DDA-34ABBBF7E99C}"/>
              </a:ext>
            </a:extLst>
          </p:cNvPr>
          <p:cNvPicPr>
            <a:picLocks noChangeAspect="1"/>
          </p:cNvPicPr>
          <p:nvPr/>
        </p:nvPicPr>
        <p:blipFill>
          <a:blip r:embed="rId3"/>
          <a:stretch>
            <a:fillRect/>
          </a:stretch>
        </p:blipFill>
        <p:spPr>
          <a:xfrm>
            <a:off x="145344" y="1448302"/>
            <a:ext cx="10314625" cy="942201"/>
          </a:xfrm>
          <a:prstGeom prst="rect">
            <a:avLst/>
          </a:prstGeom>
          <a:ln>
            <a:solidFill>
              <a:schemeClr val="accent1">
                <a:lumMod val="60000"/>
                <a:lumOff val="40000"/>
              </a:schemeClr>
            </a:solidFill>
          </a:ln>
        </p:spPr>
      </p:pic>
      <p:pic>
        <p:nvPicPr>
          <p:cNvPr id="9" name="圖片 8">
            <a:extLst>
              <a:ext uri="{FF2B5EF4-FFF2-40B4-BE49-F238E27FC236}">
                <a16:creationId xmlns:a16="http://schemas.microsoft.com/office/drawing/2014/main" id="{9AF0ACBA-C207-4465-A2D4-0EED28B83C3C}"/>
              </a:ext>
            </a:extLst>
          </p:cNvPr>
          <p:cNvPicPr>
            <a:picLocks noChangeAspect="1"/>
          </p:cNvPicPr>
          <p:nvPr/>
        </p:nvPicPr>
        <p:blipFill>
          <a:blip r:embed="rId4"/>
          <a:stretch>
            <a:fillRect/>
          </a:stretch>
        </p:blipFill>
        <p:spPr>
          <a:xfrm>
            <a:off x="145344" y="2724241"/>
            <a:ext cx="10347392" cy="3437986"/>
          </a:xfrm>
          <a:prstGeom prst="rect">
            <a:avLst/>
          </a:prstGeom>
        </p:spPr>
      </p:pic>
      <p:sp>
        <p:nvSpPr>
          <p:cNvPr id="2" name="矩形 1">
            <a:extLst>
              <a:ext uri="{FF2B5EF4-FFF2-40B4-BE49-F238E27FC236}">
                <a16:creationId xmlns:a16="http://schemas.microsoft.com/office/drawing/2014/main" id="{6D301A0D-017A-4FB3-9F2C-E2236CF5BE72}"/>
              </a:ext>
            </a:extLst>
          </p:cNvPr>
          <p:cNvSpPr/>
          <p:nvPr/>
        </p:nvSpPr>
        <p:spPr>
          <a:xfrm>
            <a:off x="2495006" y="2063931"/>
            <a:ext cx="555171" cy="24166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1" name="直線單箭頭接點 10">
            <a:extLst>
              <a:ext uri="{FF2B5EF4-FFF2-40B4-BE49-F238E27FC236}">
                <a16:creationId xmlns:a16="http://schemas.microsoft.com/office/drawing/2014/main" id="{B43A2D1E-F40B-49EA-84A6-767564E74A72}"/>
              </a:ext>
            </a:extLst>
          </p:cNvPr>
          <p:cNvCxnSpPr>
            <a:stCxn id="2" idx="2"/>
          </p:cNvCxnSpPr>
          <p:nvPr/>
        </p:nvCxnSpPr>
        <p:spPr>
          <a:xfrm flipH="1">
            <a:off x="2772591" y="2305594"/>
            <a:ext cx="1" cy="151529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AABD3C1C-E2A9-4316-9DE2-208E8931F620}"/>
              </a:ext>
            </a:extLst>
          </p:cNvPr>
          <p:cNvSpPr txBox="1"/>
          <p:nvPr/>
        </p:nvSpPr>
        <p:spPr>
          <a:xfrm>
            <a:off x="1064431" y="2821466"/>
            <a:ext cx="3416320"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cs typeface="+mn-ea"/>
                <a:sym typeface="+mn-lt"/>
              </a:rPr>
              <a:t>選擇此項目後可以新增自訂文件</a:t>
            </a:r>
          </a:p>
        </p:txBody>
      </p:sp>
      <p:sp>
        <p:nvSpPr>
          <p:cNvPr id="12" name="矩形 11">
            <a:extLst>
              <a:ext uri="{FF2B5EF4-FFF2-40B4-BE49-F238E27FC236}">
                <a16:creationId xmlns:a16="http://schemas.microsoft.com/office/drawing/2014/main" id="{D14C8800-46CE-4F3F-846C-7FC389421CE4}"/>
              </a:ext>
            </a:extLst>
          </p:cNvPr>
          <p:cNvSpPr/>
          <p:nvPr/>
        </p:nvSpPr>
        <p:spPr>
          <a:xfrm>
            <a:off x="37578" y="3958046"/>
            <a:ext cx="4606268" cy="369329"/>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文字方塊 12">
            <a:extLst>
              <a:ext uri="{FF2B5EF4-FFF2-40B4-BE49-F238E27FC236}">
                <a16:creationId xmlns:a16="http://schemas.microsoft.com/office/drawing/2014/main" id="{6BD6A086-61BF-447A-BA75-024B591DF756}"/>
              </a:ext>
            </a:extLst>
          </p:cNvPr>
          <p:cNvSpPr txBox="1"/>
          <p:nvPr/>
        </p:nvSpPr>
        <p:spPr>
          <a:xfrm>
            <a:off x="1319349" y="4669969"/>
            <a:ext cx="2031325"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cs typeface="+mn-ea"/>
                <a:sym typeface="+mn-lt"/>
              </a:rPr>
              <a:t>輸入自訂文件名稱</a:t>
            </a:r>
          </a:p>
        </p:txBody>
      </p:sp>
      <p:cxnSp>
        <p:nvCxnSpPr>
          <p:cNvPr id="15" name="直線接點 14">
            <a:extLst>
              <a:ext uri="{FF2B5EF4-FFF2-40B4-BE49-F238E27FC236}">
                <a16:creationId xmlns:a16="http://schemas.microsoft.com/office/drawing/2014/main" id="{D09708D7-838F-44CA-ACA2-E53847287431}"/>
              </a:ext>
            </a:extLst>
          </p:cNvPr>
          <p:cNvCxnSpPr>
            <a:cxnSpLocks/>
            <a:stCxn id="12" idx="2"/>
            <a:endCxn id="13" idx="0"/>
          </p:cNvCxnSpPr>
          <p:nvPr/>
        </p:nvCxnSpPr>
        <p:spPr>
          <a:xfrm flipH="1">
            <a:off x="2335012" y="4327375"/>
            <a:ext cx="5700" cy="3425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3C2C69A2-ACFA-4BF1-85BC-4CD56F422F24}"/>
              </a:ext>
            </a:extLst>
          </p:cNvPr>
          <p:cNvSpPr/>
          <p:nvPr/>
        </p:nvSpPr>
        <p:spPr>
          <a:xfrm>
            <a:off x="5302656" y="3958046"/>
            <a:ext cx="1823133" cy="2246811"/>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9" name="文字方塊 18">
            <a:extLst>
              <a:ext uri="{FF2B5EF4-FFF2-40B4-BE49-F238E27FC236}">
                <a16:creationId xmlns:a16="http://schemas.microsoft.com/office/drawing/2014/main" id="{FA7713F9-A744-421B-8C55-545F79BC9BE9}"/>
              </a:ext>
            </a:extLst>
          </p:cNvPr>
          <p:cNvSpPr txBox="1"/>
          <p:nvPr/>
        </p:nvSpPr>
        <p:spPr>
          <a:xfrm>
            <a:off x="5429392" y="3057994"/>
            <a:ext cx="1569660"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cs typeface="+mn-ea"/>
                <a:sym typeface="+mn-lt"/>
              </a:rPr>
              <a:t>選擇對應流程</a:t>
            </a:r>
          </a:p>
        </p:txBody>
      </p:sp>
      <p:cxnSp>
        <p:nvCxnSpPr>
          <p:cNvPr id="21" name="直線接點 20">
            <a:extLst>
              <a:ext uri="{FF2B5EF4-FFF2-40B4-BE49-F238E27FC236}">
                <a16:creationId xmlns:a16="http://schemas.microsoft.com/office/drawing/2014/main" id="{E9E77585-F9E9-49E3-A285-E2F8C45A7953}"/>
              </a:ext>
            </a:extLst>
          </p:cNvPr>
          <p:cNvCxnSpPr>
            <a:endCxn id="18" idx="0"/>
          </p:cNvCxnSpPr>
          <p:nvPr/>
        </p:nvCxnSpPr>
        <p:spPr>
          <a:xfrm>
            <a:off x="6214222" y="3429000"/>
            <a:ext cx="1" cy="52904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6B1C7305-C379-48C3-A0F6-91674D03E814}"/>
              </a:ext>
            </a:extLst>
          </p:cNvPr>
          <p:cNvSpPr/>
          <p:nvPr/>
        </p:nvSpPr>
        <p:spPr>
          <a:xfrm>
            <a:off x="8739051" y="3936778"/>
            <a:ext cx="783771" cy="3347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文字方塊 22">
            <a:extLst>
              <a:ext uri="{FF2B5EF4-FFF2-40B4-BE49-F238E27FC236}">
                <a16:creationId xmlns:a16="http://schemas.microsoft.com/office/drawing/2014/main" id="{D44D3F21-F397-45F1-9BD5-45D5346D3EBA}"/>
              </a:ext>
            </a:extLst>
          </p:cNvPr>
          <p:cNvSpPr txBox="1"/>
          <p:nvPr/>
        </p:nvSpPr>
        <p:spPr>
          <a:xfrm>
            <a:off x="7538192" y="4498672"/>
            <a:ext cx="3185487"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cs typeface="+mn-ea"/>
                <a:sym typeface="+mn-lt"/>
              </a:rPr>
              <a:t>設定完畢選擇新增紐完成新增</a:t>
            </a:r>
          </a:p>
        </p:txBody>
      </p:sp>
      <p:cxnSp>
        <p:nvCxnSpPr>
          <p:cNvPr id="25" name="直線接點 24">
            <a:extLst>
              <a:ext uri="{FF2B5EF4-FFF2-40B4-BE49-F238E27FC236}">
                <a16:creationId xmlns:a16="http://schemas.microsoft.com/office/drawing/2014/main" id="{7ACADD0F-EC2B-4650-8A2C-26F8BF1CE583}"/>
              </a:ext>
            </a:extLst>
          </p:cNvPr>
          <p:cNvCxnSpPr>
            <a:cxnSpLocks/>
            <a:stCxn id="23" idx="0"/>
            <a:endCxn id="22" idx="2"/>
          </p:cNvCxnSpPr>
          <p:nvPr/>
        </p:nvCxnSpPr>
        <p:spPr>
          <a:xfrm flipV="1">
            <a:off x="9130936" y="4271554"/>
            <a:ext cx="1" cy="22711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5" name="群組 34">
            <a:extLst>
              <a:ext uri="{FF2B5EF4-FFF2-40B4-BE49-F238E27FC236}">
                <a16:creationId xmlns:a16="http://schemas.microsoft.com/office/drawing/2014/main" id="{80A6C9E2-72F4-4E29-9E69-67B79B384FED}"/>
              </a:ext>
            </a:extLst>
          </p:cNvPr>
          <p:cNvGrpSpPr/>
          <p:nvPr/>
        </p:nvGrpSpPr>
        <p:grpSpPr>
          <a:xfrm>
            <a:off x="8208023" y="2367880"/>
            <a:ext cx="3547127" cy="1123712"/>
            <a:chOff x="6287753" y="2114109"/>
            <a:chExt cx="3547127" cy="1123712"/>
          </a:xfrm>
        </p:grpSpPr>
        <p:sp>
          <p:nvSpPr>
            <p:cNvPr id="29" name="文字方塊 28">
              <a:extLst>
                <a:ext uri="{FF2B5EF4-FFF2-40B4-BE49-F238E27FC236}">
                  <a16:creationId xmlns:a16="http://schemas.microsoft.com/office/drawing/2014/main" id="{1D4F7F16-37E0-4AEB-8785-8A733AC5C6A5}"/>
                </a:ext>
              </a:extLst>
            </p:cNvPr>
            <p:cNvSpPr txBox="1"/>
            <p:nvPr/>
          </p:nvSpPr>
          <p:spPr>
            <a:xfrm>
              <a:off x="6287753" y="2114109"/>
              <a:ext cx="3547127" cy="1123712"/>
            </a:xfrm>
            <a:prstGeom prst="wedgeRoundRectCallout">
              <a:avLst>
                <a:gd name="adj1" fmla="val -15528"/>
                <a:gd name="adj2" fmla="val 66085"/>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選取　　以編輯。</a:t>
              </a:r>
              <a:endParaRPr lang="en-US" altLang="zh-TW" sz="2000" b="1" dirty="0">
                <a:cs typeface="+mn-ea"/>
                <a:sym typeface="+mn-lt"/>
              </a:endParaRPr>
            </a:p>
            <a:p>
              <a:r>
                <a:rPr lang="zh-TW" altLang="en-US" sz="2000" b="1" dirty="0">
                  <a:cs typeface="+mn-ea"/>
                  <a:sym typeface="+mn-lt"/>
                </a:rPr>
                <a:t>選取　　已刪除。</a:t>
              </a:r>
              <a:endParaRPr lang="en-US" altLang="zh-TW" sz="2000" b="1" dirty="0">
                <a:cs typeface="+mn-ea"/>
                <a:sym typeface="+mn-lt"/>
              </a:endParaRPr>
            </a:p>
            <a:p>
              <a:r>
                <a:rPr lang="zh-TW" altLang="en-US" sz="2000" b="1" dirty="0">
                  <a:cs typeface="+mn-ea"/>
                  <a:sym typeface="+mn-lt"/>
                </a:rPr>
                <a:t>註</a:t>
              </a:r>
              <a:r>
                <a:rPr lang="en-US" altLang="zh-TW" sz="2000" b="1" dirty="0">
                  <a:cs typeface="+mn-ea"/>
                  <a:sym typeface="+mn-lt"/>
                </a:rPr>
                <a:t>:</a:t>
              </a:r>
              <a:r>
                <a:rPr lang="zh-TW" altLang="en-US" sz="2000" b="1" dirty="0">
                  <a:cs typeface="+mn-ea"/>
                  <a:sym typeface="+mn-lt"/>
                </a:rPr>
                <a:t>只有自訂文件可刪除編輯。</a:t>
              </a:r>
              <a:endParaRPr lang="en-US" altLang="zh-TW" sz="2000" b="1" dirty="0">
                <a:cs typeface="+mn-ea"/>
                <a:sym typeface="+mn-lt"/>
              </a:endParaRPr>
            </a:p>
          </p:txBody>
        </p:sp>
        <p:pic>
          <p:nvPicPr>
            <p:cNvPr id="32" name="圖片 31">
              <a:extLst>
                <a:ext uri="{FF2B5EF4-FFF2-40B4-BE49-F238E27FC236}">
                  <a16:creationId xmlns:a16="http://schemas.microsoft.com/office/drawing/2014/main" id="{903F108A-9E94-4869-A8FF-C89A2451CBA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6973633" y="2144644"/>
              <a:ext cx="375798" cy="361061"/>
            </a:xfrm>
            <a:prstGeom prst="rect">
              <a:avLst/>
            </a:prstGeom>
          </p:spPr>
        </p:pic>
        <p:pic>
          <p:nvPicPr>
            <p:cNvPr id="34" name="圖片 33">
              <a:extLst>
                <a:ext uri="{FF2B5EF4-FFF2-40B4-BE49-F238E27FC236}">
                  <a16:creationId xmlns:a16="http://schemas.microsoft.com/office/drawing/2014/main" id="{C3C3C575-648C-40F0-AC0A-A5D5B571D162}"/>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imgEffect>
                    </a14:imgLayer>
                  </a14:imgProps>
                </a:ext>
              </a:extLst>
            </a:blip>
            <a:stretch>
              <a:fillRect/>
            </a:stretch>
          </p:blipFill>
          <p:spPr>
            <a:xfrm>
              <a:off x="6990000" y="2478005"/>
              <a:ext cx="343064" cy="372261"/>
            </a:xfrm>
            <a:prstGeom prst="rect">
              <a:avLst/>
            </a:prstGeom>
          </p:spPr>
        </p:pic>
      </p:grpSp>
      <p:sp>
        <p:nvSpPr>
          <p:cNvPr id="36" name="矩形: 剪去單一角落 35">
            <a:extLst>
              <a:ext uri="{FF2B5EF4-FFF2-40B4-BE49-F238E27FC236}">
                <a16:creationId xmlns:a16="http://schemas.microsoft.com/office/drawing/2014/main" id="{6011BFB5-E774-4354-91F7-813D19CD552F}"/>
              </a:ext>
            </a:extLst>
          </p:cNvPr>
          <p:cNvSpPr/>
          <p:nvPr/>
        </p:nvSpPr>
        <p:spPr>
          <a:xfrm>
            <a:off x="10198274" y="488486"/>
            <a:ext cx="1823344" cy="410649"/>
          </a:xfrm>
          <a:prstGeom prst="snip1Rect">
            <a:avLst>
              <a:gd name="adj" fmla="val 50000"/>
            </a:avLst>
          </a:prstGeom>
          <a:gradFill>
            <a:gsLst>
              <a:gs pos="2000">
                <a:schemeClr val="bg1">
                  <a:lumMod val="85000"/>
                </a:schemeClr>
              </a:gs>
              <a:gs pos="93000">
                <a:schemeClr val="bg2"/>
              </a:gs>
            </a:gsLst>
            <a:lin ang="10800000" scaled="0"/>
          </a:gradFill>
          <a:ln>
            <a:noFill/>
          </a:ln>
          <a:effectLst>
            <a:outerShdw blurRad="127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zh-TW" altLang="en-US" sz="1400" b="1" dirty="0">
                <a:solidFill>
                  <a:schemeClr val="tx1"/>
                </a:solidFill>
                <a:latin typeface="微軟正黑體" panose="020B0604030504040204" pitchFamily="34" charset="-120"/>
                <a:ea typeface="微軟正黑體" panose="020B0604030504040204" pitchFamily="34" charset="-120"/>
                <a:cs typeface="+mn-ea"/>
                <a:sym typeface="+mn-lt"/>
              </a:rPr>
              <a:t>機關（辦理）</a:t>
            </a:r>
          </a:p>
          <a:p>
            <a:pPr algn="ctr"/>
            <a:endParaRPr lang="zh-TW" altLang="en-US" sz="1400" dirty="0"/>
          </a:p>
        </p:txBody>
      </p:sp>
    </p:spTree>
    <p:extLst>
      <p:ext uri="{BB962C8B-B14F-4D97-AF65-F5344CB8AC3E}">
        <p14:creationId xmlns:p14="http://schemas.microsoft.com/office/powerpoint/2010/main" val="37405474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3877985" cy="584775"/>
          </a:xfrm>
          <a:prstGeom prst="rect">
            <a:avLst/>
          </a:prstGeom>
        </p:spPr>
        <p:txBody>
          <a:bodyPr wrap="none">
            <a:spAutoFit/>
          </a:bodyPr>
          <a:lstStyle/>
          <a:p>
            <a:pPr lvl="0">
              <a:defRPr/>
            </a:pPr>
            <a:r>
              <a:rPr lang="en-US" altLang="zh-TW" sz="3200" dirty="0"/>
              <a:t>B1.3</a:t>
            </a:r>
            <a:r>
              <a:rPr lang="zh-TW" altLang="en-US" sz="3200" dirty="0"/>
              <a:t>服務實施計畫書</a:t>
            </a:r>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監造廠商應依招標文件及服務建議書內容，於契約約定期限內，提出「服務實施計畫書」送機關核可。</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2250600"/>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4" name="五邊形 13"/>
          <p:cNvSpPr/>
          <p:nvPr/>
        </p:nvSpPr>
        <p:spPr>
          <a:xfrm>
            <a:off x="2454272" y="2250598"/>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2145139"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 技服契約</a:t>
            </a:r>
            <a:r>
              <a:rPr lang="en-US" altLang="zh-TW" sz="1200" u="sng" dirty="0">
                <a:solidFill>
                  <a:srgbClr val="000000"/>
                </a:solidFill>
                <a:latin typeface="微軟正黑體" panose="020B0604030504040204" pitchFamily="34" charset="-120"/>
                <a:ea typeface="微軟正黑體" panose="020B0604030504040204" pitchFamily="34" charset="-120"/>
              </a:rPr>
              <a:t>8-</a:t>
            </a:r>
            <a:r>
              <a:rPr lang="zh-TW" altLang="en-US" sz="1200" u="sng" dirty="0">
                <a:solidFill>
                  <a:srgbClr val="000000"/>
                </a:solidFill>
                <a:latin typeface="微軟正黑體" panose="020B0604030504040204" pitchFamily="34" charset="-120"/>
                <a:ea typeface="微軟正黑體" panose="020B0604030504040204" pitchFamily="34" charset="-120"/>
              </a:rPr>
              <a:t>（一）</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2603525" y="5916406"/>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28C1812C-EA64-4D66-B30D-C975A839595D}"/>
              </a:ext>
            </a:extLst>
          </p:cNvPr>
          <p:cNvSpPr txBox="1"/>
          <p:nvPr/>
        </p:nvSpPr>
        <p:spPr>
          <a:xfrm>
            <a:off x="612780" y="2586956"/>
            <a:ext cx="1125701"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4"/>
              </a:rPr>
              <a:t>開會通知單</a:t>
            </a:r>
            <a:endParaRPr lang="zh-TW" altLang="en-US" sz="1400" dirty="0"/>
          </a:p>
        </p:txBody>
      </p:sp>
      <p:sp>
        <p:nvSpPr>
          <p:cNvPr id="16" name="文字方塊 15">
            <a:extLst>
              <a:ext uri="{FF2B5EF4-FFF2-40B4-BE49-F238E27FC236}">
                <a16:creationId xmlns:a16="http://schemas.microsoft.com/office/drawing/2014/main" id="{CCF9E64D-BD67-41CF-B8B0-03F513AD6E9F}"/>
              </a:ext>
            </a:extLst>
          </p:cNvPr>
          <p:cNvSpPr txBox="1"/>
          <p:nvPr/>
        </p:nvSpPr>
        <p:spPr>
          <a:xfrm>
            <a:off x="612780" y="2826841"/>
            <a:ext cx="946184" cy="307777"/>
          </a:xfrm>
          <a:prstGeom prst="rect">
            <a:avLst/>
          </a:prstGeom>
          <a:noFill/>
        </p:spPr>
        <p:txBody>
          <a:bodyPr wrap="square">
            <a:spAutoFit/>
          </a:bodyPr>
          <a:lstStyle/>
          <a:p>
            <a:r>
              <a:rPr lang="zh-TW" altLang="en-US" sz="1400" b="0" i="0" u="none" strike="noStrike">
                <a:solidFill>
                  <a:srgbClr val="0070C0"/>
                </a:solidFill>
                <a:effectLst/>
                <a:latin typeface="新細明體" panose="02020500000000000000" pitchFamily="18" charset="-120"/>
                <a:ea typeface="新細明體" panose="02020500000000000000" pitchFamily="18" charset="-120"/>
                <a:hlinkClick r:id="rId5"/>
              </a:rPr>
              <a:t>限期改正</a:t>
            </a:r>
            <a:endParaRPr lang="zh-TW" altLang="en-US" sz="1400" dirty="0"/>
          </a:p>
        </p:txBody>
      </p:sp>
      <p:sp>
        <p:nvSpPr>
          <p:cNvPr id="17" name="文字方塊 16">
            <a:extLst>
              <a:ext uri="{FF2B5EF4-FFF2-40B4-BE49-F238E27FC236}">
                <a16:creationId xmlns:a16="http://schemas.microsoft.com/office/drawing/2014/main" id="{F69910AF-BC23-4463-8590-3FC56E8A880E}"/>
              </a:ext>
            </a:extLst>
          </p:cNvPr>
          <p:cNvSpPr txBox="1"/>
          <p:nvPr/>
        </p:nvSpPr>
        <p:spPr>
          <a:xfrm>
            <a:off x="612780" y="3061311"/>
            <a:ext cx="946184"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6"/>
              </a:rPr>
              <a:t>核定函</a:t>
            </a:r>
            <a:endParaRPr lang="zh-TW" altLang="en-US" sz="1400" dirty="0"/>
          </a:p>
        </p:txBody>
      </p:sp>
      <p:sp>
        <p:nvSpPr>
          <p:cNvPr id="19" name="文字方塊 18">
            <a:extLst>
              <a:ext uri="{FF2B5EF4-FFF2-40B4-BE49-F238E27FC236}">
                <a16:creationId xmlns:a16="http://schemas.microsoft.com/office/drawing/2014/main" id="{D6854472-BF98-490A-B8BC-B2CE638A1821}"/>
              </a:ext>
            </a:extLst>
          </p:cNvPr>
          <p:cNvSpPr txBox="1"/>
          <p:nvPr/>
        </p:nvSpPr>
        <p:spPr>
          <a:xfrm>
            <a:off x="2682096" y="2586956"/>
            <a:ext cx="829491"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7"/>
              </a:rPr>
              <a:t>核定函</a:t>
            </a:r>
            <a:endParaRPr lang="zh-TW" altLang="en-US" sz="1400" dirty="0"/>
          </a:p>
        </p:txBody>
      </p:sp>
    </p:spTree>
    <p:extLst>
      <p:ext uri="{BB962C8B-B14F-4D97-AF65-F5344CB8AC3E}">
        <p14:creationId xmlns:p14="http://schemas.microsoft.com/office/powerpoint/2010/main" val="2234682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D665"/>
        </a:solidFill>
        <a:effectLst/>
      </p:bgPr>
    </p:bg>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0CA018FA-7B70-4E31-9258-0EA69C52BF06}"/>
              </a:ext>
            </a:extLst>
          </p:cNvPr>
          <p:cNvPicPr>
            <a:picLocks noChangeAspect="1"/>
          </p:cNvPicPr>
          <p:nvPr/>
        </p:nvPicPr>
        <p:blipFill>
          <a:blip r:embed="rId3"/>
          <a:stretch>
            <a:fillRect/>
          </a:stretch>
        </p:blipFill>
        <p:spPr>
          <a:xfrm>
            <a:off x="709224" y="1408180"/>
            <a:ext cx="11040816" cy="3363274"/>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新增紀錄</a:t>
            </a:r>
            <a:endParaRPr lang="en-US" altLang="zh-TW" sz="2400" b="1" dirty="0">
              <a:cs typeface="+mn-ea"/>
              <a:sym typeface="+mn-lt"/>
            </a:endParaRP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B1.3</a:t>
            </a:r>
            <a:r>
              <a:rPr lang="zh-TW" altLang="en-US" sz="3200" b="1" dirty="0">
                <a:solidFill>
                  <a:srgbClr val="39759D"/>
                </a:solidFill>
                <a:cs typeface="+mn-ea"/>
                <a:sym typeface="+mn-lt"/>
              </a:rPr>
              <a:t>服務實施計畫書</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375762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67A70F71-E755-4D14-A3E1-DCDF5EBD3149}"/>
              </a:ext>
            </a:extLst>
          </p:cNvPr>
          <p:cNvSpPr/>
          <p:nvPr/>
        </p:nvSpPr>
        <p:spPr>
          <a:xfrm>
            <a:off x="10680564" y="1564161"/>
            <a:ext cx="802212" cy="372628"/>
          </a:xfrm>
          <a:prstGeom prst="rect">
            <a:avLst/>
          </a:prstGeom>
          <a:no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6B4A87EF-D384-4FFD-9E23-3485EFDD9037}"/>
              </a:ext>
            </a:extLst>
          </p:cNvPr>
          <p:cNvSpPr txBox="1"/>
          <p:nvPr/>
        </p:nvSpPr>
        <p:spPr>
          <a:xfrm>
            <a:off x="7559040" y="1583245"/>
            <a:ext cx="3043985" cy="369332"/>
          </a:xfrm>
          <a:prstGeom prst="rect">
            <a:avLst/>
          </a:prstGeom>
          <a:solidFill>
            <a:schemeClr val="accent4">
              <a:lumMod val="40000"/>
              <a:lumOff val="60000"/>
            </a:schemeClr>
          </a:solidFill>
          <a:ln>
            <a:solidFill>
              <a:srgbClr val="FF0000"/>
            </a:solidFill>
          </a:ln>
        </p:spPr>
        <p:txBody>
          <a:bodyPr wrap="square" rtlCol="0">
            <a:spAutoFit/>
          </a:bodyPr>
          <a:lstStyle/>
          <a:p>
            <a:pPr algn="l"/>
            <a:r>
              <a:rPr lang="zh-TW" altLang="en-US" b="1" dirty="0">
                <a:cs typeface="+mn-ea"/>
                <a:sym typeface="+mn-lt"/>
              </a:rPr>
              <a:t>點擊新增紀錄新增一筆資料</a:t>
            </a:r>
          </a:p>
        </p:txBody>
      </p:sp>
      <p:cxnSp>
        <p:nvCxnSpPr>
          <p:cNvPr id="9" name="直線接點 8">
            <a:extLst>
              <a:ext uri="{FF2B5EF4-FFF2-40B4-BE49-F238E27FC236}">
                <a16:creationId xmlns:a16="http://schemas.microsoft.com/office/drawing/2014/main" id="{18B6BA14-968E-4F00-AA29-9F92E7027969}"/>
              </a:ext>
            </a:extLst>
          </p:cNvPr>
          <p:cNvCxnSpPr>
            <a:cxnSpLocks/>
            <a:stCxn id="8" idx="3"/>
            <a:endCxn id="7" idx="1"/>
          </p:cNvCxnSpPr>
          <p:nvPr/>
        </p:nvCxnSpPr>
        <p:spPr>
          <a:xfrm flipV="1">
            <a:off x="10603025" y="1750475"/>
            <a:ext cx="77539" cy="1743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2" name="圖片 11">
            <a:extLst>
              <a:ext uri="{FF2B5EF4-FFF2-40B4-BE49-F238E27FC236}">
                <a16:creationId xmlns:a16="http://schemas.microsoft.com/office/drawing/2014/main" id="{AE11760C-1441-43D8-BA3B-A96A7FB2417A}"/>
              </a:ext>
            </a:extLst>
          </p:cNvPr>
          <p:cNvPicPr>
            <a:picLocks noChangeAspect="1"/>
          </p:cNvPicPr>
          <p:nvPr/>
        </p:nvPicPr>
        <p:blipFill rotWithShape="1">
          <a:blip r:embed="rId4"/>
          <a:srcRect l="941" t="2765" r="1043" b="2990"/>
          <a:stretch/>
        </p:blipFill>
        <p:spPr>
          <a:xfrm>
            <a:off x="1436221" y="4869502"/>
            <a:ext cx="2753213" cy="875872"/>
          </a:xfrm>
          <a:prstGeom prst="rect">
            <a:avLst/>
          </a:prstGeom>
          <a:ln>
            <a:solidFill>
              <a:schemeClr val="accent1"/>
            </a:solidFill>
          </a:ln>
        </p:spPr>
      </p:pic>
      <p:sp>
        <p:nvSpPr>
          <p:cNvPr id="19" name="矩形: 圓角 18">
            <a:extLst>
              <a:ext uri="{FF2B5EF4-FFF2-40B4-BE49-F238E27FC236}">
                <a16:creationId xmlns:a16="http://schemas.microsoft.com/office/drawing/2014/main" id="{1D2A9D9B-8331-4FC7-BCB9-F4C548970246}"/>
              </a:ext>
            </a:extLst>
          </p:cNvPr>
          <p:cNvSpPr/>
          <p:nvPr/>
        </p:nvSpPr>
        <p:spPr>
          <a:xfrm>
            <a:off x="136200" y="1408180"/>
            <a:ext cx="461665" cy="4855459"/>
          </a:xfrm>
          <a:prstGeom prst="roundRect">
            <a:avLst>
              <a:gd name="adj" fmla="val 3611"/>
            </a:avLst>
          </a:prstGeom>
          <a:gradFill>
            <a:gsLst>
              <a:gs pos="0">
                <a:srgbClr val="67EDA8"/>
              </a:gs>
              <a:gs pos="100000">
                <a:schemeClr val="accent6">
                  <a:lumMod val="40000"/>
                  <a:lumOff val="6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800" b="1" dirty="0">
                <a:solidFill>
                  <a:schemeClr val="tx1"/>
                </a:solidFill>
                <a:latin typeface="微軟正黑體" panose="020B0604030504040204" pitchFamily="34" charset="-120"/>
                <a:ea typeface="微軟正黑體" panose="020B0604030504040204" pitchFamily="34" charset="-120"/>
                <a:cs typeface="+mn-ea"/>
                <a:sym typeface="+mn-lt"/>
              </a:rPr>
              <a:t>監造廠商辦理▼機關</a:t>
            </a:r>
            <a:r>
              <a:rPr lang="zh-TW" altLang="en-US" b="1" dirty="0">
                <a:solidFill>
                  <a:schemeClr val="tx1"/>
                </a:solidFill>
                <a:latin typeface="微軟正黑體" panose="020B0604030504040204" pitchFamily="34" charset="-120"/>
                <a:ea typeface="微軟正黑體" panose="020B0604030504040204" pitchFamily="34" charset="-120"/>
                <a:cs typeface="+mn-ea"/>
                <a:sym typeface="+mn-lt"/>
              </a:rPr>
              <a:t>核定</a:t>
            </a:r>
            <a:endParaRPr lang="zh-CN" altLang="en-US" sz="1800" b="1" dirty="0">
              <a:solidFill>
                <a:schemeClr val="tx1"/>
              </a:solidFill>
              <a:latin typeface="微軟正黑體" panose="020B0604030504040204" pitchFamily="34" charset="-120"/>
              <a:ea typeface="微軟正黑體" panose="020B0604030504040204" pitchFamily="34" charset="-120"/>
              <a:cs typeface="+mn-ea"/>
              <a:sym typeface="+mn-lt"/>
            </a:endParaRPr>
          </a:p>
          <a:p>
            <a:pPr algn="ctr"/>
            <a:endParaRPr lang="zh-TW" altLang="en-US" dirty="0">
              <a:solidFill>
                <a:schemeClr val="tx1"/>
              </a:solidFill>
            </a:endParaRPr>
          </a:p>
        </p:txBody>
      </p:sp>
      <p:sp>
        <p:nvSpPr>
          <p:cNvPr id="23" name="矩形: 剪去單一角落 22">
            <a:extLst>
              <a:ext uri="{FF2B5EF4-FFF2-40B4-BE49-F238E27FC236}">
                <a16:creationId xmlns:a16="http://schemas.microsoft.com/office/drawing/2014/main" id="{64F16D42-8B6D-4868-9205-15D3B93AFB5E}"/>
              </a:ext>
            </a:extLst>
          </p:cNvPr>
          <p:cNvSpPr/>
          <p:nvPr/>
        </p:nvSpPr>
        <p:spPr>
          <a:xfrm>
            <a:off x="10201183" y="490448"/>
            <a:ext cx="1823344" cy="410649"/>
          </a:xfrm>
          <a:prstGeom prst="snip1Rect">
            <a:avLst>
              <a:gd name="adj" fmla="val 50000"/>
            </a:avLst>
          </a:prstGeom>
          <a:gradFill>
            <a:gsLst>
              <a:gs pos="0">
                <a:srgbClr val="76EDAA"/>
              </a:gs>
              <a:gs pos="93000">
                <a:schemeClr val="accent6">
                  <a:lumMod val="40000"/>
                  <a:lumOff val="60000"/>
                </a:schemeClr>
              </a:gs>
            </a:gsLst>
            <a:lin ang="10800000" scaled="0"/>
          </a:gradFill>
          <a:ln>
            <a:noFill/>
          </a:ln>
          <a:effectLst>
            <a:outerShdw blurRad="127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zh-TW" altLang="en-US" sz="1400" b="1" dirty="0">
                <a:solidFill>
                  <a:schemeClr val="tx1"/>
                </a:solidFill>
                <a:latin typeface="微軟正黑體" panose="020B0604030504040204" pitchFamily="34" charset="-120"/>
                <a:ea typeface="微軟正黑體" panose="020B0604030504040204" pitchFamily="34" charset="-120"/>
                <a:cs typeface="+mn-ea"/>
                <a:sym typeface="+mn-lt"/>
              </a:rPr>
              <a:t>監造廠商（辦理）</a:t>
            </a:r>
          </a:p>
          <a:p>
            <a:pPr algn="ctr"/>
            <a:endParaRPr lang="zh-TW" altLang="en-US" sz="1400" dirty="0"/>
          </a:p>
        </p:txBody>
      </p:sp>
      <p:sp>
        <p:nvSpPr>
          <p:cNvPr id="16" name="文字方塊 15">
            <a:extLst>
              <a:ext uri="{FF2B5EF4-FFF2-40B4-BE49-F238E27FC236}">
                <a16:creationId xmlns:a16="http://schemas.microsoft.com/office/drawing/2014/main" id="{6B4A87EF-D384-4FFD-9E23-3485EFDD9037}"/>
              </a:ext>
            </a:extLst>
          </p:cNvPr>
          <p:cNvSpPr txBox="1"/>
          <p:nvPr/>
        </p:nvSpPr>
        <p:spPr>
          <a:xfrm>
            <a:off x="840958" y="4449502"/>
            <a:ext cx="4103905"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cs typeface="+mn-ea"/>
                <a:sym typeface="+mn-lt"/>
              </a:rPr>
              <a:t>若為第一次進入則會自動詢問是否新增</a:t>
            </a:r>
            <a:endParaRPr lang="en-US" altLang="zh-TW" b="1" dirty="0">
              <a:cs typeface="+mn-ea"/>
              <a:sym typeface="+mn-lt"/>
            </a:endParaRPr>
          </a:p>
        </p:txBody>
      </p:sp>
      <p:sp>
        <p:nvSpPr>
          <p:cNvPr id="4" name="矩形 3"/>
          <p:cNvSpPr/>
          <p:nvPr/>
        </p:nvSpPr>
        <p:spPr>
          <a:xfrm>
            <a:off x="709224" y="4296792"/>
            <a:ext cx="4413192" cy="1740024"/>
          </a:xfrm>
          <a:prstGeom prst="rect">
            <a:avLst/>
          </a:prstGeom>
          <a:noFill/>
          <a:ln w="19050" cap="rnd">
            <a:solidFill>
              <a:srgbClr val="FF0000"/>
            </a:solidFill>
            <a:prstDash val="sysDash"/>
            <a:extLst>
              <a:ext uri="{C807C97D-BFC1-408E-A445-0C87EB9F89A2}">
                <ask:lineSketchStyleProps xmlns:ask="http://schemas.microsoft.com/office/drawing/2018/sketchyshapes" xmln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85458549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D665"/>
        </a:solidFill>
        <a:effectLst/>
      </p:bgPr>
    </p:bg>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0CA018FA-7B70-4E31-9258-0EA69C52BF06}"/>
              </a:ext>
            </a:extLst>
          </p:cNvPr>
          <p:cNvPicPr>
            <a:picLocks noChangeAspect="1"/>
          </p:cNvPicPr>
          <p:nvPr/>
        </p:nvPicPr>
        <p:blipFill>
          <a:blip r:embed="rId3"/>
          <a:stretch>
            <a:fillRect/>
          </a:stretch>
        </p:blipFill>
        <p:spPr>
          <a:xfrm>
            <a:off x="709224" y="1408180"/>
            <a:ext cx="11040816" cy="3363274"/>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新增紀錄</a:t>
            </a:r>
            <a:endParaRPr lang="en-US" altLang="zh-TW" sz="2400" b="1" dirty="0">
              <a:cs typeface="+mn-ea"/>
              <a:sym typeface="+mn-lt"/>
            </a:endParaRP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B1.3</a:t>
            </a:r>
            <a:r>
              <a:rPr lang="zh-TW" altLang="en-US" sz="3200" b="1" dirty="0">
                <a:solidFill>
                  <a:srgbClr val="39759D"/>
                </a:solidFill>
                <a:cs typeface="+mn-ea"/>
                <a:sym typeface="+mn-lt"/>
              </a:rPr>
              <a:t>服務實施計畫書</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375762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67A70F71-E755-4D14-A3E1-DCDF5EBD3149}"/>
              </a:ext>
            </a:extLst>
          </p:cNvPr>
          <p:cNvSpPr/>
          <p:nvPr/>
        </p:nvSpPr>
        <p:spPr>
          <a:xfrm>
            <a:off x="10680564" y="1564161"/>
            <a:ext cx="802212" cy="372628"/>
          </a:xfrm>
          <a:prstGeom prst="rect">
            <a:avLst/>
          </a:prstGeom>
          <a:no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6B4A87EF-D384-4FFD-9E23-3485EFDD9037}"/>
              </a:ext>
            </a:extLst>
          </p:cNvPr>
          <p:cNvSpPr txBox="1"/>
          <p:nvPr/>
        </p:nvSpPr>
        <p:spPr>
          <a:xfrm>
            <a:off x="7559040" y="1583245"/>
            <a:ext cx="3043985" cy="369332"/>
          </a:xfrm>
          <a:prstGeom prst="rect">
            <a:avLst/>
          </a:prstGeom>
          <a:solidFill>
            <a:schemeClr val="accent4">
              <a:lumMod val="40000"/>
              <a:lumOff val="60000"/>
            </a:schemeClr>
          </a:solidFill>
          <a:ln>
            <a:solidFill>
              <a:srgbClr val="FF0000"/>
            </a:solidFill>
          </a:ln>
        </p:spPr>
        <p:txBody>
          <a:bodyPr wrap="square" rtlCol="0">
            <a:spAutoFit/>
          </a:bodyPr>
          <a:lstStyle/>
          <a:p>
            <a:pPr algn="l"/>
            <a:r>
              <a:rPr lang="zh-TW" altLang="en-US" b="1" dirty="0">
                <a:cs typeface="+mn-ea"/>
                <a:sym typeface="+mn-lt"/>
              </a:rPr>
              <a:t>點擊新增紀錄新增一筆資料</a:t>
            </a:r>
          </a:p>
        </p:txBody>
      </p:sp>
      <p:cxnSp>
        <p:nvCxnSpPr>
          <p:cNvPr id="9" name="直線接點 8">
            <a:extLst>
              <a:ext uri="{FF2B5EF4-FFF2-40B4-BE49-F238E27FC236}">
                <a16:creationId xmlns:a16="http://schemas.microsoft.com/office/drawing/2014/main" id="{18B6BA14-968E-4F00-AA29-9F92E7027969}"/>
              </a:ext>
            </a:extLst>
          </p:cNvPr>
          <p:cNvCxnSpPr>
            <a:cxnSpLocks/>
            <a:stCxn id="8" idx="3"/>
            <a:endCxn id="7" idx="1"/>
          </p:cNvCxnSpPr>
          <p:nvPr/>
        </p:nvCxnSpPr>
        <p:spPr>
          <a:xfrm flipV="1">
            <a:off x="10603025" y="1750475"/>
            <a:ext cx="77539" cy="1743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2" name="圖片 11">
            <a:extLst>
              <a:ext uri="{FF2B5EF4-FFF2-40B4-BE49-F238E27FC236}">
                <a16:creationId xmlns:a16="http://schemas.microsoft.com/office/drawing/2014/main" id="{AE11760C-1441-43D8-BA3B-A96A7FB2417A}"/>
              </a:ext>
            </a:extLst>
          </p:cNvPr>
          <p:cNvPicPr>
            <a:picLocks noChangeAspect="1"/>
          </p:cNvPicPr>
          <p:nvPr/>
        </p:nvPicPr>
        <p:blipFill rotWithShape="1">
          <a:blip r:embed="rId4"/>
          <a:srcRect l="941" t="2765" r="1043" b="2990"/>
          <a:stretch/>
        </p:blipFill>
        <p:spPr>
          <a:xfrm>
            <a:off x="1436221" y="4869502"/>
            <a:ext cx="2753213" cy="875872"/>
          </a:xfrm>
          <a:prstGeom prst="rect">
            <a:avLst/>
          </a:prstGeom>
          <a:ln>
            <a:solidFill>
              <a:schemeClr val="accent1"/>
            </a:solidFill>
          </a:ln>
        </p:spPr>
      </p:pic>
      <p:sp>
        <p:nvSpPr>
          <p:cNvPr id="19" name="矩形: 圓角 18">
            <a:extLst>
              <a:ext uri="{FF2B5EF4-FFF2-40B4-BE49-F238E27FC236}">
                <a16:creationId xmlns:a16="http://schemas.microsoft.com/office/drawing/2014/main" id="{1D2A9D9B-8331-4FC7-BCB9-F4C548970246}"/>
              </a:ext>
            </a:extLst>
          </p:cNvPr>
          <p:cNvSpPr/>
          <p:nvPr/>
        </p:nvSpPr>
        <p:spPr>
          <a:xfrm>
            <a:off x="136200" y="1408180"/>
            <a:ext cx="461665" cy="4855459"/>
          </a:xfrm>
          <a:prstGeom prst="roundRect">
            <a:avLst>
              <a:gd name="adj" fmla="val 3611"/>
            </a:avLst>
          </a:prstGeom>
          <a:gradFill>
            <a:gsLst>
              <a:gs pos="0">
                <a:srgbClr val="67EDA8"/>
              </a:gs>
              <a:gs pos="100000">
                <a:schemeClr val="accent6">
                  <a:lumMod val="40000"/>
                  <a:lumOff val="6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800" b="1" dirty="0">
                <a:solidFill>
                  <a:schemeClr val="tx1"/>
                </a:solidFill>
                <a:latin typeface="微軟正黑體" panose="020B0604030504040204" pitchFamily="34" charset="-120"/>
                <a:ea typeface="微軟正黑體" panose="020B0604030504040204" pitchFamily="34" charset="-120"/>
                <a:cs typeface="+mn-ea"/>
                <a:sym typeface="+mn-lt"/>
              </a:rPr>
              <a:t>監造廠商辦理▼機關</a:t>
            </a:r>
            <a:r>
              <a:rPr lang="zh-TW" altLang="en-US" b="1" dirty="0">
                <a:solidFill>
                  <a:schemeClr val="tx1"/>
                </a:solidFill>
                <a:latin typeface="微軟正黑體" panose="020B0604030504040204" pitchFamily="34" charset="-120"/>
                <a:ea typeface="微軟正黑體" panose="020B0604030504040204" pitchFamily="34" charset="-120"/>
                <a:cs typeface="+mn-ea"/>
                <a:sym typeface="+mn-lt"/>
              </a:rPr>
              <a:t>核定</a:t>
            </a:r>
            <a:endParaRPr lang="zh-CN" altLang="en-US" sz="1800" b="1" dirty="0">
              <a:solidFill>
                <a:schemeClr val="tx1"/>
              </a:solidFill>
              <a:latin typeface="微軟正黑體" panose="020B0604030504040204" pitchFamily="34" charset="-120"/>
              <a:ea typeface="微軟正黑體" panose="020B0604030504040204" pitchFamily="34" charset="-120"/>
              <a:cs typeface="+mn-ea"/>
              <a:sym typeface="+mn-lt"/>
            </a:endParaRPr>
          </a:p>
          <a:p>
            <a:pPr algn="ctr"/>
            <a:endParaRPr lang="zh-TW" altLang="en-US" dirty="0">
              <a:solidFill>
                <a:schemeClr val="tx1"/>
              </a:solidFill>
            </a:endParaRPr>
          </a:p>
        </p:txBody>
      </p:sp>
      <p:sp>
        <p:nvSpPr>
          <p:cNvPr id="23" name="矩形: 剪去單一角落 22">
            <a:extLst>
              <a:ext uri="{FF2B5EF4-FFF2-40B4-BE49-F238E27FC236}">
                <a16:creationId xmlns:a16="http://schemas.microsoft.com/office/drawing/2014/main" id="{64F16D42-8B6D-4868-9205-15D3B93AFB5E}"/>
              </a:ext>
            </a:extLst>
          </p:cNvPr>
          <p:cNvSpPr/>
          <p:nvPr/>
        </p:nvSpPr>
        <p:spPr>
          <a:xfrm>
            <a:off x="10201183" y="490448"/>
            <a:ext cx="1823344" cy="410649"/>
          </a:xfrm>
          <a:prstGeom prst="snip1Rect">
            <a:avLst>
              <a:gd name="adj" fmla="val 50000"/>
            </a:avLst>
          </a:prstGeom>
          <a:gradFill>
            <a:gsLst>
              <a:gs pos="0">
                <a:srgbClr val="76EDAA"/>
              </a:gs>
              <a:gs pos="93000">
                <a:schemeClr val="accent6">
                  <a:lumMod val="40000"/>
                  <a:lumOff val="60000"/>
                </a:schemeClr>
              </a:gs>
            </a:gsLst>
            <a:lin ang="10800000" scaled="0"/>
          </a:gradFill>
          <a:ln>
            <a:noFill/>
          </a:ln>
          <a:effectLst>
            <a:outerShdw blurRad="127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zh-TW" altLang="en-US" sz="1400" b="1" dirty="0">
                <a:solidFill>
                  <a:schemeClr val="tx1"/>
                </a:solidFill>
                <a:latin typeface="微軟正黑體" panose="020B0604030504040204" pitchFamily="34" charset="-120"/>
                <a:ea typeface="微軟正黑體" panose="020B0604030504040204" pitchFamily="34" charset="-120"/>
                <a:cs typeface="+mn-ea"/>
                <a:sym typeface="+mn-lt"/>
              </a:rPr>
              <a:t>監造廠商（辦理）</a:t>
            </a:r>
          </a:p>
          <a:p>
            <a:pPr algn="ctr"/>
            <a:endParaRPr lang="zh-TW" altLang="en-US" sz="1400" dirty="0"/>
          </a:p>
        </p:txBody>
      </p:sp>
      <p:sp>
        <p:nvSpPr>
          <p:cNvPr id="16" name="文字方塊 15">
            <a:extLst>
              <a:ext uri="{FF2B5EF4-FFF2-40B4-BE49-F238E27FC236}">
                <a16:creationId xmlns:a16="http://schemas.microsoft.com/office/drawing/2014/main" id="{6B4A87EF-D384-4FFD-9E23-3485EFDD9037}"/>
              </a:ext>
            </a:extLst>
          </p:cNvPr>
          <p:cNvSpPr txBox="1"/>
          <p:nvPr/>
        </p:nvSpPr>
        <p:spPr>
          <a:xfrm>
            <a:off x="840958" y="4449502"/>
            <a:ext cx="4103905"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cs typeface="+mn-ea"/>
                <a:sym typeface="+mn-lt"/>
              </a:rPr>
              <a:t>若為第一次進入則會自動詢問是否新增</a:t>
            </a:r>
            <a:endParaRPr lang="en-US" altLang="zh-TW" b="1" dirty="0">
              <a:cs typeface="+mn-ea"/>
              <a:sym typeface="+mn-lt"/>
            </a:endParaRPr>
          </a:p>
        </p:txBody>
      </p:sp>
      <p:sp>
        <p:nvSpPr>
          <p:cNvPr id="4" name="矩形 3"/>
          <p:cNvSpPr/>
          <p:nvPr/>
        </p:nvSpPr>
        <p:spPr>
          <a:xfrm>
            <a:off x="709224" y="4296792"/>
            <a:ext cx="4413192" cy="1740024"/>
          </a:xfrm>
          <a:prstGeom prst="rect">
            <a:avLst/>
          </a:prstGeom>
          <a:noFill/>
          <a:ln w="19050" cap="rnd">
            <a:solidFill>
              <a:srgbClr val="FF0000"/>
            </a:solidFill>
            <a:prstDash val="sysDash"/>
            <a:extLst>
              <a:ext uri="{C807C97D-BFC1-408E-A445-0C87EB9F89A2}">
                <ask:lineSketchStyleProps xmlns:ask="http://schemas.microsoft.com/office/drawing/2018/sketchyshapes" xmln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4233229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D665"/>
        </a:solidFill>
        <a:effectLst/>
      </p:bgPr>
    </p:bg>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新增紀錄</a:t>
            </a:r>
            <a:endParaRPr lang="en-US" altLang="zh-TW" sz="2400" b="1" dirty="0">
              <a:cs typeface="+mn-ea"/>
              <a:sym typeface="+mn-lt"/>
            </a:endParaRP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B1.3</a:t>
            </a:r>
            <a:r>
              <a:rPr lang="zh-TW" altLang="en-US" sz="3200" b="1" dirty="0">
                <a:solidFill>
                  <a:srgbClr val="39759D"/>
                </a:solidFill>
                <a:cs typeface="+mn-ea"/>
                <a:sym typeface="+mn-lt"/>
              </a:rPr>
              <a:t>服務實施計畫書</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375762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19" name="矩形: 圓角 18">
            <a:extLst>
              <a:ext uri="{FF2B5EF4-FFF2-40B4-BE49-F238E27FC236}">
                <a16:creationId xmlns:a16="http://schemas.microsoft.com/office/drawing/2014/main" id="{1D2A9D9B-8331-4FC7-BCB9-F4C548970246}"/>
              </a:ext>
            </a:extLst>
          </p:cNvPr>
          <p:cNvSpPr/>
          <p:nvPr/>
        </p:nvSpPr>
        <p:spPr>
          <a:xfrm>
            <a:off x="136200" y="1408180"/>
            <a:ext cx="461665" cy="4855459"/>
          </a:xfrm>
          <a:prstGeom prst="roundRect">
            <a:avLst>
              <a:gd name="adj" fmla="val 3611"/>
            </a:avLst>
          </a:prstGeom>
          <a:gradFill>
            <a:gsLst>
              <a:gs pos="0">
                <a:srgbClr val="67EDA8"/>
              </a:gs>
              <a:gs pos="100000">
                <a:schemeClr val="accent6">
                  <a:lumMod val="40000"/>
                  <a:lumOff val="6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800" b="1" dirty="0">
                <a:solidFill>
                  <a:schemeClr val="tx1"/>
                </a:solidFill>
                <a:latin typeface="微軟正黑體" panose="020B0604030504040204" pitchFamily="34" charset="-120"/>
                <a:ea typeface="微軟正黑體" panose="020B0604030504040204" pitchFamily="34" charset="-120"/>
                <a:cs typeface="+mn-ea"/>
                <a:sym typeface="+mn-lt"/>
              </a:rPr>
              <a:t>監造廠商辦理▼機關</a:t>
            </a:r>
            <a:r>
              <a:rPr lang="zh-TW" altLang="en-US" b="1" dirty="0">
                <a:solidFill>
                  <a:schemeClr val="tx1"/>
                </a:solidFill>
                <a:latin typeface="微軟正黑體" panose="020B0604030504040204" pitchFamily="34" charset="-120"/>
                <a:ea typeface="微軟正黑體" panose="020B0604030504040204" pitchFamily="34" charset="-120"/>
                <a:cs typeface="+mn-ea"/>
                <a:sym typeface="+mn-lt"/>
              </a:rPr>
              <a:t>核定</a:t>
            </a:r>
            <a:endParaRPr lang="zh-CN" altLang="en-US" sz="1800" b="1" dirty="0">
              <a:solidFill>
                <a:schemeClr val="tx1"/>
              </a:solidFill>
              <a:latin typeface="微軟正黑體" panose="020B0604030504040204" pitchFamily="34" charset="-120"/>
              <a:ea typeface="微軟正黑體" panose="020B0604030504040204" pitchFamily="34" charset="-120"/>
              <a:cs typeface="+mn-ea"/>
              <a:sym typeface="+mn-lt"/>
            </a:endParaRPr>
          </a:p>
          <a:p>
            <a:pPr algn="ctr"/>
            <a:endParaRPr lang="zh-TW" altLang="en-US" dirty="0">
              <a:solidFill>
                <a:schemeClr val="tx1"/>
              </a:solidFill>
            </a:endParaRPr>
          </a:p>
        </p:txBody>
      </p:sp>
      <p:sp>
        <p:nvSpPr>
          <p:cNvPr id="23" name="矩形: 剪去單一角落 22">
            <a:extLst>
              <a:ext uri="{FF2B5EF4-FFF2-40B4-BE49-F238E27FC236}">
                <a16:creationId xmlns:a16="http://schemas.microsoft.com/office/drawing/2014/main" id="{64F16D42-8B6D-4868-9205-15D3B93AFB5E}"/>
              </a:ext>
            </a:extLst>
          </p:cNvPr>
          <p:cNvSpPr/>
          <p:nvPr/>
        </p:nvSpPr>
        <p:spPr>
          <a:xfrm>
            <a:off x="10201183" y="490448"/>
            <a:ext cx="1823344" cy="410649"/>
          </a:xfrm>
          <a:prstGeom prst="snip1Rect">
            <a:avLst>
              <a:gd name="adj" fmla="val 50000"/>
            </a:avLst>
          </a:prstGeom>
          <a:gradFill>
            <a:gsLst>
              <a:gs pos="0">
                <a:srgbClr val="76EDAA"/>
              </a:gs>
              <a:gs pos="93000">
                <a:schemeClr val="accent6">
                  <a:lumMod val="40000"/>
                  <a:lumOff val="60000"/>
                </a:schemeClr>
              </a:gs>
            </a:gsLst>
            <a:lin ang="10800000" scaled="0"/>
          </a:gradFill>
          <a:ln>
            <a:noFill/>
          </a:ln>
          <a:effectLst>
            <a:outerShdw blurRad="127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r>
              <a:rPr lang="zh-TW" altLang="en-US" sz="1400" b="1" dirty="0">
                <a:solidFill>
                  <a:schemeClr val="tx1"/>
                </a:solidFill>
                <a:latin typeface="微軟正黑體" panose="020B0604030504040204" pitchFamily="34" charset="-120"/>
                <a:ea typeface="微軟正黑體" panose="020B0604030504040204" pitchFamily="34" charset="-120"/>
                <a:cs typeface="+mn-ea"/>
                <a:sym typeface="+mn-lt"/>
              </a:rPr>
              <a:t>監造廠商（辦理）</a:t>
            </a:r>
          </a:p>
          <a:p>
            <a:pPr algn="ctr"/>
            <a:endParaRPr lang="zh-TW" altLang="en-US" sz="1400" dirty="0"/>
          </a:p>
        </p:txBody>
      </p:sp>
      <p:pic>
        <p:nvPicPr>
          <p:cNvPr id="2" name="圖片 1"/>
          <p:cNvPicPr>
            <a:picLocks noChangeAspect="1"/>
          </p:cNvPicPr>
          <p:nvPr/>
        </p:nvPicPr>
        <p:blipFill>
          <a:blip r:embed="rId3"/>
          <a:stretch>
            <a:fillRect/>
          </a:stretch>
        </p:blipFill>
        <p:spPr>
          <a:xfrm>
            <a:off x="866061" y="1564161"/>
            <a:ext cx="11007466" cy="4227039"/>
          </a:xfrm>
          <a:prstGeom prst="rect">
            <a:avLst/>
          </a:prstGeom>
        </p:spPr>
      </p:pic>
      <p:sp>
        <p:nvSpPr>
          <p:cNvPr id="10" name="矩形 9"/>
          <p:cNvSpPr/>
          <p:nvPr/>
        </p:nvSpPr>
        <p:spPr>
          <a:xfrm>
            <a:off x="1003300" y="3073400"/>
            <a:ext cx="8140700" cy="1828800"/>
          </a:xfrm>
          <a:prstGeom prst="rect">
            <a:avLst/>
          </a:prstGeom>
          <a:noFill/>
          <a:ln w="19050" cap="rnd">
            <a:solidFill>
              <a:srgbClr val="FF0000"/>
            </a:solidFill>
            <a:prstDash val="sysDash"/>
            <a:extLst>
              <a:ext uri="{C807C97D-BFC1-408E-A445-0C87EB9F89A2}">
                <ask:lineSketchStyleProps xmlns:ask="http://schemas.microsoft.com/office/drawing/2018/sketchyshapes" xmln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6975048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5961888" cy="584775"/>
          </a:xfrm>
          <a:prstGeom prst="rect">
            <a:avLst/>
          </a:prstGeom>
        </p:spPr>
        <p:txBody>
          <a:bodyPr wrap="none">
            <a:spAutoFit/>
          </a:bodyPr>
          <a:lstStyle/>
          <a:p>
            <a:pPr lvl="0">
              <a:defRPr/>
            </a:pPr>
            <a:r>
              <a:rPr lang="en-US" altLang="zh-TW" sz="3200" dirty="0"/>
              <a:t>B1.4</a:t>
            </a:r>
            <a:r>
              <a:rPr lang="zh-TW" altLang="en-US" sz="3200" dirty="0"/>
              <a:t>監造廠商派駐工地人員報核</a:t>
            </a:r>
          </a:p>
        </p:txBody>
      </p:sp>
      <p:sp>
        <p:nvSpPr>
          <p:cNvPr id="5" name="矩形 4"/>
          <p:cNvSpPr/>
          <p:nvPr/>
        </p:nvSpPr>
        <p:spPr>
          <a:xfrm>
            <a:off x="612780" y="1706742"/>
            <a:ext cx="10975655" cy="1345368"/>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監造廠商應於開工前，將現場人員相關資料報請機關核定，並由機關於七日內填報於工程會資訊網路系統；變更時亦同。現場人員最低人數及專兼職規定應依照本府公共工程施工品質管理作業要點金額級距認定。機關自辦監造者，比照相關規定辦理。</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監造廠商應於開工前登錄安全衛生人員資料，並將相關資料報請機關核定，機關應督促監造廠商依規定報請勞動檢查機關</a:t>
            </a:r>
            <a:r>
              <a:rPr lang="en-US" altLang="zh-TW" sz="1400" dirty="0">
                <a:solidFill>
                  <a:srgbClr val="000000"/>
                </a:solidFill>
                <a:latin typeface="微軟正黑體" panose="020B0604030504040204" pitchFamily="34" charset="-120"/>
                <a:ea typeface="微軟正黑體" panose="020B0604030504040204" pitchFamily="34" charset="-120"/>
              </a:rPr>
              <a:t>(</a:t>
            </a:r>
            <a:r>
              <a:rPr lang="zh-TW" altLang="en-US" sz="1400" dirty="0">
                <a:solidFill>
                  <a:srgbClr val="000000"/>
                </a:solidFill>
                <a:latin typeface="微軟正黑體" panose="020B0604030504040204" pitchFamily="34" charset="-120"/>
                <a:ea typeface="微軟正黑體" panose="020B0604030504040204" pitchFamily="34" charset="-120"/>
              </a:rPr>
              <a:t>構</a:t>
            </a:r>
            <a:r>
              <a:rPr lang="en-US" altLang="zh-TW" sz="1400" dirty="0">
                <a:solidFill>
                  <a:srgbClr val="000000"/>
                </a:solidFill>
                <a:latin typeface="微軟正黑體" panose="020B0604030504040204" pitchFamily="34" charset="-120"/>
                <a:ea typeface="微軟正黑體" panose="020B0604030504040204" pitchFamily="34" charset="-120"/>
              </a:rPr>
              <a:t>)</a:t>
            </a:r>
            <a:r>
              <a:rPr lang="zh-TW" altLang="en-US" sz="1400" dirty="0">
                <a:solidFill>
                  <a:srgbClr val="000000"/>
                </a:solidFill>
                <a:latin typeface="微軟正黑體" panose="020B0604030504040204" pitchFamily="34" charset="-120"/>
                <a:ea typeface="微軟正黑體" panose="020B0604030504040204" pitchFamily="34" charset="-120"/>
              </a:rPr>
              <a:t>備查；變更時亦同。</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3268029"/>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3" name="五邊形 12"/>
          <p:cNvSpPr/>
          <p:nvPr/>
        </p:nvSpPr>
        <p:spPr>
          <a:xfrm>
            <a:off x="2848576" y="3268028"/>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14" name="五邊形 13"/>
          <p:cNvSpPr/>
          <p:nvPr/>
        </p:nvSpPr>
        <p:spPr>
          <a:xfrm>
            <a:off x="5407927" y="3268027"/>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3169457"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 </a:t>
            </a:r>
            <a:r>
              <a:rPr lang="zh-TW" altLang="en-US" sz="1200" u="sng" dirty="0"/>
              <a:t>採購法</a:t>
            </a:r>
            <a:r>
              <a:rPr lang="en-US" altLang="zh-TW" sz="1200" u="sng" dirty="0"/>
              <a:t>61</a:t>
            </a:r>
            <a:r>
              <a:rPr lang="zh-TW" altLang="en-US" sz="1200" u="sng" dirty="0"/>
              <a:t>、細則</a:t>
            </a:r>
            <a:r>
              <a:rPr lang="en-US" altLang="zh-TW" sz="1200" u="sng" dirty="0"/>
              <a:t>84</a:t>
            </a:r>
            <a:r>
              <a:rPr lang="zh-TW" altLang="en-US" sz="1200" u="sng" dirty="0"/>
              <a:t>、</a:t>
            </a:r>
            <a:r>
              <a:rPr lang="en-US" altLang="zh-TW" sz="1200" u="sng" dirty="0"/>
              <a:t>85</a:t>
            </a:r>
            <a:r>
              <a:rPr lang="zh-TW" altLang="en-US" sz="1200" u="sng" dirty="0"/>
              <a:t>、投須</a:t>
            </a:r>
            <a:r>
              <a:rPr lang="en-US" altLang="zh-TW" sz="1200" u="sng" dirty="0"/>
              <a:t>84</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3485268" y="5916408"/>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909153F2-7CC2-4BFF-98A2-2581CD920289}"/>
              </a:ext>
            </a:extLst>
          </p:cNvPr>
          <p:cNvSpPr txBox="1"/>
          <p:nvPr/>
        </p:nvSpPr>
        <p:spPr>
          <a:xfrm>
            <a:off x="551905" y="3576583"/>
            <a:ext cx="724989"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4"/>
              </a:rPr>
              <a:t>核定函</a:t>
            </a:r>
            <a:endParaRPr lang="zh-TW" altLang="en-US" sz="1400" dirty="0"/>
          </a:p>
        </p:txBody>
      </p:sp>
      <p:sp>
        <p:nvSpPr>
          <p:cNvPr id="16" name="文字方塊 15">
            <a:extLst>
              <a:ext uri="{FF2B5EF4-FFF2-40B4-BE49-F238E27FC236}">
                <a16:creationId xmlns:a16="http://schemas.microsoft.com/office/drawing/2014/main" id="{CC720525-EBC8-452F-9B69-1A3FD441903F}"/>
              </a:ext>
            </a:extLst>
          </p:cNvPr>
          <p:cNvSpPr txBox="1"/>
          <p:nvPr/>
        </p:nvSpPr>
        <p:spPr>
          <a:xfrm>
            <a:off x="2984864" y="3576583"/>
            <a:ext cx="2031326" cy="307777"/>
          </a:xfrm>
          <a:prstGeom prst="rect">
            <a:avLst/>
          </a:prstGeom>
          <a:noFill/>
        </p:spPr>
        <p:txBody>
          <a:bodyPr wrap="square">
            <a:spAutoFit/>
          </a:bodyPr>
          <a:lstStyle/>
          <a:p>
            <a:r>
              <a:rPr lang="zh-TW" altLang="en-US" sz="1400" b="0" i="0" u="none" strike="noStrike" dirty="0">
                <a:solidFill>
                  <a:srgbClr val="FF0000"/>
                </a:solidFill>
                <a:effectLst/>
                <a:latin typeface="新細明體" panose="02020500000000000000" pitchFamily="18" charset="-120"/>
                <a:ea typeface="新細明體" panose="02020500000000000000" pitchFamily="18" charset="-120"/>
                <a:hlinkClick r:id="rId5"/>
              </a:rPr>
              <a:t>用人計畫審查表</a:t>
            </a:r>
            <a:endParaRPr lang="zh-TW" altLang="en-US" sz="1400" dirty="0"/>
          </a:p>
        </p:txBody>
      </p:sp>
      <p:sp>
        <p:nvSpPr>
          <p:cNvPr id="18" name="文字方塊 17">
            <a:extLst>
              <a:ext uri="{FF2B5EF4-FFF2-40B4-BE49-F238E27FC236}">
                <a16:creationId xmlns:a16="http://schemas.microsoft.com/office/drawing/2014/main" id="{E67341B3-6AB7-4040-B74D-3A01409AB195}"/>
              </a:ext>
            </a:extLst>
          </p:cNvPr>
          <p:cNvSpPr txBox="1"/>
          <p:nvPr/>
        </p:nvSpPr>
        <p:spPr>
          <a:xfrm>
            <a:off x="2984864" y="3862612"/>
            <a:ext cx="2031326" cy="523220"/>
          </a:xfrm>
          <a:prstGeom prst="rect">
            <a:avLst/>
          </a:prstGeom>
          <a:noFill/>
        </p:spPr>
        <p:txBody>
          <a:bodyPr wrap="square">
            <a:spAutoFit/>
          </a:bodyPr>
          <a:lstStyle/>
          <a:p>
            <a:r>
              <a:rPr lang="zh-TW" altLang="en-US" sz="1400" b="0" i="0" u="none" strike="noStrike" dirty="0">
                <a:solidFill>
                  <a:srgbClr val="FF0000"/>
                </a:solidFill>
                <a:effectLst/>
                <a:latin typeface="新細明體" panose="02020500000000000000" pitchFamily="18" charset="-120"/>
                <a:ea typeface="新細明體" panose="02020500000000000000" pitchFamily="18" charset="-120"/>
                <a:hlinkClick r:id="rId6"/>
              </a:rPr>
              <a:t>監造單位現場人員登錄表</a:t>
            </a:r>
            <a:endParaRPr lang="zh-TW" altLang="en-US" sz="1400" dirty="0"/>
          </a:p>
        </p:txBody>
      </p:sp>
      <p:sp>
        <p:nvSpPr>
          <p:cNvPr id="21" name="文字方塊 20">
            <a:extLst>
              <a:ext uri="{FF2B5EF4-FFF2-40B4-BE49-F238E27FC236}">
                <a16:creationId xmlns:a16="http://schemas.microsoft.com/office/drawing/2014/main" id="{DD4D1E4C-10C7-487A-8B58-7BD7320AB020}"/>
              </a:ext>
            </a:extLst>
          </p:cNvPr>
          <p:cNvSpPr txBox="1"/>
          <p:nvPr/>
        </p:nvSpPr>
        <p:spPr>
          <a:xfrm>
            <a:off x="5638974" y="3576583"/>
            <a:ext cx="1085186"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7"/>
              </a:rPr>
              <a:t>核定函</a:t>
            </a:r>
            <a:r>
              <a:rPr lang="zh-TW" altLang="en-US" sz="1400" dirty="0">
                <a:solidFill>
                  <a:srgbClr val="0070C0"/>
                </a:solidFill>
                <a:latin typeface="新細明體" panose="02020500000000000000" pitchFamily="18" charset="-120"/>
                <a:ea typeface="新細明體" panose="02020500000000000000" pitchFamily="18" charset="-120"/>
                <a:hlinkClick r:id="rId7"/>
              </a:rPr>
              <a:t>實例</a:t>
            </a:r>
            <a:endParaRPr lang="zh-TW" altLang="en-US" sz="1400" dirty="0"/>
          </a:p>
        </p:txBody>
      </p:sp>
    </p:spTree>
    <p:extLst>
      <p:ext uri="{BB962C8B-B14F-4D97-AF65-F5344CB8AC3E}">
        <p14:creationId xmlns:p14="http://schemas.microsoft.com/office/powerpoint/2010/main" val="227841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5961888" cy="584775"/>
          </a:xfrm>
          <a:prstGeom prst="rect">
            <a:avLst/>
          </a:prstGeom>
        </p:spPr>
        <p:txBody>
          <a:bodyPr wrap="none">
            <a:spAutoFit/>
          </a:bodyPr>
          <a:lstStyle/>
          <a:p>
            <a:pPr lvl="0">
              <a:defRPr/>
            </a:pPr>
            <a:r>
              <a:rPr lang="en-US" altLang="zh-TW" sz="3200" dirty="0"/>
              <a:t>B1.5</a:t>
            </a:r>
            <a:r>
              <a:rPr lang="zh-TW" altLang="en-US" sz="3200" dirty="0"/>
              <a:t>施工廠商派駐工地人員報核</a:t>
            </a:r>
          </a:p>
        </p:txBody>
      </p:sp>
      <p:sp>
        <p:nvSpPr>
          <p:cNvPr id="5" name="矩形 4"/>
          <p:cNvSpPr/>
          <p:nvPr/>
        </p:nvSpPr>
        <p:spPr>
          <a:xfrm>
            <a:off x="612780" y="1706742"/>
            <a:ext cx="10975655" cy="3930691"/>
          </a:xfrm>
          <a:prstGeom prst="rect">
            <a:avLst/>
          </a:prstGeom>
        </p:spPr>
        <p:txBody>
          <a:bodyPr wrap="square">
            <a:spAutoFit/>
          </a:bodyPr>
          <a:lstStyle/>
          <a:p>
            <a:pPr>
              <a:lnSpc>
                <a:spcPct val="150000"/>
              </a:lnSpc>
            </a:pPr>
            <a:r>
              <a:rPr lang="en-US" altLang="zh-TW" sz="1400" b="0" i="0" dirty="0">
                <a:solidFill>
                  <a:srgbClr val="000000"/>
                </a:solidFill>
                <a:effectLst/>
                <a:latin typeface="微軟正黑體" panose="020B0604030504040204" pitchFamily="34" charset="-120"/>
                <a:ea typeface="微軟正黑體" panose="020B0604030504040204" pitchFamily="34" charset="-120"/>
              </a:rPr>
              <a:t>1.</a:t>
            </a:r>
            <a:r>
              <a:rPr lang="zh-TW" altLang="en-US" sz="1400" b="0" i="0" dirty="0">
                <a:solidFill>
                  <a:srgbClr val="000000"/>
                </a:solidFill>
                <a:effectLst/>
                <a:latin typeface="微軟正黑體" panose="020B0604030504040204" pitchFamily="34" charset="-120"/>
                <a:ea typeface="微軟正黑體" panose="020B0604030504040204" pitchFamily="34" charset="-120"/>
              </a:rPr>
              <a:t>施工廠商派駐工地應報核人員包含工地負責人</a:t>
            </a:r>
            <a:r>
              <a:rPr lang="en-US" altLang="zh-TW" sz="1400" b="0" i="0" dirty="0">
                <a:solidFill>
                  <a:srgbClr val="000000"/>
                </a:solidFill>
                <a:effectLst/>
                <a:latin typeface="微軟正黑體" panose="020B0604030504040204" pitchFamily="34" charset="-120"/>
                <a:ea typeface="微軟正黑體" panose="020B0604030504040204" pitchFamily="34" charset="-120"/>
              </a:rPr>
              <a:t>(</a:t>
            </a:r>
            <a:r>
              <a:rPr lang="zh-TW" altLang="en-US" sz="1400" b="0" i="0" dirty="0">
                <a:solidFill>
                  <a:srgbClr val="000000"/>
                </a:solidFill>
                <a:effectLst/>
                <a:latin typeface="微軟正黑體" panose="020B0604030504040204" pitchFamily="34" charset="-120"/>
                <a:ea typeface="微軟正黑體" panose="020B0604030504040204" pitchFamily="34" charset="-120"/>
              </a:rPr>
              <a:t>或工地主任</a:t>
            </a:r>
            <a:r>
              <a:rPr lang="en-US" altLang="zh-TW" sz="1400" b="0" i="0" dirty="0">
                <a:solidFill>
                  <a:srgbClr val="000000"/>
                </a:solidFill>
                <a:effectLst/>
                <a:latin typeface="微軟正黑體" panose="020B0604030504040204" pitchFamily="34" charset="-120"/>
                <a:ea typeface="微軟正黑體" panose="020B0604030504040204" pitchFamily="34" charset="-120"/>
              </a:rPr>
              <a:t>)</a:t>
            </a:r>
            <a:r>
              <a:rPr lang="zh-TW" altLang="en-US" sz="1400" b="0" i="0" dirty="0">
                <a:solidFill>
                  <a:srgbClr val="000000"/>
                </a:solidFill>
                <a:effectLst/>
                <a:latin typeface="微軟正黑體" panose="020B0604030504040204" pitchFamily="34" charset="-120"/>
                <a:ea typeface="微軟正黑體" panose="020B0604030504040204" pitchFamily="34" charset="-120"/>
              </a:rPr>
              <a:t>、品管人員、安衛人員及契約約定之其他人員等</a:t>
            </a:r>
            <a:r>
              <a:rPr lang="zh-TW" altLang="en-US" sz="1400" dirty="0"/>
              <a:t/>
            </a:r>
            <a:br>
              <a:rPr lang="zh-TW" altLang="en-US" sz="1400" dirty="0"/>
            </a:br>
            <a:r>
              <a:rPr lang="en-US" altLang="zh-TW" sz="1400" b="0" i="0" dirty="0">
                <a:solidFill>
                  <a:srgbClr val="000000"/>
                </a:solidFill>
                <a:effectLst/>
                <a:latin typeface="微軟正黑體" panose="020B0604030504040204" pitchFamily="34" charset="-120"/>
                <a:ea typeface="微軟正黑體" panose="020B0604030504040204" pitchFamily="34" charset="-120"/>
              </a:rPr>
              <a:t>2.</a:t>
            </a:r>
            <a:r>
              <a:rPr lang="zh-TW" altLang="en-US" sz="1400" b="0" i="0" dirty="0">
                <a:solidFill>
                  <a:srgbClr val="000000"/>
                </a:solidFill>
                <a:effectLst/>
                <a:latin typeface="微軟正黑體" panose="020B0604030504040204" pitchFamily="34" charset="-120"/>
                <a:ea typeface="微軟正黑體" panose="020B0604030504040204" pitchFamily="34" charset="-120"/>
              </a:rPr>
              <a:t>施工廠商應於開工前將工地負責人之姓名、學經歷等資料，報請監造廠商審查，並經機關核定；變更時亦同。</a:t>
            </a:r>
            <a:r>
              <a:rPr lang="zh-TW" altLang="en-US" sz="1400" dirty="0"/>
              <a:t/>
            </a:r>
            <a:br>
              <a:rPr lang="zh-TW" altLang="en-US" sz="1400" dirty="0"/>
            </a:br>
            <a:r>
              <a:rPr lang="en-US" altLang="zh-TW" sz="1400" b="0" i="0" dirty="0">
                <a:solidFill>
                  <a:srgbClr val="000000"/>
                </a:solidFill>
                <a:effectLst/>
                <a:latin typeface="微軟正黑體" panose="020B0604030504040204" pitchFamily="34" charset="-120"/>
                <a:ea typeface="微軟正黑體" panose="020B0604030504040204" pitchFamily="34" charset="-120"/>
              </a:rPr>
              <a:t>3.</a:t>
            </a:r>
            <a:r>
              <a:rPr lang="zh-TW" altLang="en-US" sz="1400" b="0" i="0" dirty="0">
                <a:solidFill>
                  <a:srgbClr val="000000"/>
                </a:solidFill>
                <a:effectLst/>
                <a:latin typeface="微軟正黑體" panose="020B0604030504040204" pitchFamily="34" charset="-120"/>
                <a:ea typeface="微軟正黑體" panose="020B0604030504040204" pitchFamily="34" charset="-120"/>
              </a:rPr>
              <a:t>施工廠商應於開工前，將品管組織之品管人員之登錄表報請監造廠商審查，並經機關核定後，七日內由機關填報於工程會資訊網路系統；品管人員異動或工程竣工時，亦同。</a:t>
            </a:r>
            <a:r>
              <a:rPr lang="zh-TW" altLang="en-US" sz="1400" dirty="0"/>
              <a:t/>
            </a:r>
            <a:br>
              <a:rPr lang="zh-TW" altLang="en-US" sz="1400" dirty="0"/>
            </a:br>
            <a:r>
              <a:rPr lang="en-US" altLang="zh-TW" sz="1400" b="0" i="0" dirty="0">
                <a:solidFill>
                  <a:srgbClr val="000000"/>
                </a:solidFill>
                <a:effectLst/>
                <a:latin typeface="微軟正黑體" panose="020B0604030504040204" pitchFamily="34" charset="-120"/>
                <a:ea typeface="微軟正黑體" panose="020B0604030504040204" pitchFamily="34" charset="-120"/>
              </a:rPr>
              <a:t>4.</a:t>
            </a:r>
            <a:r>
              <a:rPr lang="zh-TW" altLang="en-US" sz="1400" b="0" i="0" dirty="0">
                <a:solidFill>
                  <a:srgbClr val="000000"/>
                </a:solidFill>
                <a:effectLst/>
                <a:latin typeface="微軟正黑體" panose="020B0604030504040204" pitchFamily="34" charset="-120"/>
                <a:ea typeface="微軟正黑體" panose="020B0604030504040204" pitchFamily="34" charset="-120"/>
              </a:rPr>
              <a:t>施工廠商應於開工前登錄職業安全衛生人員資料，並檢具相關資料報請監造廠商審查，經機關核定後，依規定報請勞動檢查機關（構）備查；職業安全衛生人員異動或工程變更時，亦同。</a:t>
            </a:r>
            <a:r>
              <a:rPr lang="zh-TW" altLang="en-US" sz="1400" dirty="0"/>
              <a:t/>
            </a:r>
            <a:br>
              <a:rPr lang="zh-TW" altLang="en-US" sz="1400" dirty="0"/>
            </a:br>
            <a:r>
              <a:rPr lang="en-US" altLang="zh-TW" sz="1400" b="0" i="0" dirty="0">
                <a:solidFill>
                  <a:srgbClr val="000000"/>
                </a:solidFill>
                <a:effectLst/>
                <a:latin typeface="微軟正黑體" panose="020B0604030504040204" pitchFamily="34" charset="-120"/>
                <a:ea typeface="微軟正黑體" panose="020B0604030504040204" pitchFamily="34" charset="-120"/>
              </a:rPr>
              <a:t>5.</a:t>
            </a:r>
            <a:r>
              <a:rPr lang="zh-TW" altLang="en-US" sz="1400" b="0" i="0" dirty="0">
                <a:solidFill>
                  <a:srgbClr val="000000"/>
                </a:solidFill>
                <a:effectLst/>
                <a:latin typeface="微軟正黑體" panose="020B0604030504040204" pitchFamily="34" charset="-120"/>
                <a:ea typeface="微軟正黑體" panose="020B0604030504040204" pitchFamily="34" charset="-120"/>
              </a:rPr>
              <a:t>廠商未依期限遴派合格工地負責人、擅自改派工地負責人或工地負責人違反本目專（兼）任約定，除契約另有約定者外，機關應就其違規日數，依本項次違反罰則額度按日扣罰懲罰性違約金。</a:t>
            </a:r>
            <a:r>
              <a:rPr lang="zh-TW" altLang="en-US" sz="1400" dirty="0"/>
              <a:t/>
            </a:r>
            <a:br>
              <a:rPr lang="zh-TW" altLang="en-US" sz="1400" dirty="0"/>
            </a:br>
            <a:r>
              <a:rPr lang="en-US" altLang="zh-TW" sz="1400" b="0" i="0" dirty="0">
                <a:solidFill>
                  <a:srgbClr val="000000"/>
                </a:solidFill>
                <a:effectLst/>
                <a:latin typeface="微軟正黑體" panose="020B0604030504040204" pitchFamily="34" charset="-120"/>
                <a:ea typeface="微軟正黑體" panose="020B0604030504040204" pitchFamily="34" charset="-120"/>
              </a:rPr>
              <a:t>6.</a:t>
            </a:r>
            <a:r>
              <a:rPr lang="zh-TW" altLang="en-US" sz="1400" b="0" i="0" dirty="0">
                <a:solidFill>
                  <a:srgbClr val="000000"/>
                </a:solidFill>
                <a:effectLst/>
                <a:latin typeface="微軟正黑體" panose="020B0604030504040204" pitchFamily="34" charset="-120"/>
                <a:ea typeface="微軟正黑體" panose="020B0604030504040204" pitchFamily="34" charset="-120"/>
              </a:rPr>
              <a:t>工地施工期間工地主任應專駐於工地，不得跨越其他工程，亦不得兼任本工程其他職務。違反上開約定者，依本項次違反罰則額度按日扣罰懲罰性違約金。</a:t>
            </a:r>
            <a:r>
              <a:rPr lang="zh-TW" altLang="en-US" sz="1400" dirty="0"/>
              <a:t/>
            </a:r>
            <a:br>
              <a:rPr lang="zh-TW" altLang="en-US" sz="1400" dirty="0"/>
            </a:br>
            <a:r>
              <a:rPr lang="en-US" altLang="zh-TW" sz="1400" b="0" i="0" dirty="0">
                <a:solidFill>
                  <a:srgbClr val="000000"/>
                </a:solidFill>
                <a:effectLst/>
                <a:latin typeface="微軟正黑體" panose="020B0604030504040204" pitchFamily="34" charset="-120"/>
                <a:ea typeface="微軟正黑體" panose="020B0604030504040204" pitchFamily="34" charset="-120"/>
              </a:rPr>
              <a:t>7.</a:t>
            </a:r>
            <a:r>
              <a:rPr lang="zh-TW" altLang="en-US" sz="1400" b="0" i="0" dirty="0">
                <a:solidFill>
                  <a:srgbClr val="000000"/>
                </a:solidFill>
                <a:effectLst/>
                <a:latin typeface="微軟正黑體" panose="020B0604030504040204" pitchFamily="34" charset="-120"/>
                <a:ea typeface="微軟正黑體" panose="020B0604030504040204" pitchFamily="34" charset="-120"/>
              </a:rPr>
              <a:t>工程如須設置專任工程人員以外技師或建築師者，技師或建築師應專職，不得跨越其他標案，且施工時應在工地執行職務。違反上開約定者，依本項次違反罰則額度按日扣罰懲罰性違約金。</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Tree>
    <p:extLst>
      <p:ext uri="{BB962C8B-B14F-4D97-AF65-F5344CB8AC3E}">
        <p14:creationId xmlns:p14="http://schemas.microsoft.com/office/powerpoint/2010/main" val="1738423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5961888" cy="584775"/>
          </a:xfrm>
          <a:prstGeom prst="rect">
            <a:avLst/>
          </a:prstGeom>
        </p:spPr>
        <p:txBody>
          <a:bodyPr wrap="none">
            <a:spAutoFit/>
          </a:bodyPr>
          <a:lstStyle/>
          <a:p>
            <a:pPr lvl="0">
              <a:defRPr/>
            </a:pPr>
            <a:r>
              <a:rPr lang="en-US" altLang="zh-TW" sz="3200" dirty="0"/>
              <a:t>B1.5</a:t>
            </a:r>
            <a:r>
              <a:rPr lang="zh-TW" altLang="en-US" sz="3200" dirty="0"/>
              <a:t>施工廠商派駐工地人員報核</a:t>
            </a:r>
          </a:p>
        </p:txBody>
      </p:sp>
      <p:sp>
        <p:nvSpPr>
          <p:cNvPr id="9" name="五邊形 8"/>
          <p:cNvSpPr/>
          <p:nvPr/>
        </p:nvSpPr>
        <p:spPr>
          <a:xfrm>
            <a:off x="425513" y="1301010"/>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3" name="五邊形 12"/>
          <p:cNvSpPr/>
          <p:nvPr/>
        </p:nvSpPr>
        <p:spPr>
          <a:xfrm>
            <a:off x="2848576" y="1301009"/>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14" name="五邊形 13"/>
          <p:cNvSpPr/>
          <p:nvPr/>
        </p:nvSpPr>
        <p:spPr>
          <a:xfrm>
            <a:off x="5607113" y="1301008"/>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425513" y="5558148"/>
            <a:ext cx="9389109" cy="646331"/>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 </a:t>
            </a:r>
            <a:endParaRPr lang="en-US" altLang="zh-TW" sz="1200" u="sng" dirty="0">
              <a:solidFill>
                <a:srgbClr val="000000"/>
              </a:solidFill>
              <a:latin typeface="微軟正黑體" panose="020B0604030504040204" pitchFamily="34" charset="-120"/>
              <a:ea typeface="微軟正黑體" panose="020B0604030504040204" pitchFamily="34" charset="-120"/>
            </a:endParaRPr>
          </a:p>
          <a:p>
            <a:r>
              <a:rPr lang="en-US" altLang="zh-TW" sz="1200" u="sng" dirty="0"/>
              <a:t>1.</a:t>
            </a:r>
            <a:r>
              <a:rPr lang="zh-TW" altLang="en-US" sz="1200" u="sng" dirty="0"/>
              <a:t>工契</a:t>
            </a:r>
            <a:r>
              <a:rPr lang="en-US" altLang="zh-TW" sz="1200" u="sng" dirty="0"/>
              <a:t>9-(</a:t>
            </a:r>
            <a:r>
              <a:rPr lang="zh-TW" altLang="en-US" sz="1200" u="sng" dirty="0"/>
              <a:t>一</a:t>
            </a:r>
            <a:r>
              <a:rPr lang="en-US" altLang="zh-TW" sz="1200" u="sng" dirty="0"/>
              <a:t>)-1</a:t>
            </a:r>
            <a:r>
              <a:rPr lang="zh-TW" altLang="en-US" sz="1200" u="sng" dirty="0"/>
              <a:t>、</a:t>
            </a:r>
            <a:r>
              <a:rPr lang="en-US" altLang="zh-TW" sz="1200" u="sng" dirty="0"/>
              <a:t>2</a:t>
            </a:r>
            <a:r>
              <a:rPr lang="zh-TW" altLang="en-US" sz="1200" u="sng" dirty="0"/>
              <a:t>、</a:t>
            </a:r>
            <a:r>
              <a:rPr lang="en-US" altLang="zh-TW" sz="1200" u="sng" dirty="0"/>
              <a:t>3</a:t>
            </a:r>
            <a:r>
              <a:rPr lang="zh-TW" altLang="en-US" sz="1200" u="sng" dirty="0"/>
              <a:t>、</a:t>
            </a:r>
            <a:r>
              <a:rPr lang="en-US" altLang="zh-TW" sz="1200" u="sng" dirty="0"/>
              <a:t>4</a:t>
            </a:r>
            <a:r>
              <a:rPr lang="zh-TW" altLang="en-US" sz="1200" u="sng" dirty="0"/>
              <a:t>及</a:t>
            </a:r>
            <a:r>
              <a:rPr lang="en-US" altLang="zh-TW" sz="1200" u="sng" dirty="0"/>
              <a:t>7</a:t>
            </a:r>
            <a:r>
              <a:rPr lang="zh-TW" altLang="en-US" sz="1200" u="sng" dirty="0"/>
              <a:t>、附錄</a:t>
            </a:r>
            <a:r>
              <a:rPr lang="en-US" altLang="zh-TW" sz="1200" u="sng" dirty="0"/>
              <a:t>1</a:t>
            </a:r>
            <a:r>
              <a:rPr lang="zh-TW" altLang="en-US" sz="1200" u="sng" dirty="0"/>
              <a:t>第</a:t>
            </a:r>
            <a:r>
              <a:rPr lang="en-US" altLang="zh-TW" sz="1200" u="sng" dirty="0"/>
              <a:t>7</a:t>
            </a:r>
            <a:r>
              <a:rPr lang="zh-TW" altLang="en-US" sz="1200" u="sng" dirty="0"/>
              <a:t>點、品要</a:t>
            </a:r>
            <a:r>
              <a:rPr lang="en-US" altLang="zh-TW" sz="1200" u="sng" dirty="0"/>
              <a:t>6</a:t>
            </a:r>
            <a:r>
              <a:rPr lang="zh-TW" altLang="en-US" sz="1200" u="sng" dirty="0"/>
              <a:t>、</a:t>
            </a:r>
            <a:r>
              <a:rPr lang="en-US" altLang="zh-TW" sz="1200" u="sng" dirty="0"/>
              <a:t>9-2</a:t>
            </a:r>
            <a:r>
              <a:rPr lang="zh-TW" altLang="en-US" sz="1200" u="sng" dirty="0"/>
              <a:t>、</a:t>
            </a:r>
            <a:r>
              <a:rPr lang="en-US" altLang="zh-TW" sz="1200" u="sng" dirty="0"/>
              <a:t>24-1-</a:t>
            </a:r>
            <a:r>
              <a:rPr lang="zh-TW" altLang="en-US" sz="1200" u="sng" dirty="0"/>
              <a:t>（</a:t>
            </a:r>
            <a:r>
              <a:rPr lang="en-US" altLang="zh-TW" sz="1200" u="sng" dirty="0"/>
              <a:t>3</a:t>
            </a:r>
            <a:r>
              <a:rPr lang="zh-TW" altLang="en-US" sz="1200" u="sng" dirty="0"/>
              <a:t>）、安衛</a:t>
            </a:r>
            <a:r>
              <a:rPr lang="en-US" altLang="zh-TW" sz="1200" u="sng" dirty="0"/>
              <a:t>3-</a:t>
            </a:r>
            <a:r>
              <a:rPr lang="zh-TW" altLang="en-US" sz="1200" u="sng" dirty="0"/>
              <a:t>（</a:t>
            </a:r>
            <a:r>
              <a:rPr lang="en-US" altLang="zh-TW" sz="1200" u="sng" dirty="0"/>
              <a:t>1</a:t>
            </a:r>
            <a:r>
              <a:rPr lang="zh-TW" altLang="en-US" sz="1200" u="sng" dirty="0"/>
              <a:t>）</a:t>
            </a:r>
            <a:r>
              <a:rPr lang="en-US" altLang="zh-TW" sz="1200" u="sng" dirty="0"/>
              <a:t>-7</a:t>
            </a:r>
            <a:r>
              <a:rPr lang="zh-TW" altLang="en-US" sz="1200" u="sng" dirty="0"/>
              <a:t>、</a:t>
            </a:r>
            <a:r>
              <a:rPr lang="en-US" altLang="zh-TW" sz="1200" u="sng" dirty="0"/>
              <a:t>10-1-</a:t>
            </a:r>
            <a:r>
              <a:rPr lang="zh-TW" altLang="en-US" sz="1200" u="sng" dirty="0"/>
              <a:t>（</a:t>
            </a:r>
            <a:r>
              <a:rPr lang="en-US" altLang="zh-TW" sz="1200" u="sng" dirty="0"/>
              <a:t>6</a:t>
            </a:r>
            <a:r>
              <a:rPr lang="zh-TW" altLang="en-US" sz="1200" u="sng" dirty="0"/>
              <a:t>）</a:t>
            </a:r>
            <a:r>
              <a:rPr lang="en-US" altLang="zh-TW" sz="1200" u="sng" dirty="0"/>
              <a:t>-3</a:t>
            </a:r>
            <a:r>
              <a:rPr lang="zh-TW" altLang="en-US" sz="1200" u="sng" dirty="0"/>
              <a:t>、營造業法第</a:t>
            </a:r>
            <a:r>
              <a:rPr lang="en-US" altLang="zh-TW" sz="1200" u="sng" dirty="0"/>
              <a:t>34</a:t>
            </a:r>
            <a:r>
              <a:rPr lang="zh-TW" altLang="en-US" sz="1200" u="sng" dirty="0"/>
              <a:t>條。</a:t>
            </a:r>
          </a:p>
          <a:p>
            <a:r>
              <a:rPr lang="en-US" altLang="zh-TW" sz="1200" u="sng" dirty="0"/>
              <a:t>2.</a:t>
            </a:r>
            <a:r>
              <a:rPr lang="zh-TW" altLang="en-US" sz="1200" u="sng" dirty="0"/>
              <a:t>廠商於專業工程特定施工項目施工期間應設置之技術士種類及人數。違反上開約定者，依本項次違反罰則額度按日扣罰懲罰性違約金。</a:t>
            </a:r>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1201635" y="5556990"/>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296936"/>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grpSp>
        <p:nvGrpSpPr>
          <p:cNvPr id="18" name="群組 17">
            <a:extLst>
              <a:ext uri="{FF2B5EF4-FFF2-40B4-BE49-F238E27FC236}">
                <a16:creationId xmlns:a16="http://schemas.microsoft.com/office/drawing/2014/main" id="{25FACC92-AE06-495B-BD32-287488C3E7DA}"/>
              </a:ext>
            </a:extLst>
          </p:cNvPr>
          <p:cNvGrpSpPr/>
          <p:nvPr/>
        </p:nvGrpSpPr>
        <p:grpSpPr>
          <a:xfrm>
            <a:off x="2880357" y="1637757"/>
            <a:ext cx="2566854" cy="1311593"/>
            <a:chOff x="2880357" y="1637757"/>
            <a:chExt cx="2566854" cy="1311593"/>
          </a:xfrm>
        </p:grpSpPr>
        <p:sp>
          <p:nvSpPr>
            <p:cNvPr id="15" name="文字方塊 14">
              <a:extLst>
                <a:ext uri="{FF2B5EF4-FFF2-40B4-BE49-F238E27FC236}">
                  <a16:creationId xmlns:a16="http://schemas.microsoft.com/office/drawing/2014/main" id="{844B634B-72E3-4E3C-A906-B58789EC1F91}"/>
                </a:ext>
              </a:extLst>
            </p:cNvPr>
            <p:cNvSpPr txBox="1"/>
            <p:nvPr/>
          </p:nvSpPr>
          <p:spPr>
            <a:xfrm>
              <a:off x="2880360" y="1637757"/>
              <a:ext cx="2566851" cy="307777"/>
            </a:xfrm>
            <a:prstGeom prst="rect">
              <a:avLst/>
            </a:prstGeom>
            <a:noFill/>
          </p:spPr>
          <p:txBody>
            <a:bodyPr wrap="square">
              <a:spAutoFit/>
            </a:bodyPr>
            <a:lstStyle/>
            <a:p>
              <a:r>
                <a:rPr lang="zh-TW" altLang="en-US" sz="1400" b="0" i="0" u="none" strike="noStrike" dirty="0">
                  <a:solidFill>
                    <a:srgbClr val="FF0000"/>
                  </a:solidFill>
                  <a:effectLst/>
                  <a:latin typeface="新細明體" panose="02020500000000000000" pitchFamily="18" charset="-120"/>
                  <a:ea typeface="新細明體" panose="02020500000000000000" pitchFamily="18" charset="-120"/>
                  <a:hlinkClick r:id="rId4"/>
                </a:rPr>
                <a:t>用人計畫審查表</a:t>
              </a:r>
              <a:endParaRPr lang="zh-TW" altLang="en-US" sz="1400" dirty="0"/>
            </a:p>
          </p:txBody>
        </p:sp>
        <p:sp>
          <p:nvSpPr>
            <p:cNvPr id="16" name="文字方塊 15">
              <a:extLst>
                <a:ext uri="{FF2B5EF4-FFF2-40B4-BE49-F238E27FC236}">
                  <a16:creationId xmlns:a16="http://schemas.microsoft.com/office/drawing/2014/main" id="{B07FFF42-01CB-44C1-A3DF-E4159DB96E49}"/>
                </a:ext>
              </a:extLst>
            </p:cNvPr>
            <p:cNvSpPr txBox="1"/>
            <p:nvPr/>
          </p:nvSpPr>
          <p:spPr>
            <a:xfrm>
              <a:off x="2880359" y="1876232"/>
              <a:ext cx="2566851" cy="307777"/>
            </a:xfrm>
            <a:prstGeom prst="rect">
              <a:avLst/>
            </a:prstGeom>
            <a:noFill/>
          </p:spPr>
          <p:txBody>
            <a:bodyPr wrap="square">
              <a:spAutoFit/>
            </a:bodyPr>
            <a:lstStyle/>
            <a:p>
              <a:r>
                <a:rPr lang="zh-TW" altLang="en-US" sz="1400" b="0" i="0" u="none" strike="noStrike">
                  <a:solidFill>
                    <a:srgbClr val="FF0000"/>
                  </a:solidFill>
                  <a:effectLst/>
                  <a:latin typeface="新細明體" panose="02020500000000000000" pitchFamily="18" charset="-120"/>
                  <a:ea typeface="新細明體" panose="02020500000000000000" pitchFamily="18" charset="-120"/>
                  <a:hlinkClick r:id="rId5"/>
                </a:rPr>
                <a:t>廠商職業安全衛生人員授權書</a:t>
              </a:r>
              <a:endParaRPr lang="zh-TW" altLang="en-US" sz="1400" dirty="0"/>
            </a:p>
          </p:txBody>
        </p:sp>
        <p:sp>
          <p:nvSpPr>
            <p:cNvPr id="17" name="文字方塊 16">
              <a:extLst>
                <a:ext uri="{FF2B5EF4-FFF2-40B4-BE49-F238E27FC236}">
                  <a16:creationId xmlns:a16="http://schemas.microsoft.com/office/drawing/2014/main" id="{3BBE22C8-80DC-43B0-B696-9D543F9CBBF1}"/>
                </a:ext>
              </a:extLst>
            </p:cNvPr>
            <p:cNvSpPr txBox="1"/>
            <p:nvPr/>
          </p:nvSpPr>
          <p:spPr>
            <a:xfrm>
              <a:off x="2880358" y="2130437"/>
              <a:ext cx="2566851" cy="307777"/>
            </a:xfrm>
            <a:prstGeom prst="rect">
              <a:avLst/>
            </a:prstGeom>
            <a:noFill/>
          </p:spPr>
          <p:txBody>
            <a:bodyPr wrap="square">
              <a:spAutoFit/>
            </a:bodyPr>
            <a:lstStyle/>
            <a:p>
              <a:r>
                <a:rPr lang="zh-TW" altLang="en-US" sz="1400" b="0" i="0" u="none" strike="noStrike" dirty="0">
                  <a:solidFill>
                    <a:srgbClr val="FF0000"/>
                  </a:solidFill>
                  <a:effectLst/>
                  <a:latin typeface="新細明體" panose="02020500000000000000" pitchFamily="18" charset="-120"/>
                  <a:ea typeface="新細明體" panose="02020500000000000000" pitchFamily="18" charset="-120"/>
                  <a:hlinkClick r:id="rId6"/>
                </a:rPr>
                <a:t>職業安全衛生人員勞保資料</a:t>
              </a:r>
              <a:endParaRPr lang="zh-TW" altLang="en-US" sz="1400" dirty="0"/>
            </a:p>
          </p:txBody>
        </p:sp>
        <p:sp>
          <p:nvSpPr>
            <p:cNvPr id="19" name="文字方塊 18">
              <a:extLst>
                <a:ext uri="{FF2B5EF4-FFF2-40B4-BE49-F238E27FC236}">
                  <a16:creationId xmlns:a16="http://schemas.microsoft.com/office/drawing/2014/main" id="{5311F6DE-8406-428A-A0A2-F3C749C31D4D}"/>
                </a:ext>
              </a:extLst>
            </p:cNvPr>
            <p:cNvSpPr txBox="1"/>
            <p:nvPr/>
          </p:nvSpPr>
          <p:spPr>
            <a:xfrm>
              <a:off x="2880358" y="2368277"/>
              <a:ext cx="2566851" cy="307777"/>
            </a:xfrm>
            <a:prstGeom prst="rect">
              <a:avLst/>
            </a:prstGeom>
            <a:noFill/>
          </p:spPr>
          <p:txBody>
            <a:bodyPr wrap="square">
              <a:spAutoFit/>
            </a:bodyPr>
            <a:lstStyle/>
            <a:p>
              <a:r>
                <a:rPr lang="zh-TW" altLang="en-US" sz="1400" b="0" i="0" u="none" strike="noStrike" dirty="0">
                  <a:solidFill>
                    <a:srgbClr val="FF0000"/>
                  </a:solidFill>
                  <a:effectLst/>
                  <a:latin typeface="新細明體" panose="02020500000000000000" pitchFamily="18" charset="-120"/>
                  <a:ea typeface="新細明體" panose="02020500000000000000" pitchFamily="18" charset="-120"/>
                  <a:hlinkClick r:id="rId7"/>
                </a:rPr>
                <a:t>廠商安衛人員切結書</a:t>
              </a:r>
              <a:endParaRPr lang="zh-TW" altLang="en-US" sz="1400" dirty="0"/>
            </a:p>
          </p:txBody>
        </p:sp>
        <p:sp>
          <p:nvSpPr>
            <p:cNvPr id="21" name="文字方塊 20">
              <a:extLst>
                <a:ext uri="{FF2B5EF4-FFF2-40B4-BE49-F238E27FC236}">
                  <a16:creationId xmlns:a16="http://schemas.microsoft.com/office/drawing/2014/main" id="{096C409A-0663-4ADE-AD9E-097D709D06C7}"/>
                </a:ext>
              </a:extLst>
            </p:cNvPr>
            <p:cNvSpPr txBox="1"/>
            <p:nvPr/>
          </p:nvSpPr>
          <p:spPr>
            <a:xfrm>
              <a:off x="2880357" y="2641573"/>
              <a:ext cx="2566851" cy="307777"/>
            </a:xfrm>
            <a:prstGeom prst="rect">
              <a:avLst/>
            </a:prstGeom>
            <a:noFill/>
          </p:spPr>
          <p:txBody>
            <a:bodyPr wrap="square">
              <a:spAutoFit/>
            </a:bodyPr>
            <a:lstStyle/>
            <a:p>
              <a:r>
                <a:rPr lang="zh-TW" altLang="en-US" sz="1400" b="0" i="0" u="none" strike="noStrike" dirty="0">
                  <a:solidFill>
                    <a:srgbClr val="FF0000"/>
                  </a:solidFill>
                  <a:effectLst/>
                  <a:latin typeface="新細明體" panose="02020500000000000000" pitchFamily="18" charset="-120"/>
                  <a:ea typeface="新細明體" panose="02020500000000000000" pitchFamily="18" charset="-120"/>
                  <a:hlinkClick r:id="rId8"/>
                </a:rPr>
                <a:t>廠商品管人員登錄表</a:t>
              </a:r>
              <a:endParaRPr lang="zh-TW" altLang="en-US" sz="1400" dirty="0"/>
            </a:p>
          </p:txBody>
        </p:sp>
      </p:grpSp>
      <p:sp>
        <p:nvSpPr>
          <p:cNvPr id="23" name="文字方塊 22">
            <a:extLst>
              <a:ext uri="{FF2B5EF4-FFF2-40B4-BE49-F238E27FC236}">
                <a16:creationId xmlns:a16="http://schemas.microsoft.com/office/drawing/2014/main" id="{62B16782-87A4-414A-8078-D9949770F0B1}"/>
              </a:ext>
            </a:extLst>
          </p:cNvPr>
          <p:cNvSpPr txBox="1"/>
          <p:nvPr/>
        </p:nvSpPr>
        <p:spPr>
          <a:xfrm>
            <a:off x="609439" y="1637558"/>
            <a:ext cx="764177"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9"/>
              </a:rPr>
              <a:t>核定函</a:t>
            </a:r>
            <a:endParaRPr lang="zh-TW" altLang="en-US" sz="1400" dirty="0"/>
          </a:p>
        </p:txBody>
      </p:sp>
      <p:sp>
        <p:nvSpPr>
          <p:cNvPr id="25" name="文字方塊 24">
            <a:extLst>
              <a:ext uri="{FF2B5EF4-FFF2-40B4-BE49-F238E27FC236}">
                <a16:creationId xmlns:a16="http://schemas.microsoft.com/office/drawing/2014/main" id="{AAD704B3-E51E-4745-A7C3-3A8B080EF1F5}"/>
              </a:ext>
            </a:extLst>
          </p:cNvPr>
          <p:cNvSpPr txBox="1"/>
          <p:nvPr/>
        </p:nvSpPr>
        <p:spPr>
          <a:xfrm>
            <a:off x="5930537" y="1637557"/>
            <a:ext cx="1110343"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10"/>
              </a:rPr>
              <a:t>核定函</a:t>
            </a:r>
            <a:r>
              <a:rPr lang="zh-TW" altLang="en-US" sz="1400" dirty="0">
                <a:solidFill>
                  <a:srgbClr val="0070C0"/>
                </a:solidFill>
                <a:latin typeface="新細明體" panose="02020500000000000000" pitchFamily="18" charset="-120"/>
                <a:ea typeface="新細明體" panose="02020500000000000000" pitchFamily="18" charset="-120"/>
                <a:hlinkClick r:id="rId10"/>
              </a:rPr>
              <a:t>實例</a:t>
            </a:r>
            <a:endParaRPr lang="zh-TW" altLang="en-US" sz="1400" dirty="0"/>
          </a:p>
        </p:txBody>
      </p:sp>
    </p:spTree>
    <p:extLst>
      <p:ext uri="{BB962C8B-B14F-4D97-AF65-F5344CB8AC3E}">
        <p14:creationId xmlns:p14="http://schemas.microsoft.com/office/powerpoint/2010/main" val="775908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4698722" cy="584775"/>
          </a:xfrm>
          <a:prstGeom prst="rect">
            <a:avLst/>
          </a:prstGeom>
        </p:spPr>
        <p:txBody>
          <a:bodyPr wrap="none">
            <a:spAutoFit/>
          </a:bodyPr>
          <a:lstStyle/>
          <a:p>
            <a:pPr lvl="0">
              <a:defRPr/>
            </a:pPr>
            <a:r>
              <a:rPr lang="en-US" altLang="zh-TW" sz="3200" dirty="0"/>
              <a:t>B1.6</a:t>
            </a:r>
            <a:r>
              <a:rPr lang="zh-TW" altLang="en-US" sz="3200" dirty="0"/>
              <a:t>鄰近建築物現況調查</a:t>
            </a:r>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適用於依契約約定須辦理本項工作之工程，在相關工作施工前應辦理完成。 	</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2250600"/>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4" name="五邊形 13"/>
          <p:cNvSpPr/>
          <p:nvPr/>
        </p:nvSpPr>
        <p:spPr>
          <a:xfrm>
            <a:off x="2097365" y="2250598"/>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1822935"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 </a:t>
            </a:r>
            <a:r>
              <a:rPr lang="zh-TW" altLang="en-US" sz="1200" u="sng" dirty="0">
                <a:solidFill>
                  <a:srgbClr val="000000"/>
                </a:solidFill>
                <a:latin typeface="微軟正黑體" panose="020B0604030504040204" pitchFamily="34" charset="-120"/>
                <a:ea typeface="微軟正黑體" panose="020B0604030504040204" pitchFamily="34" charset="-120"/>
              </a:rPr>
              <a:t>規範</a:t>
            </a:r>
            <a:r>
              <a:rPr lang="en-US" altLang="zh-TW" sz="1200" u="sng" dirty="0">
                <a:solidFill>
                  <a:srgbClr val="000000"/>
                </a:solidFill>
                <a:latin typeface="微軟正黑體" panose="020B0604030504040204" pitchFamily="34" charset="-120"/>
                <a:ea typeface="微軟正黑體" panose="020B0604030504040204" pitchFamily="34" charset="-120"/>
              </a:rPr>
              <a:t>02291</a:t>
            </a:r>
            <a:r>
              <a:rPr lang="zh-TW" altLang="en-US" sz="1200" u="sng" dirty="0">
                <a:solidFill>
                  <a:srgbClr val="000000"/>
                </a:solidFill>
                <a:latin typeface="微軟正黑體" panose="020B0604030504040204" pitchFamily="34" charset="-120"/>
                <a:ea typeface="微軟正黑體" panose="020B0604030504040204" pitchFamily="34" charset="-120"/>
              </a:rPr>
              <a:t>章</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2149617" y="5916408"/>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3D96E544-D205-4678-88C9-1584340E60F6}"/>
              </a:ext>
            </a:extLst>
          </p:cNvPr>
          <p:cNvSpPr txBox="1"/>
          <p:nvPr/>
        </p:nvSpPr>
        <p:spPr>
          <a:xfrm>
            <a:off x="586260" y="2575315"/>
            <a:ext cx="945990" cy="523220"/>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4"/>
              </a:rPr>
              <a:t>審退函</a:t>
            </a:r>
            <a:endParaRPr lang="en-US" altLang="zh-TW" sz="1400" b="0" i="0" u="none" strike="noStrike" dirty="0">
              <a:solidFill>
                <a:srgbClr val="0070C0"/>
              </a:solidFill>
              <a:effectLst/>
              <a:latin typeface="新細明體" panose="02020500000000000000" pitchFamily="18" charset="-120"/>
              <a:ea typeface="新細明體" panose="02020500000000000000" pitchFamily="18" charset="-120"/>
            </a:endParaRPr>
          </a:p>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5"/>
              </a:rPr>
              <a:t>核定函</a:t>
            </a:r>
            <a:endParaRPr lang="zh-TW" altLang="en-US" sz="1400" dirty="0"/>
          </a:p>
        </p:txBody>
      </p:sp>
      <p:sp>
        <p:nvSpPr>
          <p:cNvPr id="17" name="文字方塊 16">
            <a:extLst>
              <a:ext uri="{FF2B5EF4-FFF2-40B4-BE49-F238E27FC236}">
                <a16:creationId xmlns:a16="http://schemas.microsoft.com/office/drawing/2014/main" id="{59ECE467-814A-414E-B167-2B82F3D950F6}"/>
              </a:ext>
            </a:extLst>
          </p:cNvPr>
          <p:cNvSpPr txBox="1"/>
          <p:nvPr/>
        </p:nvSpPr>
        <p:spPr>
          <a:xfrm>
            <a:off x="2342319" y="2575315"/>
            <a:ext cx="1096213" cy="523220"/>
          </a:xfrm>
          <a:prstGeom prst="rect">
            <a:avLst/>
          </a:prstGeom>
          <a:noFill/>
        </p:spPr>
        <p:txBody>
          <a:bodyPr wrap="square">
            <a:spAutoFit/>
          </a:bodyPr>
          <a:lstStyle/>
          <a:p>
            <a:r>
              <a:rPr lang="zh-TW" altLang="en-US" sz="1400" dirty="0">
                <a:solidFill>
                  <a:srgbClr val="0070C0"/>
                </a:solidFill>
                <a:latin typeface="新細明體" panose="02020500000000000000" pitchFamily="18" charset="-120"/>
                <a:ea typeface="新細明體" panose="02020500000000000000" pitchFamily="18" charset="-120"/>
                <a:hlinkClick r:id="rId6"/>
              </a:rPr>
              <a:t>審退函實例</a:t>
            </a:r>
            <a:endParaRPr lang="en-US" altLang="zh-TW" sz="1400" dirty="0">
              <a:solidFill>
                <a:srgbClr val="0070C0"/>
              </a:solidFill>
              <a:latin typeface="新細明體" panose="02020500000000000000" pitchFamily="18" charset="-120"/>
              <a:ea typeface="新細明體" panose="02020500000000000000" pitchFamily="18" charset="-120"/>
            </a:endParaRPr>
          </a:p>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7"/>
              </a:rPr>
              <a:t>核定函實例</a:t>
            </a:r>
            <a:endParaRPr lang="zh-TW" altLang="en-US" sz="1400" dirty="0"/>
          </a:p>
        </p:txBody>
      </p:sp>
    </p:spTree>
    <p:extLst>
      <p:ext uri="{BB962C8B-B14F-4D97-AF65-F5344CB8AC3E}">
        <p14:creationId xmlns:p14="http://schemas.microsoft.com/office/powerpoint/2010/main" val="3834738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4698722" cy="584775"/>
          </a:xfrm>
          <a:prstGeom prst="rect">
            <a:avLst/>
          </a:prstGeom>
        </p:spPr>
        <p:txBody>
          <a:bodyPr wrap="none">
            <a:spAutoFit/>
          </a:bodyPr>
          <a:lstStyle/>
          <a:p>
            <a:pPr lvl="0">
              <a:defRPr/>
            </a:pPr>
            <a:r>
              <a:rPr lang="en-US" altLang="zh-TW" sz="3200" dirty="0"/>
              <a:t>B1.7</a:t>
            </a:r>
            <a:r>
              <a:rPr lang="zh-TW" altLang="en-US" sz="3200" dirty="0"/>
              <a:t>擬定施工預定進度表</a:t>
            </a:r>
          </a:p>
        </p:txBody>
      </p:sp>
      <p:sp>
        <p:nvSpPr>
          <p:cNvPr id="5" name="矩形 4"/>
          <p:cNvSpPr/>
          <p:nvPr/>
        </p:nvSpPr>
        <p:spPr>
          <a:xfrm>
            <a:off x="612780" y="1706742"/>
            <a:ext cx="10975655" cy="699038"/>
          </a:xfrm>
          <a:prstGeom prst="rect">
            <a:avLst/>
          </a:prstGeom>
        </p:spPr>
        <p:txBody>
          <a:bodyPr wrap="square">
            <a:spAutoFit/>
          </a:bodyPr>
          <a:lstStyle/>
          <a:p>
            <a:pPr>
              <a:lnSpc>
                <a:spcPct val="150000"/>
              </a:lnSpc>
            </a:pPr>
            <a:r>
              <a:rPr lang="zh-TW" altLang="en-US" sz="1400" b="0" i="0" dirty="0">
                <a:solidFill>
                  <a:srgbClr val="000000"/>
                </a:solidFill>
                <a:effectLst/>
                <a:latin typeface="微軟正黑體" panose="020B0604030504040204" pitchFamily="34" charset="-120"/>
                <a:ea typeface="微軟正黑體" panose="020B0604030504040204" pitchFamily="34" charset="-120"/>
              </a:rPr>
              <a:t>預定進度表之格式及細節，應視需要標示施工詳圖送審日期、主要器材設備訂購與進場之日期、各項工作之起始日期、各類別工人調派配置日期及人數等，並標示契約之施工要徑，俾供後續契約變更時檢核工期之依據。</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2573766"/>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3" name="五邊形 12"/>
          <p:cNvSpPr/>
          <p:nvPr/>
        </p:nvSpPr>
        <p:spPr>
          <a:xfrm>
            <a:off x="2848576" y="257376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14" name="五邊形 13"/>
          <p:cNvSpPr/>
          <p:nvPr/>
        </p:nvSpPr>
        <p:spPr>
          <a:xfrm>
            <a:off x="5271639" y="2573764"/>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5145961"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 工契</a:t>
            </a:r>
            <a:r>
              <a:rPr lang="en-US" altLang="zh-TW" sz="1200" u="sng" dirty="0">
                <a:solidFill>
                  <a:srgbClr val="000000"/>
                </a:solidFill>
                <a:latin typeface="微軟正黑體" panose="020B0604030504040204" pitchFamily="34" charset="-120"/>
                <a:ea typeface="微軟正黑體" panose="020B0604030504040204" pitchFamily="34" charset="-120"/>
              </a:rPr>
              <a:t>9-(</a:t>
            </a:r>
            <a:r>
              <a:rPr lang="zh-TW" altLang="en-US" sz="1200" u="sng" dirty="0">
                <a:solidFill>
                  <a:srgbClr val="000000"/>
                </a:solidFill>
                <a:latin typeface="微軟正黑體" panose="020B0604030504040204" pitchFamily="34" charset="-120"/>
                <a:ea typeface="微軟正黑體" panose="020B0604030504040204" pitchFamily="34" charset="-120"/>
              </a:rPr>
              <a:t>二</a:t>
            </a:r>
            <a:r>
              <a:rPr lang="en-US" altLang="zh-TW" sz="1200" u="sng" dirty="0">
                <a:solidFill>
                  <a:srgbClr val="000000"/>
                </a:solidFill>
                <a:latin typeface="微軟正黑體" panose="020B0604030504040204" pitchFamily="34" charset="-120"/>
                <a:ea typeface="微軟正黑體" panose="020B0604030504040204" pitchFamily="34" charset="-120"/>
              </a:rPr>
              <a:t>)-1</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9-(</a:t>
            </a:r>
            <a:r>
              <a:rPr lang="zh-TW" altLang="en-US" sz="1200" u="sng" dirty="0">
                <a:solidFill>
                  <a:srgbClr val="000000"/>
                </a:solidFill>
                <a:latin typeface="微軟正黑體" panose="020B0604030504040204" pitchFamily="34" charset="-120"/>
                <a:ea typeface="微軟正黑體" panose="020B0604030504040204" pitchFamily="34" charset="-120"/>
              </a:rPr>
              <a:t>二</a:t>
            </a:r>
            <a:r>
              <a:rPr lang="en-US" altLang="zh-TW" sz="1200" u="sng" dirty="0">
                <a:solidFill>
                  <a:srgbClr val="000000"/>
                </a:solidFill>
                <a:latin typeface="微軟正黑體" panose="020B0604030504040204" pitchFamily="34" charset="-120"/>
                <a:ea typeface="微軟正黑體" panose="020B0604030504040204" pitchFamily="34" charset="-120"/>
              </a:rPr>
              <a:t>)-3</a:t>
            </a:r>
            <a:r>
              <a:rPr lang="zh-TW" altLang="en-US" sz="1200" u="sng" dirty="0">
                <a:solidFill>
                  <a:srgbClr val="000000"/>
                </a:solidFill>
                <a:latin typeface="微軟正黑體" panose="020B0604030504040204" pitchFamily="34" charset="-120"/>
                <a:ea typeface="微軟正黑體" panose="020B0604030504040204" pitchFamily="34" charset="-120"/>
              </a:rPr>
              <a:t>、工期要點</a:t>
            </a:r>
            <a:r>
              <a:rPr lang="en-US" altLang="zh-TW" sz="1200" u="sng" dirty="0">
                <a:solidFill>
                  <a:srgbClr val="000000"/>
                </a:solidFill>
                <a:latin typeface="微軟正黑體" panose="020B0604030504040204" pitchFamily="34" charset="-120"/>
                <a:ea typeface="微軟正黑體" panose="020B0604030504040204" pitchFamily="34" charset="-120"/>
              </a:rPr>
              <a:t>3</a:t>
            </a:r>
            <a:r>
              <a:rPr lang="zh-TW" altLang="en-US" sz="1200" u="sng" dirty="0">
                <a:solidFill>
                  <a:srgbClr val="000000"/>
                </a:solidFill>
                <a:latin typeface="微軟正黑體" panose="020B0604030504040204" pitchFamily="34" charset="-120"/>
                <a:ea typeface="微軟正黑體" panose="020B0604030504040204" pitchFamily="34" charset="-120"/>
              </a:rPr>
              <a:t>、基準</a:t>
            </a:r>
            <a:r>
              <a:rPr lang="en-US" altLang="zh-TW" sz="1200" u="sng" dirty="0">
                <a:solidFill>
                  <a:srgbClr val="000000"/>
                </a:solidFill>
                <a:latin typeface="微軟正黑體" panose="020B0604030504040204" pitchFamily="34" charset="-120"/>
                <a:ea typeface="微軟正黑體" panose="020B0604030504040204" pitchFamily="34" charset="-120"/>
              </a:rPr>
              <a:t>7-1-(</a:t>
            </a:r>
            <a:r>
              <a:rPr lang="zh-TW" altLang="en-US" sz="1200" u="sng" dirty="0">
                <a:solidFill>
                  <a:srgbClr val="000000"/>
                </a:solidFill>
                <a:latin typeface="微軟正黑體" panose="020B0604030504040204" pitchFamily="34" charset="-120"/>
                <a:ea typeface="微軟正黑體" panose="020B0604030504040204" pitchFamily="34" charset="-120"/>
              </a:rPr>
              <a:t>三</a:t>
            </a:r>
            <a:r>
              <a:rPr lang="en-US" altLang="zh-TW" sz="1200" u="sng" dirty="0">
                <a:solidFill>
                  <a:srgbClr val="000000"/>
                </a:solidFill>
                <a:latin typeface="微軟正黑體" panose="020B0604030504040204" pitchFamily="34" charset="-120"/>
                <a:ea typeface="微軟正黑體" panose="020B0604030504040204" pitchFamily="34" charset="-120"/>
              </a:rPr>
              <a:t>)-2</a:t>
            </a:r>
            <a:r>
              <a:rPr lang="zh-TW" altLang="en-US" sz="1200" u="sng" dirty="0">
                <a:solidFill>
                  <a:srgbClr val="000000"/>
                </a:solidFill>
                <a:latin typeface="微軟正黑體" panose="020B0604030504040204" pitchFamily="34" charset="-120"/>
                <a:ea typeface="微軟正黑體" panose="020B0604030504040204" pitchFamily="34" charset="-120"/>
              </a:rPr>
              <a:t>、品要</a:t>
            </a:r>
            <a:r>
              <a:rPr lang="en-US" altLang="zh-TW" sz="1200" u="sng" dirty="0">
                <a:solidFill>
                  <a:srgbClr val="000000"/>
                </a:solidFill>
                <a:latin typeface="微軟正黑體" panose="020B0604030504040204" pitchFamily="34" charset="-120"/>
                <a:ea typeface="微軟正黑體" panose="020B0604030504040204" pitchFamily="34" charset="-120"/>
              </a:rPr>
              <a:t>15</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5527974" y="5916408"/>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D3762B72-54BC-446B-BCC4-B3A5C86188FD}"/>
              </a:ext>
            </a:extLst>
          </p:cNvPr>
          <p:cNvSpPr txBox="1"/>
          <p:nvPr/>
        </p:nvSpPr>
        <p:spPr>
          <a:xfrm>
            <a:off x="611153" y="2892831"/>
            <a:ext cx="751114"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4"/>
              </a:rPr>
              <a:t>核定函</a:t>
            </a:r>
            <a:endParaRPr lang="zh-TW" altLang="en-US" sz="1400" dirty="0"/>
          </a:p>
        </p:txBody>
      </p:sp>
      <p:sp>
        <p:nvSpPr>
          <p:cNvPr id="16" name="文字方塊 15">
            <a:extLst>
              <a:ext uri="{FF2B5EF4-FFF2-40B4-BE49-F238E27FC236}">
                <a16:creationId xmlns:a16="http://schemas.microsoft.com/office/drawing/2014/main" id="{99D99C1D-8B10-4401-A350-4FB7A40F4F79}"/>
              </a:ext>
            </a:extLst>
          </p:cNvPr>
          <p:cNvSpPr txBox="1"/>
          <p:nvPr/>
        </p:nvSpPr>
        <p:spPr>
          <a:xfrm>
            <a:off x="2962141" y="2892831"/>
            <a:ext cx="1135595" cy="523220"/>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5"/>
              </a:rPr>
              <a:t>預定進度表</a:t>
            </a:r>
            <a:endParaRPr lang="en-US" altLang="zh-TW" sz="1400" b="0" i="0" u="none" strike="noStrike" dirty="0">
              <a:solidFill>
                <a:srgbClr val="0070C0"/>
              </a:solidFill>
              <a:effectLst/>
              <a:latin typeface="新細明體" panose="02020500000000000000" pitchFamily="18" charset="-120"/>
              <a:ea typeface="新細明體" panose="02020500000000000000" pitchFamily="18" charset="-120"/>
            </a:endParaRPr>
          </a:p>
          <a:p>
            <a:r>
              <a:rPr lang="zh-TW" altLang="en-US" sz="1400" b="0" i="0" u="none" strike="noStrike" dirty="0">
                <a:solidFill>
                  <a:srgbClr val="FF0000"/>
                </a:solidFill>
                <a:effectLst/>
                <a:latin typeface="新細明體" panose="02020500000000000000" pitchFamily="18" charset="-120"/>
                <a:ea typeface="新細明體" panose="02020500000000000000" pitchFamily="18" charset="-120"/>
                <a:hlinkClick r:id="rId6"/>
              </a:rPr>
              <a:t>工期計算表</a:t>
            </a:r>
            <a:endParaRPr lang="zh-TW" altLang="en-US" sz="1400" dirty="0"/>
          </a:p>
        </p:txBody>
      </p:sp>
      <p:sp>
        <p:nvSpPr>
          <p:cNvPr id="17" name="文字方塊 16">
            <a:extLst>
              <a:ext uri="{FF2B5EF4-FFF2-40B4-BE49-F238E27FC236}">
                <a16:creationId xmlns:a16="http://schemas.microsoft.com/office/drawing/2014/main" id="{591099FB-5138-4F26-B320-6E62F8E4BA5D}"/>
              </a:ext>
            </a:extLst>
          </p:cNvPr>
          <p:cNvSpPr txBox="1"/>
          <p:nvPr/>
        </p:nvSpPr>
        <p:spPr>
          <a:xfrm>
            <a:off x="5516593" y="2892831"/>
            <a:ext cx="1135595"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7"/>
              </a:rPr>
              <a:t>核定函</a:t>
            </a:r>
            <a:r>
              <a:rPr lang="zh-TW" altLang="en-US" sz="1400" dirty="0">
                <a:solidFill>
                  <a:srgbClr val="0070C0"/>
                </a:solidFill>
                <a:latin typeface="新細明體" panose="02020500000000000000" pitchFamily="18" charset="-120"/>
                <a:ea typeface="新細明體" panose="02020500000000000000" pitchFamily="18" charset="-120"/>
                <a:hlinkClick r:id="rId7"/>
              </a:rPr>
              <a:t>實例</a:t>
            </a:r>
            <a:endParaRPr lang="zh-TW" altLang="en-US" sz="1400" dirty="0"/>
          </a:p>
        </p:txBody>
      </p:sp>
    </p:spTree>
    <p:extLst>
      <p:ext uri="{BB962C8B-B14F-4D97-AF65-F5344CB8AC3E}">
        <p14:creationId xmlns:p14="http://schemas.microsoft.com/office/powerpoint/2010/main" val="33118525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D665"/>
        </a:solidFill>
        <a:effectLst/>
      </p:bgPr>
    </p:bg>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新增紀錄</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機關</a:t>
            </a:r>
            <a:r>
              <a:rPr lang="en-US" altLang="zh-TW" sz="2000" b="1" dirty="0">
                <a:solidFill>
                  <a:schemeClr val="tx1"/>
                </a:solidFill>
                <a:cs typeface="+mn-ea"/>
                <a:sym typeface="+mn-lt"/>
              </a:rPr>
              <a:t>-</a:t>
            </a:r>
            <a:r>
              <a:rPr lang="zh-TW" altLang="en-US" sz="2000" b="1" dirty="0">
                <a:solidFill>
                  <a:schemeClr val="tx1"/>
                </a:solidFill>
                <a:cs typeface="+mn-ea"/>
                <a:sym typeface="+mn-lt"/>
              </a:rPr>
              <a:t>憑證管理</a:t>
            </a: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3200" b="1" dirty="0">
                <a:solidFill>
                  <a:srgbClr val="39759D"/>
                </a:solidFill>
                <a:cs typeface="+mn-ea"/>
                <a:sym typeface="+mn-lt"/>
              </a:rPr>
              <a:t>B1.2</a:t>
            </a:r>
            <a:r>
              <a:rPr lang="zh-TW" altLang="en-US" sz="3200" b="1" dirty="0">
                <a:solidFill>
                  <a:srgbClr val="39759D"/>
                </a:solidFill>
                <a:cs typeface="+mn-ea"/>
                <a:sym typeface="+mn-lt"/>
              </a:rPr>
              <a:t>開工通知書</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2913977"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grpSp>
        <p:nvGrpSpPr>
          <p:cNvPr id="2" name="群組 1">
            <a:extLst>
              <a:ext uri="{FF2B5EF4-FFF2-40B4-BE49-F238E27FC236}">
                <a16:creationId xmlns:a16="http://schemas.microsoft.com/office/drawing/2014/main" id="{0AF37791-BB1F-4C2A-86E4-DAFE2A25F88B}"/>
              </a:ext>
            </a:extLst>
          </p:cNvPr>
          <p:cNvGrpSpPr/>
          <p:nvPr/>
        </p:nvGrpSpPr>
        <p:grpSpPr>
          <a:xfrm>
            <a:off x="6991506" y="1440064"/>
            <a:ext cx="4915289" cy="2608565"/>
            <a:chOff x="6475523" y="1564161"/>
            <a:chExt cx="4915289" cy="2608565"/>
          </a:xfrm>
        </p:grpSpPr>
        <p:sp>
          <p:nvSpPr>
            <p:cNvPr id="7" name="矩形 6">
              <a:extLst>
                <a:ext uri="{FF2B5EF4-FFF2-40B4-BE49-F238E27FC236}">
                  <a16:creationId xmlns:a16="http://schemas.microsoft.com/office/drawing/2014/main" id="{67A70F71-E755-4D14-A3E1-DCDF5EBD3149}"/>
                </a:ext>
              </a:extLst>
            </p:cNvPr>
            <p:cNvSpPr/>
            <p:nvPr/>
          </p:nvSpPr>
          <p:spPr>
            <a:xfrm>
              <a:off x="10565819" y="1564161"/>
              <a:ext cx="824993" cy="4114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6B4A87EF-D384-4FFD-9E23-3485EFDD9037}"/>
                </a:ext>
              </a:extLst>
            </p:cNvPr>
            <p:cNvSpPr txBox="1"/>
            <p:nvPr/>
          </p:nvSpPr>
          <p:spPr>
            <a:xfrm>
              <a:off x="6475523" y="1585235"/>
              <a:ext cx="2954655" cy="369332"/>
            </a:xfrm>
            <a:prstGeom prst="rect">
              <a:avLst/>
            </a:prstGeom>
            <a:solidFill>
              <a:schemeClr val="accent4">
                <a:lumMod val="40000"/>
                <a:lumOff val="60000"/>
              </a:schemeClr>
            </a:solidFill>
            <a:ln>
              <a:solidFill>
                <a:srgbClr val="FF0000"/>
              </a:solidFill>
            </a:ln>
          </p:spPr>
          <p:txBody>
            <a:bodyPr wrap="none" rtlCol="0">
              <a:spAutoFit/>
            </a:bodyPr>
            <a:lstStyle/>
            <a:p>
              <a:pPr algn="l"/>
              <a:r>
                <a:rPr lang="zh-TW" altLang="en-US" b="1" dirty="0">
                  <a:cs typeface="+mn-ea"/>
                  <a:sym typeface="+mn-lt"/>
                </a:rPr>
                <a:t>點擊新增紀錄新增一筆資料</a:t>
              </a:r>
            </a:p>
          </p:txBody>
        </p:sp>
        <p:cxnSp>
          <p:nvCxnSpPr>
            <p:cNvPr id="9" name="直線接點 8">
              <a:extLst>
                <a:ext uri="{FF2B5EF4-FFF2-40B4-BE49-F238E27FC236}">
                  <a16:creationId xmlns:a16="http://schemas.microsoft.com/office/drawing/2014/main" id="{18B6BA14-968E-4F00-AA29-9F92E7027969}"/>
                </a:ext>
              </a:extLst>
            </p:cNvPr>
            <p:cNvCxnSpPr>
              <a:cxnSpLocks/>
              <a:stCxn id="8" idx="3"/>
              <a:endCxn id="7" idx="1"/>
            </p:cNvCxnSpPr>
            <p:nvPr/>
          </p:nvCxnSpPr>
          <p:spPr>
            <a:xfrm>
              <a:off x="9430178" y="1769901"/>
              <a:ext cx="113564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0" name="群組 9">
              <a:extLst>
                <a:ext uri="{FF2B5EF4-FFF2-40B4-BE49-F238E27FC236}">
                  <a16:creationId xmlns:a16="http://schemas.microsoft.com/office/drawing/2014/main" id="{E9D7C307-EFC8-4BF0-8243-E707628BCD22}"/>
                </a:ext>
              </a:extLst>
            </p:cNvPr>
            <p:cNvGrpSpPr/>
            <p:nvPr/>
          </p:nvGrpSpPr>
          <p:grpSpPr>
            <a:xfrm>
              <a:off x="6663041" y="2367977"/>
              <a:ext cx="4727771" cy="1804749"/>
              <a:chOff x="5983772" y="2679162"/>
              <a:chExt cx="4727771" cy="1804749"/>
            </a:xfrm>
          </p:grpSpPr>
          <p:sp>
            <p:nvSpPr>
              <p:cNvPr id="11" name="文字方塊 10">
                <a:extLst>
                  <a:ext uri="{FF2B5EF4-FFF2-40B4-BE49-F238E27FC236}">
                    <a16:creationId xmlns:a16="http://schemas.microsoft.com/office/drawing/2014/main" id="{F6D09A96-874D-44B5-ACAD-92845DA39E1E}"/>
                  </a:ext>
                </a:extLst>
              </p:cNvPr>
              <p:cNvSpPr txBox="1"/>
              <p:nvPr/>
            </p:nvSpPr>
            <p:spPr>
              <a:xfrm>
                <a:off x="5983772" y="2679162"/>
                <a:ext cx="4727771" cy="1804749"/>
              </a:xfrm>
              <a:prstGeom prst="wedgeRoundRectCallout">
                <a:avLst>
                  <a:gd name="adj1" fmla="val 35763"/>
                  <a:gd name="adj2" fmla="val -69616"/>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若為第一次進入則會自動詢問是否新增</a:t>
                </a:r>
                <a:endParaRPr lang="en-US" altLang="zh-TW" sz="2000" b="1" dirty="0">
                  <a:cs typeface="+mn-ea"/>
                  <a:sym typeface="+mn-lt"/>
                </a:endParaRPr>
              </a:p>
              <a:p>
                <a:endParaRPr lang="en-US" altLang="zh-TW" sz="2000" b="1" dirty="0">
                  <a:cs typeface="+mn-ea"/>
                  <a:sym typeface="+mn-lt"/>
                </a:endParaRPr>
              </a:p>
              <a:p>
                <a:endParaRPr lang="en-US" altLang="zh-TW" sz="2000" b="1" dirty="0">
                  <a:cs typeface="+mn-ea"/>
                  <a:sym typeface="+mn-lt"/>
                </a:endParaRPr>
              </a:p>
              <a:p>
                <a:endParaRPr lang="en-US" altLang="zh-TW" sz="2000" b="1" dirty="0">
                  <a:cs typeface="+mn-ea"/>
                  <a:sym typeface="+mn-lt"/>
                </a:endParaRPr>
              </a:p>
              <a:p>
                <a:endParaRPr lang="en-US" altLang="zh-TW" sz="2000" b="1" dirty="0">
                  <a:cs typeface="+mn-ea"/>
                  <a:sym typeface="+mn-lt"/>
                </a:endParaRPr>
              </a:p>
            </p:txBody>
          </p:sp>
          <p:pic>
            <p:nvPicPr>
              <p:cNvPr id="12" name="圖片 11">
                <a:extLst>
                  <a:ext uri="{FF2B5EF4-FFF2-40B4-BE49-F238E27FC236}">
                    <a16:creationId xmlns:a16="http://schemas.microsoft.com/office/drawing/2014/main" id="{AE11760C-1441-43D8-BA3B-A96A7FB2417A}"/>
                  </a:ext>
                </a:extLst>
              </p:cNvPr>
              <p:cNvPicPr>
                <a:picLocks noChangeAspect="1"/>
              </p:cNvPicPr>
              <p:nvPr/>
            </p:nvPicPr>
            <p:blipFill rotWithShape="1">
              <a:blip r:embed="rId3"/>
              <a:srcRect l="941" t="2765" r="1043" b="2990"/>
              <a:stretch/>
            </p:blipFill>
            <p:spPr>
              <a:xfrm>
                <a:off x="6785407" y="3273215"/>
                <a:ext cx="3040280" cy="967196"/>
              </a:xfrm>
              <a:prstGeom prst="rect">
                <a:avLst/>
              </a:prstGeom>
            </p:spPr>
          </p:pic>
        </p:grpSp>
      </p:grpSp>
      <p:pic>
        <p:nvPicPr>
          <p:cNvPr id="17" name="圖片 16">
            <a:extLst>
              <a:ext uri="{FF2B5EF4-FFF2-40B4-BE49-F238E27FC236}">
                <a16:creationId xmlns:a16="http://schemas.microsoft.com/office/drawing/2014/main" id="{635A7B23-FDC9-4C04-9F22-3E975BFC322C}"/>
              </a:ext>
            </a:extLst>
          </p:cNvPr>
          <p:cNvPicPr>
            <a:picLocks noChangeAspect="1"/>
          </p:cNvPicPr>
          <p:nvPr/>
        </p:nvPicPr>
        <p:blipFill>
          <a:blip r:embed="rId4"/>
          <a:stretch>
            <a:fillRect/>
          </a:stretch>
        </p:blipFill>
        <p:spPr>
          <a:xfrm>
            <a:off x="4149400" y="5280063"/>
            <a:ext cx="4128847" cy="610016"/>
          </a:xfrm>
          <a:prstGeom prst="rect">
            <a:avLst/>
          </a:prstGeom>
        </p:spPr>
      </p:pic>
      <p:pic>
        <p:nvPicPr>
          <p:cNvPr id="19" name="圖片 18">
            <a:extLst>
              <a:ext uri="{FF2B5EF4-FFF2-40B4-BE49-F238E27FC236}">
                <a16:creationId xmlns:a16="http://schemas.microsoft.com/office/drawing/2014/main" id="{D3525CAD-AD38-44EB-973F-72A23CBF5FFA}"/>
              </a:ext>
            </a:extLst>
          </p:cNvPr>
          <p:cNvPicPr>
            <a:picLocks noChangeAspect="1"/>
          </p:cNvPicPr>
          <p:nvPr/>
        </p:nvPicPr>
        <p:blipFill>
          <a:blip r:embed="rId5"/>
          <a:stretch>
            <a:fillRect/>
          </a:stretch>
        </p:blipFill>
        <p:spPr>
          <a:xfrm>
            <a:off x="152761" y="1440064"/>
            <a:ext cx="9454995" cy="3245946"/>
          </a:xfrm>
          <a:prstGeom prst="rect">
            <a:avLst/>
          </a:prstGeom>
        </p:spPr>
      </p:pic>
    </p:spTree>
    <p:extLst>
      <p:ext uri="{BB962C8B-B14F-4D97-AF65-F5344CB8AC3E}">
        <p14:creationId xmlns:p14="http://schemas.microsoft.com/office/powerpoint/2010/main" val="311181504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6340197" cy="58477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3200" dirty="0">
                <a:effectLst/>
              </a:rPr>
              <a:t>B1.8</a:t>
            </a:r>
            <a:r>
              <a:rPr lang="zh-TW" altLang="en-US" sz="3200" dirty="0">
                <a:effectLst/>
              </a:rPr>
              <a:t>合法土資場或借土區資料送審</a:t>
            </a:r>
            <a:endParaRPr lang="zh-TW" altLang="en-US" sz="3200" b="1" dirty="0"/>
          </a:p>
        </p:txBody>
      </p:sp>
      <p:sp>
        <p:nvSpPr>
          <p:cNvPr id="5" name="矩形 4"/>
          <p:cNvSpPr/>
          <p:nvPr/>
        </p:nvSpPr>
        <p:spPr>
          <a:xfrm>
            <a:off x="612780" y="1706742"/>
            <a:ext cx="10975655" cy="699038"/>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施工廠商應於預定產出餘土前自覓符合契約及相關法規要求之合法土資場或借土區，並提送剩餘土石方及泥漿處理計畫報請監造單位審查，並經機關核定。</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3075057"/>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3" name="五邊形 12"/>
          <p:cNvSpPr/>
          <p:nvPr/>
        </p:nvSpPr>
        <p:spPr>
          <a:xfrm>
            <a:off x="2848576" y="3075056"/>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20" name="矩形 19"/>
          <p:cNvSpPr/>
          <p:nvPr/>
        </p:nvSpPr>
        <p:spPr>
          <a:xfrm>
            <a:off x="382013" y="5916408"/>
            <a:ext cx="4540025"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 工契</a:t>
            </a:r>
            <a:r>
              <a:rPr lang="en-US" altLang="zh-TW" sz="1200" u="sng" dirty="0">
                <a:solidFill>
                  <a:srgbClr val="000000"/>
                </a:solidFill>
                <a:latin typeface="微軟正黑體" panose="020B0604030504040204" pitchFamily="34" charset="-120"/>
                <a:ea typeface="微軟正黑體" panose="020B0604030504040204" pitchFamily="34" charset="-120"/>
              </a:rPr>
              <a:t>9-(</a:t>
            </a:r>
            <a:r>
              <a:rPr lang="zh-TW" altLang="en-US" sz="1200" u="sng" dirty="0">
                <a:solidFill>
                  <a:srgbClr val="000000"/>
                </a:solidFill>
                <a:latin typeface="微軟正黑體" panose="020B0604030504040204" pitchFamily="34" charset="-120"/>
                <a:ea typeface="微軟正黑體" panose="020B0604030504040204" pitchFamily="34" charset="-120"/>
              </a:rPr>
              <a:t>廿四</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、臺北市營建剩餘資源管理辦法第</a:t>
            </a:r>
            <a:r>
              <a:rPr lang="en-US" altLang="zh-TW" sz="1200" u="sng" dirty="0">
                <a:solidFill>
                  <a:srgbClr val="000000"/>
                </a:solidFill>
                <a:latin typeface="微軟正黑體" panose="020B0604030504040204" pitchFamily="34" charset="-120"/>
                <a:ea typeface="微軟正黑體" panose="020B0604030504040204" pitchFamily="34" charset="-120"/>
              </a:rPr>
              <a:t>15</a:t>
            </a:r>
            <a:r>
              <a:rPr lang="zh-TW" altLang="en-US" sz="1200" u="sng" dirty="0">
                <a:solidFill>
                  <a:srgbClr val="000000"/>
                </a:solidFill>
                <a:latin typeface="微軟正黑體" panose="020B0604030504040204" pitchFamily="34" charset="-120"/>
                <a:ea typeface="微軟正黑體" panose="020B0604030504040204" pitchFamily="34" charset="-120"/>
              </a:rPr>
              <a:t>條</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4922038" y="5916408"/>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B4C3B721-F85E-4660-B4DE-3F77CD7D24B9}"/>
              </a:ext>
            </a:extLst>
          </p:cNvPr>
          <p:cNvSpPr txBox="1"/>
          <p:nvPr/>
        </p:nvSpPr>
        <p:spPr>
          <a:xfrm>
            <a:off x="612780" y="3419806"/>
            <a:ext cx="731520"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4"/>
              </a:rPr>
              <a:t>核定函</a:t>
            </a:r>
            <a:endParaRPr lang="zh-TW" altLang="en-US" sz="1400" dirty="0"/>
          </a:p>
        </p:txBody>
      </p:sp>
      <p:sp>
        <p:nvSpPr>
          <p:cNvPr id="16" name="文字方塊 15">
            <a:extLst>
              <a:ext uri="{FF2B5EF4-FFF2-40B4-BE49-F238E27FC236}">
                <a16:creationId xmlns:a16="http://schemas.microsoft.com/office/drawing/2014/main" id="{3F7E6CB0-9856-4563-9989-36D0237B4E42}"/>
              </a:ext>
            </a:extLst>
          </p:cNvPr>
          <p:cNvSpPr txBox="1"/>
          <p:nvPr/>
        </p:nvSpPr>
        <p:spPr>
          <a:xfrm>
            <a:off x="2989767" y="3433316"/>
            <a:ext cx="1123406" cy="523220"/>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5"/>
              </a:rPr>
              <a:t>審查表</a:t>
            </a:r>
            <a:endParaRPr lang="en-US" altLang="zh-TW" sz="1400" b="0" i="0" u="none" strike="noStrike" dirty="0">
              <a:solidFill>
                <a:srgbClr val="0070C0"/>
              </a:solidFill>
              <a:effectLst/>
              <a:latin typeface="新細明體" panose="02020500000000000000" pitchFamily="18" charset="-120"/>
              <a:ea typeface="新細明體" panose="02020500000000000000" pitchFamily="18" charset="-120"/>
            </a:endParaRPr>
          </a:p>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6"/>
              </a:rPr>
              <a:t>基本資料表</a:t>
            </a:r>
            <a:endParaRPr lang="zh-TW" altLang="en-US" sz="1400" dirty="0"/>
          </a:p>
        </p:txBody>
      </p:sp>
    </p:spTree>
    <p:extLst>
      <p:ext uri="{BB962C8B-B14F-4D97-AF65-F5344CB8AC3E}">
        <p14:creationId xmlns:p14="http://schemas.microsoft.com/office/powerpoint/2010/main" val="37593096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6345007" cy="584775"/>
          </a:xfrm>
          <a:prstGeom prst="rect">
            <a:avLst/>
          </a:prstGeom>
        </p:spPr>
        <p:txBody>
          <a:bodyPr wrap="none">
            <a:spAutoFit/>
          </a:bodyPr>
          <a:lstStyle/>
          <a:p>
            <a:pPr lvl="0">
              <a:defRPr/>
            </a:pPr>
            <a:r>
              <a:rPr lang="en-US" altLang="zh-TW" sz="3200" dirty="0"/>
              <a:t>B1.8-1</a:t>
            </a:r>
            <a:r>
              <a:rPr lang="zh-TW" altLang="en-US" sz="3200" dirty="0"/>
              <a:t>事業廢棄物清理計畫書報核</a:t>
            </a:r>
          </a:p>
        </p:txBody>
      </p:sp>
      <p:sp>
        <p:nvSpPr>
          <p:cNvPr id="5" name="矩形 4"/>
          <p:cNvSpPr/>
          <p:nvPr/>
        </p:nvSpPr>
        <p:spPr>
          <a:xfrm>
            <a:off x="612780" y="1706742"/>
            <a:ext cx="10975655" cy="699038"/>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施工廠商應於預定產出事業廢棄物前自覓符合契約及相關法規要求之合法清運公司及營建混合物分類處理場，並提送事業廢棄物清理計畫報請主管機關核准。</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14" name="五邊形 13"/>
          <p:cNvSpPr/>
          <p:nvPr/>
        </p:nvSpPr>
        <p:spPr>
          <a:xfrm>
            <a:off x="425513" y="307505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3959738"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 </a:t>
            </a:r>
            <a:r>
              <a:rPr lang="zh-TW" altLang="en-US" sz="1200" u="sng" dirty="0">
                <a:solidFill>
                  <a:srgbClr val="000000"/>
                </a:solidFill>
                <a:latin typeface="微軟正黑體" panose="020B0604030504040204" pitchFamily="34" charset="-120"/>
                <a:ea typeface="微軟正黑體" panose="020B0604030504040204" pitchFamily="34" charset="-120"/>
              </a:rPr>
              <a:t>工契</a:t>
            </a:r>
            <a:r>
              <a:rPr lang="en-US" altLang="zh-TW" sz="1200" u="sng" dirty="0">
                <a:solidFill>
                  <a:srgbClr val="000000"/>
                </a:solidFill>
                <a:latin typeface="微軟正黑體" panose="020B0604030504040204" pitchFamily="34" charset="-120"/>
                <a:ea typeface="微軟正黑體" panose="020B0604030504040204" pitchFamily="34" charset="-120"/>
              </a:rPr>
              <a:t>9-(</a:t>
            </a:r>
            <a:r>
              <a:rPr lang="zh-TW" altLang="en-US" sz="1200" u="sng" dirty="0">
                <a:solidFill>
                  <a:srgbClr val="000000"/>
                </a:solidFill>
                <a:latin typeface="微軟正黑體" panose="020B0604030504040204" pitchFamily="34" charset="-120"/>
                <a:ea typeface="微軟正黑體" panose="020B0604030504040204" pitchFamily="34" charset="-120"/>
              </a:rPr>
              <a:t>四</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十二</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、廢棄物清理法第</a:t>
            </a:r>
            <a:r>
              <a:rPr lang="en-US" altLang="zh-TW" sz="1200" u="sng" dirty="0">
                <a:solidFill>
                  <a:srgbClr val="000000"/>
                </a:solidFill>
                <a:latin typeface="微軟正黑體" panose="020B0604030504040204" pitchFamily="34" charset="-120"/>
                <a:ea typeface="微軟正黑體" panose="020B0604030504040204" pitchFamily="34" charset="-120"/>
              </a:rPr>
              <a:t>2</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31</a:t>
            </a:r>
            <a:r>
              <a:rPr lang="zh-TW" altLang="en-US" sz="1200" u="sng" dirty="0">
                <a:solidFill>
                  <a:srgbClr val="000000"/>
                </a:solidFill>
                <a:latin typeface="微軟正黑體" panose="020B0604030504040204" pitchFamily="34" charset="-120"/>
                <a:ea typeface="微軟正黑體" panose="020B0604030504040204" pitchFamily="34" charset="-120"/>
              </a:rPr>
              <a:t>條</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4255977" y="5916408"/>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6" name="文字方塊 15">
            <a:extLst>
              <a:ext uri="{FF2B5EF4-FFF2-40B4-BE49-F238E27FC236}">
                <a16:creationId xmlns:a16="http://schemas.microsoft.com/office/drawing/2014/main" id="{99102839-38E7-4BBE-9983-011A5A980BCE}"/>
              </a:ext>
            </a:extLst>
          </p:cNvPr>
          <p:cNvSpPr txBox="1"/>
          <p:nvPr/>
        </p:nvSpPr>
        <p:spPr>
          <a:xfrm>
            <a:off x="612780" y="3356224"/>
            <a:ext cx="2090057" cy="307777"/>
          </a:xfrm>
          <a:prstGeom prst="rect">
            <a:avLst/>
          </a:prstGeom>
          <a:noFill/>
        </p:spPr>
        <p:txBody>
          <a:bodyPr wrap="square">
            <a:spAutoFit/>
          </a:bodyPr>
          <a:lstStyle/>
          <a:p>
            <a:r>
              <a:rPr lang="zh-TW" altLang="en-US" sz="1400" b="0" i="0" u="none" strike="noStrike" dirty="0">
                <a:solidFill>
                  <a:srgbClr val="0070C0"/>
                </a:solidFill>
                <a:effectLst/>
                <a:latin typeface="新細明體" panose="02020500000000000000" pitchFamily="18" charset="-120"/>
                <a:ea typeface="新細明體" panose="02020500000000000000" pitchFamily="18" charset="-120"/>
                <a:hlinkClick r:id="rId4"/>
              </a:rPr>
              <a:t>事業廢棄物清理計畫書</a:t>
            </a:r>
            <a:endParaRPr lang="zh-TW" altLang="en-US" sz="1400" dirty="0"/>
          </a:p>
        </p:txBody>
      </p:sp>
    </p:spTree>
    <p:extLst>
      <p:ext uri="{BB962C8B-B14F-4D97-AF65-F5344CB8AC3E}">
        <p14:creationId xmlns:p14="http://schemas.microsoft.com/office/powerpoint/2010/main" val="1668183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5030544" cy="584775"/>
          </a:xfrm>
          <a:prstGeom prst="rect">
            <a:avLst/>
          </a:prstGeom>
        </p:spPr>
        <p:txBody>
          <a:bodyPr wrap="none">
            <a:spAutoFit/>
          </a:bodyPr>
          <a:lstStyle/>
          <a:p>
            <a:pPr lvl="0">
              <a:defRPr/>
            </a:pPr>
            <a:r>
              <a:rPr lang="en-US" altLang="zh-TW" sz="3200" dirty="0"/>
              <a:t>B1.9.1</a:t>
            </a:r>
            <a:r>
              <a:rPr lang="zh-TW" altLang="en-US" sz="3200" dirty="0"/>
              <a:t>申報空氣汙染防制費</a:t>
            </a:r>
          </a:p>
        </p:txBody>
      </p:sp>
      <p:sp>
        <p:nvSpPr>
          <p:cNvPr id="5" name="矩形 4"/>
          <p:cNvSpPr/>
          <p:nvPr/>
        </p:nvSpPr>
        <p:spPr>
          <a:xfrm>
            <a:off x="612780" y="1706742"/>
            <a:ext cx="10975655" cy="699038"/>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營建業主應於開工前檢具登載工程類別、面積、工期、經費、涉及空氣污染防制費計算之相關工程資料及自行計算空氣污染防制費費額，向直轄市、縣（市）主管機關申報。</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3075057"/>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3" name="五邊形 12"/>
          <p:cNvSpPr/>
          <p:nvPr/>
        </p:nvSpPr>
        <p:spPr>
          <a:xfrm>
            <a:off x="2848576" y="3075056"/>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20" name="矩形 19"/>
          <p:cNvSpPr/>
          <p:nvPr/>
        </p:nvSpPr>
        <p:spPr>
          <a:xfrm>
            <a:off x="382013" y="5916408"/>
            <a:ext cx="4682692"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空氣污染防制法第</a:t>
            </a:r>
            <a:r>
              <a:rPr lang="en-US" altLang="zh-TW" sz="1200" u="sng" dirty="0">
                <a:solidFill>
                  <a:srgbClr val="000000"/>
                </a:solidFill>
                <a:latin typeface="微軟正黑體" panose="020B0604030504040204" pitchFamily="34" charset="-120"/>
                <a:ea typeface="微軟正黑體" panose="020B0604030504040204" pitchFamily="34" charset="-120"/>
              </a:rPr>
              <a:t>16</a:t>
            </a:r>
            <a:r>
              <a:rPr lang="zh-TW" altLang="en-US" sz="1200" u="sng" dirty="0">
                <a:solidFill>
                  <a:srgbClr val="000000"/>
                </a:solidFill>
                <a:latin typeface="微軟正黑體" panose="020B0604030504040204" pitchFamily="34" charset="-120"/>
                <a:ea typeface="微軟正黑體" panose="020B0604030504040204" pitchFamily="34" charset="-120"/>
              </a:rPr>
              <a:t>條、空氣污染防制費收費辦法第</a:t>
            </a:r>
            <a:r>
              <a:rPr lang="en-US" altLang="zh-TW" sz="1200" u="sng" dirty="0">
                <a:solidFill>
                  <a:srgbClr val="000000"/>
                </a:solidFill>
                <a:latin typeface="微軟正黑體" panose="020B0604030504040204" pitchFamily="34" charset="-120"/>
                <a:ea typeface="微軟正黑體" panose="020B0604030504040204" pitchFamily="34" charset="-120"/>
              </a:rPr>
              <a:t>5</a:t>
            </a:r>
            <a:r>
              <a:rPr lang="zh-TW" altLang="en-US" sz="1200" u="sng" dirty="0">
                <a:solidFill>
                  <a:srgbClr val="000000"/>
                </a:solidFill>
                <a:latin typeface="微軟正黑體" panose="020B0604030504040204" pitchFamily="34" charset="-120"/>
                <a:ea typeface="微軟正黑體" panose="020B0604030504040204" pitchFamily="34" charset="-120"/>
              </a:rPr>
              <a:t>條</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5064705" y="5916408"/>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C77A43EB-078A-42CE-BFDF-48F4C30B2372}"/>
              </a:ext>
            </a:extLst>
          </p:cNvPr>
          <p:cNvSpPr txBox="1"/>
          <p:nvPr/>
        </p:nvSpPr>
        <p:spPr>
          <a:xfrm>
            <a:off x="593390" y="3429000"/>
            <a:ext cx="1619794" cy="307777"/>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4"/>
              </a:rPr>
              <a:t>空汙費未完成繳納</a:t>
            </a:r>
            <a:endParaRPr lang="zh-TW" altLang="en-US" sz="1400" dirty="0"/>
          </a:p>
        </p:txBody>
      </p:sp>
      <p:sp>
        <p:nvSpPr>
          <p:cNvPr id="16" name="文字方塊 15">
            <a:extLst>
              <a:ext uri="{FF2B5EF4-FFF2-40B4-BE49-F238E27FC236}">
                <a16:creationId xmlns:a16="http://schemas.microsoft.com/office/drawing/2014/main" id="{9EDFCBF9-9DF6-4248-BB0C-725CCF85B0AC}"/>
              </a:ext>
            </a:extLst>
          </p:cNvPr>
          <p:cNvSpPr txBox="1"/>
          <p:nvPr/>
        </p:nvSpPr>
        <p:spPr>
          <a:xfrm>
            <a:off x="3025499" y="3450450"/>
            <a:ext cx="800851" cy="307777"/>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5"/>
              </a:rPr>
              <a:t>申報表</a:t>
            </a:r>
            <a:endParaRPr lang="zh-TW" altLang="en-US" sz="1400" dirty="0"/>
          </a:p>
        </p:txBody>
      </p:sp>
    </p:spTree>
    <p:extLst>
      <p:ext uri="{BB962C8B-B14F-4D97-AF65-F5344CB8AC3E}">
        <p14:creationId xmlns:p14="http://schemas.microsoft.com/office/powerpoint/2010/main" val="9454203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4209807" cy="584775"/>
          </a:xfrm>
          <a:prstGeom prst="rect">
            <a:avLst/>
          </a:prstGeom>
        </p:spPr>
        <p:txBody>
          <a:bodyPr wrap="none">
            <a:spAutoFit/>
          </a:bodyPr>
          <a:lstStyle/>
          <a:p>
            <a:pPr lvl="0">
              <a:defRPr/>
            </a:pPr>
            <a:r>
              <a:rPr lang="en-US" altLang="zh-TW" sz="3200" dirty="0"/>
              <a:t>B1.9.2</a:t>
            </a:r>
            <a:r>
              <a:rPr lang="zh-TW" altLang="en-US" sz="3200" dirty="0"/>
              <a:t>向機關申報開工</a:t>
            </a:r>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施工廠商至遲應於機關指定之日前，以書面提報開工。如施工廠商不為提報開工者，機關得逕為指定開工期日並以書面通知施工廠商。</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2322501"/>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4" name="五邊形 13"/>
          <p:cNvSpPr/>
          <p:nvPr/>
        </p:nvSpPr>
        <p:spPr>
          <a:xfrm>
            <a:off x="1855702" y="2322499"/>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3103735"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 工契</a:t>
            </a:r>
            <a:r>
              <a:rPr lang="en-US" altLang="zh-TW" sz="1200" u="sng" dirty="0">
                <a:solidFill>
                  <a:srgbClr val="000000"/>
                </a:solidFill>
                <a:latin typeface="微軟正黑體" panose="020B0604030504040204" pitchFamily="34" charset="-120"/>
                <a:ea typeface="微軟正黑體" panose="020B0604030504040204" pitchFamily="34" charset="-120"/>
              </a:rPr>
              <a:t>9-(</a:t>
            </a:r>
            <a:r>
              <a:rPr lang="zh-TW" altLang="en-US" sz="1200" u="sng" dirty="0">
                <a:solidFill>
                  <a:srgbClr val="000000"/>
                </a:solidFill>
                <a:latin typeface="微軟正黑體" panose="020B0604030504040204" pitchFamily="34" charset="-120"/>
                <a:ea typeface="微軟正黑體" panose="020B0604030504040204" pitchFamily="34" charset="-120"/>
              </a:rPr>
              <a:t>八</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9-(</a:t>
            </a:r>
            <a:r>
              <a:rPr lang="zh-TW" altLang="en-US" sz="1200" u="sng" dirty="0">
                <a:solidFill>
                  <a:srgbClr val="000000"/>
                </a:solidFill>
                <a:latin typeface="微軟正黑體" panose="020B0604030504040204" pitchFamily="34" charset="-120"/>
                <a:ea typeface="微軟正黑體" panose="020B0604030504040204" pitchFamily="34" charset="-120"/>
              </a:rPr>
              <a:t>二</a:t>
            </a:r>
            <a:r>
              <a:rPr lang="en-US" altLang="zh-TW" sz="1200" u="sng" dirty="0">
                <a:solidFill>
                  <a:srgbClr val="000000"/>
                </a:solidFill>
                <a:latin typeface="微軟正黑體" panose="020B0604030504040204" pitchFamily="34" charset="-120"/>
                <a:ea typeface="微軟正黑體" panose="020B0604030504040204" pitchFamily="34" charset="-120"/>
              </a:rPr>
              <a:t>)-2</a:t>
            </a:r>
            <a:r>
              <a:rPr lang="zh-TW" altLang="en-US" sz="1200" u="sng" dirty="0">
                <a:solidFill>
                  <a:srgbClr val="000000"/>
                </a:solidFill>
                <a:latin typeface="微軟正黑體" panose="020B0604030504040204" pitchFamily="34" charset="-120"/>
                <a:ea typeface="微軟正黑體" panose="020B0604030504040204" pitchFamily="34" charset="-120"/>
              </a:rPr>
              <a:t>、 </a:t>
            </a:r>
            <a:r>
              <a:rPr lang="en-US" altLang="zh-TW" sz="1200" u="sng" dirty="0">
                <a:solidFill>
                  <a:srgbClr val="000000"/>
                </a:solidFill>
                <a:latin typeface="微軟正黑體" panose="020B0604030504040204" pitchFamily="34" charset="-120"/>
                <a:ea typeface="微軟正黑體" panose="020B0604030504040204" pitchFamily="34" charset="-120"/>
              </a:rPr>
              <a:t>7-(</a:t>
            </a:r>
            <a:r>
              <a:rPr lang="zh-TW" altLang="en-US" sz="1200" u="sng" dirty="0">
                <a:solidFill>
                  <a:srgbClr val="000000"/>
                </a:solidFill>
                <a:latin typeface="微軟正黑體" panose="020B0604030504040204" pitchFamily="34" charset="-120"/>
                <a:ea typeface="微軟正黑體" panose="020B0604030504040204" pitchFamily="34" charset="-120"/>
              </a:rPr>
              <a:t>一</a:t>
            </a:r>
            <a:r>
              <a:rPr lang="en-US" altLang="zh-TW" sz="1200" u="sng" dirty="0">
                <a:solidFill>
                  <a:srgbClr val="000000"/>
                </a:solidFill>
                <a:latin typeface="微軟正黑體" panose="020B0604030504040204" pitchFamily="34" charset="-120"/>
                <a:ea typeface="微軟正黑體" panose="020B0604030504040204" pitchFamily="34" charset="-120"/>
              </a:rPr>
              <a:t>)-1</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3485748" y="5916408"/>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023F1ED6-8B65-4274-8815-163327E211F3}"/>
              </a:ext>
            </a:extLst>
          </p:cNvPr>
          <p:cNvSpPr txBox="1"/>
          <p:nvPr/>
        </p:nvSpPr>
        <p:spPr>
          <a:xfrm>
            <a:off x="612780" y="2665271"/>
            <a:ext cx="738051" cy="307777"/>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4"/>
              </a:rPr>
              <a:t>核定函</a:t>
            </a:r>
            <a:endParaRPr lang="zh-TW" altLang="en-US" sz="1400" dirty="0"/>
          </a:p>
        </p:txBody>
      </p:sp>
      <p:sp>
        <p:nvSpPr>
          <p:cNvPr id="16" name="文字方塊 15">
            <a:extLst>
              <a:ext uri="{FF2B5EF4-FFF2-40B4-BE49-F238E27FC236}">
                <a16:creationId xmlns:a16="http://schemas.microsoft.com/office/drawing/2014/main" id="{6C118719-9A84-48C1-9837-D905F710DC56}"/>
              </a:ext>
            </a:extLst>
          </p:cNvPr>
          <p:cNvSpPr txBox="1"/>
          <p:nvPr/>
        </p:nvSpPr>
        <p:spPr>
          <a:xfrm>
            <a:off x="2100656" y="2665271"/>
            <a:ext cx="1133229" cy="307777"/>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5"/>
              </a:rPr>
              <a:t>核定函實例</a:t>
            </a:r>
            <a:endParaRPr lang="zh-TW" altLang="en-US" sz="1400" dirty="0"/>
          </a:p>
        </p:txBody>
      </p:sp>
    </p:spTree>
    <p:extLst>
      <p:ext uri="{BB962C8B-B14F-4D97-AF65-F5344CB8AC3E}">
        <p14:creationId xmlns:p14="http://schemas.microsoft.com/office/powerpoint/2010/main" val="35113725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5267789" cy="584775"/>
          </a:xfrm>
          <a:prstGeom prst="rect">
            <a:avLst/>
          </a:prstGeom>
        </p:spPr>
        <p:txBody>
          <a:bodyPr wrap="none">
            <a:spAutoFit/>
          </a:bodyPr>
          <a:lstStyle/>
          <a:p>
            <a:pPr lvl="0">
              <a:defRPr/>
            </a:pPr>
            <a:r>
              <a:rPr lang="en-US" altLang="zh-TW" sz="3200" dirty="0"/>
              <a:t>B1.10.1</a:t>
            </a:r>
            <a:r>
              <a:rPr lang="zh-TW" altLang="en-US" sz="3200" dirty="0"/>
              <a:t>向主管機關申報開工</a:t>
            </a:r>
          </a:p>
        </p:txBody>
      </p:sp>
      <p:sp>
        <p:nvSpPr>
          <p:cNvPr id="5" name="矩形 4"/>
          <p:cNvSpPr/>
          <p:nvPr/>
        </p:nvSpPr>
        <p:spPr>
          <a:xfrm>
            <a:off x="612780" y="1706742"/>
            <a:ext cx="10975655" cy="699038"/>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施工廠商辦理各項工程，如涉及目的事業主管機關所訂法規需向該目的事業主管機關申報開工使得進場施作者，應於開工前，依其規定向該管申報開工辦理。</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13" name="五邊形 12"/>
          <p:cNvSpPr/>
          <p:nvPr/>
        </p:nvSpPr>
        <p:spPr>
          <a:xfrm>
            <a:off x="425513" y="257376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20" name="矩形 19"/>
          <p:cNvSpPr/>
          <p:nvPr/>
        </p:nvSpPr>
        <p:spPr>
          <a:xfrm>
            <a:off x="382013" y="5744755"/>
            <a:ext cx="7571303" cy="461665"/>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p>
          <a:p>
            <a:r>
              <a:rPr lang="zh-TW" altLang="en-US" sz="1200" b="0" i="0" dirty="0">
                <a:solidFill>
                  <a:srgbClr val="000000"/>
                </a:solidFill>
                <a:effectLst/>
                <a:latin typeface="微軟正黑體" panose="020B0604030504040204" pitchFamily="34" charset="-120"/>
                <a:ea typeface="微軟正黑體" panose="020B0604030504040204" pitchFamily="34" charset="-120"/>
              </a:rPr>
              <a:t>所稱主管機關係指依各該法規之主管機關。例如屬公有建築物，應依據建築法相關規定向主管建築機關申報。</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1102755" y="5744755"/>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504870"/>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D21AD5C7-053A-4A3E-9075-E07007555A72}"/>
              </a:ext>
            </a:extLst>
          </p:cNvPr>
          <p:cNvSpPr txBox="1"/>
          <p:nvPr/>
        </p:nvSpPr>
        <p:spPr>
          <a:xfrm>
            <a:off x="612780" y="2880134"/>
            <a:ext cx="1809206" cy="307777"/>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4"/>
              </a:rPr>
              <a:t>建築工程開工申報書</a:t>
            </a:r>
            <a:endParaRPr lang="zh-TW" altLang="en-US" sz="1400" dirty="0"/>
          </a:p>
        </p:txBody>
      </p:sp>
    </p:spTree>
    <p:extLst>
      <p:ext uri="{BB962C8B-B14F-4D97-AF65-F5344CB8AC3E}">
        <p14:creationId xmlns:p14="http://schemas.microsoft.com/office/powerpoint/2010/main" val="29851609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5678157" cy="584775"/>
          </a:xfrm>
          <a:prstGeom prst="rect">
            <a:avLst/>
          </a:prstGeom>
        </p:spPr>
        <p:txBody>
          <a:bodyPr wrap="none">
            <a:spAutoFit/>
          </a:bodyPr>
          <a:lstStyle/>
          <a:p>
            <a:pPr lvl="0">
              <a:defRPr/>
            </a:pPr>
            <a:r>
              <a:rPr lang="en-US" altLang="zh-TW" sz="3200" dirty="0"/>
              <a:t>B1.10.2</a:t>
            </a:r>
            <a:r>
              <a:rPr lang="zh-TW" altLang="en-US" sz="3200" dirty="0"/>
              <a:t>建築工程施工時段申請</a:t>
            </a:r>
          </a:p>
        </p:txBody>
      </p:sp>
      <p:sp>
        <p:nvSpPr>
          <p:cNvPr id="5" name="矩形 4"/>
          <p:cNvSpPr/>
          <p:nvPr/>
        </p:nvSpPr>
        <p:spPr>
          <a:xfrm>
            <a:off x="612780" y="1706742"/>
            <a:ext cx="10975655" cy="2638030"/>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下列施工作業，平日不得於下午</a:t>
            </a:r>
            <a:r>
              <a:rPr lang="en-US" altLang="zh-TW" sz="1400" dirty="0">
                <a:solidFill>
                  <a:srgbClr val="000000"/>
                </a:solidFill>
                <a:latin typeface="微軟正黑體" panose="020B0604030504040204" pitchFamily="34" charset="-120"/>
                <a:ea typeface="微軟正黑體" panose="020B0604030504040204" pitchFamily="34" charset="-120"/>
              </a:rPr>
              <a:t>10</a:t>
            </a:r>
            <a:r>
              <a:rPr lang="zh-TW" altLang="en-US" sz="1400" dirty="0">
                <a:solidFill>
                  <a:srgbClr val="000000"/>
                </a:solidFill>
                <a:latin typeface="微軟正黑體" panose="020B0604030504040204" pitchFamily="34" charset="-120"/>
                <a:ea typeface="微軟正黑體" panose="020B0604030504040204" pitchFamily="34" charset="-120"/>
              </a:rPr>
              <a:t>時至翌日上午</a:t>
            </a:r>
            <a:r>
              <a:rPr lang="en-US" altLang="zh-TW" sz="1400" dirty="0">
                <a:solidFill>
                  <a:srgbClr val="000000"/>
                </a:solidFill>
                <a:latin typeface="微軟正黑體" panose="020B0604030504040204" pitchFamily="34" charset="-120"/>
                <a:ea typeface="微軟正黑體" panose="020B0604030504040204" pitchFamily="34" charset="-120"/>
              </a:rPr>
              <a:t>8</a:t>
            </a:r>
            <a:r>
              <a:rPr lang="zh-TW" altLang="en-US" sz="1400" dirty="0">
                <a:solidFill>
                  <a:srgbClr val="000000"/>
                </a:solidFill>
                <a:latin typeface="微軟正黑體" panose="020B0604030504040204" pitchFamily="34" charset="-120"/>
                <a:ea typeface="微軟正黑體" panose="020B0604030504040204" pitchFamily="34" charset="-120"/>
              </a:rPr>
              <a:t>時施工；例假日不得於上午</a:t>
            </a:r>
            <a:r>
              <a:rPr lang="en-US" altLang="zh-TW" sz="1400" dirty="0">
                <a:solidFill>
                  <a:srgbClr val="000000"/>
                </a:solidFill>
                <a:latin typeface="微軟正黑體" panose="020B0604030504040204" pitchFamily="34" charset="-120"/>
                <a:ea typeface="微軟正黑體" panose="020B0604030504040204" pitchFamily="34" charset="-120"/>
              </a:rPr>
              <a:t>8</a:t>
            </a:r>
            <a:r>
              <a:rPr lang="zh-TW" altLang="en-US" sz="1400" dirty="0">
                <a:solidFill>
                  <a:srgbClr val="000000"/>
                </a:solidFill>
                <a:latin typeface="微軟正黑體" panose="020B0604030504040204" pitchFamily="34" charset="-120"/>
                <a:ea typeface="微軟正黑體" panose="020B0604030504040204" pitchFamily="34" charset="-120"/>
              </a:rPr>
              <a:t>時前、中午</a:t>
            </a:r>
            <a:r>
              <a:rPr lang="en-US" altLang="zh-TW" sz="1400" dirty="0">
                <a:solidFill>
                  <a:srgbClr val="000000"/>
                </a:solidFill>
                <a:latin typeface="微軟正黑體" panose="020B0604030504040204" pitchFamily="34" charset="-120"/>
                <a:ea typeface="微軟正黑體" panose="020B0604030504040204" pitchFamily="34" charset="-120"/>
              </a:rPr>
              <a:t>12</a:t>
            </a:r>
            <a:r>
              <a:rPr lang="zh-TW" altLang="en-US" sz="1400" dirty="0">
                <a:solidFill>
                  <a:srgbClr val="000000"/>
                </a:solidFill>
                <a:latin typeface="微軟正黑體" panose="020B0604030504040204" pitchFamily="34" charset="-120"/>
                <a:ea typeface="微軟正黑體" panose="020B0604030504040204" pitchFamily="34" charset="-120"/>
              </a:rPr>
              <a:t>時至下午</a:t>
            </a: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時或下午</a:t>
            </a:r>
            <a:r>
              <a:rPr lang="en-US" altLang="zh-TW" sz="1400" dirty="0">
                <a:solidFill>
                  <a:srgbClr val="000000"/>
                </a:solidFill>
                <a:latin typeface="微軟正黑體" panose="020B0604030504040204" pitchFamily="34" charset="-120"/>
                <a:ea typeface="微軟正黑體" panose="020B0604030504040204" pitchFamily="34" charset="-120"/>
              </a:rPr>
              <a:t>6</a:t>
            </a:r>
            <a:r>
              <a:rPr lang="zh-TW" altLang="en-US" sz="1400" dirty="0">
                <a:solidFill>
                  <a:srgbClr val="000000"/>
                </a:solidFill>
                <a:latin typeface="微軟正黑體" panose="020B0604030504040204" pitchFamily="34" charset="-120"/>
                <a:ea typeface="微軟正黑體" panose="020B0604030504040204" pitchFamily="34" charset="-120"/>
              </a:rPr>
              <a:t>時後之時段施工。但本府工程主辦機關報本府核定自行管制者，不在此限。</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連續壁施工作業。</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打樁及樁基礎施工作業。</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3.</a:t>
            </a:r>
            <a:r>
              <a:rPr lang="zh-TW" altLang="en-US" sz="1400" dirty="0">
                <a:solidFill>
                  <a:srgbClr val="000000"/>
                </a:solidFill>
                <a:latin typeface="微軟正黑體" panose="020B0604030504040204" pitchFamily="34" charset="-120"/>
                <a:ea typeface="微軟正黑體" panose="020B0604030504040204" pitchFamily="34" charset="-120"/>
              </a:rPr>
              <a:t>地下室安全措施組立作業（含開挖作業）。</a:t>
            </a:r>
            <a:r>
              <a:rPr lang="en-US" altLang="zh-TW" sz="1400" dirty="0">
                <a:solidFill>
                  <a:srgbClr val="000000"/>
                </a:solidFill>
                <a:latin typeface="微軟正黑體" panose="020B0604030504040204" pitchFamily="34" charset="-120"/>
                <a:ea typeface="微軟正黑體" panose="020B0604030504040204" pitchFamily="34" charset="-120"/>
              </a:rPr>
              <a:t>4.</a:t>
            </a:r>
            <a:r>
              <a:rPr lang="zh-TW" altLang="en-US" sz="1400" dirty="0">
                <a:solidFill>
                  <a:srgbClr val="000000"/>
                </a:solidFill>
                <a:latin typeface="微軟正黑體" panose="020B0604030504040204" pitchFamily="34" charset="-120"/>
                <a:ea typeface="微軟正黑體" panose="020B0604030504040204" pitchFamily="34" charset="-120"/>
              </a:rPr>
              <a:t>鋼結構組立作業。</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5.</a:t>
            </a:r>
            <a:r>
              <a:rPr lang="zh-TW" altLang="en-US" sz="1400" dirty="0">
                <a:solidFill>
                  <a:srgbClr val="000000"/>
                </a:solidFill>
                <a:latin typeface="微軟正黑體" panose="020B0604030504040204" pitchFamily="34" charset="-120"/>
                <a:ea typeface="微軟正黑體" panose="020B0604030504040204" pitchFamily="34" charset="-120"/>
              </a:rPr>
              <a:t>混凝土澆置作業。</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6.</a:t>
            </a:r>
            <a:r>
              <a:rPr lang="zh-TW" altLang="en-US" sz="1400" dirty="0">
                <a:solidFill>
                  <a:srgbClr val="000000"/>
                </a:solidFill>
                <a:latin typeface="微軟正黑體" panose="020B0604030504040204" pitchFamily="34" charset="-120"/>
                <a:ea typeface="微軟正黑體" panose="020B0604030504040204" pitchFamily="34" charset="-120"/>
              </a:rPr>
              <a:t>建築物拆除工程及岩石、混凝土、磚牆等破碎作業。</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7.</a:t>
            </a:r>
            <a:r>
              <a:rPr lang="zh-TW" altLang="en-US" sz="1400" dirty="0">
                <a:solidFill>
                  <a:srgbClr val="000000"/>
                </a:solidFill>
                <a:latin typeface="微軟正黑體" panose="020B0604030504040204" pitchFamily="34" charset="-120"/>
                <a:ea typeface="微軟正黑體" panose="020B0604030504040204" pitchFamily="34" charset="-120"/>
              </a:rPr>
              <a:t>吊車之裝卸作業。</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14" name="五邊形 13"/>
          <p:cNvSpPr/>
          <p:nvPr/>
        </p:nvSpPr>
        <p:spPr>
          <a:xfrm>
            <a:off x="425513" y="4512756"/>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726996"/>
            <a:ext cx="6673622" cy="461665"/>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p>
          <a:p>
            <a:r>
              <a:rPr lang="zh-TW" altLang="en-US" sz="1200" u="sng" dirty="0">
                <a:solidFill>
                  <a:srgbClr val="000000"/>
                </a:solidFill>
                <a:latin typeface="微軟正黑體" panose="020B0604030504040204" pitchFamily="34" charset="-120"/>
                <a:ea typeface="微軟正黑體" panose="020B0604030504040204" pitchFamily="34" charset="-120"/>
              </a:rPr>
              <a:t>臺北市建築工程施工時段管制辦法第</a:t>
            </a:r>
            <a:r>
              <a:rPr lang="en-US" altLang="zh-TW" sz="1200" u="sng" dirty="0">
                <a:solidFill>
                  <a:srgbClr val="000000"/>
                </a:solidFill>
                <a:latin typeface="微軟正黑體" panose="020B0604030504040204" pitchFamily="34" charset="-120"/>
                <a:ea typeface="微軟正黑體" panose="020B0604030504040204" pitchFamily="34" charset="-120"/>
              </a:rPr>
              <a:t>4</a:t>
            </a:r>
            <a:r>
              <a:rPr lang="zh-TW" altLang="en-US" sz="1200" u="sng" dirty="0">
                <a:solidFill>
                  <a:srgbClr val="000000"/>
                </a:solidFill>
                <a:latin typeface="微軟正黑體" panose="020B0604030504040204" pitchFamily="34" charset="-120"/>
                <a:ea typeface="微軟正黑體" panose="020B0604030504040204" pitchFamily="34" charset="-120"/>
              </a:rPr>
              <a:t>條、臺北市禁止從事妨礙安寧行為之區域範圍及時段第</a:t>
            </a:r>
            <a:r>
              <a:rPr lang="en-US" altLang="zh-TW" sz="1200" u="sng" dirty="0">
                <a:solidFill>
                  <a:srgbClr val="000000"/>
                </a:solidFill>
                <a:latin typeface="微軟正黑體" panose="020B0604030504040204" pitchFamily="34" charset="-120"/>
                <a:ea typeface="微軟正黑體" panose="020B0604030504040204" pitchFamily="34" charset="-120"/>
              </a:rPr>
              <a:t>6</a:t>
            </a:r>
            <a:r>
              <a:rPr lang="zh-TW" altLang="en-US" sz="1200" u="sng" dirty="0">
                <a:solidFill>
                  <a:srgbClr val="000000"/>
                </a:solidFill>
                <a:latin typeface="微軟正黑體" panose="020B0604030504040204" pitchFamily="34" charset="-120"/>
                <a:ea typeface="微軟正黑體" panose="020B0604030504040204" pitchFamily="34" charset="-120"/>
              </a:rPr>
              <a:t>項</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1104523" y="5726996"/>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487111"/>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7676CC59-E105-4326-AFF7-3E6204C204AF}"/>
              </a:ext>
            </a:extLst>
          </p:cNvPr>
          <p:cNvSpPr txBox="1"/>
          <p:nvPr/>
        </p:nvSpPr>
        <p:spPr>
          <a:xfrm>
            <a:off x="670467" y="4833220"/>
            <a:ext cx="1410789" cy="307777"/>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4"/>
              </a:rPr>
              <a:t>核定函</a:t>
            </a:r>
            <a:r>
              <a:rPr lang="zh-TW" altLang="en-US" sz="1400" dirty="0">
                <a:solidFill>
                  <a:srgbClr val="0070C0"/>
                </a:solidFill>
                <a:latin typeface="微軟正黑體" panose="020B0604030504040204" pitchFamily="34" charset="-120"/>
                <a:ea typeface="微軟正黑體" panose="020B0604030504040204" pitchFamily="34" charset="-120"/>
                <a:hlinkClick r:id="rId4"/>
              </a:rPr>
              <a:t>實例</a:t>
            </a:r>
            <a:endParaRPr lang="zh-TW" altLang="en-US" sz="1400" dirty="0"/>
          </a:p>
        </p:txBody>
      </p:sp>
    </p:spTree>
    <p:extLst>
      <p:ext uri="{BB962C8B-B14F-4D97-AF65-F5344CB8AC3E}">
        <p14:creationId xmlns:p14="http://schemas.microsoft.com/office/powerpoint/2010/main" val="21339740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2884123" cy="584775"/>
          </a:xfrm>
          <a:prstGeom prst="rect">
            <a:avLst/>
          </a:prstGeom>
        </p:spPr>
        <p:txBody>
          <a:bodyPr wrap="none">
            <a:spAutoFit/>
          </a:bodyPr>
          <a:lstStyle/>
          <a:p>
            <a:pPr lvl="0">
              <a:defRPr/>
            </a:pPr>
            <a:r>
              <a:rPr lang="en-US" altLang="zh-TW" sz="3200" dirty="0"/>
              <a:t>B1.11</a:t>
            </a:r>
            <a:r>
              <a:rPr lang="zh-TW" altLang="en-US" sz="3200" dirty="0"/>
              <a:t>監造計畫</a:t>
            </a:r>
          </a:p>
        </p:txBody>
      </p:sp>
      <p:sp>
        <p:nvSpPr>
          <p:cNvPr id="5" name="矩形 4"/>
          <p:cNvSpPr/>
          <p:nvPr/>
        </p:nvSpPr>
        <p:spPr>
          <a:xfrm>
            <a:off x="612780" y="1706742"/>
            <a:ext cx="10975655" cy="1345368"/>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1.5</a:t>
            </a:r>
            <a:r>
              <a:rPr lang="zh-TW" altLang="en-US" sz="1400" dirty="0">
                <a:solidFill>
                  <a:srgbClr val="000000"/>
                </a:solidFill>
                <a:latin typeface="微軟正黑體" panose="020B0604030504040204" pitchFamily="34" charset="-120"/>
                <a:ea typeface="微軟正黑體" panose="020B0604030504040204" pitchFamily="34" charset="-120"/>
              </a:rPr>
              <a:t>千萬元以上於訂約後</a:t>
            </a:r>
            <a:r>
              <a:rPr lang="en-US" altLang="zh-TW" sz="1400" dirty="0">
                <a:solidFill>
                  <a:srgbClr val="000000"/>
                </a:solidFill>
                <a:latin typeface="微軟正黑體" panose="020B0604030504040204" pitchFamily="34" charset="-120"/>
                <a:ea typeface="微軟正黑體" panose="020B0604030504040204" pitchFamily="34" charset="-120"/>
              </a:rPr>
              <a:t>30</a:t>
            </a:r>
            <a:r>
              <a:rPr lang="zh-TW" altLang="en-US" sz="1400" dirty="0">
                <a:solidFill>
                  <a:srgbClr val="000000"/>
                </a:solidFill>
                <a:latin typeface="微軟正黑體" panose="020B0604030504040204" pitchFamily="34" charset="-120"/>
                <a:ea typeface="微軟正黑體" panose="020B0604030504040204" pitchFamily="34" charset="-120"/>
              </a:rPr>
              <a:t>日內、</a:t>
            </a: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千萬元以上未達</a:t>
            </a:r>
            <a:r>
              <a:rPr lang="en-US" altLang="zh-TW" sz="1400" dirty="0">
                <a:solidFill>
                  <a:srgbClr val="000000"/>
                </a:solidFill>
                <a:latin typeface="微軟正黑體" panose="020B0604030504040204" pitchFamily="34" charset="-120"/>
                <a:ea typeface="微軟正黑體" panose="020B0604030504040204" pitchFamily="34" charset="-120"/>
              </a:rPr>
              <a:t>5</a:t>
            </a:r>
            <a:r>
              <a:rPr lang="zh-TW" altLang="en-US" sz="1400" dirty="0">
                <a:solidFill>
                  <a:srgbClr val="000000"/>
                </a:solidFill>
                <a:latin typeface="微軟正黑體" panose="020B0604030504040204" pitchFamily="34" charset="-120"/>
                <a:ea typeface="微軟正黑體" panose="020B0604030504040204" pitchFamily="34" charset="-120"/>
              </a:rPr>
              <a:t>千萬元於訂約後</a:t>
            </a:r>
            <a:r>
              <a:rPr lang="en-US" altLang="zh-TW" sz="1400" dirty="0">
                <a:solidFill>
                  <a:srgbClr val="000000"/>
                </a:solidFill>
                <a:latin typeface="微軟正黑體" panose="020B0604030504040204" pitchFamily="34" charset="-120"/>
                <a:ea typeface="微軟正黑體" panose="020B0604030504040204" pitchFamily="34" charset="-120"/>
              </a:rPr>
              <a:t>20</a:t>
            </a:r>
            <a:r>
              <a:rPr lang="zh-TW" altLang="en-US" sz="1400" dirty="0">
                <a:solidFill>
                  <a:srgbClr val="000000"/>
                </a:solidFill>
                <a:latin typeface="微軟正黑體" panose="020B0604030504040204" pitchFamily="34" charset="-120"/>
                <a:ea typeface="微軟正黑體" panose="020B0604030504040204" pitchFamily="34" charset="-120"/>
              </a:rPr>
              <a:t>日內、</a:t>
            </a: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百萬元以上未達</a:t>
            </a: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千萬元於訂約後</a:t>
            </a:r>
            <a:r>
              <a:rPr lang="en-US" altLang="zh-TW" sz="1400" dirty="0">
                <a:solidFill>
                  <a:srgbClr val="000000"/>
                </a:solidFill>
                <a:latin typeface="微軟正黑體" panose="020B0604030504040204" pitchFamily="34" charset="-120"/>
                <a:ea typeface="微軟正黑體" panose="020B0604030504040204" pitchFamily="34" charset="-120"/>
              </a:rPr>
              <a:t>15</a:t>
            </a:r>
            <a:r>
              <a:rPr lang="zh-TW" altLang="en-US" sz="1400" dirty="0">
                <a:solidFill>
                  <a:srgbClr val="000000"/>
                </a:solidFill>
                <a:latin typeface="微軟正黑體" panose="020B0604030504040204" pitchFamily="34" charset="-120"/>
                <a:ea typeface="微軟正黑體" panose="020B0604030504040204" pitchFamily="34" charset="-120"/>
              </a:rPr>
              <a:t>日內提報。</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監造計畫之內容，依工程規模及特性參考工程會訂定之監造計畫製作綱要辦理。如有訂其他項目之需要者，得依機關之規定辦理。</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3.</a:t>
            </a:r>
            <a:r>
              <a:rPr lang="zh-TW" altLang="en-US" sz="1400" dirty="0">
                <a:solidFill>
                  <a:srgbClr val="000000"/>
                </a:solidFill>
                <a:latin typeface="微軟正黑體" panose="020B0604030504040204" pitchFamily="34" charset="-120"/>
                <a:ea typeface="微軟正黑體" panose="020B0604030504040204" pitchFamily="34" charset="-120"/>
              </a:rPr>
              <a:t>機關審查監造廠商提報監造計畫，有需改善或補正事項之意見，應一次通知監造廠商辦理。</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4.</a:t>
            </a:r>
            <a:r>
              <a:rPr lang="zh-TW" altLang="en-US" sz="1400" dirty="0">
                <a:solidFill>
                  <a:srgbClr val="000000"/>
                </a:solidFill>
                <a:latin typeface="微軟正黑體" panose="020B0604030504040204" pitchFamily="34" charset="-120"/>
                <a:ea typeface="微軟正黑體" panose="020B0604030504040204" pitchFamily="34" charset="-120"/>
              </a:rPr>
              <a:t>依「監造計畫製作及審查重點」檢核。</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3220094"/>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4" name="五邊形 13"/>
          <p:cNvSpPr/>
          <p:nvPr/>
        </p:nvSpPr>
        <p:spPr>
          <a:xfrm>
            <a:off x="2250024" y="3220092"/>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3555782"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 品要</a:t>
            </a:r>
            <a:r>
              <a:rPr lang="en-US" altLang="zh-TW" sz="1200" u="sng" dirty="0">
                <a:solidFill>
                  <a:srgbClr val="000000"/>
                </a:solidFill>
                <a:latin typeface="微軟正黑體" panose="020B0604030504040204" pitchFamily="34" charset="-120"/>
                <a:ea typeface="微軟正黑體" panose="020B0604030504040204" pitchFamily="34" charset="-120"/>
              </a:rPr>
              <a:t>11</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12</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26-</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1</a:t>
            </a:r>
            <a:r>
              <a:rPr lang="zh-TW" altLang="en-US" sz="1200" u="sng" dirty="0">
                <a:solidFill>
                  <a:srgbClr val="000000"/>
                </a:solidFill>
                <a:latin typeface="微軟正黑體" panose="020B0604030504040204" pitchFamily="34" charset="-120"/>
                <a:ea typeface="微軟正黑體" panose="020B0604030504040204" pitchFamily="34" charset="-120"/>
              </a:rPr>
              <a:t>）、基準</a:t>
            </a:r>
            <a:r>
              <a:rPr lang="en-US" altLang="zh-TW" sz="1200" u="sng" dirty="0">
                <a:solidFill>
                  <a:srgbClr val="000000"/>
                </a:solidFill>
                <a:latin typeface="微軟正黑體" panose="020B0604030504040204" pitchFamily="34" charset="-120"/>
                <a:ea typeface="微軟正黑體" panose="020B0604030504040204" pitchFamily="34" charset="-120"/>
              </a:rPr>
              <a:t>7-1-(</a:t>
            </a:r>
            <a:r>
              <a:rPr lang="zh-TW" altLang="en-US" sz="1200" u="sng" dirty="0">
                <a:solidFill>
                  <a:srgbClr val="000000"/>
                </a:solidFill>
                <a:latin typeface="微軟正黑體" panose="020B0604030504040204" pitchFamily="34" charset="-120"/>
                <a:ea typeface="微軟正黑體" panose="020B0604030504040204" pitchFamily="34" charset="-120"/>
              </a:rPr>
              <a:t>一</a:t>
            </a:r>
            <a:r>
              <a:rPr lang="en-US" altLang="zh-TW" sz="1200" u="sng" dirty="0">
                <a:solidFill>
                  <a:srgbClr val="000000"/>
                </a:solidFill>
                <a:latin typeface="微軟正黑體" panose="020B0604030504040204" pitchFamily="34" charset="-120"/>
                <a:ea typeface="微軟正黑體" panose="020B0604030504040204" pitchFamily="34" charset="-120"/>
              </a:rPr>
              <a:t>)</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3877154" y="5916408"/>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6" name="文字方塊 15">
            <a:extLst>
              <a:ext uri="{FF2B5EF4-FFF2-40B4-BE49-F238E27FC236}">
                <a16:creationId xmlns:a16="http://schemas.microsoft.com/office/drawing/2014/main" id="{2F66CA45-6F6B-431D-BA6F-337A4FB8E690}"/>
              </a:ext>
            </a:extLst>
          </p:cNvPr>
          <p:cNvSpPr txBox="1"/>
          <p:nvPr/>
        </p:nvSpPr>
        <p:spPr>
          <a:xfrm>
            <a:off x="612780" y="3526461"/>
            <a:ext cx="1449977" cy="738664"/>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4"/>
              </a:rPr>
              <a:t>開會通知單</a:t>
            </a:r>
            <a:endParaRPr lang="en-US" altLang="zh-TW" sz="1400" b="0" i="0" u="none" strike="noStrike" dirty="0">
              <a:solidFill>
                <a:srgbClr val="0070C0"/>
              </a:solidFill>
              <a:effectLst/>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5"/>
              </a:rPr>
              <a:t>審退函</a:t>
            </a:r>
            <a:endParaRPr lang="en-US" altLang="zh-TW" sz="1400" dirty="0">
              <a:solidFill>
                <a:srgbClr val="0070C0"/>
              </a:solidFill>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6"/>
              </a:rPr>
              <a:t>核定函</a:t>
            </a:r>
            <a:endParaRPr lang="zh-TW" altLang="en-US" sz="1400" dirty="0"/>
          </a:p>
        </p:txBody>
      </p:sp>
      <p:sp>
        <p:nvSpPr>
          <p:cNvPr id="17" name="文字方塊 16">
            <a:extLst>
              <a:ext uri="{FF2B5EF4-FFF2-40B4-BE49-F238E27FC236}">
                <a16:creationId xmlns:a16="http://schemas.microsoft.com/office/drawing/2014/main" id="{2947BD29-8CDA-4B97-AC34-0619D7B2D160}"/>
              </a:ext>
            </a:extLst>
          </p:cNvPr>
          <p:cNvSpPr txBox="1"/>
          <p:nvPr/>
        </p:nvSpPr>
        <p:spPr>
          <a:xfrm>
            <a:off x="2453303" y="3526461"/>
            <a:ext cx="1811721" cy="738664"/>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7"/>
              </a:rPr>
              <a:t>開會通知單實例</a:t>
            </a:r>
            <a:endParaRPr lang="en-US" altLang="zh-TW" sz="1400" b="0" i="0" u="none" strike="noStrike" dirty="0">
              <a:solidFill>
                <a:srgbClr val="0070C0"/>
              </a:solidFill>
              <a:effectLst/>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8"/>
              </a:rPr>
              <a:t>審退函實例</a:t>
            </a:r>
            <a:endParaRPr lang="en-US" altLang="zh-TW" sz="1400" dirty="0">
              <a:solidFill>
                <a:srgbClr val="0070C0"/>
              </a:solidFill>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9"/>
              </a:rPr>
              <a:t>核定函實例</a:t>
            </a:r>
            <a:endParaRPr lang="zh-TW" altLang="en-US" sz="1400" dirty="0"/>
          </a:p>
        </p:txBody>
      </p:sp>
    </p:spTree>
    <p:extLst>
      <p:ext uri="{BB962C8B-B14F-4D97-AF65-F5344CB8AC3E}">
        <p14:creationId xmlns:p14="http://schemas.microsoft.com/office/powerpoint/2010/main" val="26843741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5346335" cy="584775"/>
          </a:xfrm>
          <a:prstGeom prst="rect">
            <a:avLst/>
          </a:prstGeom>
        </p:spPr>
        <p:txBody>
          <a:bodyPr wrap="none">
            <a:spAutoFit/>
          </a:bodyPr>
          <a:lstStyle/>
          <a:p>
            <a:pPr lvl="0">
              <a:defRPr/>
            </a:pPr>
            <a:r>
              <a:rPr lang="en-US" altLang="zh-TW" sz="3200" dirty="0"/>
              <a:t>B1.12</a:t>
            </a:r>
            <a:r>
              <a:rPr lang="zh-TW" altLang="en-US" sz="3200" dirty="0"/>
              <a:t>安全衛生監督查驗計畫</a:t>
            </a:r>
          </a:p>
        </p:txBody>
      </p:sp>
      <p:sp>
        <p:nvSpPr>
          <p:cNvPr id="5" name="矩形 4"/>
          <p:cNvSpPr/>
          <p:nvPr/>
        </p:nvSpPr>
        <p:spPr>
          <a:xfrm>
            <a:off x="612780" y="1706742"/>
            <a:ext cx="10975655" cy="1022203"/>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監造廠商應於工程訂約後</a:t>
            </a:r>
            <a:r>
              <a:rPr lang="en-US" altLang="zh-TW" sz="1400" dirty="0">
                <a:solidFill>
                  <a:srgbClr val="000000"/>
                </a:solidFill>
                <a:latin typeface="微軟正黑體" panose="020B0604030504040204" pitchFamily="34" charset="-120"/>
                <a:ea typeface="微軟正黑體" panose="020B0604030504040204" pitchFamily="34" charset="-120"/>
              </a:rPr>
              <a:t>15</a:t>
            </a:r>
            <a:r>
              <a:rPr lang="zh-TW" altLang="en-US" sz="1400" dirty="0">
                <a:solidFill>
                  <a:srgbClr val="000000"/>
                </a:solidFill>
                <a:latin typeface="微軟正黑體" panose="020B0604030504040204" pitchFamily="34" charset="-120"/>
                <a:ea typeface="微軟正黑體" panose="020B0604030504040204" pitchFamily="34" charset="-120"/>
              </a:rPr>
              <a:t>日內，訂定安全衛生監督查驗計畫及實施方式並函請機關核定，監督查驗計畫內容，應包含安全衛生監督查驗之查驗點、查驗項目、內容、判定基準、查驗頻率、查驗人員及查驗後之處理方式與改善追蹤等。</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依「安全衛生監督查驗計畫製作及審查重點」檢核。</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3075057"/>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4" name="五邊形 13"/>
          <p:cNvSpPr/>
          <p:nvPr/>
        </p:nvSpPr>
        <p:spPr>
          <a:xfrm>
            <a:off x="2308173" y="307505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2592376"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 安衛</a:t>
            </a:r>
            <a:r>
              <a:rPr lang="en-US" altLang="zh-TW" sz="1200" u="sng" dirty="0">
                <a:solidFill>
                  <a:srgbClr val="000000"/>
                </a:solidFill>
                <a:latin typeface="微軟正黑體" panose="020B0604030504040204" pitchFamily="34" charset="-120"/>
                <a:ea typeface="微軟正黑體" panose="020B0604030504040204" pitchFamily="34" charset="-120"/>
              </a:rPr>
              <a:t>3-(</a:t>
            </a:r>
            <a:r>
              <a:rPr lang="zh-TW" altLang="en-US" sz="1200" u="sng" dirty="0">
                <a:solidFill>
                  <a:srgbClr val="000000"/>
                </a:solidFill>
                <a:latin typeface="微軟正黑體" panose="020B0604030504040204" pitchFamily="34" charset="-120"/>
                <a:ea typeface="微軟正黑體" panose="020B0604030504040204" pitchFamily="34" charset="-120"/>
              </a:rPr>
              <a:t>二</a:t>
            </a:r>
            <a:r>
              <a:rPr lang="en-US" altLang="zh-TW" sz="1200" u="sng" dirty="0">
                <a:solidFill>
                  <a:srgbClr val="000000"/>
                </a:solidFill>
                <a:latin typeface="微軟正黑體" panose="020B0604030504040204" pitchFamily="34" charset="-120"/>
                <a:ea typeface="微軟正黑體" panose="020B0604030504040204" pitchFamily="34" charset="-120"/>
              </a:rPr>
              <a:t>)-3</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11-1-(</a:t>
            </a:r>
            <a:r>
              <a:rPr lang="zh-TW" altLang="en-US" sz="1200" u="sng" dirty="0">
                <a:solidFill>
                  <a:srgbClr val="000000"/>
                </a:solidFill>
                <a:latin typeface="微軟正黑體" panose="020B0604030504040204" pitchFamily="34" charset="-120"/>
                <a:ea typeface="微軟正黑體" panose="020B0604030504040204" pitchFamily="34" charset="-120"/>
              </a:rPr>
              <a:t>三</a:t>
            </a:r>
            <a:r>
              <a:rPr lang="en-US" altLang="zh-TW" sz="1200" u="sng" dirty="0">
                <a:solidFill>
                  <a:srgbClr val="000000"/>
                </a:solidFill>
                <a:latin typeface="微軟正黑體" panose="020B0604030504040204" pitchFamily="34" charset="-120"/>
                <a:ea typeface="微軟正黑體" panose="020B0604030504040204" pitchFamily="34" charset="-120"/>
              </a:rPr>
              <a:t>)</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2974389" y="5916408"/>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BABC0333-51C7-45FA-B2D7-64616ED72106}"/>
              </a:ext>
            </a:extLst>
          </p:cNvPr>
          <p:cNvSpPr txBox="1"/>
          <p:nvPr/>
        </p:nvSpPr>
        <p:spPr>
          <a:xfrm>
            <a:off x="612780" y="3476575"/>
            <a:ext cx="1076813" cy="738664"/>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4"/>
              </a:rPr>
              <a:t>開會通知單</a:t>
            </a:r>
            <a:endParaRPr lang="en-US" altLang="zh-TW" sz="1400" b="0" i="0" u="none" strike="noStrike" dirty="0">
              <a:solidFill>
                <a:srgbClr val="0070C0"/>
              </a:solidFill>
              <a:effectLst/>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5"/>
              </a:rPr>
              <a:t>限期改正</a:t>
            </a:r>
            <a:endParaRPr lang="en-US" altLang="zh-TW" sz="1400" dirty="0">
              <a:solidFill>
                <a:srgbClr val="0070C0"/>
              </a:solidFill>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6"/>
              </a:rPr>
              <a:t>核定</a:t>
            </a:r>
            <a:endParaRPr lang="zh-TW" altLang="en-US" sz="1400" dirty="0"/>
          </a:p>
        </p:txBody>
      </p:sp>
      <p:sp>
        <p:nvSpPr>
          <p:cNvPr id="16" name="文字方塊 15">
            <a:extLst>
              <a:ext uri="{FF2B5EF4-FFF2-40B4-BE49-F238E27FC236}">
                <a16:creationId xmlns:a16="http://schemas.microsoft.com/office/drawing/2014/main" id="{054884E8-7EAA-4639-9464-1AE7D0233B58}"/>
              </a:ext>
            </a:extLst>
          </p:cNvPr>
          <p:cNvSpPr txBox="1"/>
          <p:nvPr/>
        </p:nvSpPr>
        <p:spPr>
          <a:xfrm>
            <a:off x="2519474" y="3485994"/>
            <a:ext cx="555171" cy="307777"/>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7"/>
              </a:rPr>
              <a:t>核定</a:t>
            </a:r>
            <a:endParaRPr lang="zh-TW" altLang="en-US" sz="1400" dirty="0"/>
          </a:p>
        </p:txBody>
      </p:sp>
    </p:spTree>
    <p:extLst>
      <p:ext uri="{BB962C8B-B14F-4D97-AF65-F5344CB8AC3E}">
        <p14:creationId xmlns:p14="http://schemas.microsoft.com/office/powerpoint/2010/main" val="1450233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3704860" cy="584775"/>
          </a:xfrm>
          <a:prstGeom prst="rect">
            <a:avLst/>
          </a:prstGeom>
        </p:spPr>
        <p:txBody>
          <a:bodyPr wrap="none">
            <a:spAutoFit/>
          </a:bodyPr>
          <a:lstStyle/>
          <a:p>
            <a:pPr lvl="0">
              <a:defRPr/>
            </a:pPr>
            <a:r>
              <a:rPr lang="en-US" altLang="zh-TW" sz="3200" dirty="0"/>
              <a:t>B1.13</a:t>
            </a:r>
            <a:r>
              <a:rPr lang="zh-TW" altLang="en-US" sz="3200" dirty="0"/>
              <a:t>整體施工計畫</a:t>
            </a:r>
          </a:p>
        </p:txBody>
      </p:sp>
      <p:sp>
        <p:nvSpPr>
          <p:cNvPr id="5" name="矩形 4"/>
          <p:cNvSpPr/>
          <p:nvPr/>
        </p:nvSpPr>
        <p:spPr>
          <a:xfrm>
            <a:off x="612780" y="1706742"/>
            <a:ext cx="10975655" cy="2314864"/>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施工廠商應於開工前提送涵蓋工程整體之整體施工計畫，報請監造廠商審查，並經機關核定後，據以施行。</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向主管機關提報之有關計畫，其辦理期限及審查等，依各該法令規定辦理。例如屬公有建築物，應依據建築法相關規定向主管建築機關提報。</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3.</a:t>
            </a:r>
            <a:r>
              <a:rPr lang="zh-TW" altLang="en-US" sz="1400" dirty="0">
                <a:solidFill>
                  <a:srgbClr val="000000"/>
                </a:solidFill>
                <a:latin typeface="微軟正黑體" panose="020B0604030504040204" pitchFamily="34" charset="-120"/>
                <a:ea typeface="微軟正黑體" panose="020B0604030504040204" pitchFamily="34" charset="-120"/>
              </a:rPr>
              <a:t>得標廠商有下列情形之一者，應將分包情形及分包契約送機關備查：</a:t>
            </a: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得標廠商屬綜合營造業，將營造業法第八條所列專業工程項目辦理分包，且其個別專業工程項目所占工程契約金額達新臺幣五百萬元以上者。</a:t>
            </a: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得標廠商以分包廠商就其分包部分所具有之資格作為投標資格之一部分，參與投標及辦理分包者。</a:t>
            </a:r>
            <a:r>
              <a:rPr lang="en-US" altLang="zh-TW" sz="1400" dirty="0">
                <a:solidFill>
                  <a:srgbClr val="000000"/>
                </a:solidFill>
                <a:latin typeface="微軟正黑體" panose="020B0604030504040204" pitchFamily="34" charset="-120"/>
                <a:ea typeface="微軟正黑體" panose="020B0604030504040204" pitchFamily="34" charset="-120"/>
              </a:rPr>
              <a:t>(3)</a:t>
            </a:r>
            <a:r>
              <a:rPr lang="zh-TW" altLang="en-US" sz="1400" dirty="0">
                <a:solidFill>
                  <a:srgbClr val="000000"/>
                </a:solidFill>
                <a:latin typeface="微軟正黑體" panose="020B0604030504040204" pitchFamily="34" charset="-120"/>
                <a:ea typeface="微軟正黑體" panose="020B0604030504040204" pitchFamily="34" charset="-120"/>
              </a:rPr>
              <a:t>機關依「水管、電氣與建築工程合併或分開招標原則」第四點合併辦理招標，得標廠商就水管及電氣工程辦理分包者。</a:t>
            </a:r>
            <a:r>
              <a:rPr lang="en-US" altLang="zh-TW" sz="1400" dirty="0">
                <a:solidFill>
                  <a:srgbClr val="000000"/>
                </a:solidFill>
                <a:latin typeface="微軟正黑體" panose="020B0604030504040204" pitchFamily="34" charset="-120"/>
                <a:ea typeface="微軟正黑體" panose="020B0604030504040204" pitchFamily="34" charset="-120"/>
              </a:rPr>
              <a:t>(4)</a:t>
            </a:r>
            <a:r>
              <a:rPr lang="zh-TW" altLang="en-US" sz="1400" dirty="0">
                <a:solidFill>
                  <a:srgbClr val="000000"/>
                </a:solidFill>
                <a:latin typeface="微軟正黑體" panose="020B0604030504040204" pitchFamily="34" charset="-120"/>
                <a:ea typeface="微軟正黑體" panose="020B0604030504040204" pitchFamily="34" charset="-120"/>
              </a:rPr>
              <a:t>招標文件訂明得標廠商將專業部分或達一定數量或金額分包者。</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4189590"/>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4" name="五邊形 13"/>
          <p:cNvSpPr/>
          <p:nvPr/>
        </p:nvSpPr>
        <p:spPr>
          <a:xfrm>
            <a:off x="1982235" y="4189588"/>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4836580"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 </a:t>
            </a:r>
            <a:r>
              <a:rPr lang="zh-TW" altLang="en-US" sz="1200" u="sng" dirty="0">
                <a:solidFill>
                  <a:srgbClr val="000000"/>
                </a:solidFill>
                <a:latin typeface="微軟正黑體" panose="020B0604030504040204" pitchFamily="34" charset="-120"/>
                <a:ea typeface="微軟正黑體" panose="020B0604030504040204" pitchFamily="34" charset="-120"/>
              </a:rPr>
              <a:t>工契</a:t>
            </a:r>
            <a:r>
              <a:rPr lang="en-US" altLang="zh-TW" sz="1200" u="sng" dirty="0">
                <a:solidFill>
                  <a:srgbClr val="000000"/>
                </a:solidFill>
                <a:latin typeface="微軟正黑體" panose="020B0604030504040204" pitchFamily="34" charset="-120"/>
                <a:ea typeface="微軟正黑體" panose="020B0604030504040204" pitchFamily="34" charset="-120"/>
              </a:rPr>
              <a:t>9-(</a:t>
            </a:r>
            <a:r>
              <a:rPr lang="zh-TW" altLang="en-US" sz="1200" u="sng" dirty="0">
                <a:solidFill>
                  <a:srgbClr val="000000"/>
                </a:solidFill>
                <a:latin typeface="微軟正黑體" panose="020B0604030504040204" pitchFamily="34" charset="-120"/>
                <a:ea typeface="微軟正黑體" panose="020B0604030504040204" pitchFamily="34" charset="-120"/>
              </a:rPr>
              <a:t>二</a:t>
            </a:r>
            <a:r>
              <a:rPr lang="en-US" altLang="zh-TW" sz="1200" u="sng" dirty="0">
                <a:solidFill>
                  <a:srgbClr val="000000"/>
                </a:solidFill>
                <a:latin typeface="微軟正黑體" panose="020B0604030504040204" pitchFamily="34" charset="-120"/>
                <a:ea typeface="微軟正黑體" panose="020B0604030504040204" pitchFamily="34" charset="-120"/>
              </a:rPr>
              <a:t>)-1</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9-(</a:t>
            </a:r>
            <a:r>
              <a:rPr lang="zh-TW" altLang="en-US" sz="1200" u="sng" dirty="0">
                <a:solidFill>
                  <a:srgbClr val="000000"/>
                </a:solidFill>
                <a:latin typeface="微軟正黑體" panose="020B0604030504040204" pitchFamily="34" charset="-120"/>
                <a:ea typeface="微軟正黑體" panose="020B0604030504040204" pitchFamily="34" charset="-120"/>
              </a:rPr>
              <a:t>八</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、基準</a:t>
            </a:r>
            <a:r>
              <a:rPr lang="en-US" altLang="zh-TW" sz="1200" u="sng" dirty="0">
                <a:solidFill>
                  <a:srgbClr val="000000"/>
                </a:solidFill>
                <a:latin typeface="微軟正黑體" panose="020B0604030504040204" pitchFamily="34" charset="-120"/>
                <a:ea typeface="微軟正黑體" panose="020B0604030504040204" pitchFamily="34" charset="-120"/>
              </a:rPr>
              <a:t>7-1-(</a:t>
            </a:r>
            <a:r>
              <a:rPr lang="zh-TW" altLang="en-US" sz="1200" u="sng" dirty="0">
                <a:solidFill>
                  <a:srgbClr val="000000"/>
                </a:solidFill>
                <a:latin typeface="微軟正黑體" panose="020B0604030504040204" pitchFamily="34" charset="-120"/>
                <a:ea typeface="微軟正黑體" panose="020B0604030504040204" pitchFamily="34" charset="-120"/>
              </a:rPr>
              <a:t>三</a:t>
            </a:r>
            <a:r>
              <a:rPr lang="en-US" altLang="zh-TW" sz="1200" u="sng" dirty="0">
                <a:solidFill>
                  <a:srgbClr val="000000"/>
                </a:solidFill>
                <a:latin typeface="微軟正黑體" panose="020B0604030504040204" pitchFamily="34" charset="-120"/>
                <a:ea typeface="微軟正黑體" panose="020B0604030504040204" pitchFamily="34" charset="-120"/>
              </a:rPr>
              <a:t>)-3</a:t>
            </a:r>
            <a:r>
              <a:rPr lang="zh-TW" altLang="en-US" sz="1200" u="sng" dirty="0">
                <a:solidFill>
                  <a:srgbClr val="000000"/>
                </a:solidFill>
                <a:latin typeface="微軟正黑體" panose="020B0604030504040204" pitchFamily="34" charset="-120"/>
                <a:ea typeface="微軟正黑體" panose="020B0604030504040204" pitchFamily="34" charset="-120"/>
              </a:rPr>
              <a:t>、品要</a:t>
            </a:r>
            <a:r>
              <a:rPr lang="en-US" altLang="zh-TW" sz="1200" u="sng" dirty="0">
                <a:solidFill>
                  <a:srgbClr val="000000"/>
                </a:solidFill>
                <a:latin typeface="微軟正黑體" panose="020B0604030504040204" pitchFamily="34" charset="-120"/>
                <a:ea typeface="微軟正黑體" panose="020B0604030504040204" pitchFamily="34" charset="-120"/>
              </a:rPr>
              <a:t>15</a:t>
            </a:r>
            <a:r>
              <a:rPr lang="zh-TW" altLang="en-US" sz="1200" u="sng" dirty="0">
                <a:solidFill>
                  <a:srgbClr val="000000"/>
                </a:solidFill>
                <a:latin typeface="微軟正黑體" panose="020B0604030504040204" pitchFamily="34" charset="-120"/>
                <a:ea typeface="微軟正黑體" panose="020B0604030504040204" pitchFamily="34" charset="-120"/>
              </a:rPr>
              <a:t>、分包</a:t>
            </a:r>
            <a:r>
              <a:rPr lang="en-US" altLang="zh-TW" sz="1200" u="sng" dirty="0">
                <a:solidFill>
                  <a:srgbClr val="000000"/>
                </a:solidFill>
                <a:latin typeface="微軟正黑體" panose="020B0604030504040204" pitchFamily="34" charset="-120"/>
                <a:ea typeface="微軟正黑體" panose="020B0604030504040204" pitchFamily="34" charset="-120"/>
              </a:rPr>
              <a:t>3</a:t>
            </a:r>
            <a:r>
              <a:rPr lang="zh-TW" altLang="en-US" sz="1200" u="sng" dirty="0">
                <a:solidFill>
                  <a:srgbClr val="000000"/>
                </a:solidFill>
                <a:latin typeface="微軟正黑體" panose="020B0604030504040204" pitchFamily="34" charset="-120"/>
                <a:ea typeface="微軟正黑體" panose="020B0604030504040204" pitchFamily="34" charset="-120"/>
              </a:rPr>
              <a:t>。</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5218593" y="5916408"/>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43668E87-81D3-4F99-A143-3127A0B99CF4}"/>
              </a:ext>
            </a:extLst>
          </p:cNvPr>
          <p:cNvSpPr txBox="1"/>
          <p:nvPr/>
        </p:nvSpPr>
        <p:spPr>
          <a:xfrm>
            <a:off x="612780" y="4495957"/>
            <a:ext cx="1182188" cy="738664"/>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4"/>
              </a:rPr>
              <a:t>開會通知單</a:t>
            </a:r>
            <a:endParaRPr lang="en-US" altLang="zh-TW" sz="1400" b="0" i="0" u="none" strike="noStrike" dirty="0">
              <a:solidFill>
                <a:srgbClr val="0070C0"/>
              </a:solidFill>
              <a:effectLst/>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5"/>
              </a:rPr>
              <a:t>限期改正</a:t>
            </a:r>
            <a:endParaRPr lang="en-US" altLang="zh-TW" sz="1400" dirty="0">
              <a:solidFill>
                <a:srgbClr val="0070C0"/>
              </a:solidFill>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6"/>
              </a:rPr>
              <a:t>核定函</a:t>
            </a:r>
            <a:endParaRPr lang="zh-TW" altLang="en-US" sz="1400" dirty="0"/>
          </a:p>
        </p:txBody>
      </p:sp>
      <p:sp>
        <p:nvSpPr>
          <p:cNvPr id="16" name="文字方塊 15">
            <a:extLst>
              <a:ext uri="{FF2B5EF4-FFF2-40B4-BE49-F238E27FC236}">
                <a16:creationId xmlns:a16="http://schemas.microsoft.com/office/drawing/2014/main" id="{C93CAF9F-9A41-46B7-993D-2B2AB2D6ECE9}"/>
              </a:ext>
            </a:extLst>
          </p:cNvPr>
          <p:cNvSpPr txBox="1"/>
          <p:nvPr/>
        </p:nvSpPr>
        <p:spPr>
          <a:xfrm>
            <a:off x="2227188" y="4495957"/>
            <a:ext cx="1463040" cy="738664"/>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7"/>
              </a:rPr>
              <a:t>開會通知單</a:t>
            </a:r>
            <a:r>
              <a:rPr lang="zh-TW" altLang="en-US" sz="1400" dirty="0">
                <a:solidFill>
                  <a:srgbClr val="0070C0"/>
                </a:solidFill>
                <a:latin typeface="微軟正黑體" panose="020B0604030504040204" pitchFamily="34" charset="-120"/>
                <a:ea typeface="微軟正黑體" panose="020B0604030504040204" pitchFamily="34" charset="-120"/>
                <a:hlinkClick r:id="rId7"/>
              </a:rPr>
              <a:t>實例</a:t>
            </a:r>
            <a:endParaRPr lang="en-US" altLang="zh-TW" sz="1400" dirty="0">
              <a:solidFill>
                <a:srgbClr val="0070C0"/>
              </a:solidFill>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8"/>
              </a:rPr>
              <a:t>限期改正實例</a:t>
            </a:r>
            <a:endParaRPr lang="en-US" altLang="zh-TW" sz="1400" b="0" i="0" u="none" strike="noStrike" dirty="0">
              <a:solidFill>
                <a:srgbClr val="0070C0"/>
              </a:solidFill>
              <a:effectLst/>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9"/>
              </a:rPr>
              <a:t>核定函</a:t>
            </a:r>
            <a:r>
              <a:rPr lang="zh-TW" altLang="en-US" sz="1400" dirty="0">
                <a:solidFill>
                  <a:srgbClr val="0070C0"/>
                </a:solidFill>
                <a:latin typeface="微軟正黑體" panose="020B0604030504040204" pitchFamily="34" charset="-120"/>
                <a:ea typeface="微軟正黑體" panose="020B0604030504040204" pitchFamily="34" charset="-120"/>
                <a:hlinkClick r:id="rId9"/>
              </a:rPr>
              <a:t>實例</a:t>
            </a:r>
            <a:endParaRPr lang="zh-TW" altLang="en-US" sz="1400" dirty="0"/>
          </a:p>
        </p:txBody>
      </p:sp>
    </p:spTree>
    <p:extLst>
      <p:ext uri="{BB962C8B-B14F-4D97-AF65-F5344CB8AC3E}">
        <p14:creationId xmlns:p14="http://schemas.microsoft.com/office/powerpoint/2010/main" val="35761026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2884123" cy="584775"/>
          </a:xfrm>
          <a:prstGeom prst="rect">
            <a:avLst/>
          </a:prstGeom>
        </p:spPr>
        <p:txBody>
          <a:bodyPr wrap="none">
            <a:spAutoFit/>
          </a:bodyPr>
          <a:lstStyle/>
          <a:p>
            <a:pPr lvl="0">
              <a:defRPr/>
            </a:pPr>
            <a:r>
              <a:rPr lang="en-US" altLang="zh-TW" sz="3200" dirty="0"/>
              <a:t>B1.14</a:t>
            </a:r>
            <a:r>
              <a:rPr lang="zh-TW" altLang="en-US" sz="3200" dirty="0"/>
              <a:t>品質計畫</a:t>
            </a:r>
          </a:p>
        </p:txBody>
      </p:sp>
      <p:sp>
        <p:nvSpPr>
          <p:cNvPr id="5" name="矩形 4"/>
          <p:cNvSpPr/>
          <p:nvPr/>
        </p:nvSpPr>
        <p:spPr>
          <a:xfrm>
            <a:off x="612780" y="1706742"/>
            <a:ext cx="10975655" cy="1991699"/>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1.5</a:t>
            </a:r>
            <a:r>
              <a:rPr lang="zh-TW" altLang="en-US" sz="1400" dirty="0">
                <a:solidFill>
                  <a:srgbClr val="000000"/>
                </a:solidFill>
                <a:latin typeface="微軟正黑體" panose="020B0604030504040204" pitchFamily="34" charset="-120"/>
                <a:ea typeface="微軟正黑體" panose="020B0604030504040204" pitchFamily="34" charset="-120"/>
              </a:rPr>
              <a:t>千萬元以上於訂約後</a:t>
            </a:r>
            <a:r>
              <a:rPr lang="en-US" altLang="zh-TW" sz="1400" dirty="0">
                <a:solidFill>
                  <a:srgbClr val="000000"/>
                </a:solidFill>
                <a:latin typeface="微軟正黑體" panose="020B0604030504040204" pitchFamily="34" charset="-120"/>
                <a:ea typeface="微軟正黑體" panose="020B0604030504040204" pitchFamily="34" charset="-120"/>
              </a:rPr>
              <a:t>30</a:t>
            </a:r>
            <a:r>
              <a:rPr lang="zh-TW" altLang="en-US" sz="1400" dirty="0">
                <a:solidFill>
                  <a:srgbClr val="000000"/>
                </a:solidFill>
                <a:latin typeface="微軟正黑體" panose="020B0604030504040204" pitchFamily="34" charset="-120"/>
                <a:ea typeface="微軟正黑體" panose="020B0604030504040204" pitchFamily="34" charset="-120"/>
              </a:rPr>
              <a:t>日內、</a:t>
            </a: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千萬元以上未達查核金額於訂約後</a:t>
            </a:r>
            <a:r>
              <a:rPr lang="en-US" altLang="zh-TW" sz="1400" dirty="0">
                <a:solidFill>
                  <a:srgbClr val="000000"/>
                </a:solidFill>
                <a:latin typeface="微軟正黑體" panose="020B0604030504040204" pitchFamily="34" charset="-120"/>
                <a:ea typeface="微軟正黑體" panose="020B0604030504040204" pitchFamily="34" charset="-120"/>
              </a:rPr>
              <a:t>20</a:t>
            </a:r>
            <a:r>
              <a:rPr lang="zh-TW" altLang="en-US" sz="1400" dirty="0">
                <a:solidFill>
                  <a:srgbClr val="000000"/>
                </a:solidFill>
                <a:latin typeface="微軟正黑體" panose="020B0604030504040204" pitchFamily="34" charset="-120"/>
                <a:ea typeface="微軟正黑體" panose="020B0604030504040204" pitchFamily="34" charset="-120"/>
              </a:rPr>
              <a:t>日內、</a:t>
            </a: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百萬元以上未達</a:t>
            </a: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千萬元於訂約後</a:t>
            </a:r>
            <a:r>
              <a:rPr lang="en-US" altLang="zh-TW" sz="1400" dirty="0">
                <a:solidFill>
                  <a:srgbClr val="000000"/>
                </a:solidFill>
                <a:latin typeface="微軟正黑體" panose="020B0604030504040204" pitchFamily="34" charset="-120"/>
                <a:ea typeface="微軟正黑體" panose="020B0604030504040204" pitchFamily="34" charset="-120"/>
              </a:rPr>
              <a:t>15</a:t>
            </a:r>
            <a:r>
              <a:rPr lang="zh-TW" altLang="en-US" sz="1400" dirty="0">
                <a:solidFill>
                  <a:srgbClr val="000000"/>
                </a:solidFill>
                <a:latin typeface="微軟正黑體" panose="020B0604030504040204" pitchFamily="34" charset="-120"/>
                <a:ea typeface="微軟正黑體" panose="020B0604030504040204" pitchFamily="34" charset="-120"/>
              </a:rPr>
              <a:t>日內提報。</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品質計畫之內容，得參考工程會訂定之品質計畫製作綱要，如因工程性質特殊，以另訂其他項目較宜者，得由機關或監造廠商另行規定，並報經上級機關核准後辦理。</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3.</a:t>
            </a:r>
            <a:r>
              <a:rPr lang="zh-TW" altLang="en-US" sz="1400" dirty="0">
                <a:solidFill>
                  <a:srgbClr val="000000"/>
                </a:solidFill>
                <a:latin typeface="微軟正黑體" panose="020B0604030504040204" pitchFamily="34" charset="-120"/>
                <a:ea typeface="微軟正黑體" panose="020B0604030504040204" pitchFamily="34" charset="-120"/>
              </a:rPr>
              <a:t>品質計畫應經施工廠商品管人員、工地負責人及專任工程人員簽認。若廠商非屬營造業，專任工程人員簽認由廠商負責人、建築師或專業技師為之。</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4.</a:t>
            </a:r>
            <a:r>
              <a:rPr lang="zh-TW" altLang="en-US" sz="1400" dirty="0">
                <a:solidFill>
                  <a:srgbClr val="000000"/>
                </a:solidFill>
                <a:latin typeface="微軟正黑體" panose="020B0604030504040204" pitchFamily="34" charset="-120"/>
                <a:ea typeface="微軟正黑體" panose="020B0604030504040204" pitchFamily="34" charset="-120"/>
              </a:rPr>
              <a:t>依「品質計畫製作及審查重點」檢核。</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386642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4" name="五邊形 13"/>
          <p:cNvSpPr/>
          <p:nvPr/>
        </p:nvSpPr>
        <p:spPr>
          <a:xfrm>
            <a:off x="2150453" y="3866423"/>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3302507"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 品要</a:t>
            </a:r>
            <a:r>
              <a:rPr lang="en-US" altLang="zh-TW" sz="1200" u="sng" dirty="0">
                <a:solidFill>
                  <a:srgbClr val="000000"/>
                </a:solidFill>
                <a:latin typeface="微軟正黑體" panose="020B0604030504040204" pitchFamily="34" charset="-120"/>
                <a:ea typeface="微軟正黑體" panose="020B0604030504040204" pitchFamily="34" charset="-120"/>
              </a:rPr>
              <a:t>3</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4</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24-1-</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1</a:t>
            </a:r>
            <a:r>
              <a:rPr lang="zh-TW" altLang="en-US" sz="1200" u="sng" dirty="0">
                <a:solidFill>
                  <a:srgbClr val="000000"/>
                </a:solidFill>
                <a:latin typeface="微軟正黑體" panose="020B0604030504040204" pitchFamily="34" charset="-120"/>
                <a:ea typeface="微軟正黑體" panose="020B0604030504040204" pitchFamily="34" charset="-120"/>
              </a:rPr>
              <a:t>）及</a:t>
            </a:r>
            <a:r>
              <a:rPr lang="en-US" altLang="zh-TW" sz="1200" u="sng" dirty="0">
                <a:solidFill>
                  <a:srgbClr val="000000"/>
                </a:solidFill>
                <a:latin typeface="微軟正黑體" panose="020B0604030504040204" pitchFamily="34" charset="-120"/>
                <a:ea typeface="微軟正黑體" panose="020B0604030504040204" pitchFamily="34" charset="-120"/>
              </a:rPr>
              <a:t>26-</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4</a:t>
            </a:r>
            <a:r>
              <a:rPr lang="zh-TW" altLang="en-US" sz="1200" u="sng" dirty="0">
                <a:solidFill>
                  <a:srgbClr val="000000"/>
                </a:solidFill>
                <a:latin typeface="微軟正黑體" panose="020B0604030504040204" pitchFamily="34" charset="-120"/>
                <a:ea typeface="微軟正黑體" panose="020B0604030504040204" pitchFamily="34" charset="-120"/>
              </a:rPr>
              <a:t>）</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3684520" y="5916407"/>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1DDAD6A6-8F09-4CC2-B156-52349E8E987C}"/>
              </a:ext>
            </a:extLst>
          </p:cNvPr>
          <p:cNvSpPr txBox="1"/>
          <p:nvPr/>
        </p:nvSpPr>
        <p:spPr>
          <a:xfrm>
            <a:off x="612780" y="4198208"/>
            <a:ext cx="1352005" cy="738664"/>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4"/>
              </a:rPr>
              <a:t>開會通知單</a:t>
            </a:r>
            <a:endParaRPr lang="en-US" altLang="zh-TW" sz="1400" b="0" i="0" u="none" strike="noStrike" dirty="0">
              <a:solidFill>
                <a:srgbClr val="0070C0"/>
              </a:solidFill>
              <a:effectLst/>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5"/>
              </a:rPr>
              <a:t>限期改正</a:t>
            </a:r>
            <a:endParaRPr lang="en-US" altLang="zh-TW" sz="1400" dirty="0">
              <a:solidFill>
                <a:srgbClr val="0070C0"/>
              </a:solidFill>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6"/>
              </a:rPr>
              <a:t>核定</a:t>
            </a:r>
            <a:endParaRPr lang="zh-TW" altLang="en-US" sz="1400" dirty="0"/>
          </a:p>
        </p:txBody>
      </p:sp>
      <p:sp>
        <p:nvSpPr>
          <p:cNvPr id="16" name="文字方塊 15">
            <a:extLst>
              <a:ext uri="{FF2B5EF4-FFF2-40B4-BE49-F238E27FC236}">
                <a16:creationId xmlns:a16="http://schemas.microsoft.com/office/drawing/2014/main" id="{AE4E77C4-735C-4530-9643-0F9527E8978F}"/>
              </a:ext>
            </a:extLst>
          </p:cNvPr>
          <p:cNvSpPr txBox="1"/>
          <p:nvPr/>
        </p:nvSpPr>
        <p:spPr>
          <a:xfrm>
            <a:off x="2395407" y="4198208"/>
            <a:ext cx="1156063" cy="738664"/>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7"/>
              </a:rPr>
              <a:t>開會通知單</a:t>
            </a:r>
            <a:endParaRPr lang="en-US" altLang="zh-TW" sz="1400" b="0" i="0" u="none" strike="noStrike" dirty="0">
              <a:solidFill>
                <a:srgbClr val="0070C0"/>
              </a:solidFill>
              <a:effectLst/>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8"/>
              </a:rPr>
              <a:t>限期改正</a:t>
            </a:r>
            <a:endParaRPr lang="en-US" altLang="zh-TW" sz="1400" dirty="0">
              <a:solidFill>
                <a:srgbClr val="0070C0"/>
              </a:solidFill>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9"/>
              </a:rPr>
              <a:t>核定</a:t>
            </a:r>
            <a:endParaRPr lang="zh-TW" altLang="en-US" sz="1400" dirty="0"/>
          </a:p>
        </p:txBody>
      </p:sp>
    </p:spTree>
    <p:extLst>
      <p:ext uri="{BB962C8B-B14F-4D97-AF65-F5344CB8AC3E}">
        <p14:creationId xmlns:p14="http://schemas.microsoft.com/office/powerpoint/2010/main" val="3848370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5346335" cy="584775"/>
          </a:xfrm>
          <a:prstGeom prst="rect">
            <a:avLst/>
          </a:prstGeom>
        </p:spPr>
        <p:txBody>
          <a:bodyPr wrap="none">
            <a:spAutoFit/>
          </a:bodyPr>
          <a:lstStyle/>
          <a:p>
            <a:pPr lvl="0">
              <a:defRPr/>
            </a:pPr>
            <a:r>
              <a:rPr lang="en-US" altLang="zh-TW" sz="3200" dirty="0"/>
              <a:t>B1.15</a:t>
            </a:r>
            <a:r>
              <a:rPr lang="zh-TW" altLang="en-US" sz="3200" dirty="0"/>
              <a:t>職業安全衛生管理計畫</a:t>
            </a:r>
          </a:p>
        </p:txBody>
      </p:sp>
      <p:sp>
        <p:nvSpPr>
          <p:cNvPr id="5" name="矩形 4"/>
          <p:cNvSpPr/>
          <p:nvPr/>
        </p:nvSpPr>
        <p:spPr>
          <a:xfrm>
            <a:off x="612780" y="1706742"/>
            <a:ext cx="10975655" cy="1345368"/>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查核金額以上工程，施工廠商應於訂約後</a:t>
            </a:r>
            <a:r>
              <a:rPr lang="en-US" altLang="zh-TW" sz="1400" dirty="0">
                <a:solidFill>
                  <a:srgbClr val="000000"/>
                </a:solidFill>
                <a:latin typeface="微軟正黑體" panose="020B0604030504040204" pitchFamily="34" charset="-120"/>
                <a:ea typeface="微軟正黑體" panose="020B0604030504040204" pitchFamily="34" charset="-120"/>
              </a:rPr>
              <a:t>15</a:t>
            </a:r>
            <a:r>
              <a:rPr lang="zh-TW" altLang="en-US" sz="1400" dirty="0">
                <a:solidFill>
                  <a:srgbClr val="000000"/>
                </a:solidFill>
                <a:latin typeface="微軟正黑體" panose="020B0604030504040204" pitchFamily="34" charset="-120"/>
                <a:ea typeface="微軟正黑體" panose="020B0604030504040204" pitchFamily="34" charset="-120"/>
              </a:rPr>
              <a:t>日內編擬整體職業安全衛生管理計畫報請監造廠商審查，並經機關核定。分項工程職業安全衛生管理計畫得視工程規模、性質及僱用與承攬關係提報。</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未達查核金額以上之工程，得比照辦理或併入整體施工計畫提送。</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3.</a:t>
            </a:r>
            <a:r>
              <a:rPr lang="zh-TW" altLang="en-US" sz="1400" dirty="0">
                <a:solidFill>
                  <a:srgbClr val="000000"/>
                </a:solidFill>
                <a:latin typeface="微軟正黑體" panose="020B0604030504040204" pitchFamily="34" charset="-120"/>
                <a:ea typeface="微軟正黑體" panose="020B0604030504040204" pitchFamily="34" charset="-120"/>
              </a:rPr>
              <a:t>依「職業安全衛生管理計畫製作及審查重點」檢核。</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3220094"/>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4" name="五邊形 13"/>
          <p:cNvSpPr/>
          <p:nvPr/>
        </p:nvSpPr>
        <p:spPr>
          <a:xfrm>
            <a:off x="2110427" y="3220092"/>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2481770"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 </a:t>
            </a:r>
            <a:r>
              <a:rPr lang="zh-TW" altLang="en-US" sz="1200" u="sng" dirty="0">
                <a:solidFill>
                  <a:srgbClr val="000000"/>
                </a:solidFill>
                <a:latin typeface="微軟正黑體" panose="020B0604030504040204" pitchFamily="34" charset="-120"/>
                <a:ea typeface="微軟正黑體" panose="020B0604030504040204" pitchFamily="34" charset="-120"/>
              </a:rPr>
              <a:t>安衛</a:t>
            </a:r>
            <a:r>
              <a:rPr lang="en-US" altLang="zh-TW" sz="1200" u="sng" dirty="0">
                <a:solidFill>
                  <a:srgbClr val="000000"/>
                </a:solidFill>
                <a:latin typeface="微軟正黑體" panose="020B0604030504040204" pitchFamily="34" charset="-120"/>
                <a:ea typeface="微軟正黑體" panose="020B0604030504040204" pitchFamily="34" charset="-120"/>
              </a:rPr>
              <a:t>4</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10-1-</a:t>
            </a:r>
            <a:r>
              <a:rPr lang="zh-TW" altLang="en-US" sz="1200" u="sng" dirty="0">
                <a:solidFill>
                  <a:srgbClr val="000000"/>
                </a:solidFill>
                <a:latin typeface="微軟正黑體" panose="020B0604030504040204" pitchFamily="34" charset="-120"/>
                <a:ea typeface="微軟正黑體" panose="020B0604030504040204" pitchFamily="34" charset="-120"/>
              </a:rPr>
              <a:t>（六）</a:t>
            </a:r>
            <a:r>
              <a:rPr lang="en-US" altLang="zh-TW" sz="1200" u="sng" dirty="0">
                <a:solidFill>
                  <a:srgbClr val="000000"/>
                </a:solidFill>
                <a:latin typeface="微軟正黑體" panose="020B0604030504040204" pitchFamily="34" charset="-120"/>
                <a:ea typeface="微軟正黑體" panose="020B0604030504040204" pitchFamily="34" charset="-120"/>
              </a:rPr>
              <a:t>-1</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2737175" y="5916408"/>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AC9AA88E-1A93-43CD-BF5A-14DF81BB789B}"/>
              </a:ext>
            </a:extLst>
          </p:cNvPr>
          <p:cNvSpPr txBox="1"/>
          <p:nvPr/>
        </p:nvSpPr>
        <p:spPr>
          <a:xfrm>
            <a:off x="588470" y="3556091"/>
            <a:ext cx="1195063" cy="738664"/>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4"/>
              </a:rPr>
              <a:t>開會通知單</a:t>
            </a:r>
            <a:endParaRPr lang="en-US" altLang="zh-TW" sz="1400" b="0" i="0" u="none" strike="noStrike" dirty="0">
              <a:solidFill>
                <a:srgbClr val="0070C0"/>
              </a:solidFill>
              <a:effectLst/>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5"/>
              </a:rPr>
              <a:t>限期改正</a:t>
            </a:r>
            <a:endParaRPr lang="en-US" altLang="zh-TW" sz="1400" dirty="0">
              <a:solidFill>
                <a:srgbClr val="0070C0"/>
              </a:solidFill>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6"/>
              </a:rPr>
              <a:t>核定</a:t>
            </a:r>
            <a:endParaRPr lang="zh-TW" altLang="en-US" sz="1400" dirty="0"/>
          </a:p>
        </p:txBody>
      </p:sp>
      <p:sp>
        <p:nvSpPr>
          <p:cNvPr id="16" name="文字方塊 15">
            <a:extLst>
              <a:ext uri="{FF2B5EF4-FFF2-40B4-BE49-F238E27FC236}">
                <a16:creationId xmlns:a16="http://schemas.microsoft.com/office/drawing/2014/main" id="{111AA994-6920-42C7-AF2D-E8043C594D76}"/>
              </a:ext>
            </a:extLst>
          </p:cNvPr>
          <p:cNvSpPr txBox="1"/>
          <p:nvPr/>
        </p:nvSpPr>
        <p:spPr>
          <a:xfrm>
            <a:off x="2355381" y="3566653"/>
            <a:ext cx="945990" cy="307777"/>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7"/>
              </a:rPr>
              <a:t>核定</a:t>
            </a:r>
            <a:r>
              <a:rPr lang="zh-TW" altLang="en-US" sz="1400" dirty="0">
                <a:solidFill>
                  <a:srgbClr val="0070C0"/>
                </a:solidFill>
                <a:latin typeface="微軟正黑體" panose="020B0604030504040204" pitchFamily="34" charset="-120"/>
                <a:ea typeface="微軟正黑體" panose="020B0604030504040204" pitchFamily="34" charset="-120"/>
                <a:hlinkClick r:id="rId7"/>
              </a:rPr>
              <a:t>實例</a:t>
            </a:r>
            <a:endParaRPr lang="zh-TW" altLang="en-US" sz="1400" dirty="0"/>
          </a:p>
        </p:txBody>
      </p:sp>
    </p:spTree>
    <p:extLst>
      <p:ext uri="{BB962C8B-B14F-4D97-AF65-F5344CB8AC3E}">
        <p14:creationId xmlns:p14="http://schemas.microsoft.com/office/powerpoint/2010/main" val="6190548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2884123" cy="584775"/>
          </a:xfrm>
          <a:prstGeom prst="rect">
            <a:avLst/>
          </a:prstGeom>
        </p:spPr>
        <p:txBody>
          <a:bodyPr wrap="none">
            <a:spAutoFit/>
          </a:bodyPr>
          <a:lstStyle/>
          <a:p>
            <a:pPr lvl="0">
              <a:defRPr/>
            </a:pPr>
            <a:r>
              <a:rPr lang="en-US" altLang="zh-TW" sz="3200" dirty="0"/>
              <a:t>B1.16</a:t>
            </a:r>
            <a:r>
              <a:rPr lang="zh-TW" altLang="en-US" sz="3200" dirty="0"/>
              <a:t>工程保險</a:t>
            </a:r>
          </a:p>
        </p:txBody>
      </p:sp>
      <p:sp>
        <p:nvSpPr>
          <p:cNvPr id="5" name="矩形 4"/>
          <p:cNvSpPr/>
          <p:nvPr/>
        </p:nvSpPr>
        <p:spPr>
          <a:xfrm>
            <a:off x="612780" y="1706742"/>
            <a:ext cx="10975655" cy="1991699"/>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廠商應依「工程採購廠商投保約定事項」辦理保險。</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保險期限除招標文件另有規定者外，應自開工日起至驗收合格日止</a:t>
            </a:r>
            <a:r>
              <a:rPr lang="en-US" altLang="zh-TW" sz="1400" dirty="0">
                <a:solidFill>
                  <a:srgbClr val="000000"/>
                </a:solidFill>
                <a:latin typeface="微軟正黑體" panose="020B0604030504040204" pitchFamily="34" charset="-120"/>
                <a:ea typeface="微軟正黑體" panose="020B0604030504040204" pitchFamily="34" charset="-120"/>
              </a:rPr>
              <a:t>(</a:t>
            </a:r>
            <a:r>
              <a:rPr lang="zh-TW" altLang="en-US" sz="1400" dirty="0">
                <a:solidFill>
                  <a:srgbClr val="000000"/>
                </a:solidFill>
                <a:latin typeface="微軟正黑體" panose="020B0604030504040204" pitchFamily="34" charset="-120"/>
                <a:ea typeface="微軟正黑體" panose="020B0604030504040204" pitchFamily="34" charset="-120"/>
              </a:rPr>
              <a:t>保險期限有初驗程序者應至少至完工日後</a:t>
            </a:r>
            <a:r>
              <a:rPr lang="en-US" altLang="zh-TW" sz="1400" dirty="0">
                <a:solidFill>
                  <a:srgbClr val="000000"/>
                </a:solidFill>
                <a:latin typeface="微軟正黑體" panose="020B0604030504040204" pitchFamily="34" charset="-120"/>
                <a:ea typeface="微軟正黑體" panose="020B0604030504040204" pitchFamily="34" charset="-120"/>
              </a:rPr>
              <a:t>125</a:t>
            </a:r>
            <a:r>
              <a:rPr lang="zh-TW" altLang="en-US" sz="1400" dirty="0">
                <a:solidFill>
                  <a:srgbClr val="000000"/>
                </a:solidFill>
                <a:latin typeface="微軟正黑體" panose="020B0604030504040204" pitchFamily="34" charset="-120"/>
                <a:ea typeface="微軟正黑體" panose="020B0604030504040204" pitchFamily="34" charset="-120"/>
              </a:rPr>
              <a:t>日以上、無初驗程序者應至完工日後</a:t>
            </a:r>
            <a:r>
              <a:rPr lang="en-US" altLang="zh-TW" sz="1400" dirty="0">
                <a:solidFill>
                  <a:srgbClr val="000000"/>
                </a:solidFill>
                <a:latin typeface="微軟正黑體" panose="020B0604030504040204" pitchFamily="34" charset="-120"/>
                <a:ea typeface="微軟正黑體" panose="020B0604030504040204" pitchFamily="34" charset="-120"/>
              </a:rPr>
              <a:t>90</a:t>
            </a:r>
            <a:r>
              <a:rPr lang="zh-TW" altLang="en-US" sz="1400" dirty="0">
                <a:solidFill>
                  <a:srgbClr val="000000"/>
                </a:solidFill>
                <a:latin typeface="微軟正黑體" panose="020B0604030504040204" pitchFamily="34" charset="-120"/>
                <a:ea typeface="微軟正黑體" panose="020B0604030504040204" pitchFamily="34" charset="-120"/>
              </a:rPr>
              <a:t>日以上</a:t>
            </a:r>
            <a:r>
              <a:rPr lang="en-US" altLang="zh-TW" sz="1400" dirty="0">
                <a:solidFill>
                  <a:srgbClr val="000000"/>
                </a:solidFill>
                <a:latin typeface="微軟正黑體" panose="020B0604030504040204" pitchFamily="34" charset="-120"/>
                <a:ea typeface="微軟正黑體" panose="020B0604030504040204" pitchFamily="34" charset="-120"/>
              </a:rPr>
              <a:t>)</a:t>
            </a:r>
            <a:r>
              <a:rPr lang="zh-TW" altLang="en-US" sz="1400" dirty="0">
                <a:solidFill>
                  <a:srgbClr val="000000"/>
                </a:solidFill>
                <a:latin typeface="微軟正黑體" panose="020B0604030504040204" pitchFamily="34" charset="-120"/>
                <a:ea typeface="微軟正黑體" panose="020B0604030504040204" pitchFamily="34" charset="-120"/>
              </a:rPr>
              <a:t>。</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3.</a:t>
            </a:r>
            <a:r>
              <a:rPr lang="zh-TW" altLang="en-US" sz="1400" dirty="0">
                <a:solidFill>
                  <a:srgbClr val="000000"/>
                </a:solidFill>
                <a:latin typeface="微軟正黑體" panose="020B0604030504040204" pitchFamily="34" charset="-120"/>
                <a:ea typeface="微軟正黑體" panose="020B0604030504040204" pitchFamily="34" charset="-120"/>
              </a:rPr>
              <a:t>契約變更增加或減少契約價金或工期展延時，廠商應依「工程採購廠商投保約定事項」第九點規定辦理加保、減保或展延保險期限，並經監造單位</a:t>
            </a:r>
            <a:r>
              <a:rPr lang="en-US" altLang="zh-TW" sz="1400" dirty="0">
                <a:solidFill>
                  <a:srgbClr val="000000"/>
                </a:solidFill>
                <a:latin typeface="微軟正黑體" panose="020B0604030504040204" pitchFamily="34" charset="-120"/>
                <a:ea typeface="微軟正黑體" panose="020B0604030504040204" pitchFamily="34" charset="-120"/>
              </a:rPr>
              <a:t>/</a:t>
            </a:r>
            <a:r>
              <a:rPr lang="zh-TW" altLang="en-US" sz="1400" dirty="0">
                <a:solidFill>
                  <a:srgbClr val="000000"/>
                </a:solidFill>
                <a:latin typeface="微軟正黑體" panose="020B0604030504040204" pitchFamily="34" charset="-120"/>
                <a:ea typeface="微軟正黑體" panose="020B0604030504040204" pitchFamily="34" charset="-120"/>
              </a:rPr>
              <a:t>工程司核定後，報請機關備查。</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4.</a:t>
            </a:r>
            <a:r>
              <a:rPr lang="zh-TW" altLang="en-US" sz="1400" dirty="0">
                <a:solidFill>
                  <a:srgbClr val="000000"/>
                </a:solidFill>
                <a:latin typeface="微軟正黑體" panose="020B0604030504040204" pitchFamily="34" charset="-120"/>
                <a:ea typeface="微軟正黑體" panose="020B0604030504040204" pitchFamily="34" charset="-120"/>
              </a:rPr>
              <a:t>由機關自行投保者不適用。</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9" name="五邊形 8"/>
          <p:cNvSpPr/>
          <p:nvPr/>
        </p:nvSpPr>
        <p:spPr>
          <a:xfrm>
            <a:off x="425513" y="386642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3" name="五邊形 12"/>
          <p:cNvSpPr/>
          <p:nvPr/>
        </p:nvSpPr>
        <p:spPr>
          <a:xfrm>
            <a:off x="2848576" y="3866424"/>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p>
        </p:txBody>
      </p:sp>
      <p:sp>
        <p:nvSpPr>
          <p:cNvPr id="14" name="五邊形 13"/>
          <p:cNvSpPr/>
          <p:nvPr/>
        </p:nvSpPr>
        <p:spPr>
          <a:xfrm>
            <a:off x="5271639" y="3866423"/>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2106667"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a:t>
            </a:r>
            <a:r>
              <a:rPr lang="zh-TW" altLang="en-US" sz="1200" u="sng" dirty="0">
                <a:solidFill>
                  <a:srgbClr val="000000"/>
                </a:solidFill>
                <a:latin typeface="微軟正黑體" panose="020B0604030504040204" pitchFamily="34" charset="-120"/>
                <a:ea typeface="微軟正黑體" panose="020B0604030504040204" pitchFamily="34" charset="-120"/>
              </a:rPr>
              <a:t> 工契</a:t>
            </a:r>
            <a:r>
              <a:rPr lang="en-US" altLang="zh-TW" sz="1200" u="sng" dirty="0">
                <a:solidFill>
                  <a:srgbClr val="000000"/>
                </a:solidFill>
                <a:latin typeface="微軟正黑體" panose="020B0604030504040204" pitchFamily="34" charset="-120"/>
                <a:ea typeface="微軟正黑體" panose="020B0604030504040204" pitchFamily="34" charset="-120"/>
              </a:rPr>
              <a:t>13</a:t>
            </a:r>
            <a:r>
              <a:rPr lang="zh-TW" altLang="en-US" sz="1200" u="sng" dirty="0">
                <a:solidFill>
                  <a:srgbClr val="000000"/>
                </a:solidFill>
                <a:latin typeface="微軟正黑體" panose="020B0604030504040204" pitchFamily="34" charset="-120"/>
                <a:ea typeface="微軟正黑體" panose="020B0604030504040204" pitchFamily="34" charset="-120"/>
              </a:rPr>
              <a:t>、投保</a:t>
            </a:r>
            <a:r>
              <a:rPr lang="en-US" altLang="zh-TW" sz="1200" u="sng" dirty="0">
                <a:solidFill>
                  <a:srgbClr val="000000"/>
                </a:solidFill>
                <a:latin typeface="微軟正黑體" panose="020B0604030504040204" pitchFamily="34" charset="-120"/>
                <a:ea typeface="微軟正黑體" panose="020B0604030504040204" pitchFamily="34" charset="-120"/>
              </a:rPr>
              <a:t>7-2</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2488680" y="5916408"/>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77EB7226-8566-471C-BF84-E149C99E3A55}"/>
              </a:ext>
            </a:extLst>
          </p:cNvPr>
          <p:cNvSpPr txBox="1"/>
          <p:nvPr/>
        </p:nvSpPr>
        <p:spPr>
          <a:xfrm>
            <a:off x="612780" y="4188695"/>
            <a:ext cx="977774" cy="523220"/>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4"/>
              </a:rPr>
              <a:t>退回修正</a:t>
            </a:r>
            <a:endParaRPr lang="en-US" altLang="zh-TW" sz="1400" b="0" i="0" u="none" strike="noStrike" dirty="0">
              <a:solidFill>
                <a:srgbClr val="0070C0"/>
              </a:solidFill>
              <a:effectLst/>
              <a:latin typeface="微軟正黑體" panose="020B0604030504040204" pitchFamily="34" charset="-120"/>
              <a:ea typeface="微軟正黑體" panose="020B0604030504040204" pitchFamily="34" charset="-120"/>
            </a:endParaRPr>
          </a:p>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5"/>
              </a:rPr>
              <a:t>備查</a:t>
            </a:r>
            <a:endParaRPr lang="zh-TW" altLang="en-US" sz="1400" dirty="0"/>
          </a:p>
        </p:txBody>
      </p:sp>
      <p:sp>
        <p:nvSpPr>
          <p:cNvPr id="16" name="文字方塊 15">
            <a:extLst>
              <a:ext uri="{FF2B5EF4-FFF2-40B4-BE49-F238E27FC236}">
                <a16:creationId xmlns:a16="http://schemas.microsoft.com/office/drawing/2014/main" id="{387956EA-5F77-4A58-84C1-8C974EE00E13}"/>
              </a:ext>
            </a:extLst>
          </p:cNvPr>
          <p:cNvSpPr txBox="1"/>
          <p:nvPr/>
        </p:nvSpPr>
        <p:spPr>
          <a:xfrm>
            <a:off x="2904858" y="4185051"/>
            <a:ext cx="1293223" cy="307777"/>
          </a:xfrm>
          <a:prstGeom prst="rect">
            <a:avLst/>
          </a:prstGeom>
          <a:noFill/>
        </p:spPr>
        <p:txBody>
          <a:bodyPr wrap="square">
            <a:spAutoFit/>
          </a:bodyPr>
          <a:lstStyle/>
          <a:p>
            <a:r>
              <a:rPr lang="zh-TW" altLang="en-US" sz="1400" b="0" i="0" u="none" strike="noStrike" dirty="0">
                <a:solidFill>
                  <a:srgbClr val="FF0000"/>
                </a:solidFill>
                <a:effectLst/>
                <a:latin typeface="微軟正黑體" panose="020B0604030504040204" pitchFamily="34" charset="-120"/>
                <a:ea typeface="微軟正黑體" panose="020B0604030504040204" pitchFamily="34" charset="-120"/>
                <a:hlinkClick r:id="rId6"/>
              </a:rPr>
              <a:t>保險單審查表</a:t>
            </a:r>
            <a:endParaRPr lang="zh-TW" altLang="en-US" sz="1400" dirty="0"/>
          </a:p>
        </p:txBody>
      </p:sp>
      <p:sp>
        <p:nvSpPr>
          <p:cNvPr id="17" name="文字方塊 16">
            <a:extLst>
              <a:ext uri="{FF2B5EF4-FFF2-40B4-BE49-F238E27FC236}">
                <a16:creationId xmlns:a16="http://schemas.microsoft.com/office/drawing/2014/main" id="{6B0A1509-C272-4ECE-B1AA-F888BE8D3046}"/>
              </a:ext>
            </a:extLst>
          </p:cNvPr>
          <p:cNvSpPr txBox="1"/>
          <p:nvPr/>
        </p:nvSpPr>
        <p:spPr>
          <a:xfrm>
            <a:off x="5458906" y="4172792"/>
            <a:ext cx="1110343" cy="307777"/>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7"/>
              </a:rPr>
              <a:t>備查實例</a:t>
            </a:r>
            <a:endParaRPr lang="zh-TW" altLang="en-US" sz="1400" dirty="0"/>
          </a:p>
        </p:txBody>
      </p:sp>
    </p:spTree>
    <p:extLst>
      <p:ext uri="{BB962C8B-B14F-4D97-AF65-F5344CB8AC3E}">
        <p14:creationId xmlns:p14="http://schemas.microsoft.com/office/powerpoint/2010/main" val="4108430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7398179" cy="584775"/>
          </a:xfrm>
          <a:prstGeom prst="rect">
            <a:avLst/>
          </a:prstGeom>
        </p:spPr>
        <p:txBody>
          <a:bodyPr wrap="none">
            <a:spAutoFit/>
          </a:bodyPr>
          <a:lstStyle/>
          <a:p>
            <a:pPr lvl="0">
              <a:defRPr/>
            </a:pPr>
            <a:r>
              <a:rPr lang="en-US" altLang="zh-TW" sz="3200" dirty="0"/>
              <a:t>B1.17</a:t>
            </a:r>
            <a:r>
              <a:rPr lang="zh-TW" altLang="en-US" sz="3200" dirty="0"/>
              <a:t>向勞檢單位申請丁種工作場所審查</a:t>
            </a:r>
          </a:p>
        </p:txBody>
      </p:sp>
      <p:sp>
        <p:nvSpPr>
          <p:cNvPr id="5" name="矩形 4"/>
          <p:cNvSpPr/>
          <p:nvPr/>
        </p:nvSpPr>
        <p:spPr>
          <a:xfrm>
            <a:off x="612780" y="1706742"/>
            <a:ext cx="10975655" cy="2961195"/>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施工場所如屬丁種工作廠商，施工廠商應於預定施工前</a:t>
            </a: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個月，填具申請書向當地檢查機構申請審查。</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丁種工作場所係指下列之營造工程：</a:t>
            </a:r>
          </a:p>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（一）建築物高度在八十公尺以上之建築工程。</a:t>
            </a:r>
          </a:p>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（二）單跨橋梁之橋墩跨距在七十五公尺以上或多跨橋梁之橋墩跨距在五十公尺以上之橋梁工程。</a:t>
            </a:r>
          </a:p>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（三）採用壓氣施工作業之工程。</a:t>
            </a:r>
          </a:p>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（四）長度一千公尺以上或需開挖十五公尺以上豎坑之隧道工程。</a:t>
            </a:r>
          </a:p>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（五）開挖深度達十八公尺以上，且開挖面積達五百平方公尺之工程。</a:t>
            </a:r>
          </a:p>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（六）工程中模板支撐高度七公尺以上、面積達三百三十平方公尺以上者。</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3.</a:t>
            </a:r>
            <a:r>
              <a:rPr lang="zh-TW" altLang="en-US" sz="1400" dirty="0">
                <a:solidFill>
                  <a:srgbClr val="000000"/>
                </a:solidFill>
                <a:latin typeface="微軟正黑體" panose="020B0604030504040204" pitchFamily="34" charset="-120"/>
                <a:ea typeface="微軟正黑體" panose="020B0604030504040204" pitchFamily="34" charset="-120"/>
              </a:rPr>
              <a:t>施工廠商應衡酌施工時程，考量審查</a:t>
            </a:r>
            <a:r>
              <a:rPr lang="en-US" altLang="zh-TW" sz="1400" dirty="0">
                <a:solidFill>
                  <a:srgbClr val="000000"/>
                </a:solidFill>
                <a:latin typeface="微軟正黑體" panose="020B0604030504040204" pitchFamily="34" charset="-120"/>
                <a:ea typeface="微軟正黑體" panose="020B0604030504040204" pitchFamily="34" charset="-120"/>
              </a:rPr>
              <a:t>(</a:t>
            </a:r>
            <a:r>
              <a:rPr lang="zh-TW" altLang="en-US" sz="1400" dirty="0">
                <a:solidFill>
                  <a:srgbClr val="000000"/>
                </a:solidFill>
                <a:latin typeface="微軟正黑體" panose="020B0604030504040204" pitchFamily="34" charset="-120"/>
                <a:ea typeface="微軟正黑體" panose="020B0604030504040204" pitchFamily="34" charset="-120"/>
              </a:rPr>
              <a:t>複審</a:t>
            </a:r>
            <a:r>
              <a:rPr lang="en-US" altLang="zh-TW" sz="1400" dirty="0">
                <a:solidFill>
                  <a:srgbClr val="000000"/>
                </a:solidFill>
                <a:latin typeface="微軟正黑體" panose="020B0604030504040204" pitchFamily="34" charset="-120"/>
                <a:ea typeface="微軟正黑體" panose="020B0604030504040204" pitchFamily="34" charset="-120"/>
              </a:rPr>
              <a:t>)</a:t>
            </a:r>
            <a:r>
              <a:rPr lang="zh-TW" altLang="en-US" sz="1400" dirty="0">
                <a:solidFill>
                  <a:srgbClr val="000000"/>
                </a:solidFill>
                <a:latin typeface="微軟正黑體" panose="020B0604030504040204" pitchFamily="34" charset="-120"/>
                <a:ea typeface="微軟正黑體" panose="020B0604030504040204" pitchFamily="34" charset="-120"/>
              </a:rPr>
              <a:t>所須時間，填具申請書向當地檢查機構申請審查，未核准前不得施工。</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14" name="五邊形 13"/>
          <p:cNvSpPr/>
          <p:nvPr/>
        </p:nvSpPr>
        <p:spPr>
          <a:xfrm>
            <a:off x="414890" y="483261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實例</a:t>
            </a:r>
          </a:p>
        </p:txBody>
      </p:sp>
      <p:sp>
        <p:nvSpPr>
          <p:cNvPr id="20" name="矩形 19"/>
          <p:cNvSpPr/>
          <p:nvPr/>
        </p:nvSpPr>
        <p:spPr>
          <a:xfrm>
            <a:off x="382013" y="5916408"/>
            <a:ext cx="2335896"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 </a:t>
            </a:r>
            <a:r>
              <a:rPr lang="zh-TW" altLang="en-US" sz="1200" u="sng" dirty="0">
                <a:solidFill>
                  <a:srgbClr val="000000"/>
                </a:solidFill>
                <a:latin typeface="微軟正黑體" panose="020B0604030504040204" pitchFamily="34" charset="-120"/>
                <a:ea typeface="微軟正黑體" panose="020B0604030504040204" pitchFamily="34" charset="-120"/>
              </a:rPr>
              <a:t>工契</a:t>
            </a:r>
            <a:r>
              <a:rPr lang="en-US" altLang="zh-TW" sz="1200" u="sng" dirty="0">
                <a:solidFill>
                  <a:srgbClr val="000000"/>
                </a:solidFill>
                <a:latin typeface="微軟正黑體" panose="020B0604030504040204" pitchFamily="34" charset="-120"/>
                <a:ea typeface="微軟正黑體" panose="020B0604030504040204" pitchFamily="34" charset="-120"/>
              </a:rPr>
              <a:t>9-(</a:t>
            </a:r>
            <a:r>
              <a:rPr lang="zh-TW" altLang="en-US" sz="1200" u="sng" dirty="0">
                <a:solidFill>
                  <a:srgbClr val="000000"/>
                </a:solidFill>
                <a:latin typeface="微軟正黑體" panose="020B0604030504040204" pitchFamily="34" charset="-120"/>
                <a:ea typeface="微軟正黑體" panose="020B0604030504040204" pitchFamily="34" charset="-120"/>
              </a:rPr>
              <a:t>三</a:t>
            </a:r>
            <a:r>
              <a:rPr lang="en-US" altLang="zh-TW" sz="1200" u="sng" dirty="0">
                <a:solidFill>
                  <a:srgbClr val="000000"/>
                </a:solidFill>
                <a:latin typeface="微軟正黑體" panose="020B0604030504040204" pitchFamily="34" charset="-120"/>
                <a:ea typeface="微軟正黑體" panose="020B0604030504040204" pitchFamily="34" charset="-120"/>
              </a:rPr>
              <a:t>)-1</a:t>
            </a:r>
            <a:r>
              <a:rPr lang="zh-TW" altLang="en-US" sz="1200" u="sng" dirty="0">
                <a:solidFill>
                  <a:srgbClr val="000000"/>
                </a:solidFill>
                <a:latin typeface="微軟正黑體" panose="020B0604030504040204" pitchFamily="34" charset="-120"/>
                <a:ea typeface="微軟正黑體" panose="020B0604030504040204" pitchFamily="34" charset="-120"/>
              </a:rPr>
              <a:t>、安衛</a:t>
            </a:r>
            <a:r>
              <a:rPr lang="en-US" altLang="zh-TW" sz="1200" u="sng" dirty="0">
                <a:solidFill>
                  <a:srgbClr val="000000"/>
                </a:solidFill>
                <a:latin typeface="微軟正黑體" panose="020B0604030504040204" pitchFamily="34" charset="-120"/>
                <a:ea typeface="微軟正黑體" panose="020B0604030504040204" pitchFamily="34" charset="-120"/>
              </a:rPr>
              <a:t>4</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2717909" y="5916408"/>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
        <p:nvSpPr>
          <p:cNvPr id="15" name="文字方塊 14">
            <a:extLst>
              <a:ext uri="{FF2B5EF4-FFF2-40B4-BE49-F238E27FC236}">
                <a16:creationId xmlns:a16="http://schemas.microsoft.com/office/drawing/2014/main" id="{16223120-4B67-4AD7-B364-FBEABBC48DB9}"/>
              </a:ext>
            </a:extLst>
          </p:cNvPr>
          <p:cNvSpPr txBox="1"/>
          <p:nvPr/>
        </p:nvSpPr>
        <p:spPr>
          <a:xfrm>
            <a:off x="612780" y="5142687"/>
            <a:ext cx="1423851" cy="307777"/>
          </a:xfrm>
          <a:prstGeom prst="rect">
            <a:avLst/>
          </a:prstGeom>
          <a:noFill/>
        </p:spPr>
        <p:txBody>
          <a:bodyPr wrap="square">
            <a:spAutoFit/>
          </a:bodyPr>
          <a:lstStyle/>
          <a:p>
            <a:r>
              <a:rPr lang="zh-TW" altLang="en-US" sz="1400" b="0" i="0" u="none" strike="noStrike" dirty="0">
                <a:solidFill>
                  <a:srgbClr val="0070C0"/>
                </a:solidFill>
                <a:effectLst/>
                <a:latin typeface="微軟正黑體" panose="020B0604030504040204" pitchFamily="34" charset="-120"/>
                <a:ea typeface="微軟正黑體" panose="020B0604030504040204" pitchFamily="34" charset="-120"/>
                <a:hlinkClick r:id="rId4"/>
              </a:rPr>
              <a:t>主管機關函</a:t>
            </a:r>
            <a:endParaRPr lang="zh-TW" altLang="en-US" sz="1400" dirty="0"/>
          </a:p>
        </p:txBody>
      </p:sp>
    </p:spTree>
    <p:extLst>
      <p:ext uri="{BB962C8B-B14F-4D97-AF65-F5344CB8AC3E}">
        <p14:creationId xmlns:p14="http://schemas.microsoft.com/office/powerpoint/2010/main" val="32444588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3294492" cy="584775"/>
          </a:xfrm>
          <a:prstGeom prst="rect">
            <a:avLst/>
          </a:prstGeom>
        </p:spPr>
        <p:txBody>
          <a:bodyPr wrap="none">
            <a:spAutoFit/>
          </a:bodyPr>
          <a:lstStyle/>
          <a:p>
            <a:pPr lvl="0">
              <a:defRPr/>
            </a:pPr>
            <a:r>
              <a:rPr lang="en-US" altLang="zh-TW" sz="3200" dirty="0"/>
              <a:t>B1.18</a:t>
            </a:r>
            <a:r>
              <a:rPr lang="zh-TW" altLang="en-US" sz="3200" dirty="0"/>
              <a:t>挖掘許可證</a:t>
            </a:r>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solidFill>
                  <a:srgbClr val="000000"/>
                </a:solidFill>
                <a:latin typeface="微軟正黑體" panose="020B0604030504040204" pitchFamily="34" charset="-120"/>
                <a:ea typeface="微軟正黑體" panose="020B0604030504040204" pitchFamily="34" charset="-120"/>
              </a:rPr>
              <a:t>道路挖掘前，申請人應先檢具申請書、設計圖說及相關證明文件，向主管機關申請許可。</a:t>
            </a:r>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p>
        </p:txBody>
      </p:sp>
      <p:sp>
        <p:nvSpPr>
          <p:cNvPr id="20" name="矩形 19"/>
          <p:cNvSpPr/>
          <p:nvPr/>
        </p:nvSpPr>
        <p:spPr>
          <a:xfrm>
            <a:off x="382013" y="5916408"/>
            <a:ext cx="1309974"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法令依據 </a:t>
            </a:r>
            <a:r>
              <a:rPr lang="en-US" altLang="zh-TW" sz="1200" u="sng" dirty="0">
                <a:solidFill>
                  <a:srgbClr val="000000"/>
                </a:solidFill>
                <a:latin typeface="微軟正黑體" panose="020B0604030504040204" pitchFamily="34" charset="-120"/>
                <a:ea typeface="微軟正黑體" panose="020B0604030504040204" pitchFamily="34" charset="-120"/>
              </a:rPr>
              <a:t>: </a:t>
            </a:r>
            <a:r>
              <a:rPr lang="zh-TW" altLang="en-US" sz="1200" u="sng" dirty="0">
                <a:solidFill>
                  <a:srgbClr val="000000"/>
                </a:solidFill>
                <a:latin typeface="微軟正黑體" panose="020B0604030504040204" pitchFamily="34" charset="-120"/>
                <a:ea typeface="微軟正黑體" panose="020B0604030504040204" pitchFamily="34" charset="-120"/>
              </a:rPr>
              <a:t>挖管</a:t>
            </a:r>
            <a:r>
              <a:rPr lang="en-US" altLang="zh-TW" sz="1200" u="sng" dirty="0">
                <a:solidFill>
                  <a:srgbClr val="000000"/>
                </a:solidFill>
                <a:latin typeface="微軟正黑體" panose="020B0604030504040204" pitchFamily="34" charset="-120"/>
                <a:ea typeface="微軟正黑體" panose="020B0604030504040204" pitchFamily="34" charset="-120"/>
              </a:rPr>
              <a:t>4</a:t>
            </a:r>
            <a:endParaRPr lang="zh-TW" altLang="en-US" sz="1200" u="sng" dirty="0"/>
          </a:p>
        </p:txBody>
      </p:sp>
      <p:sp>
        <p:nvSpPr>
          <p:cNvPr id="22" name="文字方塊 21"/>
          <p:cNvSpPr txBox="1"/>
          <p:nvPr/>
        </p:nvSpPr>
        <p:spPr>
          <a:xfrm>
            <a:off x="10509070" y="5916407"/>
            <a:ext cx="1312422" cy="276999"/>
          </a:xfrm>
          <a:prstGeom prst="rect">
            <a:avLst/>
          </a:prstGeom>
          <a:noFill/>
        </p:spPr>
        <p:txBody>
          <a:bodyPr wrap="square" rtlCol="0">
            <a:spAutoFit/>
          </a:bodyPr>
          <a:lstStyle/>
          <a:p>
            <a:r>
              <a:rPr lang="zh-TW" altLang="en-US" sz="1200" dirty="0">
                <a:hlinkClick r:id="rId2" action="ppaction://hlinksldjump"/>
              </a:rPr>
              <a:t>開工前模組目錄</a:t>
            </a:r>
            <a:endParaRPr lang="zh-TW" altLang="en-US" sz="1200" dirty="0"/>
          </a:p>
        </p:txBody>
      </p:sp>
      <p:sp>
        <p:nvSpPr>
          <p:cNvPr id="26" name="文字方塊 25"/>
          <p:cNvSpPr txBox="1"/>
          <p:nvPr/>
        </p:nvSpPr>
        <p:spPr>
          <a:xfrm>
            <a:off x="1691987" y="5916408"/>
            <a:ext cx="2031325" cy="276999"/>
          </a:xfrm>
          <a:prstGeom prst="rect">
            <a:avLst/>
          </a:prstGeom>
          <a:noFill/>
        </p:spPr>
        <p:txBody>
          <a:bodyPr wrap="none" rtlCol="0">
            <a:spAutoFit/>
          </a:bodyPr>
          <a:lstStyle/>
          <a:p>
            <a:r>
              <a:rPr lang="zh-TW" altLang="en-US" sz="1200" dirty="0">
                <a:hlinkClick r:id="rId3"/>
              </a:rPr>
              <a:t>臺北市政府採購業務資訊網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a:solidFill>
                  <a:sysClr val="windowText" lastClr="000000"/>
                </a:solidFill>
              </a:rPr>
              <a:t>參考</a:t>
            </a:r>
          </a:p>
        </p:txBody>
      </p:sp>
    </p:spTree>
    <p:extLst>
      <p:ext uri="{BB962C8B-B14F-4D97-AF65-F5344CB8AC3E}">
        <p14:creationId xmlns:p14="http://schemas.microsoft.com/office/powerpoint/2010/main" val="12149724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2CA03EF-12CE-45C7-9670-0664ACF3D864}"/>
              </a:ext>
            </a:extLst>
          </p:cNvPr>
          <p:cNvSpPr/>
          <p:nvPr/>
        </p:nvSpPr>
        <p:spPr>
          <a:xfrm>
            <a:off x="145344" y="1564161"/>
            <a:ext cx="10255956" cy="4598066"/>
          </a:xfrm>
          <a:prstGeom prst="rect">
            <a:avLst/>
          </a:prstGeom>
          <a:solidFill>
            <a:srgbClr val="B6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圖片</a:t>
            </a:r>
            <a:endParaRPr lang="zh-TW" altLang="en-US" sz="3200" b="1" dirty="0">
              <a:solidFill>
                <a:schemeClr val="tx1"/>
              </a:solidFill>
            </a:endParaRPr>
          </a:p>
        </p:txBody>
      </p:sp>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說明在此網頁會做甚麼行為，如果一個頁面有很多功能可以分步驟寫  </a:t>
            </a:r>
            <a:r>
              <a:rPr lang="zh-TW" altLang="en-US" sz="2400" b="1" dirty="0">
                <a:solidFill>
                  <a:srgbClr val="FF0000"/>
                </a:solidFill>
                <a:cs typeface="+mn-ea"/>
                <a:sym typeface="+mn-lt"/>
              </a:rPr>
              <a:t>字體</a:t>
            </a:r>
            <a:r>
              <a:rPr lang="en-US" altLang="zh-TW" sz="2400" b="1" dirty="0">
                <a:solidFill>
                  <a:srgbClr val="FF0000"/>
                </a:solidFill>
                <a:cs typeface="+mn-ea"/>
                <a:sym typeface="+mn-lt"/>
              </a:rPr>
              <a:t>24</a:t>
            </a: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6431802"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模組名稱</a:t>
            </a:r>
            <a:r>
              <a:rPr lang="en-US" altLang="zh-TW" sz="3200" b="1" dirty="0">
                <a:solidFill>
                  <a:srgbClr val="39759D"/>
                </a:solidFill>
                <a:cs typeface="+mn-ea"/>
                <a:sym typeface="+mn-lt"/>
              </a:rPr>
              <a:t>(EX:</a:t>
            </a:r>
            <a:r>
              <a:rPr lang="zh-TW" altLang="en-US" sz="3200" b="1" dirty="0">
                <a:solidFill>
                  <a:srgbClr val="39759D"/>
                </a:solidFill>
                <a:cs typeface="+mn-ea"/>
                <a:sym typeface="+mn-lt"/>
              </a:rPr>
              <a:t>招標前模組</a:t>
            </a:r>
            <a:r>
              <a:rPr lang="en-US" altLang="zh-TW" sz="3200" b="1" dirty="0">
                <a:solidFill>
                  <a:srgbClr val="39759D"/>
                </a:solidFill>
                <a:cs typeface="+mn-ea"/>
                <a:sym typeface="+mn-lt"/>
              </a:rPr>
              <a:t>) </a:t>
            </a:r>
            <a:r>
              <a:rPr lang="zh-TW" altLang="en-US" sz="3200" b="1" dirty="0">
                <a:solidFill>
                  <a:srgbClr val="FF0000"/>
                </a:solidFill>
                <a:cs typeface="+mn-ea"/>
                <a:sym typeface="+mn-lt"/>
              </a:rPr>
              <a:t>字體</a:t>
            </a:r>
            <a:r>
              <a:rPr lang="en-US" altLang="zh-TW" sz="3200" b="1" dirty="0">
                <a:solidFill>
                  <a:srgbClr val="FF0000"/>
                </a:solidFill>
                <a:cs typeface="+mn-ea"/>
                <a:sym typeface="+mn-lt"/>
              </a:rPr>
              <a:t>32</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157384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2B3DF71-B9CD-44D7-B25D-900103958020}"/>
              </a:ext>
            </a:extLst>
          </p:cNvPr>
          <p:cNvSpPr txBox="1"/>
          <p:nvPr/>
        </p:nvSpPr>
        <p:spPr>
          <a:xfrm>
            <a:off x="8558625" y="1935802"/>
            <a:ext cx="3488030" cy="1123712"/>
          </a:xfrm>
          <a:prstGeom prst="wedgeRoundRectCallout">
            <a:avLst>
              <a:gd name="adj1" fmla="val -57762"/>
              <a:gd name="adj2" fmla="val 29823"/>
              <a:gd name="adj3" fmla="val 16667"/>
            </a:avLst>
          </a:prstGeom>
          <a:solidFill>
            <a:schemeClr val="accent4">
              <a:lumMod val="20000"/>
              <a:lumOff val="80000"/>
            </a:schemeClr>
          </a:solidFill>
        </p:spPr>
        <p:txBody>
          <a:bodyPr wrap="square" rtlCol="0">
            <a:spAutoFit/>
          </a:bodyPr>
          <a:lstStyle/>
          <a:p>
            <a:r>
              <a:rPr lang="zh-TW" altLang="en-US" sz="2000" b="1" dirty="0">
                <a:cs typeface="+mn-ea"/>
                <a:sym typeface="+mn-lt"/>
              </a:rPr>
              <a:t>備註說明 </a:t>
            </a:r>
            <a:r>
              <a:rPr lang="zh-TW" altLang="en-US" sz="2000" b="1" dirty="0">
                <a:solidFill>
                  <a:srgbClr val="FF0000"/>
                </a:solidFill>
                <a:cs typeface="+mn-ea"/>
                <a:sym typeface="+mn-lt"/>
              </a:rPr>
              <a:t>字體</a:t>
            </a:r>
            <a:r>
              <a:rPr lang="en-US" altLang="zh-TW" sz="2000" b="1" dirty="0">
                <a:solidFill>
                  <a:srgbClr val="FF0000"/>
                </a:solidFill>
                <a:cs typeface="+mn-ea"/>
                <a:sym typeface="+mn-lt"/>
              </a:rPr>
              <a:t>20</a:t>
            </a:r>
          </a:p>
          <a:p>
            <a:r>
              <a:rPr lang="en-US" altLang="zh-TW" sz="2000" b="1" dirty="0">
                <a:cs typeface="+mn-ea"/>
                <a:sym typeface="+mn-lt"/>
              </a:rPr>
              <a:t>1.</a:t>
            </a:r>
            <a:r>
              <a:rPr lang="zh-TW" altLang="en-US" sz="2000" b="1" dirty="0">
                <a:cs typeface="+mn-ea"/>
                <a:sym typeface="+mn-lt"/>
              </a:rPr>
              <a:t>數值、欄位選擇的連動</a:t>
            </a:r>
            <a:endParaRPr lang="en-US" altLang="zh-TW" sz="2000" b="1" dirty="0">
              <a:cs typeface="+mn-ea"/>
              <a:sym typeface="+mn-lt"/>
            </a:endParaRPr>
          </a:p>
          <a:p>
            <a:r>
              <a:rPr lang="en-US" altLang="zh-TW" sz="2000" b="1" dirty="0">
                <a:cs typeface="+mn-ea"/>
                <a:sym typeface="+mn-lt"/>
              </a:rPr>
              <a:t>2.</a:t>
            </a:r>
            <a:r>
              <a:rPr lang="zh-TW" altLang="en-US" sz="2000" b="1" dirty="0">
                <a:cs typeface="+mn-ea"/>
                <a:sym typeface="+mn-lt"/>
              </a:rPr>
              <a:t>填入欄位注意的格式等等</a:t>
            </a:r>
            <a:endParaRPr lang="en-US" altLang="zh-TW" sz="2000" b="1" dirty="0">
              <a:cs typeface="+mn-ea"/>
              <a:sym typeface="+mn-lt"/>
            </a:endParaRPr>
          </a:p>
        </p:txBody>
      </p:sp>
      <p:sp>
        <p:nvSpPr>
          <p:cNvPr id="9" name="文字方塊 8">
            <a:extLst>
              <a:ext uri="{FF2B5EF4-FFF2-40B4-BE49-F238E27FC236}">
                <a16:creationId xmlns:a16="http://schemas.microsoft.com/office/drawing/2014/main" id="{EA96D843-724B-45A2-AB58-3E5F867DCD31}"/>
              </a:ext>
            </a:extLst>
          </p:cNvPr>
          <p:cNvSpPr txBox="1"/>
          <p:nvPr/>
        </p:nvSpPr>
        <p:spPr>
          <a:xfrm>
            <a:off x="4689724" y="7183654"/>
            <a:ext cx="2982292" cy="369332"/>
          </a:xfrm>
          <a:prstGeom prst="rect">
            <a:avLst/>
          </a:prstGeom>
          <a:solidFill>
            <a:schemeClr val="accent4">
              <a:lumMod val="40000"/>
              <a:lumOff val="60000"/>
            </a:schemeClr>
          </a:solidFill>
        </p:spPr>
        <p:txBody>
          <a:bodyPr wrap="square" rtlCol="0">
            <a:spAutoFit/>
          </a:bodyPr>
          <a:lstStyle/>
          <a:p>
            <a:r>
              <a:rPr lang="zh-TW" altLang="en-US" b="1" dirty="0">
                <a:cs typeface="+mn-ea"/>
                <a:sym typeface="+mn-lt"/>
              </a:rPr>
              <a:t>憑證用途：選擇「機關單位」</a:t>
            </a:r>
            <a:endParaRPr lang="en-US" altLang="zh-TW" b="1" dirty="0">
              <a:cs typeface="+mn-ea"/>
              <a:sym typeface="+mn-lt"/>
            </a:endParaRPr>
          </a:p>
        </p:txBody>
      </p:sp>
    </p:spTree>
    <p:extLst>
      <p:ext uri="{BB962C8B-B14F-4D97-AF65-F5344CB8AC3E}">
        <p14:creationId xmlns:p14="http://schemas.microsoft.com/office/powerpoint/2010/main" val="23304104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en-US" altLang="zh-TW" sz="2400" b="1" dirty="0">
                <a:cs typeface="+mn-ea"/>
                <a:sym typeface="+mn-lt"/>
              </a:rPr>
              <a:t>3.</a:t>
            </a:r>
            <a:r>
              <a:rPr lang="zh-TW" altLang="en-US" sz="2400" b="1" dirty="0">
                <a:cs typeface="+mn-ea"/>
                <a:sym typeface="+mn-lt"/>
              </a:rPr>
              <a:t> 點擊「新增憑證」，選擇「憑證用途」的「機關單位」，進行確定，並綁定。</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機關</a:t>
            </a:r>
            <a:r>
              <a:rPr lang="en-US" altLang="zh-TW" sz="2000" b="1" dirty="0">
                <a:solidFill>
                  <a:schemeClr val="tx1"/>
                </a:solidFill>
                <a:cs typeface="+mn-ea"/>
                <a:sym typeface="+mn-lt"/>
              </a:rPr>
              <a:t>-</a:t>
            </a:r>
            <a:r>
              <a:rPr lang="zh-TW" altLang="en-US" sz="2000" b="1" dirty="0">
                <a:solidFill>
                  <a:schemeClr val="tx1"/>
                </a:solidFill>
                <a:cs typeface="+mn-ea"/>
                <a:sym typeface="+mn-lt"/>
              </a:rPr>
              <a:t>憑證管理</a:t>
            </a: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憑證管理</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157384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7" name="圖片 6">
            <a:extLst>
              <a:ext uri="{FF2B5EF4-FFF2-40B4-BE49-F238E27FC236}">
                <a16:creationId xmlns:a16="http://schemas.microsoft.com/office/drawing/2014/main" id="{6906C932-03F6-4FC6-84A7-5C0ACBA3DA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71" y="1488455"/>
            <a:ext cx="10963629" cy="5287999"/>
          </a:xfrm>
          <a:prstGeom prst="rect">
            <a:avLst/>
          </a:prstGeom>
        </p:spPr>
      </p:pic>
      <p:sp>
        <p:nvSpPr>
          <p:cNvPr id="8" name="文字方塊 7">
            <a:extLst>
              <a:ext uri="{FF2B5EF4-FFF2-40B4-BE49-F238E27FC236}">
                <a16:creationId xmlns:a16="http://schemas.microsoft.com/office/drawing/2014/main" id="{62B3DF71-B9CD-44D7-B25D-900103958020}"/>
              </a:ext>
            </a:extLst>
          </p:cNvPr>
          <p:cNvSpPr txBox="1"/>
          <p:nvPr/>
        </p:nvSpPr>
        <p:spPr>
          <a:xfrm>
            <a:off x="8610601" y="1665703"/>
            <a:ext cx="3276600" cy="1804749"/>
          </a:xfrm>
          <a:prstGeom prst="wedgeRoundRectCallout">
            <a:avLst>
              <a:gd name="adj1" fmla="val -57762"/>
              <a:gd name="adj2" fmla="val 29823"/>
              <a:gd name="adj3" fmla="val 16667"/>
            </a:avLst>
          </a:prstGeom>
          <a:solidFill>
            <a:schemeClr val="accent4">
              <a:lumMod val="20000"/>
              <a:lumOff val="80000"/>
            </a:schemeClr>
          </a:solidFill>
        </p:spPr>
        <p:txBody>
          <a:bodyPr wrap="square" rtlCol="0">
            <a:spAutoFit/>
          </a:bodyPr>
          <a:lstStyle/>
          <a:p>
            <a:r>
              <a:rPr lang="zh-TW" altLang="en-US" sz="2000" b="1" dirty="0">
                <a:cs typeface="+mn-ea"/>
                <a:sym typeface="+mn-lt"/>
              </a:rPr>
              <a:t>憑證管理</a:t>
            </a:r>
            <a:endParaRPr lang="en-US" altLang="zh-TW" sz="2000" b="1" dirty="0">
              <a:cs typeface="+mn-ea"/>
              <a:sym typeface="+mn-lt"/>
            </a:endParaRPr>
          </a:p>
          <a:p>
            <a:r>
              <a:rPr lang="en-US" altLang="zh-TW" sz="2000" b="1" dirty="0">
                <a:cs typeface="+mn-ea"/>
                <a:sym typeface="+mn-lt"/>
              </a:rPr>
              <a:t>1.</a:t>
            </a:r>
            <a:r>
              <a:rPr lang="zh-TW" altLang="en-US" sz="2000" b="1" dirty="0">
                <a:cs typeface="+mn-ea"/>
                <a:sym typeface="+mn-lt"/>
              </a:rPr>
              <a:t>一個帳號僅能綁定一張自然人憑證</a:t>
            </a:r>
            <a:endParaRPr lang="en-US" altLang="zh-TW" sz="2000" b="1" dirty="0">
              <a:cs typeface="+mn-ea"/>
              <a:sym typeface="+mn-lt"/>
            </a:endParaRPr>
          </a:p>
          <a:p>
            <a:r>
              <a:rPr lang="en-US" altLang="zh-TW" sz="2000" b="1" dirty="0">
                <a:cs typeface="+mn-ea"/>
                <a:sym typeface="+mn-lt"/>
              </a:rPr>
              <a:t>2.</a:t>
            </a:r>
            <a:r>
              <a:rPr lang="zh-TW" altLang="en-US" sz="2000" b="1" dirty="0">
                <a:cs typeface="+mn-ea"/>
                <a:sym typeface="+mn-lt"/>
              </a:rPr>
              <a:t>使用者名稱需和自然人憑證之名稱一致</a:t>
            </a:r>
            <a:endParaRPr lang="en-US" altLang="zh-TW" sz="2000" b="1" dirty="0">
              <a:cs typeface="+mn-ea"/>
              <a:sym typeface="+mn-lt"/>
            </a:endParaRPr>
          </a:p>
        </p:txBody>
      </p:sp>
      <p:sp>
        <p:nvSpPr>
          <p:cNvPr id="9" name="文字方塊 8">
            <a:extLst>
              <a:ext uri="{FF2B5EF4-FFF2-40B4-BE49-F238E27FC236}">
                <a16:creationId xmlns:a16="http://schemas.microsoft.com/office/drawing/2014/main" id="{EA96D843-724B-45A2-AB58-3E5F867DCD31}"/>
              </a:ext>
            </a:extLst>
          </p:cNvPr>
          <p:cNvSpPr txBox="1"/>
          <p:nvPr/>
        </p:nvSpPr>
        <p:spPr>
          <a:xfrm>
            <a:off x="3706744" y="5229124"/>
            <a:ext cx="2982292" cy="369332"/>
          </a:xfrm>
          <a:prstGeom prst="rect">
            <a:avLst/>
          </a:prstGeom>
          <a:solidFill>
            <a:schemeClr val="accent4">
              <a:lumMod val="40000"/>
              <a:lumOff val="60000"/>
            </a:schemeClr>
          </a:solidFill>
        </p:spPr>
        <p:txBody>
          <a:bodyPr wrap="square" rtlCol="0">
            <a:spAutoFit/>
          </a:bodyPr>
          <a:lstStyle/>
          <a:p>
            <a:r>
              <a:rPr lang="zh-TW" altLang="en-US" b="1" dirty="0">
                <a:cs typeface="+mn-ea"/>
                <a:sym typeface="+mn-lt"/>
              </a:rPr>
              <a:t>憑證用途：選擇「機關單位」</a:t>
            </a:r>
            <a:endParaRPr lang="en-US" altLang="zh-TW" b="1" dirty="0">
              <a:cs typeface="+mn-ea"/>
              <a:sym typeface="+mn-lt"/>
            </a:endParaRPr>
          </a:p>
        </p:txBody>
      </p:sp>
    </p:spTree>
    <p:extLst>
      <p:ext uri="{BB962C8B-B14F-4D97-AF65-F5344CB8AC3E}">
        <p14:creationId xmlns:p14="http://schemas.microsoft.com/office/powerpoint/2010/main" val="36996095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1hl141ys">
      <a:majorFont>
        <a:latin typeface="微軟正黑體" panose="020B0604020202020204"/>
        <a:ea typeface="微軟正黑體"/>
        <a:cs typeface=""/>
      </a:majorFont>
      <a:minorFont>
        <a:latin typeface="微軟正黑體" panose="020B0604020202020204"/>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cap="rnd">
          <a:solidFill>
            <a:srgbClr val="FF0000"/>
          </a:solidFill>
          <a:prstDash val="sysDash"/>
          <a:extLst>
            <a:ext uri="{C807C97D-BFC1-408E-A445-0C87EB9F89A2}">
              <ask:lineSketchStyleProps xmlns:ask="http://schemas.microsoft.com/office/drawing/2018/sketchyshapes" xmlns="" sd="1219033472">
                <a:custGeom>
                  <a:avLst/>
                  <a:gdLst>
                    <a:gd name="connsiteX0" fmla="*/ 0 w 541021"/>
                    <a:gd name="connsiteY0" fmla="*/ 0 h 1642111"/>
                    <a:gd name="connsiteX1" fmla="*/ 541021 w 541021"/>
                    <a:gd name="connsiteY1" fmla="*/ 0 h 1642111"/>
                    <a:gd name="connsiteX2" fmla="*/ 541021 w 541021"/>
                    <a:gd name="connsiteY2" fmla="*/ 1642111 h 1642111"/>
                    <a:gd name="connsiteX3" fmla="*/ 0 w 541021"/>
                    <a:gd name="connsiteY3" fmla="*/ 1642111 h 1642111"/>
                    <a:gd name="connsiteX4" fmla="*/ 0 w 541021"/>
                    <a:gd name="connsiteY4" fmla="*/ 0 h 164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21" h="1642111" fill="none" extrusionOk="0">
                      <a:moveTo>
                        <a:pt x="0" y="0"/>
                      </a:moveTo>
                      <a:cubicBezTo>
                        <a:pt x="121583" y="30412"/>
                        <a:pt x="479597" y="-44695"/>
                        <a:pt x="541021" y="0"/>
                      </a:cubicBezTo>
                      <a:cubicBezTo>
                        <a:pt x="484422" y="439429"/>
                        <a:pt x="596872" y="1453708"/>
                        <a:pt x="541021" y="1642111"/>
                      </a:cubicBezTo>
                      <a:cubicBezTo>
                        <a:pt x="425262" y="1613176"/>
                        <a:pt x="120142" y="1605358"/>
                        <a:pt x="0" y="1642111"/>
                      </a:cubicBezTo>
                      <a:cubicBezTo>
                        <a:pt x="143026" y="1186973"/>
                        <a:pt x="42741" y="674802"/>
                        <a:pt x="0" y="0"/>
                      </a:cubicBezTo>
                      <a:close/>
                    </a:path>
                    <a:path w="541021" h="1642111" stroke="0" extrusionOk="0">
                      <a:moveTo>
                        <a:pt x="0" y="0"/>
                      </a:moveTo>
                      <a:cubicBezTo>
                        <a:pt x="253813" y="18964"/>
                        <a:pt x="414267" y="-26336"/>
                        <a:pt x="541021" y="0"/>
                      </a:cubicBezTo>
                      <a:cubicBezTo>
                        <a:pt x="612634" y="245394"/>
                        <a:pt x="470545" y="876964"/>
                        <a:pt x="541021" y="1642111"/>
                      </a:cubicBezTo>
                      <a:cubicBezTo>
                        <a:pt x="338102" y="1653657"/>
                        <a:pt x="124347" y="1678336"/>
                        <a:pt x="0" y="1642111"/>
                      </a:cubicBezTo>
                      <a:cubicBezTo>
                        <a:pt x="-98856" y="1002098"/>
                        <a:pt x="899" y="485577"/>
                        <a:pt x="0" y="0"/>
                      </a:cubicBezTo>
                      <a:close/>
                    </a:path>
                  </a:pathLst>
                </a:custGeom>
                <ask:type>
                  <ask:lineSketchNone/>
                </ask:type>
              </ask:lineSketchStyleProps>
            </a:ext>
          </a:extLst>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FF0000"/>
          </a:solidFill>
        </a:ln>
      </a:spPr>
      <a:bodyPr/>
      <a:lstStyle/>
      <a:style>
        <a:lnRef idx="1">
          <a:schemeClr val="accent1"/>
        </a:lnRef>
        <a:fillRef idx="0">
          <a:schemeClr val="accent1"/>
        </a:fillRef>
        <a:effectRef idx="0">
          <a:schemeClr val="accent1"/>
        </a:effectRef>
        <a:fontRef idx="minor">
          <a:schemeClr val="tx1"/>
        </a:fontRef>
      </a:style>
    </a:lnDef>
    <a:txDef>
      <a:spPr>
        <a:solidFill>
          <a:schemeClr val="accent4">
            <a:lumMod val="40000"/>
            <a:lumOff val="60000"/>
          </a:schemeClr>
        </a:solidFill>
        <a:ln>
          <a:solidFill>
            <a:srgbClr val="FF0000"/>
          </a:solidFill>
        </a:ln>
      </a:spPr>
      <a:bodyPr wrap="none" rtlCol="0">
        <a:spAutoFit/>
      </a:bodyPr>
      <a:lstStyle>
        <a:defPPr algn="l">
          <a:defRPr b="1" dirty="0" smtClean="0">
            <a:cs typeface="+mn-ea"/>
            <a:sym typeface="+mn-l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21279</TotalTime>
  <Words>3646</Words>
  <Application>Microsoft Office PowerPoint</Application>
  <PresentationFormat>寬螢幕</PresentationFormat>
  <Paragraphs>481</Paragraphs>
  <Slides>41</Slides>
  <Notes>19</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41</vt:i4>
      </vt:variant>
    </vt:vector>
  </HeadingPairs>
  <TitlesOfParts>
    <vt:vector size="47" baseType="lpstr">
      <vt:lpstr>微軟正黑體</vt:lpstr>
      <vt:lpstr>新細明體</vt:lpstr>
      <vt:lpstr>Arial</vt:lpstr>
      <vt:lpstr>Arial Black</vt:lpstr>
      <vt:lpstr>Calibri</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妤珊</dc:creator>
  <cp:lastModifiedBy>USER</cp:lastModifiedBy>
  <cp:revision>1309</cp:revision>
  <cp:lastPrinted>2020-08-17T01:41:09Z</cp:lastPrinted>
  <dcterms:created xsi:type="dcterms:W3CDTF">2020-05-15T02:43:33Z</dcterms:created>
  <dcterms:modified xsi:type="dcterms:W3CDTF">2022-01-12T13:50:39Z</dcterms:modified>
</cp:coreProperties>
</file>
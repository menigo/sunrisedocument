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1264" r:id="rId2"/>
    <p:sldId id="1315" r:id="rId3"/>
    <p:sldId id="1316" r:id="rId4"/>
    <p:sldId id="1317" r:id="rId5"/>
    <p:sldId id="1312" r:id="rId6"/>
    <p:sldId id="1293" r:id="rId7"/>
    <p:sldId id="1318" r:id="rId8"/>
    <p:sldId id="1319" r:id="rId9"/>
    <p:sldId id="1320" r:id="rId10"/>
    <p:sldId id="1289" r:id="rId11"/>
    <p:sldId id="1296" r:id="rId12"/>
    <p:sldId id="1297" r:id="rId13"/>
    <p:sldId id="1298" r:id="rId14"/>
    <p:sldId id="1299" r:id="rId15"/>
    <p:sldId id="1303" r:id="rId16"/>
    <p:sldId id="1321" r:id="rId17"/>
    <p:sldId id="1300" r:id="rId18"/>
    <p:sldId id="1302" r:id="rId19"/>
    <p:sldId id="1322" r:id="rId20"/>
    <p:sldId id="1323" r:id="rId21"/>
    <p:sldId id="1304" r:id="rId22"/>
    <p:sldId id="1324" r:id="rId23"/>
    <p:sldId id="1305" r:id="rId24"/>
    <p:sldId id="1343" r:id="rId25"/>
    <p:sldId id="1306" r:id="rId26"/>
    <p:sldId id="1307" r:id="rId27"/>
    <p:sldId id="1308" r:id="rId28"/>
    <p:sldId id="1309" r:id="rId29"/>
    <p:sldId id="1326" r:id="rId30"/>
    <p:sldId id="1327" r:id="rId31"/>
    <p:sldId id="1328" r:id="rId32"/>
    <p:sldId id="1329" r:id="rId33"/>
    <p:sldId id="1330" r:id="rId34"/>
    <p:sldId id="1331" r:id="rId35"/>
    <p:sldId id="1332" r:id="rId36"/>
    <p:sldId id="1333" r:id="rId37"/>
    <p:sldId id="1334" r:id="rId38"/>
    <p:sldId id="1335" r:id="rId39"/>
    <p:sldId id="1336" r:id="rId40"/>
    <p:sldId id="1338" r:id="rId41"/>
    <p:sldId id="1340" r:id="rId42"/>
    <p:sldId id="1341" r:id="rId43"/>
    <p:sldId id="1342" r:id="rId44"/>
    <p:sldId id="1339" r:id="rId45"/>
    <p:sldId id="1325" r:id="rId46"/>
    <p:sldId id="1295" r:id="rId47"/>
    <p:sldId id="1314" r:id="rId48"/>
    <p:sldId id="1292" r:id="rId49"/>
    <p:sldId id="1092" r:id="rId50"/>
  </p:sldIdLst>
  <p:sldSz cx="12192000" cy="6858000"/>
  <p:notesSz cx="6735763" cy="986948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決標後" id="{52D8980F-5260-4F98-8FBC-97F868CC6182}">
          <p14:sldIdLst>
            <p14:sldId id="1264"/>
            <p14:sldId id="1315"/>
            <p14:sldId id="1316"/>
            <p14:sldId id="1317"/>
            <p14:sldId id="1312"/>
            <p14:sldId id="1293"/>
            <p14:sldId id="1318"/>
            <p14:sldId id="1319"/>
            <p14:sldId id="1320"/>
            <p14:sldId id="1289"/>
            <p14:sldId id="1296"/>
            <p14:sldId id="1297"/>
            <p14:sldId id="1298"/>
            <p14:sldId id="1299"/>
            <p14:sldId id="1303"/>
            <p14:sldId id="1321"/>
            <p14:sldId id="1300"/>
            <p14:sldId id="1302"/>
            <p14:sldId id="1322"/>
            <p14:sldId id="1323"/>
            <p14:sldId id="1304"/>
            <p14:sldId id="1324"/>
            <p14:sldId id="1305"/>
            <p14:sldId id="1343"/>
            <p14:sldId id="1306"/>
            <p14:sldId id="1307"/>
            <p14:sldId id="1308"/>
            <p14:sldId id="1309"/>
            <p14:sldId id="1326"/>
            <p14:sldId id="1327"/>
            <p14:sldId id="1328"/>
            <p14:sldId id="1329"/>
            <p14:sldId id="1330"/>
            <p14:sldId id="1331"/>
            <p14:sldId id="1332"/>
            <p14:sldId id="1333"/>
            <p14:sldId id="1334"/>
            <p14:sldId id="1335"/>
            <p14:sldId id="1336"/>
            <p14:sldId id="1338"/>
            <p14:sldId id="1340"/>
            <p14:sldId id="1341"/>
            <p14:sldId id="1342"/>
            <p14:sldId id="1339"/>
            <p14:sldId id="1325"/>
            <p14:sldId id="1295"/>
            <p14:sldId id="1314"/>
            <p14:sldId id="1292"/>
            <p14:sldId id="109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浩然 邱" initials="浩然" lastIdx="4" clrIdx="0">
    <p:extLst>
      <p:ext uri="{19B8F6BF-5375-455C-9EA6-DF929625EA0E}">
        <p15:presenceInfo xmlns:p15="http://schemas.microsoft.com/office/powerpoint/2012/main" userId="80fc205e9e64c697" providerId="Windows Live"/>
      </p:ext>
    </p:extLst>
  </p:cmAuthor>
  <p:cmAuthor id="2" name="YUFANG LIN" initials="YL" lastIdx="10" clrIdx="1">
    <p:extLst>
      <p:ext uri="{19B8F6BF-5375-455C-9EA6-DF929625EA0E}">
        <p15:presenceInfo xmlns:p15="http://schemas.microsoft.com/office/powerpoint/2012/main" userId="f33887a6e075659f" providerId="Windows Live"/>
      </p:ext>
    </p:extLst>
  </p:cmAuthor>
  <p:cmAuthor id="3" name="10140 sunrise" initials="1s" lastIdx="10" clrIdx="2">
    <p:extLst>
      <p:ext uri="{19B8F6BF-5375-455C-9EA6-DF929625EA0E}">
        <p15:presenceInfo xmlns:p15="http://schemas.microsoft.com/office/powerpoint/2012/main" userId="4d8244bf2ae8e4fa" providerId="Windows Live"/>
      </p:ext>
    </p:extLst>
  </p:cmAuthor>
  <p:cmAuthor id="4" name="妤珊" initials="妤珊" lastIdx="14" clrIdx="3">
    <p:extLst>
      <p:ext uri="{19B8F6BF-5375-455C-9EA6-DF929625EA0E}">
        <p15:presenceInfo xmlns:p15="http://schemas.microsoft.com/office/powerpoint/2012/main" userId="a9ed651b00258aaf" providerId="Windows Live"/>
      </p:ext>
    </p:extLst>
  </p:cmAuthor>
  <p:cmAuthor id="5" name="佳莉 陳" initials="佳莉" lastIdx="9" clrIdx="4">
    <p:extLst>
      <p:ext uri="{19B8F6BF-5375-455C-9EA6-DF929625EA0E}">
        <p15:presenceInfo xmlns:p15="http://schemas.microsoft.com/office/powerpoint/2012/main" userId="aed248d31d88f476" providerId="Windows Live"/>
      </p:ext>
    </p:extLst>
  </p:cmAuthor>
  <p:cmAuthor id="6" name="劉 約成" initials="劉" lastIdx="2" clrIdx="5">
    <p:extLst>
      <p:ext uri="{19B8F6BF-5375-455C-9EA6-DF929625EA0E}">
        <p15:presenceInfo xmlns:p15="http://schemas.microsoft.com/office/powerpoint/2012/main" userId="8a2f789c1194b5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6D9A"/>
    <a:srgbClr val="FF3D7A"/>
    <a:srgbClr val="FFC1D4"/>
    <a:srgbClr val="FFF2CC"/>
    <a:srgbClr val="F47131"/>
    <a:srgbClr val="343536"/>
    <a:srgbClr val="FF9999"/>
    <a:srgbClr val="FD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1" autoAdjust="0"/>
    <p:restoredTop sz="93906" autoAdjust="0"/>
  </p:normalViewPr>
  <p:slideViewPr>
    <p:cSldViewPr snapToGrid="0">
      <p:cViewPr varScale="1">
        <p:scale>
          <a:sx n="108" d="100"/>
          <a:sy n="108" d="100"/>
        </p:scale>
        <p:origin x="630" y="-222"/>
      </p:cViewPr>
      <p:guideLst/>
    </p:cSldViewPr>
  </p:slideViewPr>
  <p:notesTextViewPr>
    <p:cViewPr>
      <p:scale>
        <a:sx n="400" d="100"/>
        <a:sy n="4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15373" y="0"/>
            <a:ext cx="2918831" cy="495188"/>
          </a:xfrm>
          <a:prstGeom prst="rect">
            <a:avLst/>
          </a:prstGeom>
        </p:spPr>
        <p:txBody>
          <a:bodyPr vert="horz" lIns="91440" tIns="45720" rIns="91440" bIns="45720" rtlCol="0"/>
          <a:lstStyle>
            <a:lvl1pPr algn="r">
              <a:defRPr sz="1200"/>
            </a:lvl1pPr>
          </a:lstStyle>
          <a:p>
            <a:fld id="{A54DAA72-4A6A-4898-A5B9-E02DE5971D93}" type="datetimeFigureOut">
              <a:rPr lang="zh-TW" altLang="en-US" smtClean="0"/>
              <a:t>2022/1/10</a:t>
            </a:fld>
            <a:endParaRPr lang="zh-TW" altLang="en-US"/>
          </a:p>
        </p:txBody>
      </p:sp>
      <p:sp>
        <p:nvSpPr>
          <p:cNvPr id="4" name="頁尾版面配置區 3"/>
          <p:cNvSpPr>
            <a:spLocks noGrp="1"/>
          </p:cNvSpPr>
          <p:nvPr>
            <p:ph type="ftr" sz="quarter" idx="2"/>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15373" y="9374301"/>
            <a:ext cx="2918831" cy="495187"/>
          </a:xfrm>
          <a:prstGeom prst="rect">
            <a:avLst/>
          </a:prstGeom>
        </p:spPr>
        <p:txBody>
          <a:bodyPr vert="horz" lIns="91440" tIns="45720" rIns="91440" bIns="45720" rtlCol="0" anchor="b"/>
          <a:lstStyle>
            <a:lvl1pPr algn="r">
              <a:defRPr sz="1200"/>
            </a:lvl1pPr>
          </a:lstStyle>
          <a:p>
            <a:fld id="{D5BF73C7-3DE2-478C-B86C-387D4C7CAD43}" type="slidenum">
              <a:rPr lang="zh-TW" altLang="en-US" smtClean="0"/>
              <a:t>‹#›</a:t>
            </a:fld>
            <a:endParaRPr lang="zh-TW" altLang="en-US"/>
          </a:p>
        </p:txBody>
      </p:sp>
    </p:spTree>
    <p:extLst>
      <p:ext uri="{BB962C8B-B14F-4D97-AF65-F5344CB8AC3E}">
        <p14:creationId xmlns:p14="http://schemas.microsoft.com/office/powerpoint/2010/main" val="419368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15373" y="0"/>
            <a:ext cx="2918831" cy="495188"/>
          </a:xfrm>
          <a:prstGeom prst="rect">
            <a:avLst/>
          </a:prstGeom>
        </p:spPr>
        <p:txBody>
          <a:bodyPr vert="horz" lIns="91440" tIns="45720" rIns="91440" bIns="45720" rtlCol="0"/>
          <a:lstStyle>
            <a:lvl1pPr algn="r">
              <a:defRPr sz="1200"/>
            </a:lvl1pPr>
          </a:lstStyle>
          <a:p>
            <a:fld id="{4D13E498-D6A5-433E-B682-A841DF578F72}" type="datetimeFigureOut">
              <a:rPr lang="zh-TW" altLang="en-US" smtClean="0"/>
              <a:t>2022/1/10</a:t>
            </a:fld>
            <a:endParaRPr lang="zh-TW" altLang="en-US"/>
          </a:p>
        </p:txBody>
      </p:sp>
      <p:sp>
        <p:nvSpPr>
          <p:cNvPr id="4" name="投影片影像版面配置區 3"/>
          <p:cNvSpPr>
            <a:spLocks noGrp="1" noRot="1" noChangeAspect="1"/>
          </p:cNvSpPr>
          <p:nvPr>
            <p:ph type="sldImg" idx="2"/>
          </p:nvPr>
        </p:nvSpPr>
        <p:spPr>
          <a:xfrm>
            <a:off x="407988" y="1233488"/>
            <a:ext cx="5919787" cy="3330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3577" y="4749691"/>
            <a:ext cx="5388610" cy="3886111"/>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15373" y="9374301"/>
            <a:ext cx="2918831" cy="495187"/>
          </a:xfrm>
          <a:prstGeom prst="rect">
            <a:avLst/>
          </a:prstGeom>
        </p:spPr>
        <p:txBody>
          <a:bodyPr vert="horz" lIns="91440" tIns="45720" rIns="91440" bIns="45720" rtlCol="0" anchor="b"/>
          <a:lstStyle>
            <a:lvl1pPr algn="r">
              <a:defRPr sz="1200"/>
            </a:lvl1pPr>
          </a:lstStyle>
          <a:p>
            <a:fld id="{FB9C1CDC-CB3F-4C6F-802F-7C071E69026E}" type="slidenum">
              <a:rPr lang="zh-TW" altLang="en-US" smtClean="0"/>
              <a:t>‹#›</a:t>
            </a:fld>
            <a:endParaRPr lang="zh-TW" altLang="en-US"/>
          </a:p>
        </p:txBody>
      </p:sp>
    </p:spTree>
    <p:extLst>
      <p:ext uri="{BB962C8B-B14F-4D97-AF65-F5344CB8AC3E}">
        <p14:creationId xmlns:p14="http://schemas.microsoft.com/office/powerpoint/2010/main" val="2816333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a:t>
            </a:fld>
            <a:endParaRPr lang="zh-TW" altLang="en-US"/>
          </a:p>
        </p:txBody>
      </p:sp>
    </p:spTree>
    <p:extLst>
      <p:ext uri="{BB962C8B-B14F-4D97-AF65-F5344CB8AC3E}">
        <p14:creationId xmlns:p14="http://schemas.microsoft.com/office/powerpoint/2010/main" val="1856091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2</a:t>
            </a:fld>
            <a:endParaRPr lang="zh-TW" altLang="en-US"/>
          </a:p>
        </p:txBody>
      </p:sp>
    </p:spTree>
    <p:extLst>
      <p:ext uri="{BB962C8B-B14F-4D97-AF65-F5344CB8AC3E}">
        <p14:creationId xmlns:p14="http://schemas.microsoft.com/office/powerpoint/2010/main" val="918281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3</a:t>
            </a:fld>
            <a:endParaRPr lang="zh-TW" altLang="en-US"/>
          </a:p>
        </p:txBody>
      </p:sp>
    </p:spTree>
    <p:extLst>
      <p:ext uri="{BB962C8B-B14F-4D97-AF65-F5344CB8AC3E}">
        <p14:creationId xmlns:p14="http://schemas.microsoft.com/office/powerpoint/2010/main" val="3221024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4</a:t>
            </a:fld>
            <a:endParaRPr lang="zh-TW" altLang="en-US"/>
          </a:p>
        </p:txBody>
      </p:sp>
    </p:spTree>
    <p:extLst>
      <p:ext uri="{BB962C8B-B14F-4D97-AF65-F5344CB8AC3E}">
        <p14:creationId xmlns:p14="http://schemas.microsoft.com/office/powerpoint/2010/main" val="2445311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6</a:t>
            </a:fld>
            <a:endParaRPr lang="zh-TW" altLang="en-US"/>
          </a:p>
        </p:txBody>
      </p:sp>
    </p:spTree>
    <p:extLst>
      <p:ext uri="{BB962C8B-B14F-4D97-AF65-F5344CB8AC3E}">
        <p14:creationId xmlns:p14="http://schemas.microsoft.com/office/powerpoint/2010/main" val="2817976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8</a:t>
            </a:fld>
            <a:endParaRPr lang="zh-TW" altLang="en-US"/>
          </a:p>
        </p:txBody>
      </p:sp>
    </p:spTree>
    <p:extLst>
      <p:ext uri="{BB962C8B-B14F-4D97-AF65-F5344CB8AC3E}">
        <p14:creationId xmlns:p14="http://schemas.microsoft.com/office/powerpoint/2010/main" val="2453553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10</a:t>
            </a:fld>
            <a:endParaRPr lang="zh-TW" altLang="en-US"/>
          </a:p>
        </p:txBody>
      </p:sp>
    </p:spTree>
    <p:extLst>
      <p:ext uri="{BB962C8B-B14F-4D97-AF65-F5344CB8AC3E}">
        <p14:creationId xmlns:p14="http://schemas.microsoft.com/office/powerpoint/2010/main" val="841478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11</a:t>
            </a:fld>
            <a:endParaRPr lang="zh-TW" altLang="en-US"/>
          </a:p>
        </p:txBody>
      </p:sp>
    </p:spTree>
    <p:extLst>
      <p:ext uri="{BB962C8B-B14F-4D97-AF65-F5344CB8AC3E}">
        <p14:creationId xmlns:p14="http://schemas.microsoft.com/office/powerpoint/2010/main" val="1046832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12</a:t>
            </a:fld>
            <a:endParaRPr lang="zh-TW" altLang="en-US"/>
          </a:p>
        </p:txBody>
      </p:sp>
    </p:spTree>
    <p:extLst>
      <p:ext uri="{BB962C8B-B14F-4D97-AF65-F5344CB8AC3E}">
        <p14:creationId xmlns:p14="http://schemas.microsoft.com/office/powerpoint/2010/main" val="373290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13</a:t>
            </a:fld>
            <a:endParaRPr lang="zh-TW" altLang="en-US"/>
          </a:p>
        </p:txBody>
      </p:sp>
    </p:spTree>
    <p:extLst>
      <p:ext uri="{BB962C8B-B14F-4D97-AF65-F5344CB8AC3E}">
        <p14:creationId xmlns:p14="http://schemas.microsoft.com/office/powerpoint/2010/main" val="599747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14</a:t>
            </a:fld>
            <a:endParaRPr lang="zh-TW" altLang="en-US"/>
          </a:p>
        </p:txBody>
      </p:sp>
    </p:spTree>
    <p:extLst>
      <p:ext uri="{BB962C8B-B14F-4D97-AF65-F5344CB8AC3E}">
        <p14:creationId xmlns:p14="http://schemas.microsoft.com/office/powerpoint/2010/main" val="2261381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15</a:t>
            </a:fld>
            <a:endParaRPr lang="zh-TW" altLang="en-US"/>
          </a:p>
        </p:txBody>
      </p:sp>
    </p:spTree>
    <p:extLst>
      <p:ext uri="{BB962C8B-B14F-4D97-AF65-F5344CB8AC3E}">
        <p14:creationId xmlns:p14="http://schemas.microsoft.com/office/powerpoint/2010/main" val="3267456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17</a:t>
            </a:fld>
            <a:endParaRPr lang="zh-TW" altLang="en-US"/>
          </a:p>
        </p:txBody>
      </p:sp>
    </p:spTree>
    <p:extLst>
      <p:ext uri="{BB962C8B-B14F-4D97-AF65-F5344CB8AC3E}">
        <p14:creationId xmlns:p14="http://schemas.microsoft.com/office/powerpoint/2010/main" val="4281919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18</a:t>
            </a:fld>
            <a:endParaRPr lang="zh-TW" altLang="en-US"/>
          </a:p>
        </p:txBody>
      </p:sp>
    </p:spTree>
    <p:extLst>
      <p:ext uri="{BB962C8B-B14F-4D97-AF65-F5344CB8AC3E}">
        <p14:creationId xmlns:p14="http://schemas.microsoft.com/office/powerpoint/2010/main" val="1829900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19</a:t>
            </a:fld>
            <a:endParaRPr lang="zh-TW" altLang="en-US"/>
          </a:p>
        </p:txBody>
      </p:sp>
    </p:spTree>
    <p:extLst>
      <p:ext uri="{BB962C8B-B14F-4D97-AF65-F5344CB8AC3E}">
        <p14:creationId xmlns:p14="http://schemas.microsoft.com/office/powerpoint/2010/main" val="1459973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21</a:t>
            </a:fld>
            <a:endParaRPr lang="zh-TW" altLang="en-US"/>
          </a:p>
        </p:txBody>
      </p:sp>
    </p:spTree>
    <p:extLst>
      <p:ext uri="{BB962C8B-B14F-4D97-AF65-F5344CB8AC3E}">
        <p14:creationId xmlns:p14="http://schemas.microsoft.com/office/powerpoint/2010/main" val="3756455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23</a:t>
            </a:fld>
            <a:endParaRPr lang="zh-TW" altLang="en-US"/>
          </a:p>
        </p:txBody>
      </p:sp>
    </p:spTree>
    <p:extLst>
      <p:ext uri="{BB962C8B-B14F-4D97-AF65-F5344CB8AC3E}">
        <p14:creationId xmlns:p14="http://schemas.microsoft.com/office/powerpoint/2010/main" val="499745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24</a:t>
            </a:fld>
            <a:endParaRPr lang="zh-TW" altLang="en-US"/>
          </a:p>
        </p:txBody>
      </p:sp>
    </p:spTree>
    <p:extLst>
      <p:ext uri="{BB962C8B-B14F-4D97-AF65-F5344CB8AC3E}">
        <p14:creationId xmlns:p14="http://schemas.microsoft.com/office/powerpoint/2010/main" val="3459941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25</a:t>
            </a:fld>
            <a:endParaRPr lang="zh-TW" altLang="en-US"/>
          </a:p>
        </p:txBody>
      </p:sp>
    </p:spTree>
    <p:extLst>
      <p:ext uri="{BB962C8B-B14F-4D97-AF65-F5344CB8AC3E}">
        <p14:creationId xmlns:p14="http://schemas.microsoft.com/office/powerpoint/2010/main" val="2320710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26</a:t>
            </a:fld>
            <a:endParaRPr lang="zh-TW" altLang="en-US"/>
          </a:p>
        </p:txBody>
      </p:sp>
    </p:spTree>
    <p:extLst>
      <p:ext uri="{BB962C8B-B14F-4D97-AF65-F5344CB8AC3E}">
        <p14:creationId xmlns:p14="http://schemas.microsoft.com/office/powerpoint/2010/main" val="3255624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27</a:t>
            </a:fld>
            <a:endParaRPr lang="zh-TW" altLang="en-US"/>
          </a:p>
        </p:txBody>
      </p:sp>
    </p:spTree>
    <p:extLst>
      <p:ext uri="{BB962C8B-B14F-4D97-AF65-F5344CB8AC3E}">
        <p14:creationId xmlns:p14="http://schemas.microsoft.com/office/powerpoint/2010/main" val="2440593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28</a:t>
            </a:fld>
            <a:endParaRPr lang="zh-TW" altLang="en-US"/>
          </a:p>
        </p:txBody>
      </p:sp>
    </p:spTree>
    <p:extLst>
      <p:ext uri="{BB962C8B-B14F-4D97-AF65-F5344CB8AC3E}">
        <p14:creationId xmlns:p14="http://schemas.microsoft.com/office/powerpoint/2010/main" val="2104345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30</a:t>
            </a:fld>
            <a:endParaRPr lang="zh-TW" altLang="en-US"/>
          </a:p>
        </p:txBody>
      </p:sp>
    </p:spTree>
    <p:extLst>
      <p:ext uri="{BB962C8B-B14F-4D97-AF65-F5344CB8AC3E}">
        <p14:creationId xmlns:p14="http://schemas.microsoft.com/office/powerpoint/2010/main" val="16297755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32</a:t>
            </a:fld>
            <a:endParaRPr lang="zh-TW" altLang="en-US"/>
          </a:p>
        </p:txBody>
      </p:sp>
    </p:spTree>
    <p:extLst>
      <p:ext uri="{BB962C8B-B14F-4D97-AF65-F5344CB8AC3E}">
        <p14:creationId xmlns:p14="http://schemas.microsoft.com/office/powerpoint/2010/main" val="10843654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33</a:t>
            </a:fld>
            <a:endParaRPr lang="zh-TW" altLang="en-US"/>
          </a:p>
        </p:txBody>
      </p:sp>
    </p:spTree>
    <p:extLst>
      <p:ext uri="{BB962C8B-B14F-4D97-AF65-F5344CB8AC3E}">
        <p14:creationId xmlns:p14="http://schemas.microsoft.com/office/powerpoint/2010/main" val="1440123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34</a:t>
            </a:fld>
            <a:endParaRPr lang="zh-TW" altLang="en-US"/>
          </a:p>
        </p:txBody>
      </p:sp>
    </p:spTree>
    <p:extLst>
      <p:ext uri="{BB962C8B-B14F-4D97-AF65-F5344CB8AC3E}">
        <p14:creationId xmlns:p14="http://schemas.microsoft.com/office/powerpoint/2010/main" val="3472660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35</a:t>
            </a:fld>
            <a:endParaRPr lang="zh-TW" altLang="en-US"/>
          </a:p>
        </p:txBody>
      </p:sp>
    </p:spTree>
    <p:extLst>
      <p:ext uri="{BB962C8B-B14F-4D97-AF65-F5344CB8AC3E}">
        <p14:creationId xmlns:p14="http://schemas.microsoft.com/office/powerpoint/2010/main" val="13950216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37</a:t>
            </a:fld>
            <a:endParaRPr lang="zh-TW" altLang="en-US"/>
          </a:p>
        </p:txBody>
      </p:sp>
    </p:spTree>
    <p:extLst>
      <p:ext uri="{BB962C8B-B14F-4D97-AF65-F5344CB8AC3E}">
        <p14:creationId xmlns:p14="http://schemas.microsoft.com/office/powerpoint/2010/main" val="42206624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39</a:t>
            </a:fld>
            <a:endParaRPr lang="zh-TW" altLang="en-US"/>
          </a:p>
        </p:txBody>
      </p:sp>
    </p:spTree>
    <p:extLst>
      <p:ext uri="{BB962C8B-B14F-4D97-AF65-F5344CB8AC3E}">
        <p14:creationId xmlns:p14="http://schemas.microsoft.com/office/powerpoint/2010/main" val="2530996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40</a:t>
            </a:fld>
            <a:endParaRPr lang="zh-TW" altLang="en-US"/>
          </a:p>
        </p:txBody>
      </p:sp>
    </p:spTree>
    <p:extLst>
      <p:ext uri="{BB962C8B-B14F-4D97-AF65-F5344CB8AC3E}">
        <p14:creationId xmlns:p14="http://schemas.microsoft.com/office/powerpoint/2010/main" val="30424698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41</a:t>
            </a:fld>
            <a:endParaRPr lang="zh-TW" altLang="en-US"/>
          </a:p>
        </p:txBody>
      </p:sp>
    </p:spTree>
    <p:extLst>
      <p:ext uri="{BB962C8B-B14F-4D97-AF65-F5344CB8AC3E}">
        <p14:creationId xmlns:p14="http://schemas.microsoft.com/office/powerpoint/2010/main" val="42501388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42</a:t>
            </a:fld>
            <a:endParaRPr lang="zh-TW" altLang="en-US"/>
          </a:p>
        </p:txBody>
      </p:sp>
    </p:spTree>
    <p:extLst>
      <p:ext uri="{BB962C8B-B14F-4D97-AF65-F5344CB8AC3E}">
        <p14:creationId xmlns:p14="http://schemas.microsoft.com/office/powerpoint/2010/main" val="3501248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43</a:t>
            </a:fld>
            <a:endParaRPr lang="zh-TW" altLang="en-US"/>
          </a:p>
        </p:txBody>
      </p:sp>
    </p:spTree>
    <p:extLst>
      <p:ext uri="{BB962C8B-B14F-4D97-AF65-F5344CB8AC3E}">
        <p14:creationId xmlns:p14="http://schemas.microsoft.com/office/powerpoint/2010/main" val="3084609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44</a:t>
            </a:fld>
            <a:endParaRPr lang="zh-TW" altLang="en-US"/>
          </a:p>
        </p:txBody>
      </p:sp>
    </p:spTree>
    <p:extLst>
      <p:ext uri="{BB962C8B-B14F-4D97-AF65-F5344CB8AC3E}">
        <p14:creationId xmlns:p14="http://schemas.microsoft.com/office/powerpoint/2010/main" val="13088177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46</a:t>
            </a:fld>
            <a:endParaRPr lang="zh-TW" altLang="en-US"/>
          </a:p>
        </p:txBody>
      </p:sp>
    </p:spTree>
    <p:extLst>
      <p:ext uri="{BB962C8B-B14F-4D97-AF65-F5344CB8AC3E}">
        <p14:creationId xmlns:p14="http://schemas.microsoft.com/office/powerpoint/2010/main" val="13303341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48</a:t>
            </a:fld>
            <a:endParaRPr lang="zh-TW" altLang="en-US"/>
          </a:p>
        </p:txBody>
      </p:sp>
    </p:spTree>
    <p:extLst>
      <p:ext uri="{BB962C8B-B14F-4D97-AF65-F5344CB8AC3E}">
        <p14:creationId xmlns:p14="http://schemas.microsoft.com/office/powerpoint/2010/main" val="36116379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49</a:t>
            </a:fld>
            <a:endParaRPr lang="zh-TW" altLang="en-US"/>
          </a:p>
        </p:txBody>
      </p:sp>
    </p:spTree>
    <p:extLst>
      <p:ext uri="{BB962C8B-B14F-4D97-AF65-F5344CB8AC3E}">
        <p14:creationId xmlns:p14="http://schemas.microsoft.com/office/powerpoint/2010/main" val="48538498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32" name="平行四邊形 2">
            <a:extLst>
              <a:ext uri="{FF2B5EF4-FFF2-40B4-BE49-F238E27FC236}">
                <a16:creationId xmlns:a16="http://schemas.microsoft.com/office/drawing/2014/main" id="{7EA660E8-9556-4D3E-BCE8-C1715903129B}"/>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平行四邊形 2">
            <a:extLst>
              <a:ext uri="{FF2B5EF4-FFF2-40B4-BE49-F238E27FC236}">
                <a16:creationId xmlns:a16="http://schemas.microsoft.com/office/drawing/2014/main" id="{4DC73DC3-0A10-4B63-9D07-B05F0E5EDEFF}"/>
              </a:ext>
            </a:extLst>
          </p:cNvPr>
          <p:cNvSpPr/>
          <p:nvPr userDrawn="1"/>
        </p:nvSpPr>
        <p:spPr>
          <a:xfrm>
            <a:off x="-15832" y="1850938"/>
            <a:ext cx="6755168" cy="5036559"/>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 name="connsiteX0" fmla="*/ 4 w 9653085"/>
              <a:gd name="connsiteY0" fmla="*/ 6875771 h 6875771"/>
              <a:gd name="connsiteX1" fmla="*/ 1701624 w 9653085"/>
              <a:gd name="connsiteY1" fmla="*/ 21693 h 6875771"/>
              <a:gd name="connsiteX2" fmla="*/ 9653085 w 9653085"/>
              <a:gd name="connsiteY2" fmla="*/ 0 h 6875771"/>
              <a:gd name="connsiteX3" fmla="*/ 4839264 w 9653085"/>
              <a:gd name="connsiteY3" fmla="*/ 6866246 h 6875771"/>
              <a:gd name="connsiteX4" fmla="*/ 4 w 9653085"/>
              <a:gd name="connsiteY4" fmla="*/ 6875771 h 6875771"/>
              <a:gd name="connsiteX0" fmla="*/ 60 w 8009263"/>
              <a:gd name="connsiteY0" fmla="*/ 5924900 h 6866246"/>
              <a:gd name="connsiteX1" fmla="*/ 57802 w 8009263"/>
              <a:gd name="connsiteY1" fmla="*/ 21693 h 6866246"/>
              <a:gd name="connsiteX2" fmla="*/ 8009263 w 8009263"/>
              <a:gd name="connsiteY2" fmla="*/ 0 h 6866246"/>
              <a:gd name="connsiteX3" fmla="*/ 3195442 w 8009263"/>
              <a:gd name="connsiteY3" fmla="*/ 6866246 h 6866246"/>
              <a:gd name="connsiteX4" fmla="*/ 60 w 8009263"/>
              <a:gd name="connsiteY4" fmla="*/ 5924900 h 6866246"/>
              <a:gd name="connsiteX0" fmla="*/ 60 w 8009263"/>
              <a:gd name="connsiteY0" fmla="*/ 5924900 h 5924900"/>
              <a:gd name="connsiteX1" fmla="*/ 57802 w 8009263"/>
              <a:gd name="connsiteY1" fmla="*/ 21693 h 5924900"/>
              <a:gd name="connsiteX2" fmla="*/ 8009263 w 8009263"/>
              <a:gd name="connsiteY2" fmla="*/ 0 h 5924900"/>
              <a:gd name="connsiteX3" fmla="*/ 3872334 w 8009263"/>
              <a:gd name="connsiteY3" fmla="*/ 5899258 h 5924900"/>
              <a:gd name="connsiteX4" fmla="*/ 60 w 8009263"/>
              <a:gd name="connsiteY4" fmla="*/ 5924900 h 5924900"/>
              <a:gd name="connsiteX0" fmla="*/ 60 w 8009263"/>
              <a:gd name="connsiteY0" fmla="*/ 5924900 h 5947607"/>
              <a:gd name="connsiteX1" fmla="*/ 57802 w 8009263"/>
              <a:gd name="connsiteY1" fmla="*/ 21693 h 5947607"/>
              <a:gd name="connsiteX2" fmla="*/ 8009263 w 8009263"/>
              <a:gd name="connsiteY2" fmla="*/ 0 h 5947607"/>
              <a:gd name="connsiteX3" fmla="*/ 3823985 w 8009263"/>
              <a:gd name="connsiteY3" fmla="*/ 5947607 h 5947607"/>
              <a:gd name="connsiteX4" fmla="*/ 60 w 8009263"/>
              <a:gd name="connsiteY4" fmla="*/ 5924900 h 5947607"/>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41017 h 5947607"/>
              <a:gd name="connsiteX1" fmla="*/ 25629 w 7977090"/>
              <a:gd name="connsiteY1" fmla="*/ 21693 h 5947607"/>
              <a:gd name="connsiteX2" fmla="*/ 7977090 w 7977090"/>
              <a:gd name="connsiteY2" fmla="*/ 0 h 5947607"/>
              <a:gd name="connsiteX3" fmla="*/ 3791812 w 7977090"/>
              <a:gd name="connsiteY3" fmla="*/ 5947607 h 5947607"/>
              <a:gd name="connsiteX4" fmla="*/ 120 w 7977090"/>
              <a:gd name="connsiteY4" fmla="*/ 5941017 h 5947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90" h="5947607">
                <a:moveTo>
                  <a:pt x="120" y="5941017"/>
                </a:moveTo>
                <a:cubicBezTo>
                  <a:pt x="-2121" y="3659499"/>
                  <a:pt x="27870" y="2303211"/>
                  <a:pt x="25629" y="21693"/>
                </a:cubicBezTo>
                <a:lnTo>
                  <a:pt x="7977090" y="0"/>
                </a:lnTo>
                <a:lnTo>
                  <a:pt x="3791812" y="5947607"/>
                </a:lnTo>
                <a:lnTo>
                  <a:pt x="120" y="5941017"/>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1" name="圖片 40">
            <a:extLst>
              <a:ext uri="{FF2B5EF4-FFF2-40B4-BE49-F238E27FC236}">
                <a16:creationId xmlns:a16="http://schemas.microsoft.com/office/drawing/2014/main" id="{34EDE549-9259-4005-B913-39370726E0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9" name="群組 48">
            <a:extLst>
              <a:ext uri="{FF2B5EF4-FFF2-40B4-BE49-F238E27FC236}">
                <a16:creationId xmlns:a16="http://schemas.microsoft.com/office/drawing/2014/main" id="{9D24200C-C5B0-46AC-A448-987F7FA4426B}"/>
              </a:ext>
            </a:extLst>
          </p:cNvPr>
          <p:cNvGrpSpPr/>
          <p:nvPr userDrawn="1"/>
        </p:nvGrpSpPr>
        <p:grpSpPr>
          <a:xfrm>
            <a:off x="9743406" y="1200733"/>
            <a:ext cx="1851248" cy="1165994"/>
            <a:chOff x="6498873" y="3874085"/>
            <a:chExt cx="1851248" cy="1165994"/>
          </a:xfrm>
        </p:grpSpPr>
        <p:pic>
          <p:nvPicPr>
            <p:cNvPr id="19" name="圖片 18">
              <a:extLst>
                <a:ext uri="{FF2B5EF4-FFF2-40B4-BE49-F238E27FC236}">
                  <a16:creationId xmlns:a16="http://schemas.microsoft.com/office/drawing/2014/main" id="{A84D87BA-7986-4419-A690-FF2B20C2C0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1" name="圖片 20">
              <a:extLst>
                <a:ext uri="{FF2B5EF4-FFF2-40B4-BE49-F238E27FC236}">
                  <a16:creationId xmlns:a16="http://schemas.microsoft.com/office/drawing/2014/main" id="{4CB09ECD-F120-4458-8B49-F02D1B5E834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17" name="圖片 16">
              <a:extLst>
                <a:ext uri="{FF2B5EF4-FFF2-40B4-BE49-F238E27FC236}">
                  <a16:creationId xmlns:a16="http://schemas.microsoft.com/office/drawing/2014/main" id="{D4B18A31-1A18-4E6B-BBCA-9FA2F35908A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718766" y="5112546"/>
            <a:ext cx="3315831" cy="1745453"/>
          </a:xfrm>
          <a:prstGeom prst="rect">
            <a:avLst/>
          </a:prstGeom>
          <a:effectLst>
            <a:outerShdw blurRad="50800" dist="38100" algn="l" rotWithShape="0">
              <a:prstClr val="black">
                <a:alpha val="40000"/>
              </a:prstClr>
            </a:outerShdw>
          </a:effectLst>
        </p:spPr>
      </p:pic>
      <p:grpSp>
        <p:nvGrpSpPr>
          <p:cNvPr id="6" name="群組 5">
            <a:extLst>
              <a:ext uri="{FF2B5EF4-FFF2-40B4-BE49-F238E27FC236}">
                <a16:creationId xmlns:a16="http://schemas.microsoft.com/office/drawing/2014/main" id="{7917C57A-BC95-42BB-811D-180AAAECBBE9}"/>
              </a:ext>
            </a:extLst>
          </p:cNvPr>
          <p:cNvGrpSpPr/>
          <p:nvPr userDrawn="1"/>
        </p:nvGrpSpPr>
        <p:grpSpPr>
          <a:xfrm>
            <a:off x="5545057" y="-17773"/>
            <a:ext cx="6890863" cy="6890863"/>
            <a:chOff x="5545057" y="-17773"/>
            <a:chExt cx="6890863" cy="6890863"/>
          </a:xfrm>
        </p:grpSpPr>
        <p:sp>
          <p:nvSpPr>
            <p:cNvPr id="4" name="矩形 3">
              <a:extLst>
                <a:ext uri="{FF2B5EF4-FFF2-40B4-BE49-F238E27FC236}">
                  <a16:creationId xmlns:a16="http://schemas.microsoft.com/office/drawing/2014/main" id="{00538DDB-9435-4944-9BD8-9314E3A8CCF4}"/>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38CDE7E8-97E6-41A3-9024-1E591649239B}"/>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4035D045-3022-4E0A-91E4-0837CE910B00}"/>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AD297F42-E53E-4CFB-ABBB-1AF6596F3D44}"/>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62131157-2C07-48D2-850C-67CFD748CFC0}"/>
                </a:ext>
              </a:extLst>
            </p:cNvPr>
            <p:cNvGrpSpPr/>
            <p:nvPr userDrawn="1"/>
          </p:nvGrpSpPr>
          <p:grpSpPr>
            <a:xfrm rot="5400000">
              <a:off x="8071627" y="-2335895"/>
              <a:ext cx="1837724" cy="6890863"/>
              <a:chOff x="10278117" y="134627"/>
              <a:chExt cx="1837724" cy="6890863"/>
            </a:xfrm>
          </p:grpSpPr>
          <p:sp>
            <p:nvSpPr>
              <p:cNvPr id="48" name="矩形 47">
                <a:extLst>
                  <a:ext uri="{FF2B5EF4-FFF2-40B4-BE49-F238E27FC236}">
                    <a16:creationId xmlns:a16="http://schemas.microsoft.com/office/drawing/2014/main" id="{BA05F7C6-13BC-4C90-A194-E2EF5003F3E4}"/>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267137-FE0B-4305-B655-A68F5E762645}"/>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DB363C2F-FD92-4EFE-BABF-C649F6817A2D}"/>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FE4B6A15-2202-4C22-86EA-E9198CCBF715}"/>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 name="流程圖: 卡片 1">
            <a:extLst>
              <a:ext uri="{FF2B5EF4-FFF2-40B4-BE49-F238E27FC236}">
                <a16:creationId xmlns:a16="http://schemas.microsoft.com/office/drawing/2014/main" id="{D3383D3D-9485-47D9-B260-309D35F9C03B}"/>
              </a:ext>
            </a:extLst>
          </p:cNvPr>
          <p:cNvSpPr/>
          <p:nvPr userDrawn="1"/>
        </p:nvSpPr>
        <p:spPr>
          <a:xfrm rot="10800000">
            <a:off x="-231010" y="296640"/>
            <a:ext cx="9409337" cy="2718482"/>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a:extLst>
              <a:ext uri="{FF2B5EF4-FFF2-40B4-BE49-F238E27FC236}">
                <a16:creationId xmlns:a16="http://schemas.microsoft.com/office/drawing/2014/main" id="{9EFCBE47-441E-4136-B41F-A7DC71D5FB63}"/>
              </a:ext>
            </a:extLst>
          </p:cNvPr>
          <p:cNvSpPr txBox="1"/>
          <p:nvPr userDrawn="1"/>
        </p:nvSpPr>
        <p:spPr>
          <a:xfrm>
            <a:off x="289833" y="990105"/>
            <a:ext cx="9522590" cy="923330"/>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5400" b="1" dirty="0">
                <a:solidFill>
                  <a:schemeClr val="bg1"/>
                </a:solidFill>
                <a:latin typeface="微軟正黑體" panose="020B0604030504040204" pitchFamily="34" charset="-120"/>
                <a:ea typeface="微軟正黑體" panose="020B0604030504040204" pitchFamily="34" charset="-120"/>
              </a:rPr>
              <a:t>工程履約管理資訊系統建置</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06642" y="3329442"/>
            <a:ext cx="3129513" cy="3600035"/>
          </a:xfrm>
          <a:prstGeom prst="rect">
            <a:avLst/>
          </a:prstGeom>
          <a:effectLst>
            <a:outerShdw blurRad="50800" dist="38100" algn="l" rotWithShape="0">
              <a:prstClr val="black">
                <a:alpha val="40000"/>
              </a:prstClr>
            </a:outerShdw>
          </a:effectLst>
        </p:spPr>
      </p:pic>
      <p:grpSp>
        <p:nvGrpSpPr>
          <p:cNvPr id="3" name="群組 2">
            <a:extLst>
              <a:ext uri="{FF2B5EF4-FFF2-40B4-BE49-F238E27FC236}">
                <a16:creationId xmlns:a16="http://schemas.microsoft.com/office/drawing/2014/main" id="{DCB96681-C118-4BE9-9DF7-2CC63ED6DB66}"/>
              </a:ext>
            </a:extLst>
          </p:cNvPr>
          <p:cNvGrpSpPr/>
          <p:nvPr userDrawn="1"/>
        </p:nvGrpSpPr>
        <p:grpSpPr>
          <a:xfrm>
            <a:off x="573596" y="3467734"/>
            <a:ext cx="10625583" cy="1449750"/>
            <a:chOff x="573596" y="3467734"/>
            <a:chExt cx="10625583" cy="1449750"/>
          </a:xfrm>
        </p:grpSpPr>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8810671" y="4219272"/>
              <a:ext cx="2388508" cy="698212"/>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73596" y="3467734"/>
              <a:ext cx="3931121" cy="578106"/>
            </a:xfrm>
            <a:prstGeom prst="rect">
              <a:avLst/>
            </a:prstGeom>
          </p:spPr>
        </p:pic>
      </p:grpSp>
    </p:spTree>
    <p:extLst>
      <p:ext uri="{BB962C8B-B14F-4D97-AF65-F5344CB8AC3E}">
        <p14:creationId xmlns:p14="http://schemas.microsoft.com/office/powerpoint/2010/main" val="1786106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標題投影片">
    <p:spTree>
      <p:nvGrpSpPr>
        <p:cNvPr id="1" name=""/>
        <p:cNvGrpSpPr/>
        <p:nvPr/>
      </p:nvGrpSpPr>
      <p:grpSpPr>
        <a:xfrm>
          <a:off x="0" y="0"/>
          <a:ext cx="0" cy="0"/>
          <a:chOff x="0" y="0"/>
          <a:chExt cx="0" cy="0"/>
        </a:xfrm>
      </p:grpSpPr>
      <p:sp>
        <p:nvSpPr>
          <p:cNvPr id="7" name="流程圖: 接點 6">
            <a:extLst>
              <a:ext uri="{FF2B5EF4-FFF2-40B4-BE49-F238E27FC236}">
                <a16:creationId xmlns:a16="http://schemas.microsoft.com/office/drawing/2014/main" id="{C294AE49-9CCB-4A30-854D-316075F97540}"/>
              </a:ext>
            </a:extLst>
          </p:cNvPr>
          <p:cNvSpPr/>
          <p:nvPr userDrawn="1"/>
        </p:nvSpPr>
        <p:spPr>
          <a:xfrm>
            <a:off x="2697332" y="91033"/>
            <a:ext cx="6675934" cy="6675934"/>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7332" y="2024814"/>
            <a:ext cx="667593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95713" y="4225369"/>
            <a:ext cx="2700301" cy="1421438"/>
          </a:xfrm>
          <a:prstGeom prst="rect">
            <a:avLst/>
          </a:prstGeom>
          <a:effectLst>
            <a:outerShdw blurRad="50800" dist="38100" algn="l" rotWithShape="0">
              <a:prstClr val="black">
                <a:alpha val="40000"/>
              </a:prstClr>
            </a:outerShdw>
          </a:effectLst>
        </p:spPr>
      </p:pic>
      <p:sp>
        <p:nvSpPr>
          <p:cNvPr id="10" name="文字方塊 9">
            <a:extLst>
              <a:ext uri="{FF2B5EF4-FFF2-40B4-BE49-F238E27FC236}">
                <a16:creationId xmlns:a16="http://schemas.microsoft.com/office/drawing/2014/main" id="{9EFCBE47-441E-4136-B41F-A7DC71D5FB63}"/>
              </a:ext>
            </a:extLst>
          </p:cNvPr>
          <p:cNvSpPr txBox="1"/>
          <p:nvPr userDrawn="1"/>
        </p:nvSpPr>
        <p:spPr>
          <a:xfrm>
            <a:off x="1334704" y="1960400"/>
            <a:ext cx="9522590" cy="769441"/>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zh-TW" altLang="en-US" sz="4400" b="1" dirty="0">
                <a:solidFill>
                  <a:schemeClr val="bg1"/>
                </a:solidFill>
                <a:latin typeface="微軟正黑體" panose="020B0604030504040204" pitchFamily="34" charset="-120"/>
                <a:ea typeface="微軟正黑體" panose="020B0604030504040204" pitchFamily="34" charset="-120"/>
              </a:rPr>
              <a:t>工程履約管理資訊系統</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449169" y="2759105"/>
            <a:ext cx="2528275" cy="2908401"/>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5031542" y="5812531"/>
            <a:ext cx="2128915" cy="622327"/>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069738" y="1174619"/>
            <a:ext cx="3931121" cy="578106"/>
          </a:xfrm>
          <a:prstGeom prst="rect">
            <a:avLst/>
          </a:prstGeom>
        </p:spPr>
      </p:pic>
    </p:spTree>
    <p:extLst>
      <p:ext uri="{BB962C8B-B14F-4D97-AF65-F5344CB8AC3E}">
        <p14:creationId xmlns:p14="http://schemas.microsoft.com/office/powerpoint/2010/main" val="188189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1728D4F3-2E37-4A66-B424-B67D00BBF10F}"/>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9B3A8D97-DD51-4F10-9E83-8018E9B83011}"/>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8D35A7B1-00E3-4530-9944-25E584FB6BF6}"/>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997A6A7B-8311-4987-903A-8CE2CE0FF1C5}"/>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2174DB0-7A2B-4F62-A5EB-3ADA20995AAA}"/>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4" name="群組 13">
              <a:extLst>
                <a:ext uri="{FF2B5EF4-FFF2-40B4-BE49-F238E27FC236}">
                  <a16:creationId xmlns:a16="http://schemas.microsoft.com/office/drawing/2014/main" id="{832B3EAC-1689-4586-9680-CB512E4DCAA4}"/>
                </a:ext>
              </a:extLst>
            </p:cNvPr>
            <p:cNvGrpSpPr/>
            <p:nvPr userDrawn="1"/>
          </p:nvGrpSpPr>
          <p:grpSpPr>
            <a:xfrm rot="5400000">
              <a:off x="8071627" y="-2335895"/>
              <a:ext cx="1837724" cy="6890863"/>
              <a:chOff x="10278117" y="134627"/>
              <a:chExt cx="1837724" cy="6890863"/>
            </a:xfrm>
          </p:grpSpPr>
          <p:sp>
            <p:nvSpPr>
              <p:cNvPr id="18" name="矩形 17">
                <a:extLst>
                  <a:ext uri="{FF2B5EF4-FFF2-40B4-BE49-F238E27FC236}">
                    <a16:creationId xmlns:a16="http://schemas.microsoft.com/office/drawing/2014/main" id="{4A078F75-9D6F-4074-9E77-5FFAD4E5DF52}"/>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D444CFA0-59FB-42A9-BB2D-D7FA391CDF97}"/>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6EF934B6-B00C-48E1-956B-FCFE62368BFC}"/>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CEBCCA57-3087-4605-891B-DA4431F8067F}"/>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3" name="直角三角形 12">
            <a:extLst>
              <a:ext uri="{FF2B5EF4-FFF2-40B4-BE49-F238E27FC236}">
                <a16:creationId xmlns:a16="http://schemas.microsoft.com/office/drawing/2014/main" id="{D9252DC7-8ED9-4E5A-A054-698AF45E7F35}"/>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B2117E41-215F-4319-8FB3-1B25156C46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22" name="圖片 21">
            <a:extLst>
              <a:ext uri="{FF2B5EF4-FFF2-40B4-BE49-F238E27FC236}">
                <a16:creationId xmlns:a16="http://schemas.microsoft.com/office/drawing/2014/main" id="{7467E2B0-9BC6-42E1-BCD0-CFC6B6DC7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17" name="群組 16">
            <a:extLst>
              <a:ext uri="{FF2B5EF4-FFF2-40B4-BE49-F238E27FC236}">
                <a16:creationId xmlns:a16="http://schemas.microsoft.com/office/drawing/2014/main" id="{81C52E3A-AD8A-4920-83BD-E372D1460659}"/>
              </a:ext>
            </a:extLst>
          </p:cNvPr>
          <p:cNvGrpSpPr/>
          <p:nvPr userDrawn="1"/>
        </p:nvGrpSpPr>
        <p:grpSpPr>
          <a:xfrm>
            <a:off x="9412884" y="93147"/>
            <a:ext cx="2828046" cy="338554"/>
            <a:chOff x="9412884" y="-21153"/>
            <a:chExt cx="2828046" cy="338554"/>
          </a:xfrm>
        </p:grpSpPr>
        <p:sp>
          <p:nvSpPr>
            <p:cNvPr id="23" name="文字方塊 22">
              <a:extLst>
                <a:ext uri="{FF2B5EF4-FFF2-40B4-BE49-F238E27FC236}">
                  <a16:creationId xmlns:a16="http://schemas.microsoft.com/office/drawing/2014/main" id="{58F15686-080F-4354-8044-CC473739B3FF}"/>
                </a:ext>
              </a:extLst>
            </p:cNvPr>
            <p:cNvSpPr txBox="1"/>
            <p:nvPr userDrawn="1"/>
          </p:nvSpPr>
          <p:spPr>
            <a:xfrm>
              <a:off x="9412884" y="-21153"/>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24" name="直線接點 23">
              <a:extLst>
                <a:ext uri="{FF2B5EF4-FFF2-40B4-BE49-F238E27FC236}">
                  <a16:creationId xmlns:a16="http://schemas.microsoft.com/office/drawing/2014/main" id="{BBA73F29-241F-4DE5-8289-17C263AFB006}"/>
                </a:ext>
              </a:extLst>
            </p:cNvPr>
            <p:cNvCxnSpPr>
              <a:cxnSpLocks/>
            </p:cNvCxnSpPr>
            <p:nvPr userDrawn="1"/>
          </p:nvCxnSpPr>
          <p:spPr>
            <a:xfrm>
              <a:off x="9500936" y="282053"/>
              <a:ext cx="2413429"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25" name="圖片 24">
            <a:extLst>
              <a:ext uri="{FF2B5EF4-FFF2-40B4-BE49-F238E27FC236}">
                <a16:creationId xmlns:a16="http://schemas.microsoft.com/office/drawing/2014/main" id="{4A773A06-6B88-46B7-904A-215E26543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6" name="矩形: 圓角 25">
            <a:extLst>
              <a:ext uri="{FF2B5EF4-FFF2-40B4-BE49-F238E27FC236}">
                <a16:creationId xmlns:a16="http://schemas.microsoft.com/office/drawing/2014/main" id="{A1EA72E4-D920-49B8-8D87-4919F65CB35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投影片編號版面配置區 5">
            <a:extLst>
              <a:ext uri="{FF2B5EF4-FFF2-40B4-BE49-F238E27FC236}">
                <a16:creationId xmlns:a16="http://schemas.microsoft.com/office/drawing/2014/main" id="{3C87778F-9C90-4129-A46A-3B3A391B7472}"/>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545DB909-5F23-4D0F-91E8-27044E584F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284748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5883855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81314165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章節標題">
    <p:spTree>
      <p:nvGrpSpPr>
        <p:cNvPr id="1" name=""/>
        <p:cNvGrpSpPr/>
        <p:nvPr/>
      </p:nvGrpSpPr>
      <p:grpSpPr>
        <a:xfrm>
          <a:off x="0" y="0"/>
          <a:ext cx="0" cy="0"/>
          <a:chOff x="0" y="0"/>
          <a:chExt cx="0" cy="0"/>
        </a:xfrm>
      </p:grpSpPr>
      <p:grpSp>
        <p:nvGrpSpPr>
          <p:cNvPr id="6" name="群組 5">
            <a:extLst>
              <a:ext uri="{FF2B5EF4-FFF2-40B4-BE49-F238E27FC236}">
                <a16:creationId xmlns:a16="http://schemas.microsoft.com/office/drawing/2014/main" id="{92677794-8779-4C7C-B0DE-6B053A0CA186}"/>
              </a:ext>
            </a:extLst>
          </p:cNvPr>
          <p:cNvGrpSpPr/>
          <p:nvPr userDrawn="1"/>
        </p:nvGrpSpPr>
        <p:grpSpPr>
          <a:xfrm>
            <a:off x="0" y="-24635"/>
            <a:ext cx="12220859" cy="8125281"/>
            <a:chOff x="0" y="-24635"/>
            <a:chExt cx="12220859" cy="8125281"/>
          </a:xfrm>
        </p:grpSpPr>
        <p:pic>
          <p:nvPicPr>
            <p:cNvPr id="4" name="圖片 3">
              <a:extLst>
                <a:ext uri="{FF2B5EF4-FFF2-40B4-BE49-F238E27FC236}">
                  <a16:creationId xmlns:a16="http://schemas.microsoft.com/office/drawing/2014/main" id="{B80F4E42-67B0-4320-B65E-AE50173AC260}"/>
                </a:ext>
              </a:extLst>
            </p:cNvPr>
            <p:cNvPicPr>
              <a:picLocks noChangeAspect="1"/>
            </p:cNvPicPr>
            <p:nvPr userDrawn="1"/>
          </p:nvPicPr>
          <p:blipFill>
            <a:blip r:embed="rId2"/>
            <a:stretch>
              <a:fillRect/>
            </a:stretch>
          </p:blipFill>
          <p:spPr>
            <a:xfrm>
              <a:off x="0" y="0"/>
              <a:ext cx="12192000" cy="8100646"/>
            </a:xfrm>
            <a:prstGeom prst="rect">
              <a:avLst/>
            </a:prstGeom>
          </p:spPr>
        </p:pic>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
          <p:nvSpPr>
            <p:cNvPr id="5" name="矩形 4">
              <a:extLst>
                <a:ext uri="{FF2B5EF4-FFF2-40B4-BE49-F238E27FC236}">
                  <a16:creationId xmlns:a16="http://schemas.microsoft.com/office/drawing/2014/main" id="{F38EA68C-C2BB-4776-9F7F-171714D7AB39}"/>
                </a:ext>
              </a:extLst>
            </p:cNvPr>
            <p:cNvSpPr/>
            <p:nvPr userDrawn="1"/>
          </p:nvSpPr>
          <p:spPr>
            <a:xfrm>
              <a:off x="0" y="0"/>
              <a:ext cx="12192000" cy="73152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Tree>
    <p:extLst>
      <p:ext uri="{BB962C8B-B14F-4D97-AF65-F5344CB8AC3E}">
        <p14:creationId xmlns:p14="http://schemas.microsoft.com/office/powerpoint/2010/main" val="27517267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6726" y="0"/>
            <a:ext cx="12198726" cy="6882634"/>
          </a:xfrm>
          <a:prstGeom prst="snip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64464" y="4054018"/>
            <a:ext cx="2041965" cy="2853251"/>
          </a:xfrm>
          <a:prstGeom prst="rtTriangle">
            <a:avLst/>
          </a:prstGeom>
          <a:solidFill>
            <a:srgbClr val="F5D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sp>
        <p:nvSpPr>
          <p:cNvPr id="20" name="矩形: 圓角 19">
            <a:extLst>
              <a:ext uri="{FF2B5EF4-FFF2-40B4-BE49-F238E27FC236}">
                <a16:creationId xmlns:a16="http://schemas.microsoft.com/office/drawing/2014/main" id="{CBABAB66-FCA0-479B-8E23-99A0AF2B57A9}"/>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投影片編號版面配置區 5">
            <a:extLst>
              <a:ext uri="{FF2B5EF4-FFF2-40B4-BE49-F238E27FC236}">
                <a16:creationId xmlns:a16="http://schemas.microsoft.com/office/drawing/2014/main" id="{C3C53CCB-49FE-47BB-9379-C78E720D13DC}"/>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265863844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grpSp>
        <p:nvGrpSpPr>
          <p:cNvPr id="24" name="群組 23">
            <a:extLst>
              <a:ext uri="{FF2B5EF4-FFF2-40B4-BE49-F238E27FC236}">
                <a16:creationId xmlns:a16="http://schemas.microsoft.com/office/drawing/2014/main" id="{592722F0-4BC6-43B3-9128-4DDEDD331480}"/>
              </a:ext>
            </a:extLst>
          </p:cNvPr>
          <p:cNvGrpSpPr/>
          <p:nvPr userDrawn="1"/>
        </p:nvGrpSpPr>
        <p:grpSpPr>
          <a:xfrm>
            <a:off x="5020393" y="4329381"/>
            <a:ext cx="1851248" cy="1165994"/>
            <a:chOff x="6498873" y="3874085"/>
            <a:chExt cx="1851248" cy="1165994"/>
          </a:xfrm>
        </p:grpSpPr>
        <p:pic>
          <p:nvPicPr>
            <p:cNvPr id="25" name="圖片 24">
              <a:extLst>
                <a:ext uri="{FF2B5EF4-FFF2-40B4-BE49-F238E27FC236}">
                  <a16:creationId xmlns:a16="http://schemas.microsoft.com/office/drawing/2014/main" id="{21CB0ECD-250E-434E-9600-51951E24BA8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6" name="圖片 25">
              <a:extLst>
                <a:ext uri="{FF2B5EF4-FFF2-40B4-BE49-F238E27FC236}">
                  <a16:creationId xmlns:a16="http://schemas.microsoft.com/office/drawing/2014/main" id="{458113B9-2319-452C-A5B8-E9C50DC0347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7" name="圖片 26">
              <a:extLst>
                <a:ext uri="{FF2B5EF4-FFF2-40B4-BE49-F238E27FC236}">
                  <a16:creationId xmlns:a16="http://schemas.microsoft.com/office/drawing/2014/main" id="{F008F6B1-FC91-4928-ABC2-ABBA9857FCE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8998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75176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29" name="流程圖: 卡片 28">
            <a:extLst>
              <a:ext uri="{FF2B5EF4-FFF2-40B4-BE49-F238E27FC236}">
                <a16:creationId xmlns:a16="http://schemas.microsoft.com/office/drawing/2014/main" id="{14D41468-A94D-444C-A544-9C0D95591FAD}"/>
              </a:ext>
            </a:extLst>
          </p:cNvPr>
          <p:cNvSpPr/>
          <p:nvPr userDrawn="1"/>
        </p:nvSpPr>
        <p:spPr>
          <a:xfrm rot="10800000">
            <a:off x="39834" y="1200733"/>
            <a:ext cx="12152165" cy="3496688"/>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5" name="圖片 44">
            <a:extLst>
              <a:ext uri="{FF2B5EF4-FFF2-40B4-BE49-F238E27FC236}">
                <a16:creationId xmlns:a16="http://schemas.microsoft.com/office/drawing/2014/main" id="{24CDF243-C1A1-4DC0-809B-39238EF664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8494962">
            <a:off x="7782621" y="1880431"/>
            <a:ext cx="6382794" cy="5822548"/>
          </a:xfrm>
          <a:prstGeom prst="rect">
            <a:avLst/>
          </a:prstGeom>
        </p:spPr>
      </p:pic>
      <p:pic>
        <p:nvPicPr>
          <p:cNvPr id="21" name="圖片 20">
            <a:extLst>
              <a:ext uri="{FF2B5EF4-FFF2-40B4-BE49-F238E27FC236}">
                <a16:creationId xmlns:a16="http://schemas.microsoft.com/office/drawing/2014/main" id="{67CCD85F-CD51-4399-8CD9-773D46B19E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0389" y="3361161"/>
            <a:ext cx="3129513" cy="3600035"/>
          </a:xfrm>
          <a:prstGeom prst="rect">
            <a:avLst/>
          </a:prstGeom>
          <a:effectLst>
            <a:outerShdw blurRad="50800" dist="38100" algn="l" rotWithShape="0">
              <a:prstClr val="black">
                <a:alpha val="40000"/>
              </a:prstClr>
            </a:outerShdw>
          </a:effectLst>
        </p:spPr>
      </p:pic>
      <p:grpSp>
        <p:nvGrpSpPr>
          <p:cNvPr id="30" name="群組 29">
            <a:extLst>
              <a:ext uri="{FF2B5EF4-FFF2-40B4-BE49-F238E27FC236}">
                <a16:creationId xmlns:a16="http://schemas.microsoft.com/office/drawing/2014/main" id="{23C1FA75-23BA-4B79-BAF7-1E2DC82E7E28}"/>
              </a:ext>
            </a:extLst>
          </p:cNvPr>
          <p:cNvGrpSpPr/>
          <p:nvPr userDrawn="1"/>
        </p:nvGrpSpPr>
        <p:grpSpPr>
          <a:xfrm>
            <a:off x="4227279" y="1803273"/>
            <a:ext cx="3876633" cy="2308324"/>
            <a:chOff x="2037262" y="604715"/>
            <a:chExt cx="3876633" cy="2308324"/>
          </a:xfrm>
        </p:grpSpPr>
        <p:sp>
          <p:nvSpPr>
            <p:cNvPr id="31" name="文字方塊 30">
              <a:extLst>
                <a:ext uri="{FF2B5EF4-FFF2-40B4-BE49-F238E27FC236}">
                  <a16:creationId xmlns:a16="http://schemas.microsoft.com/office/drawing/2014/main" id="{A7C600E0-EC6B-4359-B882-F323443D2FBB}"/>
                </a:ext>
              </a:extLst>
            </p:cNvPr>
            <p:cNvSpPr txBox="1"/>
            <p:nvPr userDrawn="1"/>
          </p:nvSpPr>
          <p:spPr>
            <a:xfrm>
              <a:off x="2037262" y="604715"/>
              <a:ext cx="3876633" cy="2308324"/>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7200" b="1" dirty="0">
                  <a:solidFill>
                    <a:schemeClr val="bg1"/>
                  </a:solidFill>
                  <a:latin typeface="微軟正黑體" panose="020B0604030504040204" pitchFamily="34" charset="-120"/>
                  <a:ea typeface="微軟正黑體" panose="020B0604030504040204" pitchFamily="34" charset="-120"/>
                </a:rPr>
                <a:t>簡報結束</a:t>
              </a:r>
              <a:endParaRPr lang="en-US" altLang="zh-TW" sz="7200" b="1" dirty="0">
                <a:solidFill>
                  <a:schemeClr val="bg1"/>
                </a:solidFill>
                <a:latin typeface="微軟正黑體" panose="020B0604030504040204" pitchFamily="34" charset="-120"/>
                <a:ea typeface="微軟正黑體" panose="020B0604030504040204" pitchFamily="34" charset="-120"/>
              </a:endParaRPr>
            </a:p>
            <a:p>
              <a:pPr algn="l"/>
              <a:r>
                <a:rPr lang="zh-TW" altLang="en-US" sz="7200" b="1" dirty="0">
                  <a:solidFill>
                    <a:schemeClr val="bg1"/>
                  </a:solidFill>
                  <a:latin typeface="微軟正黑體" panose="020B0604030504040204" pitchFamily="34" charset="-120"/>
                  <a:ea typeface="微軟正黑體" panose="020B0604030504040204" pitchFamily="34" charset="-120"/>
                </a:rPr>
                <a:t>敬請指教</a:t>
              </a:r>
            </a:p>
          </p:txBody>
        </p:sp>
        <p:sp>
          <p:nvSpPr>
            <p:cNvPr id="32" name="橢圓 31">
              <a:extLst>
                <a:ext uri="{FF2B5EF4-FFF2-40B4-BE49-F238E27FC236}">
                  <a16:creationId xmlns:a16="http://schemas.microsoft.com/office/drawing/2014/main" id="{66646FF9-F0C0-470A-A21F-9937CCFB9D79}"/>
                </a:ext>
              </a:extLst>
            </p:cNvPr>
            <p:cNvSpPr/>
            <p:nvPr userDrawn="1"/>
          </p:nvSpPr>
          <p:spPr>
            <a:xfrm>
              <a:off x="2775103" y="1476461"/>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3" name="橢圓 32">
              <a:extLst>
                <a:ext uri="{FF2B5EF4-FFF2-40B4-BE49-F238E27FC236}">
                  <a16:creationId xmlns:a16="http://schemas.microsoft.com/office/drawing/2014/main" id="{79D8665E-25A6-4A86-A097-D32B2C65336F}"/>
                </a:ext>
              </a:extLst>
            </p:cNvPr>
            <p:cNvSpPr/>
            <p:nvPr userDrawn="1"/>
          </p:nvSpPr>
          <p:spPr>
            <a:xfrm>
              <a:off x="3482761" y="77339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4" name="橢圓 33">
              <a:extLst>
                <a:ext uri="{FF2B5EF4-FFF2-40B4-BE49-F238E27FC236}">
                  <a16:creationId xmlns:a16="http://schemas.microsoft.com/office/drawing/2014/main" id="{D4B30263-7369-4516-8867-99B30CB1E22A}"/>
                </a:ext>
              </a:extLst>
            </p:cNvPr>
            <p:cNvSpPr/>
            <p:nvPr userDrawn="1"/>
          </p:nvSpPr>
          <p:spPr>
            <a:xfrm>
              <a:off x="4188446" y="2181642"/>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5" name="橢圓 34">
              <a:extLst>
                <a:ext uri="{FF2B5EF4-FFF2-40B4-BE49-F238E27FC236}">
                  <a16:creationId xmlns:a16="http://schemas.microsoft.com/office/drawing/2014/main" id="{B56AC0E4-4D4C-4A8F-B4D0-FC4F2CE9F196}"/>
                </a:ext>
              </a:extLst>
            </p:cNvPr>
            <p:cNvSpPr/>
            <p:nvPr userDrawn="1"/>
          </p:nvSpPr>
          <p:spPr>
            <a:xfrm>
              <a:off x="4706241" y="103664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6" name="橢圓 35">
              <a:extLst>
                <a:ext uri="{FF2B5EF4-FFF2-40B4-BE49-F238E27FC236}">
                  <a16:creationId xmlns:a16="http://schemas.microsoft.com/office/drawing/2014/main" id="{B79447F8-6EAC-4D14-81F3-38CE2F5793FE}"/>
                </a:ext>
              </a:extLst>
            </p:cNvPr>
            <p:cNvSpPr/>
            <p:nvPr userDrawn="1"/>
          </p:nvSpPr>
          <p:spPr>
            <a:xfrm>
              <a:off x="2366645" y="257151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7" name="橢圓 36">
              <a:extLst>
                <a:ext uri="{FF2B5EF4-FFF2-40B4-BE49-F238E27FC236}">
                  <a16:creationId xmlns:a16="http://schemas.microsoft.com/office/drawing/2014/main" id="{612CF0A4-A001-4520-A13F-D1C0845C8ADB}"/>
                </a:ext>
              </a:extLst>
            </p:cNvPr>
            <p:cNvSpPr/>
            <p:nvPr userDrawn="1"/>
          </p:nvSpPr>
          <p:spPr>
            <a:xfrm>
              <a:off x="5261629" y="2086254"/>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8" name="橢圓 37">
              <a:extLst>
                <a:ext uri="{FF2B5EF4-FFF2-40B4-BE49-F238E27FC236}">
                  <a16:creationId xmlns:a16="http://schemas.microsoft.com/office/drawing/2014/main" id="{3C326DC0-16D2-4675-BAA5-D2B984749A77}"/>
                </a:ext>
              </a:extLst>
            </p:cNvPr>
            <p:cNvSpPr/>
            <p:nvPr userDrawn="1"/>
          </p:nvSpPr>
          <p:spPr>
            <a:xfrm>
              <a:off x="5583359" y="143173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grpSp>
      <p:grpSp>
        <p:nvGrpSpPr>
          <p:cNvPr id="23" name="群組 22">
            <a:extLst>
              <a:ext uri="{FF2B5EF4-FFF2-40B4-BE49-F238E27FC236}">
                <a16:creationId xmlns:a16="http://schemas.microsoft.com/office/drawing/2014/main" id="{F751DC80-138D-4E51-AAE6-FCB51907FAC8}"/>
              </a:ext>
            </a:extLst>
          </p:cNvPr>
          <p:cNvGrpSpPr/>
          <p:nvPr userDrawn="1"/>
        </p:nvGrpSpPr>
        <p:grpSpPr>
          <a:xfrm>
            <a:off x="7012453" y="4844534"/>
            <a:ext cx="1851248" cy="1165994"/>
            <a:chOff x="6498873" y="3874085"/>
            <a:chExt cx="1851248" cy="1165994"/>
          </a:xfrm>
        </p:grpSpPr>
        <p:pic>
          <p:nvPicPr>
            <p:cNvPr id="24" name="圖片 23">
              <a:extLst>
                <a:ext uri="{FF2B5EF4-FFF2-40B4-BE49-F238E27FC236}">
                  <a16:creationId xmlns:a16="http://schemas.microsoft.com/office/drawing/2014/main" id="{6C58F170-9235-452E-B660-E57A15AE43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5" name="圖片 24">
              <a:extLst>
                <a:ext uri="{FF2B5EF4-FFF2-40B4-BE49-F238E27FC236}">
                  <a16:creationId xmlns:a16="http://schemas.microsoft.com/office/drawing/2014/main" id="{D5534188-2BCF-4719-8169-8E324F9459B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6" name="圖片 25">
              <a:extLst>
                <a:ext uri="{FF2B5EF4-FFF2-40B4-BE49-F238E27FC236}">
                  <a16:creationId xmlns:a16="http://schemas.microsoft.com/office/drawing/2014/main" id="{844A74E6-3E72-4A73-B6C4-68B99670AE9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46" name="圖片 45">
            <a:extLst>
              <a:ext uri="{FF2B5EF4-FFF2-40B4-BE49-F238E27FC236}">
                <a16:creationId xmlns:a16="http://schemas.microsoft.com/office/drawing/2014/main" id="{70EE7914-8CCF-42AE-A5FC-C8E1B79977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7080044">
            <a:off x="-1872226" y="-1648179"/>
            <a:ext cx="6382794" cy="5822548"/>
          </a:xfrm>
          <a:prstGeom prst="rect">
            <a:avLst/>
          </a:prstGeom>
        </p:spPr>
      </p:pic>
      <p:pic>
        <p:nvPicPr>
          <p:cNvPr id="22" name="圖片 21">
            <a:extLst>
              <a:ext uri="{FF2B5EF4-FFF2-40B4-BE49-F238E27FC236}">
                <a16:creationId xmlns:a16="http://schemas.microsoft.com/office/drawing/2014/main" id="{F5474AB3-E1D3-4DB7-99C4-1AF17C2D1BB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310648" y="5190325"/>
            <a:ext cx="3315831" cy="1745453"/>
          </a:xfrm>
          <a:prstGeom prst="rect">
            <a:avLst/>
          </a:prstGeom>
          <a:effectLst>
            <a:outerShdw blurRad="50800" dist="38100" algn="l" rotWithShape="0">
              <a:prstClr val="black">
                <a:alpha val="40000"/>
              </a:prstClr>
            </a:outerShdw>
          </a:effectLst>
        </p:spPr>
      </p:pic>
      <p:pic>
        <p:nvPicPr>
          <p:cNvPr id="28" name="圖片 27">
            <a:extLst>
              <a:ext uri="{FF2B5EF4-FFF2-40B4-BE49-F238E27FC236}">
                <a16:creationId xmlns:a16="http://schemas.microsoft.com/office/drawing/2014/main" id="{B9367D93-DDE8-445A-BD05-87F0C3BFA75D}"/>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9" name="矩形: 圓角 38">
            <a:extLst>
              <a:ext uri="{FF2B5EF4-FFF2-40B4-BE49-F238E27FC236}">
                <a16:creationId xmlns:a16="http://schemas.microsoft.com/office/drawing/2014/main" id="{BFB3A3C0-44EA-458A-B002-07C9BF0C07C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投影片編號版面配置區 5">
            <a:extLst>
              <a:ext uri="{FF2B5EF4-FFF2-40B4-BE49-F238E27FC236}">
                <a16:creationId xmlns:a16="http://schemas.microsoft.com/office/drawing/2014/main" id="{A1736DF7-7646-4277-938E-B875AA44F08D}"/>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146743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兩個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B8D1E175-7E5E-49D2-8C8F-57953C393336}"/>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04B71323-241A-4DD9-A90C-44F8341B5B16}"/>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F3E0770B-54C2-40F3-80E0-E88D553E765F}"/>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74FA5AAE-78E0-40C9-897E-5E3617225E3F}"/>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C03FC57-A6CB-40BC-8734-90CF4B3BD95C}"/>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DFEACF88-AC18-42D0-8EC4-F7CA6876807B}"/>
                </a:ext>
              </a:extLst>
            </p:cNvPr>
            <p:cNvGrpSpPr/>
            <p:nvPr userDrawn="1"/>
          </p:nvGrpSpPr>
          <p:grpSpPr>
            <a:xfrm rot="5400000">
              <a:off x="8071627" y="-2335895"/>
              <a:ext cx="1837724" cy="6890863"/>
              <a:chOff x="10278117" y="134627"/>
              <a:chExt cx="1837724" cy="6890863"/>
            </a:xfrm>
          </p:grpSpPr>
          <p:sp>
            <p:nvSpPr>
              <p:cNvPr id="14" name="矩形 13">
                <a:extLst>
                  <a:ext uri="{FF2B5EF4-FFF2-40B4-BE49-F238E27FC236}">
                    <a16:creationId xmlns:a16="http://schemas.microsoft.com/office/drawing/2014/main" id="{3099506C-DE65-4CE9-82D2-A4CF7ECF63C0}"/>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CE7BC5AE-C6DC-496A-9B1F-075A6925DD7E}"/>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2AEA2862-02E0-49BB-A30E-E84EFECC52F6}"/>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FFD45587-7FF9-4BF0-85DB-4981F1DFD48A}"/>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8" name="直角三角形 17">
            <a:extLst>
              <a:ext uri="{FF2B5EF4-FFF2-40B4-BE49-F238E27FC236}">
                <a16:creationId xmlns:a16="http://schemas.microsoft.com/office/drawing/2014/main" id="{83EE823F-118C-4D47-ABCC-A01F8D4F43E3}"/>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6" name="圖片 25">
            <a:extLst>
              <a:ext uri="{FF2B5EF4-FFF2-40B4-BE49-F238E27FC236}">
                <a16:creationId xmlns:a16="http://schemas.microsoft.com/office/drawing/2014/main" id="{E500A02F-E3D6-4FE4-B54B-BD4B42F84A7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7" name="矩形: 圓角 26">
            <a:extLst>
              <a:ext uri="{FF2B5EF4-FFF2-40B4-BE49-F238E27FC236}">
                <a16:creationId xmlns:a16="http://schemas.microsoft.com/office/drawing/2014/main" id="{B18011D9-72BD-402F-B50E-C484B4E43D28}"/>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投影片編號版面配置區 5">
            <a:extLst>
              <a:ext uri="{FF2B5EF4-FFF2-40B4-BE49-F238E27FC236}">
                <a16:creationId xmlns:a16="http://schemas.microsoft.com/office/drawing/2014/main" id="{A9B62460-2E60-435E-A7D5-D9546AB0DF80}"/>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19" name="圖片 18">
            <a:extLst>
              <a:ext uri="{FF2B5EF4-FFF2-40B4-BE49-F238E27FC236}">
                <a16:creationId xmlns:a16="http://schemas.microsoft.com/office/drawing/2014/main" id="{32C0931A-6EED-4540-8783-7B689A04A9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grpSp>
        <p:nvGrpSpPr>
          <p:cNvPr id="25" name="群組 24">
            <a:extLst>
              <a:ext uri="{FF2B5EF4-FFF2-40B4-BE49-F238E27FC236}">
                <a16:creationId xmlns:a16="http://schemas.microsoft.com/office/drawing/2014/main" id="{CD2C02B6-88FA-45EB-8A5F-F8AB3ADBD15B}"/>
              </a:ext>
            </a:extLst>
          </p:cNvPr>
          <p:cNvGrpSpPr/>
          <p:nvPr userDrawn="1"/>
        </p:nvGrpSpPr>
        <p:grpSpPr>
          <a:xfrm>
            <a:off x="9392813" y="-24635"/>
            <a:ext cx="2828046" cy="338554"/>
            <a:chOff x="9154688" y="-24635"/>
            <a:chExt cx="2828046" cy="338554"/>
          </a:xfrm>
        </p:grpSpPr>
        <p:sp>
          <p:nvSpPr>
            <p:cNvPr id="29" name="文字方塊 28">
              <a:extLst>
                <a:ext uri="{FF2B5EF4-FFF2-40B4-BE49-F238E27FC236}">
                  <a16:creationId xmlns:a16="http://schemas.microsoft.com/office/drawing/2014/main" id="{2C4D23C2-89E8-4A21-A9A6-157E1A4A77F4}"/>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0" name="直線接點 29">
              <a:extLst>
                <a:ext uri="{FF2B5EF4-FFF2-40B4-BE49-F238E27FC236}">
                  <a16:creationId xmlns:a16="http://schemas.microsoft.com/office/drawing/2014/main" id="{101105DC-F468-4176-8DF3-903AE87FB9EB}"/>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8839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2B098E-EA06-4136-980A-D0F6D6356A3F}"/>
              </a:ext>
            </a:extLst>
          </p:cNvPr>
          <p:cNvSpPr>
            <a:spLocks noGrp="1"/>
          </p:cNvSpPr>
          <p:nvPr>
            <p:ph type="title"/>
          </p:nvPr>
        </p:nvSpPr>
        <p:spPr>
          <a:xfrm>
            <a:off x="839788" y="365125"/>
            <a:ext cx="10515600" cy="1325563"/>
          </a:xfrm>
          <a:prstGeom prst="rect">
            <a:avLst/>
          </a:prstGeo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EBA22BA-E0CB-48A5-A809-548B33BD209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81B1AEE-2E9C-4FC1-8AA6-8D0C85F5F468}"/>
              </a:ext>
            </a:extLst>
          </p:cNvPr>
          <p:cNvSpPr>
            <a:spLocks noGrp="1"/>
          </p:cNvSpPr>
          <p:nvPr>
            <p:ph sz="half" idx="2"/>
          </p:nvPr>
        </p:nvSpPr>
        <p:spPr>
          <a:xfrm>
            <a:off x="839788" y="2505075"/>
            <a:ext cx="5157787"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6209FAD-EA67-4F86-ACF7-3098509509F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DF7E539-4784-4A75-BCB8-AE680AA3BCA7}"/>
              </a:ext>
            </a:extLst>
          </p:cNvPr>
          <p:cNvSpPr>
            <a:spLocks noGrp="1"/>
          </p:cNvSpPr>
          <p:nvPr>
            <p:ph sz="quarter" idx="4"/>
          </p:nvPr>
        </p:nvSpPr>
        <p:spPr>
          <a:xfrm>
            <a:off x="6172200" y="2505075"/>
            <a:ext cx="5183188"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DAD9898-2C46-4F45-B195-4F1363730A0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2022/1/10</a:t>
            </a:fld>
            <a:endParaRPr lang="zh-TW" altLang="en-US"/>
          </a:p>
        </p:txBody>
      </p:sp>
      <p:sp>
        <p:nvSpPr>
          <p:cNvPr id="8" name="頁尾版面配置區 7">
            <a:extLst>
              <a:ext uri="{FF2B5EF4-FFF2-40B4-BE49-F238E27FC236}">
                <a16:creationId xmlns:a16="http://schemas.microsoft.com/office/drawing/2014/main" id="{650A54AC-B50C-443F-8FA8-49F7B3AF075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9" name="投影片編號版面配置區 8">
            <a:extLst>
              <a:ext uri="{FF2B5EF4-FFF2-40B4-BE49-F238E27FC236}">
                <a16:creationId xmlns:a16="http://schemas.microsoft.com/office/drawing/2014/main" id="{57040000-43B1-419E-81DB-5ABFBAD74913}"/>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2697959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6C9A29-6B6B-45AF-9B6B-E187D5FAA1D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C04BEBD-E502-4B36-BD2B-1D252459CF0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836D5FD-F0B3-4545-8CED-D461D319C6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2A8E6C9-D700-4319-B47B-A5C69CA7FE8B}"/>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2022/1/10</a:t>
            </a:fld>
            <a:endParaRPr lang="zh-TW" altLang="en-US"/>
          </a:p>
        </p:txBody>
      </p:sp>
      <p:sp>
        <p:nvSpPr>
          <p:cNvPr id="6" name="頁尾版面配置區 5">
            <a:extLst>
              <a:ext uri="{FF2B5EF4-FFF2-40B4-BE49-F238E27FC236}">
                <a16:creationId xmlns:a16="http://schemas.microsoft.com/office/drawing/2014/main" id="{C654DEE8-86D3-4458-A460-ECA98EC2F44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0427792C-EB51-4367-A353-C5158C35790F}"/>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237873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13E260-584C-4F81-9460-776151E6D4C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EE5F782-0EF2-444F-A059-78733F2DC2E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20DD44-CC6D-4FFE-8C74-E42C4A9F241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E2D5BBA-011B-4C89-956E-47A16389F9C0}"/>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2022/1/10</a:t>
            </a:fld>
            <a:endParaRPr lang="zh-TW" altLang="en-US"/>
          </a:p>
        </p:txBody>
      </p:sp>
      <p:sp>
        <p:nvSpPr>
          <p:cNvPr id="6" name="頁尾版面配置區 5">
            <a:extLst>
              <a:ext uri="{FF2B5EF4-FFF2-40B4-BE49-F238E27FC236}">
                <a16:creationId xmlns:a16="http://schemas.microsoft.com/office/drawing/2014/main" id="{BC26A269-A884-4F16-AEAF-524A2551812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B2990DAD-DE57-4A40-B734-EDE7E6170CA8}"/>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521275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EEC3E7-61A1-4A29-96C9-6ABA008C10C3}"/>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445E75-F54D-4CA9-8AD9-51378ACE1FEB}"/>
              </a:ext>
            </a:extLst>
          </p:cNvPr>
          <p:cNvSpPr>
            <a:spLocks noGrp="1"/>
          </p:cNvSpPr>
          <p:nvPr>
            <p:ph type="body" orient="vert" idx="1"/>
          </p:nvPr>
        </p:nvSpPr>
        <p:spPr>
          <a:xfrm>
            <a:off x="838200" y="1825625"/>
            <a:ext cx="10515600" cy="43513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E68006D-EE76-4A41-9935-C7CE820F8A3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2022/1/10</a:t>
            </a:fld>
            <a:endParaRPr lang="zh-TW" altLang="en-US"/>
          </a:p>
        </p:txBody>
      </p:sp>
      <p:sp>
        <p:nvSpPr>
          <p:cNvPr id="5" name="頁尾版面配置區 4">
            <a:extLst>
              <a:ext uri="{FF2B5EF4-FFF2-40B4-BE49-F238E27FC236}">
                <a16:creationId xmlns:a16="http://schemas.microsoft.com/office/drawing/2014/main" id="{D1ECCB14-D20D-4A3A-B7D6-E1F1A1DC46A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B59DA8A3-B76C-45CC-9750-DD36484E58AB}"/>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318565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799E7B5-C417-4907-915F-473A4079B172}"/>
              </a:ext>
            </a:extLst>
          </p:cNvPr>
          <p:cNvSpPr>
            <a:spLocks noGrp="1"/>
          </p:cNvSpPr>
          <p:nvPr>
            <p:ph type="title" orient="vert"/>
          </p:nvPr>
        </p:nvSpPr>
        <p:spPr>
          <a:xfrm>
            <a:off x="8724900" y="365125"/>
            <a:ext cx="2628900" cy="5811838"/>
          </a:xfrm>
          <a:prstGeom prst="rect">
            <a:avLst/>
          </a:prstGeo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31BA27D-BD7E-4CE3-A910-3E4E81193D86}"/>
              </a:ext>
            </a:extLst>
          </p:cNvPr>
          <p:cNvSpPr>
            <a:spLocks noGrp="1"/>
          </p:cNvSpPr>
          <p:nvPr>
            <p:ph type="body" orient="vert" idx="1"/>
          </p:nvPr>
        </p:nvSpPr>
        <p:spPr>
          <a:xfrm>
            <a:off x="838200" y="365125"/>
            <a:ext cx="7734300" cy="58118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CF3DF3-BD8C-4D1A-B313-2EABDBCBC94E}"/>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2022/1/10</a:t>
            </a:fld>
            <a:endParaRPr lang="zh-TW" altLang="en-US"/>
          </a:p>
        </p:txBody>
      </p:sp>
      <p:sp>
        <p:nvSpPr>
          <p:cNvPr id="5" name="頁尾版面配置區 4">
            <a:extLst>
              <a:ext uri="{FF2B5EF4-FFF2-40B4-BE49-F238E27FC236}">
                <a16:creationId xmlns:a16="http://schemas.microsoft.com/office/drawing/2014/main" id="{7AFEA5EA-5538-4651-82B4-46EE76A66187}"/>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E6029A47-17A3-4583-A568-98566201FA90}"/>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5598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CC3C15-B907-4771-AE4D-6B6A529E81E6}"/>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Tree>
    <p:extLst>
      <p:ext uri="{BB962C8B-B14F-4D97-AF65-F5344CB8AC3E}">
        <p14:creationId xmlns:p14="http://schemas.microsoft.com/office/powerpoint/2010/main" val="1037958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617144"/>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1" r:id="rId4"/>
    <p:sldLayoutId id="2147483662" r:id="rId5"/>
    <p:sldLayoutId id="2147483663" r:id="rId6"/>
    <p:sldLayoutId id="2147483661" r:id="rId7"/>
    <p:sldLayoutId id="2147483655" r:id="rId8"/>
    <p:sldLayoutId id="2147483660" r:id="rId9"/>
    <p:sldLayoutId id="2147483654" r:id="rId10"/>
    <p:sldLayoutId id="2147483652" r:id="rId11"/>
    <p:sldLayoutId id="2147483653" r:id="rId12"/>
    <p:sldLayoutId id="2147483656" r:id="rId13"/>
    <p:sldLayoutId id="2147483657" r:id="rId14"/>
    <p:sldLayoutId id="2147483658" r:id="rId15"/>
    <p:sldLayoutId id="2147483659"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4.png"/><Relationship Id="rId3" Type="http://schemas.openxmlformats.org/officeDocument/2006/relationships/slide" Target="slide5.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16.xml"/><Relationship Id="rId11" Type="http://schemas.openxmlformats.org/officeDocument/2006/relationships/image" Target="../media/image13.png"/><Relationship Id="rId5" Type="http://schemas.openxmlformats.org/officeDocument/2006/relationships/slide" Target="slide9.xml"/><Relationship Id="rId10" Type="http://schemas.openxmlformats.org/officeDocument/2006/relationships/image" Target="../media/image14.svg"/><Relationship Id="rId4" Type="http://schemas.openxmlformats.org/officeDocument/2006/relationships/slide" Target="slide7.xml"/><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4.png"/><Relationship Id="rId3" Type="http://schemas.openxmlformats.org/officeDocument/2006/relationships/slide" Target="slide20.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slide" Target="slide31.xml"/><Relationship Id="rId11" Type="http://schemas.openxmlformats.org/officeDocument/2006/relationships/image" Target="../media/image13.png"/><Relationship Id="rId5" Type="http://schemas.openxmlformats.org/officeDocument/2006/relationships/slide" Target="slide29.xml"/><Relationship Id="rId10" Type="http://schemas.openxmlformats.org/officeDocument/2006/relationships/image" Target="../media/image14.svg"/><Relationship Id="rId4" Type="http://schemas.openxmlformats.org/officeDocument/2006/relationships/slide" Target="slide22.xml"/><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 Target="slide36.xml"/><Relationship Id="rId7" Type="http://schemas.openxmlformats.org/officeDocument/2006/relationships/image" Target="../media/image12.sv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slide" Target="slide45.xml"/><Relationship Id="rId10" Type="http://schemas.openxmlformats.org/officeDocument/2006/relationships/image" Target="../media/image13.png"/><Relationship Id="rId4" Type="http://schemas.openxmlformats.org/officeDocument/2006/relationships/slide" Target="slide38.xml"/><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hyperlink" Target="https://gpis.taipei/frontFunction/Affair/CItem/A/B.15%E6%B1%BA%E6%A8%99%E9%80%9A%E7%9F%A5%E6%9B%B8T00510.docx" TargetMode="External"/><Relationship Id="rId2" Type="http://schemas.openxmlformats.org/officeDocument/2006/relationships/hyperlink" Target="https://gpis.taipei/frontFunction/Affair/CItem/A/C.33%E9%96%8B%E6%B1%BA%E6%A8%99%E7%B5%90%E6%9E%9C%E9%80%9A%E7%9F%A5%E5%87%BDV2.0.doc" TargetMode="External"/><Relationship Id="rId1" Type="http://schemas.openxmlformats.org/officeDocument/2006/relationships/slideLayout" Target="../slideLayouts/slideLayout4.xml"/><Relationship Id="rId6" Type="http://schemas.openxmlformats.org/officeDocument/2006/relationships/hyperlink" Target="https://gpis.taipei/RWD/frontFunction/Affair/wfrmCItem.aspx" TargetMode="External"/><Relationship Id="rId5" Type="http://schemas.openxmlformats.org/officeDocument/2006/relationships/slide" Target="slide2.xml"/><Relationship Id="rId4" Type="http://schemas.openxmlformats.org/officeDocument/2006/relationships/hyperlink" Target="https://gpis.taipei/frontFunction/Affair/CItem/A/A.5.1%E9%96%8B%E6%B1%BA%E6%A8%99%E7%B5%90%E6%9E%9C%E9%80%9A%E7%9F%A5%E5%87%BD(%E5%AF%A6%E4%BE%8B).pd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gpis.taipei/frontFunction/Affair/CItem/A/C.42%E5%BB%A0%E5%95%86%E8%AD%89%E4%BB%B6%E6%A0%B8%E5%B0%8D%E7%B4%80%E9%8C%84%E8%A1%A8%E5%8F%83%E8%80%83%E6%A8%A3%E6%9C%AC.docx" TargetMode="External"/><Relationship Id="rId2" Type="http://schemas.openxmlformats.org/officeDocument/2006/relationships/hyperlink" Target="https://gpis.taipei/frontFunction/Affair/CItem/A/A.5.2%E7%B0%BD(%E5%85%AC%E6%96%87%E7%AF%84%E6%9C%AC).docx" TargetMode="External"/><Relationship Id="rId1" Type="http://schemas.openxmlformats.org/officeDocument/2006/relationships/slideLayout" Target="../slideLayouts/slideLayout4.xml"/><Relationship Id="rId6" Type="http://schemas.openxmlformats.org/officeDocument/2006/relationships/hyperlink" Target="https://gpis.taipei/RWD/frontFunction/Affair/wfrmCItem.aspx" TargetMode="External"/><Relationship Id="rId5" Type="http://schemas.openxmlformats.org/officeDocument/2006/relationships/slide" Target="slide2.xml"/><Relationship Id="rId4" Type="http://schemas.openxmlformats.org/officeDocument/2006/relationships/hyperlink" Target="https://gpis.taipei/frontFunction/Affair/CItem/A/A.5.2%E7%B0%BD(%E5%AF%A6%E4%BE%8B).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gpis.taipei/frontFunction/Affair/CItem/A/A.5.3%E4%BB%A5%E9%80%A3%E5%B8%B6%E4%BF%9D%E8%AD%89%E6%9B%B8%E7%B9%B3%E7%B4%8D(%E5%AF%A6%E4%BE%8B).pdf" TargetMode="External"/><Relationship Id="rId3" Type="http://schemas.openxmlformats.org/officeDocument/2006/relationships/slide" Target="slide2.xml"/><Relationship Id="rId7" Type="http://schemas.openxmlformats.org/officeDocument/2006/relationships/hyperlink" Target="https://gpis.taipei/frontFunction/Affair/CItem/A/A.5.3%E6%8A%BC%E6%A8%99%E9%87%91%E8%BD%89%E5%B1%A5%E7%B4%84%E4%BF%9D%E8%AD%89%E9%87%91(%E5%AF%A6%E4%BE%8B).pdf" TargetMode="External"/><Relationship Id="rId2" Type="http://schemas.openxmlformats.org/officeDocument/2006/relationships/hyperlink" Target="https://gpis.taipei/frontFunction/Affair/CItem/A/A.5.3%E5%82%AC%E7%B9%B3%E5%87%BD(%E5%85%AC%E6%96%87%E7%AF%84%E6%9C%AC).docx" TargetMode="External"/><Relationship Id="rId1" Type="http://schemas.openxmlformats.org/officeDocument/2006/relationships/slideLayout" Target="../slideLayouts/slideLayout4.xml"/><Relationship Id="rId6" Type="http://schemas.openxmlformats.org/officeDocument/2006/relationships/hyperlink" Target="https://gpis.taipei/frontFunction/Affair/CItem/A/A.5.3%E5%B1%95%E5%BB%B6(%E5%AF%A6%E4%BE%8B).pdf" TargetMode="External"/><Relationship Id="rId5" Type="http://schemas.openxmlformats.org/officeDocument/2006/relationships/hyperlink" Target="https://gpis.taipei/frontFunction/Affair/CItem/A/A.5.3%E7%B9%B3%E7%B4%8D%E9%80%9A%E7%9F%A5(%E5%AF%A6%E4%BE%8B).pdf" TargetMode="External"/><Relationship Id="rId4" Type="http://schemas.openxmlformats.org/officeDocument/2006/relationships/hyperlink" Target="https://gpis.taipei/RWD/frontFunction/Affair/wfrmCItem.aspx"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hyperlink" Target="https://gpis.taipei/frontFunction/Affair/CItem/A/C.32-2%E6%8A%BC%E6%A8%99%E9%87%91%E5%AF%A9%E6%A0%B8%E7%99%BB%E8%A8%98%E6%9A%A8%E5%BB%A0%E5%95%86%E7%B0%BD%E6%94%B6%E9%96%8B(%E6%B1%BA)%E6%A8%99%E7%B4%80%E9%8C%84%E8%A1%A8.docx" TargetMode="External"/><Relationship Id="rId1" Type="http://schemas.openxmlformats.org/officeDocument/2006/relationships/slideLayout" Target="../slideLayouts/slideLayout4.xml"/><Relationship Id="rId4" Type="http://schemas.openxmlformats.org/officeDocument/2006/relationships/hyperlink" Target="https://gpis.taipei/RWD/frontFunction/Affair/wfrmCItem.aspx"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hyperlink" Target="https://gpis.taipei/frontFunction/Affair/CItem/A/C.41%E7%B0%BD%E7%B4%84%E6%B3%A8%E6%84%8F%E4%BA%8B%E9%A0%851060622.doc" TargetMode="External"/><Relationship Id="rId1" Type="http://schemas.openxmlformats.org/officeDocument/2006/relationships/slideLayout" Target="../slideLayouts/slideLayout4.xml"/><Relationship Id="rId5" Type="http://schemas.openxmlformats.org/officeDocument/2006/relationships/hyperlink" Target="https://gpis.taipei/frontFunction/Affair/CItem/A/A.5.6%E5%87%BD(%E5%AF%A6%E4%BE%8B).pdf" TargetMode="External"/><Relationship Id="rId4" Type="http://schemas.openxmlformats.org/officeDocument/2006/relationships/hyperlink" Target="https://gpis.taipei/RWD/frontFunction/Affair/wfrmCItem.aspx"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hyperlink" Target="https://www.stat.gov.tw/CCI/"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a:extLst>
              <a:ext uri="{FF2B5EF4-FFF2-40B4-BE49-F238E27FC236}">
                <a16:creationId xmlns:a16="http://schemas.microsoft.com/office/drawing/2014/main" id="{3520C00C-01CE-4655-9312-AD0E6B9A7DED}"/>
              </a:ext>
            </a:extLst>
          </p:cNvPr>
          <p:cNvGrpSpPr/>
          <p:nvPr/>
        </p:nvGrpSpPr>
        <p:grpSpPr>
          <a:xfrm>
            <a:off x="2422088" y="2039589"/>
            <a:ext cx="12482441" cy="1107996"/>
            <a:chOff x="2825712" y="1467601"/>
            <a:chExt cx="7840000" cy="1107996"/>
          </a:xfrm>
        </p:grpSpPr>
        <p:sp>
          <p:nvSpPr>
            <p:cNvPr id="3" name="文字方塊 2">
              <a:extLst>
                <a:ext uri="{FF2B5EF4-FFF2-40B4-BE49-F238E27FC236}">
                  <a16:creationId xmlns:a16="http://schemas.microsoft.com/office/drawing/2014/main" id="{6033369C-8ACD-4F00-880A-AAF0AFAD759D}"/>
                </a:ext>
              </a:extLst>
            </p:cNvPr>
            <p:cNvSpPr txBox="1"/>
            <p:nvPr/>
          </p:nvSpPr>
          <p:spPr>
            <a:xfrm>
              <a:off x="2825712" y="1513767"/>
              <a:ext cx="973218" cy="1015663"/>
            </a:xfrm>
            <a:prstGeom prst="rect">
              <a:avLst/>
            </a:prstGeom>
            <a:noFill/>
          </p:spPr>
          <p:txBody>
            <a:bodyPr wrap="square" rtlCol="0">
              <a:spAutoFit/>
            </a:bodyPr>
            <a:lstStyle/>
            <a:p>
              <a:r>
                <a:rPr lang="en-US" altLang="zh-TW" sz="6000" b="1" dirty="0">
                  <a:effectLst>
                    <a:outerShdw dist="38100" dir="120000" sx="108000" sy="108000" algn="tl" rotWithShape="0">
                      <a:srgbClr val="FF6F3C"/>
                    </a:outerShdw>
                  </a:effectLst>
                  <a:cs typeface="+mn-ea"/>
                  <a:sym typeface="+mn-lt"/>
                </a:rPr>
                <a:t>02</a:t>
              </a:r>
              <a:endParaRPr lang="zh-TW" altLang="en-US" sz="6000" b="1" dirty="0">
                <a:effectLst>
                  <a:outerShdw dist="38100" dir="120000" sx="108000" sy="108000" algn="tl" rotWithShape="0">
                    <a:srgbClr val="FF6F3C"/>
                  </a:outerShdw>
                </a:effectLst>
                <a:cs typeface="+mn-ea"/>
                <a:sym typeface="+mn-lt"/>
              </a:endParaRPr>
            </a:p>
          </p:txBody>
        </p:sp>
        <p:sp>
          <p:nvSpPr>
            <p:cNvPr id="4" name="文字方塊 3">
              <a:extLst>
                <a:ext uri="{FF2B5EF4-FFF2-40B4-BE49-F238E27FC236}">
                  <a16:creationId xmlns:a16="http://schemas.microsoft.com/office/drawing/2014/main" id="{62250469-7D63-474A-B25E-529B67A3AA3D}"/>
                </a:ext>
              </a:extLst>
            </p:cNvPr>
            <p:cNvSpPr txBox="1"/>
            <p:nvPr/>
          </p:nvSpPr>
          <p:spPr>
            <a:xfrm>
              <a:off x="3894650" y="1467601"/>
              <a:ext cx="6771062" cy="1107996"/>
            </a:xfrm>
            <a:prstGeom prst="rect">
              <a:avLst/>
            </a:prstGeom>
            <a:noFill/>
          </p:spPr>
          <p:txBody>
            <a:bodyPr wrap="square" rtlCol="0">
              <a:spAutoFit/>
            </a:bodyPr>
            <a:lstStyle/>
            <a:p>
              <a:r>
                <a:rPr lang="zh-TW" altLang="en-US" sz="6600" b="1" spc="600" dirty="0">
                  <a:cs typeface="+mn-ea"/>
                  <a:sym typeface="+mn-lt"/>
                </a:rPr>
                <a:t>決標後模組</a:t>
              </a:r>
            </a:p>
          </p:txBody>
        </p:sp>
      </p:grpSp>
    </p:spTree>
    <p:extLst>
      <p:ext uri="{BB962C8B-B14F-4D97-AF65-F5344CB8AC3E}">
        <p14:creationId xmlns:p14="http://schemas.microsoft.com/office/powerpoint/2010/main" val="42091409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4205539198"/>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3" action="ppaction://hlinksldjump"/>
                        </a:rPr>
                        <a:t>A5.1</a:t>
                      </a:r>
                      <a:r>
                        <a:rPr lang="zh-TW" altLang="en-US" dirty="0" smtClean="0">
                          <a:effectLst/>
                          <a:hlinkClick r:id="rId3" action="ppaction://hlinksldjump"/>
                        </a:rPr>
                        <a:t>刊登決標公告通知投標廠商</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4" action="ppaction://hlinksldjump"/>
                        </a:rPr>
                        <a:t>A5.2</a:t>
                      </a:r>
                      <a:r>
                        <a:rPr lang="zh-TW" altLang="en-US" dirty="0" smtClean="0">
                          <a:effectLst/>
                          <a:hlinkClick r:id="rId4" action="ppaction://hlinksldjump"/>
                        </a:rPr>
                        <a:t>核對資格文件正本</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5" action="ppaction://hlinksldjump"/>
                        </a:rPr>
                        <a:t>A5.3</a:t>
                      </a:r>
                      <a:r>
                        <a:rPr lang="zh-TW" altLang="en-US" dirty="0" smtClean="0">
                          <a:effectLst/>
                          <a:hlinkClick r:id="rId5" action="ppaction://hlinksldjump"/>
                        </a:rPr>
                        <a:t>繳納履約保證金</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6" action="ppaction://hlinksldjump"/>
                        </a:rPr>
                        <a:t>A5.4</a:t>
                      </a:r>
                      <a:r>
                        <a:rPr lang="zh-TW" altLang="en-US" dirty="0" smtClean="0">
                          <a:effectLst/>
                          <a:hlinkClick r:id="rId6" action="ppaction://hlinksldjump"/>
                        </a:rPr>
                        <a:t>發還押標金</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9">
              <a:extLst>
                <a:ext uri="{96DAC541-7B7A-43D3-8B79-37D633B846F1}">
                  <asvg:svgBlip xmlns:asvg="http://schemas.microsoft.com/office/drawing/2016/SVG/main" xmlns="" r:embed="rId10"/>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11">
              <a:extLst>
                <a:ext uri="{96DAC541-7B7A-43D3-8B79-37D633B846F1}">
                  <asvg:svgBlip xmlns:asvg="http://schemas.microsoft.com/office/drawing/2016/SVG/main" xmlns="" r:embed="rId12"/>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a:t>
            </a:r>
            <a:r>
              <a:rPr lang="zh-TW" altLang="en-US" sz="3600" b="1" dirty="0" smtClean="0">
                <a:solidFill>
                  <a:srgbClr val="39759D"/>
                </a:solidFill>
                <a:cs typeface="+mn-ea"/>
                <a:sym typeface="+mn-lt"/>
              </a:rPr>
              <a:t>模組</a:t>
            </a:r>
            <a:r>
              <a:rPr lang="zh-TW" altLang="en-US" sz="3600" b="1" dirty="0">
                <a:solidFill>
                  <a:srgbClr val="39759D"/>
                </a:solidFill>
                <a:cs typeface="+mn-ea"/>
                <a:sym typeface="+mn-lt"/>
              </a:rPr>
              <a:t>目錄</a:t>
            </a:r>
            <a:endParaRPr lang="zh-TW" altLang="en-US" sz="3600" b="1" dirty="0">
              <a:solidFill>
                <a:srgbClr val="FF0000"/>
              </a:solidFill>
              <a:cs typeface="+mn-ea"/>
              <a:sym typeface="+mn-lt"/>
            </a:endParaRPr>
          </a:p>
        </p:txBody>
      </p:sp>
      <p:cxnSp>
        <p:nvCxnSpPr>
          <p:cNvPr id="19" name="直線接點 18">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787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4170959195"/>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3" action="ppaction://hlinksldjump"/>
                        </a:rPr>
                        <a:t>A5.5</a:t>
                      </a:r>
                      <a:r>
                        <a:rPr lang="zh-TW" altLang="en-US" dirty="0" smtClean="0">
                          <a:effectLst/>
                          <a:hlinkClick r:id="rId3" action="ppaction://hlinksldjump"/>
                        </a:rPr>
                        <a:t>單價調整</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4" action="ppaction://hlinksldjump"/>
                        </a:rPr>
                        <a:t>A5.6</a:t>
                      </a:r>
                      <a:r>
                        <a:rPr lang="zh-TW" altLang="en-US" dirty="0" smtClean="0">
                          <a:effectLst/>
                          <a:hlinkClick r:id="rId4" action="ppaction://hlinksldjump"/>
                        </a:rPr>
                        <a:t>簽訂契約</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5" action="ppaction://hlinksldjump"/>
                        </a:rPr>
                        <a:t>A6.1</a:t>
                      </a:r>
                      <a:r>
                        <a:rPr lang="zh-TW" altLang="en-US" dirty="0" smtClean="0">
                          <a:effectLst/>
                          <a:hlinkClick r:id="rId5" action="ppaction://hlinksldjump"/>
                        </a:rPr>
                        <a:t>採購文件紙本編目成冊</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6" action="ppaction://hlinksldjump"/>
                        </a:rPr>
                        <a:t>A6.2</a:t>
                      </a:r>
                      <a:r>
                        <a:rPr lang="zh-TW" altLang="en-US" dirty="0" smtClean="0">
                          <a:effectLst/>
                          <a:hlinkClick r:id="rId6" action="ppaction://hlinksldjump"/>
                        </a:rPr>
                        <a:t>招標文件、契約文件開決標錄影畫面電子存檔</a:t>
                      </a:r>
                      <a:r>
                        <a:rPr lang="en-US" altLang="zh-TW" dirty="0" smtClean="0">
                          <a:effectLst/>
                          <a:hlinkClick r:id="rId6" action="ppaction://hlinksldjump"/>
                        </a:rPr>
                        <a:t>(</a:t>
                      </a:r>
                      <a:r>
                        <a:rPr lang="zh-TW" altLang="en-US" dirty="0" smtClean="0">
                          <a:effectLst/>
                          <a:hlinkClick r:id="rId6" action="ppaction://hlinksldjump"/>
                        </a:rPr>
                        <a:t>如光碟片</a:t>
                      </a:r>
                      <a:r>
                        <a:rPr lang="en-US" altLang="zh-TW" dirty="0" smtClean="0">
                          <a:effectLst/>
                          <a:hlinkClick r:id="rId6" action="ppaction://hlinksldjump"/>
                        </a:rPr>
                        <a:t>)</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9">
              <a:extLst>
                <a:ext uri="{96DAC541-7B7A-43D3-8B79-37D633B846F1}">
                  <asvg:svgBlip xmlns:asvg="http://schemas.microsoft.com/office/drawing/2016/SVG/main" xmlns="" r:embed="rId10"/>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11">
              <a:extLst>
                <a:ext uri="{96DAC541-7B7A-43D3-8B79-37D633B846F1}">
                  <asvg:svgBlip xmlns:asvg="http://schemas.microsoft.com/office/drawing/2016/SVG/main" xmlns="" r:embed="rId12"/>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a:t>
            </a:r>
            <a:r>
              <a:rPr lang="zh-TW" altLang="en-US" sz="3600" b="1" dirty="0" smtClean="0">
                <a:solidFill>
                  <a:srgbClr val="39759D"/>
                </a:solidFill>
                <a:cs typeface="+mn-ea"/>
                <a:sym typeface="+mn-lt"/>
              </a:rPr>
              <a:t>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7913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1156528729"/>
              </p:ext>
            </p:extLst>
          </p:nvPr>
        </p:nvGraphicFramePr>
        <p:xfrm>
          <a:off x="339365" y="1958161"/>
          <a:ext cx="11513270" cy="2739090"/>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3" action="ppaction://hlinksldjump"/>
                        </a:rPr>
                        <a:t>A6.3</a:t>
                      </a:r>
                      <a:r>
                        <a:rPr lang="zh-TW" altLang="en-US" dirty="0" smtClean="0">
                          <a:effectLst/>
                          <a:hlinkClick r:id="rId3" action="ppaction://hlinksldjump"/>
                        </a:rPr>
                        <a:t>簽報歸檔作業</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4" action="ppaction://hlinksldjump"/>
                        </a:rPr>
                        <a:t>A6.4</a:t>
                      </a:r>
                      <a:r>
                        <a:rPr lang="zh-TW" altLang="en-US" dirty="0" smtClean="0">
                          <a:effectLst/>
                          <a:hlinkClick r:id="rId4" action="ppaction://hlinksldjump"/>
                        </a:rPr>
                        <a:t>上傳工程契約書及圖說電子檔</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5" action="ppaction://hlinksldjump"/>
                        </a:rPr>
                        <a:t>A6.5</a:t>
                      </a:r>
                      <a:r>
                        <a:rPr lang="zh-TW" altLang="en-US" dirty="0" smtClean="0">
                          <a:effectLst/>
                          <a:hlinkClick r:id="rId5" action="ppaction://hlinksldjump"/>
                        </a:rPr>
                        <a:t>採購文件紙本歸檔</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a:t>
            </a:r>
            <a:r>
              <a:rPr lang="zh-TW" altLang="en-US" sz="3600" b="1" dirty="0" smtClean="0">
                <a:solidFill>
                  <a:srgbClr val="39759D"/>
                </a:solidFill>
                <a:cs typeface="+mn-ea"/>
                <a:sym typeface="+mn-lt"/>
              </a:rPr>
              <a:t>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114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961888" cy="584775"/>
          </a:xfrm>
          <a:prstGeom prst="rect">
            <a:avLst/>
          </a:prstGeom>
        </p:spPr>
        <p:txBody>
          <a:bodyPr wrap="none">
            <a:spAutoFit/>
          </a:bodyPr>
          <a:lstStyle/>
          <a:p>
            <a:pPr lvl="0">
              <a:defRPr/>
            </a:pPr>
            <a:r>
              <a:rPr lang="en-US" altLang="zh-TW" sz="3200" dirty="0"/>
              <a:t>A5.1</a:t>
            </a:r>
            <a:r>
              <a:rPr lang="zh-TW" altLang="en-US" sz="3200" dirty="0"/>
              <a:t>刊登決標公告通知投標廠商</a:t>
            </a:r>
            <a:endParaRPr lang="zh-TW" altLang="en-US" sz="3200" b="1" dirty="0"/>
          </a:p>
        </p:txBody>
      </p:sp>
      <p:sp>
        <p:nvSpPr>
          <p:cNvPr id="5" name="矩形 4"/>
          <p:cNvSpPr/>
          <p:nvPr/>
        </p:nvSpPr>
        <p:spPr>
          <a:xfrm>
            <a:off x="612780" y="1706742"/>
            <a:ext cx="10975655" cy="1022203"/>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自決標日起</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日內，應將決標結果公告於主管機關之政府採購資訊網站，並以書面通知各投標廠商</a:t>
            </a:r>
            <a:r>
              <a:rPr lang="zh-TW" altLang="en-US" sz="1400" dirty="0" smtClean="0">
                <a:solidFill>
                  <a:srgbClr val="000000"/>
                </a:solidFill>
                <a:latin typeface="微軟正黑體" panose="020B0604030504040204" pitchFamily="34" charset="-120"/>
                <a:ea typeface="微軟正黑體" panose="020B0604030504040204" pitchFamily="34" charset="-120"/>
              </a:rPr>
              <a:t>。</a:t>
            </a:r>
            <a:endParaRPr lang="en-US" altLang="zh-TW" sz="1400" dirty="0" smtClean="0">
              <a:solidFill>
                <a:srgbClr val="000000"/>
              </a:solidFill>
              <a:latin typeface="微軟正黑體" panose="020B0604030504040204" pitchFamily="34" charset="-120"/>
              <a:ea typeface="微軟正黑體" panose="020B0604030504040204" pitchFamily="34" charset="-120"/>
            </a:endParaRPr>
          </a:p>
          <a:p>
            <a:pPr>
              <a:lnSpc>
                <a:spcPct val="150000"/>
              </a:lnSpc>
            </a:pPr>
            <a:r>
              <a:rPr lang="en-US" altLang="zh-TW" sz="1400" dirty="0" smtClean="0">
                <a:solidFill>
                  <a:srgbClr val="000000"/>
                </a:solidFill>
                <a:latin typeface="微軟正黑體" panose="020B0604030504040204" pitchFamily="34" charset="-120"/>
                <a:ea typeface="微軟正黑體" panose="020B0604030504040204" pitchFamily="34" charset="-120"/>
              </a:rPr>
              <a:t>2</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應於決標日起</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日內依「工程價格資料庫作業辦法」將得標廠商之契約單價及經機關核定之預算單價透過政府電子採購網傳輸至工程價格資料庫。</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07505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3469494"/>
            <a:ext cx="1991251"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C.33</a:t>
            </a:r>
            <a:r>
              <a:rPr lang="zh-TW" altLang="en-US" sz="1400" dirty="0">
                <a:latin typeface="微軟正黑體" panose="020B0604030504040204" pitchFamily="34" charset="-120"/>
                <a:ea typeface="微軟正黑體" panose="020B0604030504040204" pitchFamily="34" charset="-120"/>
                <a:hlinkClick r:id="rId2"/>
              </a:rPr>
              <a:t>開決標結果通知函</a:t>
            </a:r>
            <a:endParaRPr lang="zh-TW" altLang="en-US" sz="1400" dirty="0"/>
          </a:p>
        </p:txBody>
      </p:sp>
      <p:sp>
        <p:nvSpPr>
          <p:cNvPr id="13" name="五邊形 12"/>
          <p:cNvSpPr/>
          <p:nvPr/>
        </p:nvSpPr>
        <p:spPr>
          <a:xfrm>
            <a:off x="2848576" y="3075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5271639" y="3075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smtClean="0">
                <a:solidFill>
                  <a:sysClr val="windowText" lastClr="000000"/>
                </a:solidFill>
              </a:rPr>
              <a:t>實例</a:t>
            </a:r>
            <a:endParaRPr lang="zh-TW" altLang="en-US" sz="1400" b="1" dirty="0">
              <a:solidFill>
                <a:sysClr val="windowText" lastClr="000000"/>
              </a:solidFill>
            </a:endParaRPr>
          </a:p>
        </p:txBody>
      </p:sp>
      <p:sp>
        <p:nvSpPr>
          <p:cNvPr id="15" name="矩形 14"/>
          <p:cNvSpPr/>
          <p:nvPr/>
        </p:nvSpPr>
        <p:spPr>
          <a:xfrm>
            <a:off x="2848576" y="3463307"/>
            <a:ext cx="1443024"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3"/>
              </a:rPr>
              <a:t>B.15</a:t>
            </a:r>
            <a:r>
              <a:rPr lang="zh-TW" altLang="en-US" sz="1400" dirty="0">
                <a:latin typeface="微軟正黑體" panose="020B0604030504040204" pitchFamily="34" charset="-120"/>
                <a:ea typeface="微軟正黑體" panose="020B0604030504040204" pitchFamily="34" charset="-120"/>
                <a:hlinkClick r:id="rId3"/>
              </a:rPr>
              <a:t>決標通知書</a:t>
            </a:r>
            <a:endParaRPr lang="zh-TW" altLang="en-US" sz="1400" dirty="0"/>
          </a:p>
        </p:txBody>
      </p:sp>
      <p:sp>
        <p:nvSpPr>
          <p:cNvPr id="16" name="矩形 15"/>
          <p:cNvSpPr/>
          <p:nvPr/>
        </p:nvSpPr>
        <p:spPr>
          <a:xfrm>
            <a:off x="5271639" y="3469493"/>
            <a:ext cx="1620957"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4"/>
              </a:rPr>
              <a:t>開決標結果通知函</a:t>
            </a:r>
            <a:endParaRPr lang="zh-TW" altLang="en-US" sz="1400" dirty="0"/>
          </a:p>
        </p:txBody>
      </p:sp>
      <p:sp>
        <p:nvSpPr>
          <p:cNvPr id="20" name="矩形 19"/>
          <p:cNvSpPr/>
          <p:nvPr/>
        </p:nvSpPr>
        <p:spPr>
          <a:xfrm>
            <a:off x="382013" y="5916408"/>
            <a:ext cx="3169457"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a:t>
            </a:r>
            <a:r>
              <a:rPr lang="zh-TW" altLang="en-US"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t>採購</a:t>
            </a:r>
            <a:r>
              <a:rPr lang="zh-TW" altLang="en-US" sz="1200" u="sng" dirty="0"/>
              <a:t>法</a:t>
            </a:r>
            <a:r>
              <a:rPr lang="en-US" altLang="zh-TW" sz="1200" u="sng" dirty="0"/>
              <a:t>61</a:t>
            </a:r>
            <a:r>
              <a:rPr lang="zh-TW" altLang="en-US" sz="1200" u="sng" dirty="0"/>
              <a:t>、細則</a:t>
            </a:r>
            <a:r>
              <a:rPr lang="en-US" altLang="zh-TW" sz="1200" u="sng" dirty="0"/>
              <a:t>84</a:t>
            </a:r>
            <a:r>
              <a:rPr lang="zh-TW" altLang="en-US" sz="1200" u="sng" dirty="0"/>
              <a:t>、</a:t>
            </a:r>
            <a:r>
              <a:rPr lang="en-US" altLang="zh-TW" sz="1200" u="sng" dirty="0"/>
              <a:t>85</a:t>
            </a:r>
            <a:r>
              <a:rPr lang="zh-TW" altLang="en-US" sz="1200" u="sng" dirty="0"/>
              <a:t>、投須</a:t>
            </a:r>
            <a:r>
              <a:rPr lang="en-US" altLang="zh-TW" sz="1200" u="sng" dirty="0"/>
              <a:t>84</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5" action="ppaction://hlinksldjump"/>
              </a:rPr>
              <a:t>決標後目錄</a:t>
            </a:r>
            <a:endParaRPr lang="zh-TW" altLang="en-US" sz="1200" dirty="0"/>
          </a:p>
        </p:txBody>
      </p:sp>
      <p:sp>
        <p:nvSpPr>
          <p:cNvPr id="26" name="文字方塊 25"/>
          <p:cNvSpPr txBox="1"/>
          <p:nvPr/>
        </p:nvSpPr>
        <p:spPr>
          <a:xfrm>
            <a:off x="3485268" y="5916408"/>
            <a:ext cx="2031325" cy="276999"/>
          </a:xfrm>
          <a:prstGeom prst="rect">
            <a:avLst/>
          </a:prstGeom>
          <a:noFill/>
        </p:spPr>
        <p:txBody>
          <a:bodyPr wrap="none" rtlCol="0">
            <a:spAutoFit/>
          </a:bodyPr>
          <a:lstStyle/>
          <a:p>
            <a:r>
              <a:rPr lang="zh-TW" altLang="en-US" sz="1200" dirty="0">
                <a:hlinkClick r:id="rId6"/>
              </a:rPr>
              <a:t>臺</a:t>
            </a:r>
            <a:r>
              <a:rPr lang="zh-TW" altLang="en-US" sz="1200" dirty="0" smtClean="0">
                <a:hlinkClick r:id="rId6"/>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39792493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smtClean="0">
                <a:solidFill>
                  <a:srgbClr val="39759D"/>
                </a:solidFill>
                <a:cs typeface="+mn-ea"/>
                <a:sym typeface="+mn-lt"/>
              </a:rPr>
              <a:t> </a:t>
            </a:r>
            <a:r>
              <a:rPr lang="en-US" altLang="zh-TW" sz="3200" b="1" dirty="0">
                <a:solidFill>
                  <a:srgbClr val="39759D"/>
                </a:solidFill>
                <a:cs typeface="+mn-ea"/>
                <a:sym typeface="+mn-lt"/>
              </a:rPr>
              <a:t>A5.1</a:t>
            </a:r>
            <a:r>
              <a:rPr lang="zh-TW" altLang="en-US" sz="3200" b="1" dirty="0">
                <a:solidFill>
                  <a:srgbClr val="39759D"/>
                </a:solidFill>
                <a:cs typeface="+mn-ea"/>
                <a:sym typeface="+mn-lt"/>
              </a:rPr>
              <a:t>刊登決標公告通知投標廠商</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331835"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6" name="圖片 15"/>
          <p:cNvPicPr>
            <a:picLocks noChangeAspect="1"/>
          </p:cNvPicPr>
          <p:nvPr/>
        </p:nvPicPr>
        <p:blipFill>
          <a:blip r:embed="rId3"/>
          <a:stretch>
            <a:fillRect/>
          </a:stretch>
        </p:blipFill>
        <p:spPr>
          <a:xfrm>
            <a:off x="343333" y="1476375"/>
            <a:ext cx="6170720" cy="4628040"/>
          </a:xfrm>
          <a:prstGeom prst="rect">
            <a:avLst/>
          </a:prstGeom>
        </p:spPr>
      </p:pic>
      <p:sp>
        <p:nvSpPr>
          <p:cNvPr id="26" name="矩形 25"/>
          <p:cNvSpPr/>
          <p:nvPr/>
        </p:nvSpPr>
        <p:spPr>
          <a:xfrm>
            <a:off x="3092784" y="4459730"/>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779957"/>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460733" y="396462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37" name="直線接點 36"/>
          <p:cNvCxnSpPr>
            <a:stCxn id="26" idx="3"/>
          </p:cNvCxnSpPr>
          <p:nvPr/>
        </p:nvCxnSpPr>
        <p:spPr>
          <a:xfrm>
            <a:off x="3711390" y="4603271"/>
            <a:ext cx="8337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肘形接點 41"/>
          <p:cNvCxnSpPr>
            <a:stCxn id="35" idx="3"/>
          </p:cNvCxnSpPr>
          <p:nvPr/>
        </p:nvCxnSpPr>
        <p:spPr>
          <a:xfrm>
            <a:off x="4329953" y="4095941"/>
            <a:ext cx="201706" cy="507330"/>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564776" y="5235388"/>
            <a:ext cx="2299448"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8" name="直線接點 47"/>
          <p:cNvCxnSpPr>
            <a:cxnSpLocks/>
            <a:stCxn id="46" idx="3"/>
          </p:cNvCxnSpPr>
          <p:nvPr/>
        </p:nvCxnSpPr>
        <p:spPr>
          <a:xfrm flipV="1">
            <a:off x="2864224" y="5395865"/>
            <a:ext cx="2875673" cy="3129"/>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文字方塊 50"/>
          <p:cNvSpPr txBox="1"/>
          <p:nvPr/>
        </p:nvSpPr>
        <p:spPr>
          <a:xfrm>
            <a:off x="5826219" y="5211199"/>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380999" y="5775007"/>
            <a:ext cx="6133054"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0" name="肘形接點 59"/>
          <p:cNvCxnSpPr>
            <a:cxnSpLocks/>
            <a:endCxn id="51" idx="1"/>
          </p:cNvCxnSpPr>
          <p:nvPr/>
        </p:nvCxnSpPr>
        <p:spPr>
          <a:xfrm flipV="1">
            <a:off x="3847723" y="5395865"/>
            <a:ext cx="1978496" cy="376946"/>
          </a:xfrm>
          <a:prstGeom prst="bentConnector3">
            <a:avLst>
              <a:gd name="adj1" fmla="val 14765"/>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flipH="1">
            <a:off x="1297278" y="2232618"/>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25" name="直線接點 24">
            <a:extLst>
              <a:ext uri="{FF2B5EF4-FFF2-40B4-BE49-F238E27FC236}">
                <a16:creationId xmlns:a16="http://schemas.microsoft.com/office/drawing/2014/main" id="{E20659F6-BF57-476D-9E3C-F855CD029EA2}"/>
              </a:ext>
            </a:extLst>
          </p:cNvPr>
          <p:cNvCxnSpPr>
            <a:cxnSpLocks/>
            <a:stCxn id="30" idx="1"/>
          </p:cNvCxnSpPr>
          <p:nvPr/>
        </p:nvCxnSpPr>
        <p:spPr>
          <a:xfrm flipH="1">
            <a:off x="6274676" y="3964623"/>
            <a:ext cx="3317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94F51EBC-4050-4932-B984-DDBB6D495930}"/>
              </a:ext>
            </a:extLst>
          </p:cNvPr>
          <p:cNvCxnSpPr>
            <a:cxnSpLocks/>
          </p:cNvCxnSpPr>
          <p:nvPr/>
        </p:nvCxnSpPr>
        <p:spPr>
          <a:xfrm>
            <a:off x="6274676" y="3964623"/>
            <a:ext cx="0" cy="426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3986B839-6B69-4579-AE16-5F9B7E7310BB}"/>
              </a:ext>
            </a:extLst>
          </p:cNvPr>
          <p:cNvCxnSpPr>
            <a:cxnSpLocks/>
          </p:cNvCxnSpPr>
          <p:nvPr/>
        </p:nvCxnSpPr>
        <p:spPr>
          <a:xfrm flipH="1">
            <a:off x="4497454" y="4391472"/>
            <a:ext cx="177722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70445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320413" cy="584775"/>
          </a:xfrm>
          <a:prstGeom prst="rect">
            <a:avLst/>
          </a:prstGeom>
        </p:spPr>
        <p:txBody>
          <a:bodyPr wrap="none">
            <a:spAutoFit/>
          </a:bodyPr>
          <a:lstStyle/>
          <a:p>
            <a:pPr lvl="0">
              <a:defRPr/>
            </a:pPr>
            <a:r>
              <a:rPr lang="en-US" altLang="zh-TW" sz="3200" dirty="0"/>
              <a:t>A5.2</a:t>
            </a:r>
            <a:r>
              <a:rPr lang="zh-TW" altLang="en-US" sz="3200" dirty="0"/>
              <a:t>核對資格文件正本</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t>得標廠商應於決標次日起</a:t>
            </a:r>
            <a:r>
              <a:rPr lang="en-US" altLang="zh-TW" sz="1400" dirty="0"/>
              <a:t>10</a:t>
            </a:r>
            <a:r>
              <a:rPr lang="zh-TW" altLang="en-US" sz="1400" dirty="0"/>
              <a:t>日內至機關辦理資格文件正本核對手續。</a:t>
            </a:r>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2357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2751493"/>
            <a:ext cx="1614545"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A.5.2</a:t>
            </a:r>
            <a:r>
              <a:rPr lang="zh-TW" altLang="en-US" sz="1400" dirty="0">
                <a:latin typeface="微軟正黑體" panose="020B0604030504040204" pitchFamily="34" charset="-120"/>
                <a:ea typeface="微軟正黑體" panose="020B0604030504040204" pitchFamily="34" charset="-120"/>
                <a:hlinkClick r:id="rId2"/>
              </a:rPr>
              <a:t>簽</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公文範本</a:t>
            </a:r>
            <a:r>
              <a:rPr lang="en-US" altLang="zh-TW" sz="1400" dirty="0">
                <a:latin typeface="微軟正黑體" panose="020B0604030504040204" pitchFamily="34" charset="-120"/>
                <a:ea typeface="微軟正黑體" panose="020B0604030504040204" pitchFamily="34" charset="-120"/>
                <a:hlinkClick r:id="rId2"/>
              </a:rPr>
              <a:t>)</a:t>
            </a:r>
            <a:endParaRPr lang="zh-TW" altLang="en-US" sz="1400" dirty="0"/>
          </a:p>
        </p:txBody>
      </p:sp>
      <p:sp>
        <p:nvSpPr>
          <p:cNvPr id="13" name="五邊形 12"/>
          <p:cNvSpPr/>
          <p:nvPr/>
        </p:nvSpPr>
        <p:spPr>
          <a:xfrm>
            <a:off x="2848576" y="2357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6222253" y="2357054"/>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smtClean="0">
                <a:solidFill>
                  <a:sysClr val="windowText" lastClr="000000"/>
                </a:solidFill>
              </a:rPr>
              <a:t>實例</a:t>
            </a:r>
            <a:endParaRPr lang="zh-TW" altLang="en-US" sz="1400" b="1" dirty="0">
              <a:solidFill>
                <a:sysClr val="windowText" lastClr="000000"/>
              </a:solidFill>
            </a:endParaRPr>
          </a:p>
        </p:txBody>
      </p:sp>
      <p:sp>
        <p:nvSpPr>
          <p:cNvPr id="15" name="矩形 14"/>
          <p:cNvSpPr/>
          <p:nvPr/>
        </p:nvSpPr>
        <p:spPr>
          <a:xfrm>
            <a:off x="2848576" y="2745306"/>
            <a:ext cx="2888932"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3"/>
              </a:rPr>
              <a:t>C.42</a:t>
            </a:r>
            <a:r>
              <a:rPr lang="zh-TW" altLang="en-US" sz="1400" dirty="0">
                <a:latin typeface="微軟正黑體" panose="020B0604030504040204" pitchFamily="34" charset="-120"/>
                <a:ea typeface="微軟正黑體" panose="020B0604030504040204" pitchFamily="34" charset="-120"/>
                <a:hlinkClick r:id="rId3"/>
              </a:rPr>
              <a:t>廠商證件核對紀錄表參考樣本</a:t>
            </a:r>
            <a:endParaRPr lang="zh-TW" altLang="en-US" sz="1400" dirty="0"/>
          </a:p>
        </p:txBody>
      </p:sp>
      <p:sp>
        <p:nvSpPr>
          <p:cNvPr id="16" name="矩形 15"/>
          <p:cNvSpPr/>
          <p:nvPr/>
        </p:nvSpPr>
        <p:spPr>
          <a:xfrm>
            <a:off x="6222253" y="2751492"/>
            <a:ext cx="1255472" cy="307777"/>
          </a:xfrm>
          <a:prstGeom prst="rect">
            <a:avLst/>
          </a:prstGeom>
        </p:spPr>
        <p:txBody>
          <a:bodyPr wrap="none">
            <a:spAutoFit/>
          </a:bodyPr>
          <a:lstStyle/>
          <a:p>
            <a:r>
              <a:rPr lang="en-US" altLang="zh-TW" sz="1400" dirty="0" smtClean="0">
                <a:latin typeface="微軟正黑體" panose="020B0604030504040204" pitchFamily="34" charset="-120"/>
                <a:ea typeface="微軟正黑體" panose="020B0604030504040204" pitchFamily="34" charset="-120"/>
                <a:hlinkClick r:id="rId4"/>
              </a:rPr>
              <a:t>A.5.2</a:t>
            </a:r>
            <a:r>
              <a:rPr lang="zh-TW" altLang="en-US" sz="1400" dirty="0" smtClean="0">
                <a:latin typeface="微軟正黑體" panose="020B0604030504040204" pitchFamily="34" charset="-120"/>
                <a:ea typeface="微軟正黑體" panose="020B0604030504040204" pitchFamily="34" charset="-120"/>
                <a:hlinkClick r:id="rId4"/>
              </a:rPr>
              <a:t>簽</a:t>
            </a:r>
            <a:r>
              <a:rPr lang="en-US" altLang="zh-TW" sz="1400" dirty="0" smtClean="0">
                <a:latin typeface="微軟正黑體" panose="020B0604030504040204" pitchFamily="34" charset="-120"/>
                <a:ea typeface="微軟正黑體" panose="020B0604030504040204" pitchFamily="34" charset="-120"/>
                <a:hlinkClick r:id="rId4"/>
              </a:rPr>
              <a:t>(</a:t>
            </a:r>
            <a:r>
              <a:rPr lang="zh-TW" altLang="en-US" sz="1400" dirty="0" smtClean="0">
                <a:latin typeface="微軟正黑體" panose="020B0604030504040204" pitchFamily="34" charset="-120"/>
                <a:ea typeface="微軟正黑體" panose="020B0604030504040204" pitchFamily="34" charset="-120"/>
                <a:hlinkClick r:id="rId4"/>
              </a:rPr>
              <a:t>實例</a:t>
            </a:r>
            <a:r>
              <a:rPr lang="en-US" altLang="zh-TW" sz="1400" dirty="0" smtClean="0">
                <a:latin typeface="微軟正黑體" panose="020B0604030504040204" pitchFamily="34" charset="-120"/>
                <a:ea typeface="微軟正黑體" panose="020B0604030504040204" pitchFamily="34" charset="-120"/>
                <a:hlinkClick r:id="rId4"/>
              </a:rPr>
              <a:t>)</a:t>
            </a:r>
            <a:endParaRPr lang="zh-TW" altLang="en-US" sz="1400" dirty="0"/>
          </a:p>
        </p:txBody>
      </p:sp>
      <p:sp>
        <p:nvSpPr>
          <p:cNvPr id="20" name="矩形 19"/>
          <p:cNvSpPr/>
          <p:nvPr/>
        </p:nvSpPr>
        <p:spPr>
          <a:xfrm>
            <a:off x="382013" y="5916408"/>
            <a:ext cx="139974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投</a:t>
            </a:r>
            <a:r>
              <a:rPr lang="zh-TW" altLang="en-US" sz="1200" u="sng" dirty="0">
                <a:solidFill>
                  <a:srgbClr val="000000"/>
                </a:solidFill>
                <a:latin typeface="微軟正黑體" panose="020B0604030504040204" pitchFamily="34" charset="-120"/>
                <a:ea typeface="微軟正黑體" panose="020B0604030504040204" pitchFamily="34" charset="-120"/>
              </a:rPr>
              <a:t>須</a:t>
            </a:r>
            <a:r>
              <a:rPr lang="en-US" altLang="zh-TW" sz="1200" u="sng" dirty="0">
                <a:solidFill>
                  <a:srgbClr val="000000"/>
                </a:solidFill>
                <a:latin typeface="微軟正黑體" panose="020B0604030504040204" pitchFamily="34" charset="-120"/>
                <a:ea typeface="微軟正黑體" panose="020B0604030504040204" pitchFamily="34" charset="-120"/>
              </a:rPr>
              <a:t>82</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5" action="ppaction://hlinksldjump"/>
              </a:rPr>
              <a:t>決標後目錄</a:t>
            </a:r>
            <a:endParaRPr lang="zh-TW" altLang="en-US" sz="1200" dirty="0"/>
          </a:p>
        </p:txBody>
      </p:sp>
      <p:sp>
        <p:nvSpPr>
          <p:cNvPr id="26" name="文字方塊 25"/>
          <p:cNvSpPr txBox="1"/>
          <p:nvPr/>
        </p:nvSpPr>
        <p:spPr>
          <a:xfrm>
            <a:off x="1781755" y="5923769"/>
            <a:ext cx="2031325" cy="276999"/>
          </a:xfrm>
          <a:prstGeom prst="rect">
            <a:avLst/>
          </a:prstGeom>
          <a:noFill/>
        </p:spPr>
        <p:txBody>
          <a:bodyPr wrap="none" rtlCol="0">
            <a:spAutoFit/>
          </a:bodyPr>
          <a:lstStyle/>
          <a:p>
            <a:r>
              <a:rPr lang="zh-TW" altLang="en-US" sz="1200" dirty="0">
                <a:hlinkClick r:id="rId6"/>
              </a:rPr>
              <a:t>臺</a:t>
            </a:r>
            <a:r>
              <a:rPr lang="zh-TW" altLang="en-US" sz="1200" dirty="0" smtClean="0">
                <a:hlinkClick r:id="rId6"/>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20565466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228737" y="1406757"/>
            <a:ext cx="6285316" cy="4746400"/>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smtClean="0">
                <a:solidFill>
                  <a:srgbClr val="39759D"/>
                </a:solidFill>
                <a:cs typeface="+mn-ea"/>
                <a:sym typeface="+mn-lt"/>
              </a:rPr>
              <a:t> </a:t>
            </a:r>
            <a:r>
              <a:rPr lang="en-US" altLang="zh-TW" sz="3200" b="1" dirty="0">
                <a:solidFill>
                  <a:srgbClr val="39759D"/>
                </a:solidFill>
                <a:cs typeface="+mn-ea"/>
                <a:sym typeface="+mn-lt"/>
              </a:rPr>
              <a:t>A5.2</a:t>
            </a:r>
            <a:r>
              <a:rPr lang="zh-TW" altLang="en-US" sz="3200" b="1" dirty="0">
                <a:solidFill>
                  <a:srgbClr val="39759D"/>
                </a:solidFill>
                <a:cs typeface="+mn-ea"/>
                <a:sym typeface="+mn-lt"/>
              </a:rPr>
              <a:t>核對資格文件正本</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272838"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092784" y="4459730"/>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779957"/>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460733" y="396462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37" name="直線接點 36"/>
          <p:cNvCxnSpPr>
            <a:stCxn id="26" idx="3"/>
          </p:cNvCxnSpPr>
          <p:nvPr/>
        </p:nvCxnSpPr>
        <p:spPr>
          <a:xfrm>
            <a:off x="3711390" y="4603271"/>
            <a:ext cx="8337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肘形接點 41"/>
          <p:cNvCxnSpPr>
            <a:stCxn id="35" idx="3"/>
          </p:cNvCxnSpPr>
          <p:nvPr/>
        </p:nvCxnSpPr>
        <p:spPr>
          <a:xfrm>
            <a:off x="4329953" y="4095941"/>
            <a:ext cx="201706" cy="507330"/>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564776" y="5255453"/>
            <a:ext cx="2299448" cy="3250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8" name="直線接點 47"/>
          <p:cNvCxnSpPr>
            <a:cxnSpLocks/>
            <a:stCxn id="46" idx="3"/>
            <a:endCxn id="51" idx="1"/>
          </p:cNvCxnSpPr>
          <p:nvPr/>
        </p:nvCxnSpPr>
        <p:spPr>
          <a:xfrm>
            <a:off x="2864224" y="5417992"/>
            <a:ext cx="2825662" cy="1675"/>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文字方塊 50"/>
          <p:cNvSpPr txBox="1"/>
          <p:nvPr/>
        </p:nvSpPr>
        <p:spPr>
          <a:xfrm>
            <a:off x="5689886" y="5235001"/>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380999" y="5775007"/>
            <a:ext cx="6133054" cy="4366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0" name="肘形接點 59"/>
          <p:cNvCxnSpPr>
            <a:cxnSpLocks/>
            <a:endCxn id="51" idx="1"/>
          </p:cNvCxnSpPr>
          <p:nvPr/>
        </p:nvCxnSpPr>
        <p:spPr>
          <a:xfrm flipV="1">
            <a:off x="3562350" y="5419667"/>
            <a:ext cx="2127536" cy="347205"/>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flipH="1">
            <a:off x="1387896" y="2204328"/>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25" name="直線接點 24">
            <a:extLst>
              <a:ext uri="{FF2B5EF4-FFF2-40B4-BE49-F238E27FC236}">
                <a16:creationId xmlns:a16="http://schemas.microsoft.com/office/drawing/2014/main" id="{E20659F6-BF57-476D-9E3C-F855CD029EA2}"/>
              </a:ext>
            </a:extLst>
          </p:cNvPr>
          <p:cNvCxnSpPr>
            <a:cxnSpLocks/>
            <a:stCxn id="30" idx="1"/>
          </p:cNvCxnSpPr>
          <p:nvPr/>
        </p:nvCxnSpPr>
        <p:spPr>
          <a:xfrm flipH="1">
            <a:off x="6274676" y="3964623"/>
            <a:ext cx="3317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94F51EBC-4050-4932-B984-DDBB6D495930}"/>
              </a:ext>
            </a:extLst>
          </p:cNvPr>
          <p:cNvCxnSpPr>
            <a:cxnSpLocks/>
          </p:cNvCxnSpPr>
          <p:nvPr/>
        </p:nvCxnSpPr>
        <p:spPr>
          <a:xfrm>
            <a:off x="6274676" y="3964623"/>
            <a:ext cx="0" cy="426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3986B839-6B69-4579-AE16-5F9B7E7310BB}"/>
              </a:ext>
            </a:extLst>
          </p:cNvPr>
          <p:cNvCxnSpPr>
            <a:cxnSpLocks/>
          </p:cNvCxnSpPr>
          <p:nvPr/>
        </p:nvCxnSpPr>
        <p:spPr>
          <a:xfrm flipH="1">
            <a:off x="4545106" y="4391472"/>
            <a:ext cx="172957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6681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A5.3</a:t>
            </a:r>
            <a:r>
              <a:rPr lang="zh-TW" altLang="en-US" sz="3200" dirty="0"/>
              <a:t>繳納履約保證金</a:t>
            </a:r>
          </a:p>
        </p:txBody>
      </p:sp>
      <p:sp>
        <p:nvSpPr>
          <p:cNvPr id="5" name="矩形 4"/>
          <p:cNvSpPr/>
          <p:nvPr/>
        </p:nvSpPr>
        <p:spPr>
          <a:xfrm>
            <a:off x="612780" y="1706742"/>
            <a:ext cx="10975655" cy="2314864"/>
          </a:xfrm>
          <a:prstGeom prst="rect">
            <a:avLst/>
          </a:prstGeom>
        </p:spPr>
        <p:txBody>
          <a:bodyPr wrap="square">
            <a:spAutoFit/>
          </a:bodyPr>
          <a:lstStyle/>
          <a:p>
            <a:pPr>
              <a:lnSpc>
                <a:spcPct val="150000"/>
              </a:lnSpc>
            </a:pPr>
            <a:r>
              <a:rPr lang="en-US" altLang="zh-TW" sz="1400" dirty="0"/>
              <a:t>1.</a:t>
            </a:r>
            <a:r>
              <a:rPr lang="zh-TW" altLang="en-US" sz="1400" dirty="0"/>
              <a:t>履約保證金之繳納期限為決標次日起</a:t>
            </a:r>
            <a:r>
              <a:rPr lang="en-US" altLang="zh-TW" sz="1400" dirty="0"/>
              <a:t>15</a:t>
            </a:r>
            <a:r>
              <a:rPr lang="zh-TW" altLang="en-US" sz="1400" dirty="0"/>
              <a:t>日內。</a:t>
            </a:r>
          </a:p>
          <a:p>
            <a:pPr>
              <a:lnSpc>
                <a:spcPct val="150000"/>
              </a:lnSpc>
            </a:pPr>
            <a:r>
              <a:rPr lang="en-US" altLang="zh-TW" sz="1400" dirty="0"/>
              <a:t>2.</a:t>
            </a:r>
            <a:r>
              <a:rPr lang="zh-TW" altLang="en-US" sz="1400" dirty="0"/>
              <a:t>履約保證金之繳交期限以訂約前繳交為原則。得標廠商若有需求得於得標後訂約前向招標機關申請，在押標金暫不退還之條件下，於決標後</a:t>
            </a:r>
            <a:r>
              <a:rPr lang="en-US" altLang="zh-TW" sz="1400" dirty="0"/>
              <a:t>1</a:t>
            </a:r>
            <a:r>
              <a:rPr lang="zh-TW" altLang="en-US" sz="1400" dirty="0"/>
              <a:t>個月內繳交。但仍應依限訂約。</a:t>
            </a:r>
          </a:p>
          <a:p>
            <a:pPr>
              <a:lnSpc>
                <a:spcPct val="150000"/>
              </a:lnSpc>
            </a:pPr>
            <a:r>
              <a:rPr lang="en-US" altLang="zh-TW" sz="1400" dirty="0"/>
              <a:t>3.</a:t>
            </a:r>
            <a:r>
              <a:rPr lang="zh-TW" altLang="en-US" sz="1400" dirty="0"/>
              <a:t>未於規定期限內繳足履約保證金或拒絕繳交者，撤銷決標或解除契約。但因非可歸責於得標廠商之事由或特殊情形，經機關同意者，不在此限。</a:t>
            </a:r>
          </a:p>
          <a:p>
            <a:pPr>
              <a:lnSpc>
                <a:spcPct val="150000"/>
              </a:lnSpc>
            </a:pPr>
            <a:r>
              <a:rPr lang="en-US" altLang="zh-TW" sz="1400" dirty="0"/>
              <a:t>4.</a:t>
            </a:r>
            <a:r>
              <a:rPr lang="zh-TW" altLang="en-US" sz="1400" dirty="0"/>
              <a:t>得標廠商以銀行開發或保兌之不可撤銷擔保信用狀、銀行之書面連帶保證或保險公司之保證保險單繳納履約保證金者，履約保證金之有效期，無初驗程序者，應較履約期限長</a:t>
            </a:r>
            <a:r>
              <a:rPr lang="en-US" altLang="zh-TW" sz="1400" dirty="0"/>
              <a:t>90</a:t>
            </a:r>
            <a:r>
              <a:rPr lang="zh-TW" altLang="en-US" sz="1400" dirty="0"/>
              <a:t>日以上，有初驗程序者，應較履約期限長</a:t>
            </a:r>
            <a:r>
              <a:rPr lang="en-US" altLang="zh-TW" sz="1400" dirty="0"/>
              <a:t>125</a:t>
            </a:r>
            <a:r>
              <a:rPr lang="zh-TW" altLang="en-US" sz="1400" dirty="0"/>
              <a:t>日以上。</a:t>
            </a:r>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418959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4584027"/>
            <a:ext cx="723275" cy="307777"/>
          </a:xfrm>
          <a:prstGeom prst="rect">
            <a:avLst/>
          </a:prstGeom>
        </p:spPr>
        <p:txBody>
          <a:bodyPr wrap="none">
            <a:spAutoFit/>
          </a:bodyPr>
          <a:lstStyle/>
          <a:p>
            <a:r>
              <a:rPr lang="zh-TW" altLang="en-US" sz="1400" dirty="0" smtClean="0">
                <a:latin typeface="微軟正黑體" panose="020B0604030504040204" pitchFamily="34" charset="-120"/>
                <a:ea typeface="微軟正黑體" panose="020B0604030504040204" pitchFamily="34" charset="-120"/>
                <a:hlinkClick r:id="rId2"/>
              </a:rPr>
              <a:t>催繳函</a:t>
            </a:r>
            <a:endParaRPr lang="zh-TW" altLang="en-US" sz="1400" dirty="0"/>
          </a:p>
        </p:txBody>
      </p:sp>
      <p:sp>
        <p:nvSpPr>
          <p:cNvPr id="14" name="五邊形 13"/>
          <p:cNvSpPr/>
          <p:nvPr/>
        </p:nvSpPr>
        <p:spPr>
          <a:xfrm>
            <a:off x="2066712" y="418958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smtClean="0">
                <a:solidFill>
                  <a:sysClr val="windowText" lastClr="000000"/>
                </a:solidFill>
              </a:rPr>
              <a:t>實例</a:t>
            </a:r>
            <a:endParaRPr lang="zh-TW" altLang="en-US" sz="1400" b="1" dirty="0">
              <a:solidFill>
                <a:sysClr val="windowText" lastClr="000000"/>
              </a:solidFill>
            </a:endParaRPr>
          </a:p>
        </p:txBody>
      </p:sp>
      <p:sp>
        <p:nvSpPr>
          <p:cNvPr id="20" name="矩形 19"/>
          <p:cNvSpPr/>
          <p:nvPr/>
        </p:nvSpPr>
        <p:spPr>
          <a:xfrm>
            <a:off x="382013" y="5916408"/>
            <a:ext cx="4798108"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採購</a:t>
            </a:r>
            <a:r>
              <a:rPr lang="zh-TW" altLang="en-US" sz="1200" u="sng" dirty="0">
                <a:solidFill>
                  <a:srgbClr val="000000"/>
                </a:solidFill>
                <a:latin typeface="微軟正黑體" panose="020B0604030504040204" pitchFamily="34" charset="-120"/>
                <a:ea typeface="微軟正黑體" panose="020B0604030504040204" pitchFamily="34" charset="-120"/>
              </a:rPr>
              <a:t>法</a:t>
            </a:r>
            <a:r>
              <a:rPr lang="en-US" altLang="zh-TW" sz="1200" u="sng" dirty="0">
                <a:solidFill>
                  <a:srgbClr val="000000"/>
                </a:solidFill>
                <a:latin typeface="微軟正黑體" panose="020B0604030504040204" pitchFamily="34" charset="-120"/>
                <a:ea typeface="微軟正黑體" panose="020B0604030504040204" pitchFamily="34" charset="-120"/>
              </a:rPr>
              <a:t>30</a:t>
            </a:r>
            <a:r>
              <a:rPr lang="zh-TW" altLang="en-US" sz="1200" u="sng" dirty="0">
                <a:solidFill>
                  <a:srgbClr val="000000"/>
                </a:solidFill>
                <a:latin typeface="微軟正黑體" panose="020B0604030504040204" pitchFamily="34" charset="-120"/>
                <a:ea typeface="微軟正黑體" panose="020B0604030504040204" pitchFamily="34" charset="-120"/>
              </a:rPr>
              <a:t>、押保</a:t>
            </a:r>
            <a:r>
              <a:rPr lang="en-US" altLang="zh-TW" sz="1200" u="sng" dirty="0">
                <a:solidFill>
                  <a:srgbClr val="000000"/>
                </a:solidFill>
                <a:latin typeface="微軟正黑體" panose="020B0604030504040204" pitchFamily="34" charset="-120"/>
                <a:ea typeface="微軟正黑體" panose="020B0604030504040204" pitchFamily="34" charset="-120"/>
              </a:rPr>
              <a:t>15</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18</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73</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80</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88</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89</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91</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93</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5084944" y="5916407"/>
            <a:ext cx="2031325" cy="276999"/>
          </a:xfrm>
          <a:prstGeom prst="rect">
            <a:avLst/>
          </a:prstGeom>
          <a:noFill/>
        </p:spPr>
        <p:txBody>
          <a:bodyPr wrap="none" rtlCol="0">
            <a:spAutoFit/>
          </a:bodyPr>
          <a:lstStyle/>
          <a:p>
            <a:r>
              <a:rPr lang="zh-TW" altLang="en-US" sz="1200" dirty="0">
                <a:hlinkClick r:id="rId4"/>
              </a:rPr>
              <a:t>臺</a:t>
            </a:r>
            <a:r>
              <a:rPr lang="zh-TW" altLang="en-US" sz="1200" dirty="0" smtClean="0">
                <a:hlinkClick r:id="rId4"/>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
        <p:nvSpPr>
          <p:cNvPr id="2" name="矩形 1"/>
          <p:cNvSpPr/>
          <p:nvPr/>
        </p:nvSpPr>
        <p:spPr>
          <a:xfrm>
            <a:off x="2227803" y="4554921"/>
            <a:ext cx="902811" cy="307777"/>
          </a:xfrm>
          <a:prstGeom prst="rect">
            <a:avLst/>
          </a:prstGeom>
        </p:spPr>
        <p:txBody>
          <a:bodyPr wrap="none">
            <a:spAutoFit/>
          </a:bodyPr>
          <a:lstStyle/>
          <a:p>
            <a:r>
              <a:rPr lang="zh-TW" altLang="en-US" sz="1400" dirty="0" smtClean="0">
                <a:solidFill>
                  <a:srgbClr val="FF0000"/>
                </a:solidFill>
                <a:latin typeface="微軟正黑體" panose="020B0604030504040204" pitchFamily="34" charset="-120"/>
                <a:ea typeface="微軟正黑體" panose="020B0604030504040204" pitchFamily="34" charset="-120"/>
                <a:hlinkClick r:id="rId5"/>
              </a:rPr>
              <a:t>繳納通知</a:t>
            </a:r>
            <a:endParaRPr lang="zh-TW" altLang="en-US" sz="1400" dirty="0"/>
          </a:p>
        </p:txBody>
      </p:sp>
      <p:sp>
        <p:nvSpPr>
          <p:cNvPr id="3" name="矩形 2"/>
          <p:cNvSpPr/>
          <p:nvPr/>
        </p:nvSpPr>
        <p:spPr>
          <a:xfrm>
            <a:off x="3213398" y="4554116"/>
            <a:ext cx="543739"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6"/>
              </a:rPr>
              <a:t>展延</a:t>
            </a:r>
            <a:endParaRPr lang="zh-TW" altLang="en-US" sz="1400" dirty="0"/>
          </a:p>
        </p:txBody>
      </p:sp>
      <p:sp>
        <p:nvSpPr>
          <p:cNvPr id="6" name="矩形 5"/>
          <p:cNvSpPr/>
          <p:nvPr/>
        </p:nvSpPr>
        <p:spPr>
          <a:xfrm>
            <a:off x="5543662" y="4554116"/>
            <a:ext cx="1800493"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7"/>
              </a:rPr>
              <a:t>押標金轉履約保證金</a:t>
            </a:r>
            <a:endParaRPr lang="zh-TW" altLang="en-US" sz="1400" dirty="0"/>
          </a:p>
        </p:txBody>
      </p:sp>
      <p:sp>
        <p:nvSpPr>
          <p:cNvPr id="7" name="矩形 6"/>
          <p:cNvSpPr/>
          <p:nvPr/>
        </p:nvSpPr>
        <p:spPr>
          <a:xfrm>
            <a:off x="3839921" y="4554116"/>
            <a:ext cx="1620957"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8"/>
              </a:rPr>
              <a:t>以連帶保證書繳納</a:t>
            </a:r>
            <a:endParaRPr lang="zh-TW" altLang="en-US" sz="1400" dirty="0"/>
          </a:p>
        </p:txBody>
      </p:sp>
    </p:spTree>
    <p:extLst>
      <p:ext uri="{BB962C8B-B14F-4D97-AF65-F5344CB8AC3E}">
        <p14:creationId xmlns:p14="http://schemas.microsoft.com/office/powerpoint/2010/main" val="35005232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742A72CF-7331-4703-8107-11E6E61FA4DA}"/>
              </a:ext>
            </a:extLst>
          </p:cNvPr>
          <p:cNvPicPr>
            <a:picLocks noChangeAspect="1"/>
          </p:cNvPicPr>
          <p:nvPr/>
        </p:nvPicPr>
        <p:blipFill>
          <a:blip r:embed="rId3"/>
          <a:stretch>
            <a:fillRect/>
          </a:stretch>
        </p:blipFill>
        <p:spPr>
          <a:xfrm>
            <a:off x="239710" y="1584428"/>
            <a:ext cx="9438923" cy="4076438"/>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設定保證金額。</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BED99307-D06F-4A06-BAA8-A25E303426F6}"/>
              </a:ext>
            </a:extLst>
          </p:cNvPr>
          <p:cNvSpPr txBox="1"/>
          <p:nvPr/>
        </p:nvSpPr>
        <p:spPr>
          <a:xfrm>
            <a:off x="9942333" y="3622647"/>
            <a:ext cx="161466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設定保證金額</a:t>
            </a:r>
          </a:p>
        </p:txBody>
      </p:sp>
      <p:sp>
        <p:nvSpPr>
          <p:cNvPr id="11" name="矩形 10">
            <a:extLst>
              <a:ext uri="{FF2B5EF4-FFF2-40B4-BE49-F238E27FC236}">
                <a16:creationId xmlns:a16="http://schemas.microsoft.com/office/drawing/2014/main" id="{66E8F130-E107-4F6C-A90A-EE666FDD80CE}"/>
              </a:ext>
            </a:extLst>
          </p:cNvPr>
          <p:cNvSpPr/>
          <p:nvPr/>
        </p:nvSpPr>
        <p:spPr>
          <a:xfrm>
            <a:off x="3581400" y="3522133"/>
            <a:ext cx="5833533"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直線接點 12">
            <a:extLst>
              <a:ext uri="{FF2B5EF4-FFF2-40B4-BE49-F238E27FC236}">
                <a16:creationId xmlns:a16="http://schemas.microsoft.com/office/drawing/2014/main" id="{CF171CA0-EDD7-480E-B0D9-8D60A3953096}"/>
              </a:ext>
            </a:extLst>
          </p:cNvPr>
          <p:cNvCxnSpPr>
            <a:stCxn id="21" idx="1"/>
          </p:cNvCxnSpPr>
          <p:nvPr/>
        </p:nvCxnSpPr>
        <p:spPr>
          <a:xfrm flipH="1">
            <a:off x="9414933" y="3807313"/>
            <a:ext cx="527400" cy="26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817E9309-EA26-471D-9F95-27912E950402}"/>
              </a:ext>
            </a:extLst>
          </p:cNvPr>
          <p:cNvSpPr txBox="1"/>
          <p:nvPr/>
        </p:nvSpPr>
        <p:spPr>
          <a:xfrm>
            <a:off x="4696453" y="4328845"/>
            <a:ext cx="4094462" cy="374571"/>
          </a:xfrm>
          <a:prstGeom prst="wedgeRoundRectCallout">
            <a:avLst>
              <a:gd name="adj1" fmla="val -54936"/>
              <a:gd name="adj2" fmla="val 21643"/>
              <a:gd name="adj3" fmla="val 16667"/>
            </a:avLst>
          </a:prstGeom>
          <a:solidFill>
            <a:schemeClr val="accent4">
              <a:lumMod val="40000"/>
              <a:lumOff val="60000"/>
            </a:schemeClr>
          </a:solidFill>
        </p:spPr>
        <p:txBody>
          <a:bodyPr wrap="square" rtlCol="0">
            <a:spAutoFit/>
          </a:bodyPr>
          <a:lstStyle/>
          <a:p>
            <a:r>
              <a:rPr lang="zh-TW" altLang="en-US" sz="1600" b="1" dirty="0" smtClean="0">
                <a:cs typeface="+mn-ea"/>
                <a:sym typeface="+mn-lt"/>
              </a:rPr>
              <a:t>保證金金額 </a:t>
            </a:r>
            <a:r>
              <a:rPr lang="en-US" altLang="zh-TW" sz="1600" b="1" dirty="0">
                <a:cs typeface="+mn-ea"/>
                <a:sym typeface="+mn-lt"/>
              </a:rPr>
              <a:t>-</a:t>
            </a:r>
            <a:r>
              <a:rPr lang="zh-TW" altLang="en-US" sz="1600" b="1" dirty="0" smtClean="0">
                <a:cs typeface="+mn-ea"/>
                <a:sym typeface="+mn-lt"/>
              </a:rPr>
              <a:t> 廠商減收</a:t>
            </a:r>
            <a:r>
              <a:rPr lang="en-US" altLang="zh-TW" sz="1100" b="1" dirty="0" smtClean="0">
                <a:cs typeface="+mn-ea"/>
                <a:sym typeface="+mn-lt"/>
              </a:rPr>
              <a:t>(</a:t>
            </a:r>
            <a:r>
              <a:rPr lang="zh-TW" altLang="en-US" sz="1100" b="1" dirty="0" smtClean="0">
                <a:cs typeface="+mn-ea"/>
                <a:sym typeface="+mn-lt"/>
              </a:rPr>
              <a:t>註</a:t>
            </a:r>
            <a:r>
              <a:rPr lang="en-US" altLang="zh-TW" sz="1100" b="1" dirty="0" smtClean="0">
                <a:cs typeface="+mn-ea"/>
                <a:sym typeface="+mn-lt"/>
              </a:rPr>
              <a:t>1)</a:t>
            </a:r>
            <a:r>
              <a:rPr lang="zh-TW" altLang="en-US" sz="1100" b="1" dirty="0" smtClean="0">
                <a:cs typeface="+mn-ea"/>
                <a:sym typeface="+mn-lt"/>
              </a:rPr>
              <a:t> </a:t>
            </a:r>
            <a:r>
              <a:rPr lang="en-US" altLang="zh-TW" sz="1600" b="1" dirty="0" smtClean="0">
                <a:cs typeface="+mn-ea"/>
                <a:sym typeface="+mn-lt"/>
              </a:rPr>
              <a:t>-</a:t>
            </a:r>
            <a:r>
              <a:rPr lang="zh-TW" altLang="en-US" sz="1600" b="1" dirty="0" smtClean="0">
                <a:cs typeface="+mn-ea"/>
                <a:sym typeface="+mn-lt"/>
              </a:rPr>
              <a:t> 押標金轉入</a:t>
            </a:r>
            <a:r>
              <a:rPr lang="en-US" altLang="zh-TW" sz="1100" b="1" dirty="0" smtClean="0">
                <a:cs typeface="+mn-ea"/>
                <a:sym typeface="+mn-lt"/>
              </a:rPr>
              <a:t>(</a:t>
            </a:r>
            <a:r>
              <a:rPr lang="zh-TW" altLang="en-US" sz="1100" b="1" dirty="0" smtClean="0">
                <a:cs typeface="+mn-ea"/>
                <a:sym typeface="+mn-lt"/>
              </a:rPr>
              <a:t>註</a:t>
            </a:r>
            <a:r>
              <a:rPr lang="en-US" altLang="zh-TW" sz="1100" b="1" dirty="0" smtClean="0">
                <a:cs typeface="+mn-ea"/>
                <a:sym typeface="+mn-lt"/>
              </a:rPr>
              <a:t>2)</a:t>
            </a:r>
            <a:endParaRPr lang="en-US" altLang="zh-TW" sz="1600" b="1" dirty="0">
              <a:cs typeface="+mn-ea"/>
              <a:sym typeface="+mn-lt"/>
            </a:endParaRPr>
          </a:p>
        </p:txBody>
      </p:sp>
      <p:sp>
        <p:nvSpPr>
          <p:cNvPr id="2" name="文字方塊 1"/>
          <p:cNvSpPr txBox="1"/>
          <p:nvPr/>
        </p:nvSpPr>
        <p:spPr>
          <a:xfrm>
            <a:off x="434567" y="5653661"/>
            <a:ext cx="2555508" cy="461665"/>
          </a:xfrm>
          <a:prstGeom prst="rect">
            <a:avLst/>
          </a:prstGeom>
          <a:solidFill>
            <a:schemeClr val="accent4">
              <a:lumMod val="40000"/>
              <a:lumOff val="60000"/>
            </a:schemeClr>
          </a:solidFill>
        </p:spPr>
        <p:txBody>
          <a:bodyPr wrap="none" rtlCol="0">
            <a:spAutoFit/>
          </a:bodyPr>
          <a:lstStyle/>
          <a:p>
            <a:r>
              <a:rPr lang="zh-TW" altLang="en-US" sz="1200" dirty="0" smtClean="0"/>
              <a:t>註</a:t>
            </a:r>
            <a:r>
              <a:rPr lang="en-US" altLang="zh-TW" sz="1200" dirty="0" smtClean="0"/>
              <a:t>1</a:t>
            </a:r>
            <a:r>
              <a:rPr lang="zh-TW" altLang="en-US" sz="1200" dirty="0" smtClean="0"/>
              <a:t> </a:t>
            </a:r>
            <a:r>
              <a:rPr lang="en-US" altLang="zh-TW" sz="1200" dirty="0" smtClean="0"/>
              <a:t>:</a:t>
            </a:r>
            <a:r>
              <a:rPr lang="zh-TW" altLang="en-US" sz="1200" dirty="0" smtClean="0"/>
              <a:t> 廠商減收於下一頁解說。</a:t>
            </a:r>
            <a:endParaRPr lang="en-US" altLang="zh-TW" sz="1200" dirty="0" smtClean="0"/>
          </a:p>
          <a:p>
            <a:r>
              <a:rPr lang="zh-TW" altLang="en-US" sz="1200" dirty="0"/>
              <a:t>註</a:t>
            </a:r>
            <a:r>
              <a:rPr lang="en-US" altLang="zh-TW" sz="1200" dirty="0" smtClean="0"/>
              <a:t>2</a:t>
            </a:r>
            <a:r>
              <a:rPr lang="zh-TW" altLang="en-US" sz="1200" dirty="0" smtClean="0"/>
              <a:t> </a:t>
            </a:r>
            <a:r>
              <a:rPr lang="en-US" altLang="zh-TW" sz="1200" dirty="0" smtClean="0"/>
              <a:t>:</a:t>
            </a:r>
            <a:r>
              <a:rPr lang="zh-TW" altLang="en-US" sz="1200" dirty="0" smtClean="0"/>
              <a:t> 押標金轉入於</a:t>
            </a:r>
            <a:r>
              <a:rPr lang="en-US" altLang="zh-TW" sz="1200" dirty="0" smtClean="0"/>
              <a:t>A5.4</a:t>
            </a:r>
            <a:r>
              <a:rPr lang="zh-TW" altLang="en-US" sz="1200" dirty="0" smtClean="0"/>
              <a:t>流程解說。</a:t>
            </a:r>
            <a:endParaRPr lang="zh-TW" altLang="en-US" sz="1200" dirty="0"/>
          </a:p>
        </p:txBody>
      </p:sp>
    </p:spTree>
    <p:extLst>
      <p:ext uri="{BB962C8B-B14F-4D97-AF65-F5344CB8AC3E}">
        <p14:creationId xmlns:p14="http://schemas.microsoft.com/office/powerpoint/2010/main" val="36384623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設定廠商減收類型</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9" name="圖片 8">
            <a:extLst>
              <a:ext uri="{FF2B5EF4-FFF2-40B4-BE49-F238E27FC236}">
                <a16:creationId xmlns:a16="http://schemas.microsoft.com/office/drawing/2014/main" id="{312E9E19-A213-478D-A60C-67B9004F7369}"/>
              </a:ext>
            </a:extLst>
          </p:cNvPr>
          <p:cNvPicPr>
            <a:picLocks noChangeAspect="1"/>
          </p:cNvPicPr>
          <p:nvPr/>
        </p:nvPicPr>
        <p:blipFill>
          <a:blip r:embed="rId3"/>
          <a:stretch>
            <a:fillRect/>
          </a:stretch>
        </p:blipFill>
        <p:spPr>
          <a:xfrm>
            <a:off x="145344" y="1684069"/>
            <a:ext cx="8612414" cy="2955663"/>
          </a:xfrm>
          <a:prstGeom prst="rect">
            <a:avLst/>
          </a:prstGeom>
        </p:spPr>
      </p:pic>
      <p:sp>
        <p:nvSpPr>
          <p:cNvPr id="14" name="文字方塊 13">
            <a:extLst>
              <a:ext uri="{FF2B5EF4-FFF2-40B4-BE49-F238E27FC236}">
                <a16:creationId xmlns:a16="http://schemas.microsoft.com/office/drawing/2014/main" id="{44C82D55-31A8-4335-89DF-F48C3065B21C}"/>
              </a:ext>
            </a:extLst>
          </p:cNvPr>
          <p:cNvSpPr txBox="1"/>
          <p:nvPr/>
        </p:nvSpPr>
        <p:spPr>
          <a:xfrm>
            <a:off x="8717037" y="3982682"/>
            <a:ext cx="1569963"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設定減收類型</a:t>
            </a:r>
          </a:p>
        </p:txBody>
      </p:sp>
      <p:sp>
        <p:nvSpPr>
          <p:cNvPr id="15" name="矩形 14">
            <a:extLst>
              <a:ext uri="{FF2B5EF4-FFF2-40B4-BE49-F238E27FC236}">
                <a16:creationId xmlns:a16="http://schemas.microsoft.com/office/drawing/2014/main" id="{D561E94A-FA5D-4EC1-A533-6BFDE3735E28}"/>
              </a:ext>
            </a:extLst>
          </p:cNvPr>
          <p:cNvSpPr/>
          <p:nvPr/>
        </p:nvSpPr>
        <p:spPr>
          <a:xfrm>
            <a:off x="3141134" y="3912805"/>
            <a:ext cx="2497666" cy="5090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A60AD05B-6BAA-47F7-9409-E92B00401758}"/>
              </a:ext>
            </a:extLst>
          </p:cNvPr>
          <p:cNvCxnSpPr>
            <a:cxnSpLocks/>
            <a:stCxn id="14" idx="1"/>
            <a:endCxn id="15" idx="3"/>
          </p:cNvCxnSpPr>
          <p:nvPr/>
        </p:nvCxnSpPr>
        <p:spPr>
          <a:xfrm flipH="1">
            <a:off x="5638800" y="4167348"/>
            <a:ext cx="307823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817E9309-EA26-471D-9F95-27912E950402}"/>
              </a:ext>
            </a:extLst>
          </p:cNvPr>
          <p:cNvSpPr txBox="1"/>
          <p:nvPr/>
        </p:nvSpPr>
        <p:spPr>
          <a:xfrm>
            <a:off x="4351984" y="3121523"/>
            <a:ext cx="3433734"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帶入使用者</a:t>
            </a:r>
            <a:r>
              <a:rPr lang="zh-TW" altLang="en-US" sz="2000" b="1" dirty="0" smtClean="0">
                <a:cs typeface="+mn-ea"/>
                <a:sym typeface="+mn-lt"/>
              </a:rPr>
              <a:t>輸入保證</a:t>
            </a:r>
            <a:r>
              <a:rPr lang="zh-TW" altLang="en-US" sz="2000" b="1" dirty="0">
                <a:cs typeface="+mn-ea"/>
                <a:sym typeface="+mn-lt"/>
              </a:rPr>
              <a:t>金額</a:t>
            </a:r>
            <a:r>
              <a:rPr lang="en-US" altLang="zh-TW" sz="1400" b="1" dirty="0">
                <a:cs typeface="+mn-ea"/>
                <a:sym typeface="+mn-lt"/>
              </a:rPr>
              <a:t>(</a:t>
            </a:r>
            <a:r>
              <a:rPr lang="en-US" altLang="zh-TW" sz="1400" b="1" dirty="0">
                <a:cs typeface="+mn-ea"/>
                <a:sym typeface="+mn-lt"/>
                <a:hlinkClick r:id="rId4" action="ppaction://hlinksldjump"/>
              </a:rPr>
              <a:t>P.4</a:t>
            </a:r>
            <a:r>
              <a:rPr lang="en-US" altLang="zh-TW" sz="1400" b="1" dirty="0">
                <a:cs typeface="+mn-ea"/>
                <a:sym typeface="+mn-lt"/>
              </a:rPr>
              <a:t>)</a:t>
            </a:r>
            <a:endParaRPr lang="en-US" altLang="zh-TW" sz="2000" b="1" dirty="0">
              <a:cs typeface="+mn-ea"/>
              <a:sym typeface="+mn-lt"/>
            </a:endParaRPr>
          </a:p>
        </p:txBody>
      </p:sp>
      <p:sp>
        <p:nvSpPr>
          <p:cNvPr id="28" name="文字方塊 27">
            <a:extLst>
              <a:ext uri="{FF2B5EF4-FFF2-40B4-BE49-F238E27FC236}">
                <a16:creationId xmlns:a16="http://schemas.microsoft.com/office/drawing/2014/main" id="{EB8912E2-8A5C-402B-AF2C-67F97F55712C}"/>
              </a:ext>
            </a:extLst>
          </p:cNvPr>
          <p:cNvSpPr txBox="1"/>
          <p:nvPr/>
        </p:nvSpPr>
        <p:spPr>
          <a:xfrm>
            <a:off x="3733859" y="4770499"/>
            <a:ext cx="2895542" cy="1804749"/>
          </a:xfrm>
          <a:prstGeom prst="wedgeRoundRectCallout">
            <a:avLst>
              <a:gd name="adj1" fmla="val -29851"/>
              <a:gd name="adj2" fmla="val -795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減收類型：</a:t>
            </a:r>
            <a:endParaRPr lang="en-US" altLang="zh-TW" sz="2000" b="1" dirty="0">
              <a:cs typeface="+mn-ea"/>
              <a:sym typeface="+mn-lt"/>
            </a:endParaRPr>
          </a:p>
          <a:p>
            <a:r>
              <a:rPr lang="zh-TW" altLang="en-US" sz="2000" b="1" dirty="0">
                <a:cs typeface="+mn-ea"/>
                <a:sym typeface="+mn-lt"/>
              </a:rPr>
              <a:t>優良</a:t>
            </a:r>
            <a:r>
              <a:rPr lang="zh-TW" altLang="en-US" sz="2000" b="1" dirty="0" smtClean="0">
                <a:cs typeface="+mn-ea"/>
                <a:sym typeface="+mn-lt"/>
              </a:rPr>
              <a:t>廠商     </a:t>
            </a:r>
            <a:r>
              <a:rPr lang="en-US" altLang="zh-TW" sz="2000" b="1" dirty="0" smtClean="0">
                <a:cs typeface="+mn-ea"/>
                <a:sym typeface="+mn-lt"/>
              </a:rPr>
              <a:t>(-50%)</a:t>
            </a:r>
            <a:endParaRPr lang="en-US" altLang="zh-TW" sz="2000" b="1" dirty="0">
              <a:cs typeface="+mn-ea"/>
              <a:sym typeface="+mn-lt"/>
            </a:endParaRPr>
          </a:p>
          <a:p>
            <a:r>
              <a:rPr lang="zh-TW" altLang="en-US" sz="2000" b="1" dirty="0" smtClean="0">
                <a:cs typeface="+mn-ea"/>
                <a:sym typeface="+mn-lt"/>
              </a:rPr>
              <a:t>金質</a:t>
            </a:r>
            <a:r>
              <a:rPr lang="zh-TW" altLang="en-US" sz="2000" b="1" dirty="0">
                <a:cs typeface="+mn-ea"/>
                <a:sym typeface="+mn-lt"/>
              </a:rPr>
              <a:t>獎</a:t>
            </a:r>
            <a:r>
              <a:rPr lang="zh-TW" altLang="en-US" sz="2000" b="1" dirty="0" smtClean="0">
                <a:cs typeface="+mn-ea"/>
                <a:sym typeface="+mn-lt"/>
              </a:rPr>
              <a:t>廠商 </a:t>
            </a:r>
            <a:r>
              <a:rPr lang="en-US" altLang="zh-TW" sz="2000" b="1" dirty="0" smtClean="0">
                <a:cs typeface="+mn-ea"/>
                <a:sym typeface="+mn-lt"/>
              </a:rPr>
              <a:t>(-50%)</a:t>
            </a:r>
            <a:endParaRPr lang="en-US" altLang="zh-TW" sz="2000" b="1" dirty="0">
              <a:cs typeface="+mn-ea"/>
              <a:sym typeface="+mn-lt"/>
            </a:endParaRPr>
          </a:p>
          <a:p>
            <a:r>
              <a:rPr lang="zh-TW" altLang="en-US" sz="2000" b="1" dirty="0">
                <a:cs typeface="+mn-ea"/>
                <a:sym typeface="+mn-lt"/>
              </a:rPr>
              <a:t>卓越</a:t>
            </a:r>
            <a:r>
              <a:rPr lang="zh-TW" altLang="en-US" sz="2000" b="1" dirty="0" smtClean="0">
                <a:cs typeface="+mn-ea"/>
                <a:sym typeface="+mn-lt"/>
              </a:rPr>
              <a:t>廠商     </a:t>
            </a:r>
            <a:r>
              <a:rPr lang="en-US" altLang="zh-TW" sz="2000" b="1" dirty="0" smtClean="0">
                <a:cs typeface="+mn-ea"/>
                <a:sym typeface="+mn-lt"/>
              </a:rPr>
              <a:t>(-50%)</a:t>
            </a:r>
          </a:p>
          <a:p>
            <a:r>
              <a:rPr lang="zh-TW" altLang="en-US" sz="2000" b="1" dirty="0" smtClean="0">
                <a:cs typeface="+mn-ea"/>
                <a:sym typeface="+mn-lt"/>
              </a:rPr>
              <a:t>非</a:t>
            </a:r>
            <a:r>
              <a:rPr lang="zh-TW" altLang="en-US" sz="2000" b="1" dirty="0">
                <a:cs typeface="+mn-ea"/>
                <a:sym typeface="+mn-lt"/>
              </a:rPr>
              <a:t>減收</a:t>
            </a:r>
            <a:r>
              <a:rPr lang="zh-TW" altLang="en-US" sz="2000" b="1" dirty="0" smtClean="0">
                <a:cs typeface="+mn-ea"/>
                <a:sym typeface="+mn-lt"/>
              </a:rPr>
              <a:t>廠商 </a:t>
            </a:r>
            <a:r>
              <a:rPr lang="en-US" altLang="zh-TW" sz="2000" b="1" dirty="0" smtClean="0">
                <a:cs typeface="+mn-ea"/>
                <a:sym typeface="+mn-lt"/>
              </a:rPr>
              <a:t>(</a:t>
            </a:r>
            <a:r>
              <a:rPr lang="zh-TW" altLang="en-US" sz="2000" b="1" dirty="0" smtClean="0">
                <a:cs typeface="+mn-ea"/>
                <a:sym typeface="+mn-lt"/>
              </a:rPr>
              <a:t>無減免</a:t>
            </a:r>
            <a:r>
              <a:rPr lang="en-US" altLang="zh-TW" sz="2000" b="1" dirty="0" smtClean="0">
                <a:cs typeface="+mn-ea"/>
                <a:sym typeface="+mn-lt"/>
              </a:rPr>
              <a:t>)</a:t>
            </a:r>
            <a:endParaRPr lang="en-US" altLang="zh-TW" sz="2000" b="1" dirty="0">
              <a:cs typeface="+mn-ea"/>
              <a:sym typeface="+mn-lt"/>
            </a:endParaRPr>
          </a:p>
        </p:txBody>
      </p:sp>
    </p:spTree>
    <p:extLst>
      <p:ext uri="{BB962C8B-B14F-4D97-AF65-F5344CB8AC3E}">
        <p14:creationId xmlns:p14="http://schemas.microsoft.com/office/powerpoint/2010/main" val="34378045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F43AE871-EBBA-466F-A006-AEB199E60F45}"/>
              </a:ext>
            </a:extLst>
          </p:cNvPr>
          <p:cNvPicPr>
            <a:picLocks noChangeAspect="1"/>
          </p:cNvPicPr>
          <p:nvPr/>
        </p:nvPicPr>
        <p:blipFill>
          <a:blip r:embed="rId3"/>
          <a:stretch>
            <a:fillRect/>
          </a:stretch>
        </p:blipFill>
        <p:spPr>
          <a:xfrm>
            <a:off x="145344" y="1564161"/>
            <a:ext cx="8175296" cy="3685172"/>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設定廠商減收類型</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44C82D55-31A8-4335-89DF-F48C3065B21C}"/>
              </a:ext>
            </a:extLst>
          </p:cNvPr>
          <p:cNvSpPr txBox="1"/>
          <p:nvPr/>
        </p:nvSpPr>
        <p:spPr>
          <a:xfrm>
            <a:off x="8742437" y="4028364"/>
            <a:ext cx="1569963"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設定減收期限</a:t>
            </a:r>
          </a:p>
        </p:txBody>
      </p:sp>
      <p:sp>
        <p:nvSpPr>
          <p:cNvPr id="15" name="矩形 14">
            <a:extLst>
              <a:ext uri="{FF2B5EF4-FFF2-40B4-BE49-F238E27FC236}">
                <a16:creationId xmlns:a16="http://schemas.microsoft.com/office/drawing/2014/main" id="{D561E94A-FA5D-4EC1-A533-6BFDE3735E28}"/>
              </a:ext>
            </a:extLst>
          </p:cNvPr>
          <p:cNvSpPr/>
          <p:nvPr/>
        </p:nvSpPr>
        <p:spPr>
          <a:xfrm>
            <a:off x="2963333" y="3982682"/>
            <a:ext cx="3666067" cy="4877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A60AD05B-6BAA-47F7-9409-E92B00401758}"/>
              </a:ext>
            </a:extLst>
          </p:cNvPr>
          <p:cNvCxnSpPr>
            <a:cxnSpLocks/>
            <a:stCxn id="14" idx="1"/>
            <a:endCxn id="15" idx="3"/>
          </p:cNvCxnSpPr>
          <p:nvPr/>
        </p:nvCxnSpPr>
        <p:spPr>
          <a:xfrm flipH="1">
            <a:off x="6629400" y="4213030"/>
            <a:ext cx="2113037" cy="13511"/>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74512BE5-3513-4E1F-B0B5-DEA954390357}"/>
              </a:ext>
            </a:extLst>
          </p:cNvPr>
          <p:cNvCxnSpPr>
            <a:stCxn id="14" idx="1"/>
            <a:endCxn id="15" idx="3"/>
          </p:cNvCxnSpPr>
          <p:nvPr/>
        </p:nvCxnSpPr>
        <p:spPr>
          <a:xfrm flipH="1">
            <a:off x="6629400" y="4213030"/>
            <a:ext cx="2113037" cy="13511"/>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 name="矩形 1"/>
          <p:cNvSpPr/>
          <p:nvPr/>
        </p:nvSpPr>
        <p:spPr>
          <a:xfrm>
            <a:off x="796732" y="3869838"/>
            <a:ext cx="7617041" cy="12517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文字方塊 27">
            <a:extLst>
              <a:ext uri="{FF2B5EF4-FFF2-40B4-BE49-F238E27FC236}">
                <a16:creationId xmlns:a16="http://schemas.microsoft.com/office/drawing/2014/main" id="{EB8912E2-8A5C-402B-AF2C-67F97F55712C}"/>
              </a:ext>
            </a:extLst>
          </p:cNvPr>
          <p:cNvSpPr txBox="1"/>
          <p:nvPr/>
        </p:nvSpPr>
        <p:spPr>
          <a:xfrm>
            <a:off x="3094755" y="5196126"/>
            <a:ext cx="1957079" cy="442674"/>
          </a:xfrm>
          <a:prstGeom prst="wedgeRoundRectCallout">
            <a:avLst>
              <a:gd name="adj1" fmla="val -29851"/>
              <a:gd name="adj2" fmla="val -79544"/>
              <a:gd name="adj3" fmla="val 16667"/>
            </a:avLst>
          </a:prstGeom>
          <a:solidFill>
            <a:schemeClr val="accent4">
              <a:lumMod val="40000"/>
              <a:lumOff val="60000"/>
            </a:schemeClr>
          </a:solidFill>
        </p:spPr>
        <p:txBody>
          <a:bodyPr wrap="square" rtlCol="0">
            <a:spAutoFit/>
          </a:bodyPr>
          <a:lstStyle/>
          <a:p>
            <a:r>
              <a:rPr lang="zh-TW" altLang="en-US" sz="2000" b="1" dirty="0" smtClean="0">
                <a:cs typeface="+mn-ea"/>
                <a:sym typeface="+mn-lt"/>
              </a:rPr>
              <a:t>計算減收額度。</a:t>
            </a:r>
            <a:endParaRPr lang="en-US" altLang="zh-TW" sz="2000" b="1" dirty="0">
              <a:cs typeface="+mn-ea"/>
              <a:sym typeface="+mn-lt"/>
            </a:endParaRPr>
          </a:p>
        </p:txBody>
      </p:sp>
      <p:sp>
        <p:nvSpPr>
          <p:cNvPr id="27" name="文字方塊 26">
            <a:extLst>
              <a:ext uri="{FF2B5EF4-FFF2-40B4-BE49-F238E27FC236}">
                <a16:creationId xmlns:a16="http://schemas.microsoft.com/office/drawing/2014/main" id="{817E9309-EA26-471D-9F95-27912E950402}"/>
              </a:ext>
            </a:extLst>
          </p:cNvPr>
          <p:cNvSpPr txBox="1"/>
          <p:nvPr/>
        </p:nvSpPr>
        <p:spPr>
          <a:xfrm>
            <a:off x="4351983" y="3121523"/>
            <a:ext cx="5469350" cy="442674"/>
          </a:xfrm>
          <a:prstGeom prst="wedgeRoundRectCallout">
            <a:avLst>
              <a:gd name="adj1" fmla="val -57762"/>
              <a:gd name="adj2" fmla="val 29823"/>
              <a:gd name="adj3" fmla="val 16667"/>
            </a:avLst>
          </a:prstGeom>
          <a:solidFill>
            <a:schemeClr val="accent4">
              <a:lumMod val="40000"/>
              <a:lumOff val="60000"/>
            </a:schemeClr>
          </a:solidFill>
          <a:ln>
            <a:noFill/>
          </a:ln>
        </p:spPr>
        <p:txBody>
          <a:bodyPr wrap="square" rtlCol="0">
            <a:spAutoFit/>
          </a:bodyPr>
          <a:lstStyle/>
          <a:p>
            <a:r>
              <a:rPr lang="zh-TW" altLang="en-US" sz="2000" b="1" dirty="0">
                <a:cs typeface="+mn-ea"/>
                <a:sym typeface="+mn-lt"/>
              </a:rPr>
              <a:t>若廠商可以減收將帶入下列兩格表單提供設定。</a:t>
            </a:r>
            <a:endParaRPr lang="en-US" altLang="zh-TW" sz="2000" b="1" dirty="0">
              <a:cs typeface="+mn-ea"/>
              <a:sym typeface="+mn-lt"/>
            </a:endParaRPr>
          </a:p>
        </p:txBody>
      </p:sp>
      <p:sp>
        <p:nvSpPr>
          <p:cNvPr id="17" name="箭號: 向下 16">
            <a:extLst>
              <a:ext uri="{FF2B5EF4-FFF2-40B4-BE49-F238E27FC236}">
                <a16:creationId xmlns:a16="http://schemas.microsoft.com/office/drawing/2014/main" id="{1A7C70A4-2F6F-48A8-98F5-F98F1D49257C}"/>
              </a:ext>
            </a:extLst>
          </p:cNvPr>
          <p:cNvSpPr/>
          <p:nvPr/>
        </p:nvSpPr>
        <p:spPr>
          <a:xfrm>
            <a:off x="6797197" y="3564198"/>
            <a:ext cx="508000" cy="330469"/>
          </a:xfrm>
          <a:prstGeom prst="downArrow">
            <a:avLst>
              <a:gd name="adj1" fmla="val 100000"/>
              <a:gd name="adj2" fmla="val 5708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8578733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D6ED992C-6542-440E-A29B-C9CA028B6456}"/>
              </a:ext>
            </a:extLst>
          </p:cNvPr>
          <p:cNvPicPr>
            <a:picLocks noChangeAspect="1"/>
          </p:cNvPicPr>
          <p:nvPr/>
        </p:nvPicPr>
        <p:blipFill>
          <a:blip r:embed="rId3"/>
          <a:stretch>
            <a:fillRect/>
          </a:stretch>
        </p:blipFill>
        <p:spPr>
          <a:xfrm>
            <a:off x="145344" y="1496754"/>
            <a:ext cx="7491228" cy="1699976"/>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a:t>
            </a:r>
            <a:r>
              <a:rPr lang="zh-TW" altLang="en-US" sz="2400" b="1" dirty="0" smtClean="0">
                <a:cs typeface="+mn-ea"/>
                <a:sym typeface="+mn-lt"/>
              </a:rPr>
              <a:t>廠商繳納方式</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817E9309-EA26-471D-9F95-27912E950402}"/>
              </a:ext>
            </a:extLst>
          </p:cNvPr>
          <p:cNvSpPr txBox="1"/>
          <p:nvPr/>
        </p:nvSpPr>
        <p:spPr>
          <a:xfrm>
            <a:off x="4461933" y="2053891"/>
            <a:ext cx="3429000" cy="442674"/>
          </a:xfrm>
          <a:prstGeom prst="wedgeRoundRectCallout">
            <a:avLst>
              <a:gd name="adj1" fmla="val -29588"/>
              <a:gd name="adj2" fmla="val 89115"/>
              <a:gd name="adj3" fmla="val 16667"/>
            </a:avLst>
          </a:prstGeom>
          <a:solidFill>
            <a:schemeClr val="accent4">
              <a:lumMod val="40000"/>
              <a:lumOff val="60000"/>
            </a:schemeClr>
          </a:solidFill>
          <a:ln>
            <a:noFill/>
          </a:ln>
        </p:spPr>
        <p:txBody>
          <a:bodyPr wrap="square" rtlCol="0">
            <a:spAutoFit/>
          </a:bodyPr>
          <a:lstStyle/>
          <a:p>
            <a:r>
              <a:rPr lang="zh-TW" altLang="en-US" sz="2000" b="1" dirty="0">
                <a:cs typeface="+mn-ea"/>
                <a:sym typeface="+mn-lt"/>
              </a:rPr>
              <a:t>選擇廠商繳納方式</a:t>
            </a:r>
            <a:r>
              <a:rPr lang="en-US" altLang="zh-TW" sz="2000" b="1" dirty="0">
                <a:cs typeface="+mn-ea"/>
                <a:sym typeface="+mn-lt"/>
              </a:rPr>
              <a:t>(</a:t>
            </a:r>
            <a:r>
              <a:rPr lang="zh-TW" altLang="en-US" sz="2000" b="1" dirty="0">
                <a:cs typeface="+mn-ea"/>
                <a:sym typeface="+mn-lt"/>
              </a:rPr>
              <a:t>可多選</a:t>
            </a:r>
            <a:r>
              <a:rPr lang="en-US" altLang="zh-TW" sz="2000" b="1" dirty="0">
                <a:cs typeface="+mn-ea"/>
                <a:sym typeface="+mn-lt"/>
              </a:rPr>
              <a:t>)</a:t>
            </a:r>
            <a:r>
              <a:rPr lang="zh-TW" altLang="en-US" sz="2000" b="1" dirty="0">
                <a:cs typeface="+mn-ea"/>
                <a:sym typeface="+mn-lt"/>
              </a:rPr>
              <a:t>。</a:t>
            </a:r>
            <a:endParaRPr lang="en-US" altLang="zh-TW" sz="2000" b="1" dirty="0">
              <a:cs typeface="+mn-ea"/>
              <a:sym typeface="+mn-lt"/>
            </a:endParaRPr>
          </a:p>
        </p:txBody>
      </p:sp>
      <p:pic>
        <p:nvPicPr>
          <p:cNvPr id="10" name="圖片 9">
            <a:extLst>
              <a:ext uri="{FF2B5EF4-FFF2-40B4-BE49-F238E27FC236}">
                <a16:creationId xmlns:a16="http://schemas.microsoft.com/office/drawing/2014/main" id="{2AE78521-3635-4CD0-B270-036A76C14B6E}"/>
              </a:ext>
            </a:extLst>
          </p:cNvPr>
          <p:cNvPicPr>
            <a:picLocks noChangeAspect="1"/>
          </p:cNvPicPr>
          <p:nvPr/>
        </p:nvPicPr>
        <p:blipFill>
          <a:blip r:embed="rId4"/>
          <a:stretch>
            <a:fillRect/>
          </a:stretch>
        </p:blipFill>
        <p:spPr>
          <a:xfrm>
            <a:off x="3699934" y="3196730"/>
            <a:ext cx="5204089" cy="3376811"/>
          </a:xfrm>
          <a:prstGeom prst="rect">
            <a:avLst/>
          </a:prstGeom>
        </p:spPr>
      </p:pic>
      <p:cxnSp>
        <p:nvCxnSpPr>
          <p:cNvPr id="22" name="接點: 肘形 21">
            <a:extLst>
              <a:ext uri="{FF2B5EF4-FFF2-40B4-BE49-F238E27FC236}">
                <a16:creationId xmlns:a16="http://schemas.microsoft.com/office/drawing/2014/main" id="{715FFDFC-C4A2-4FB8-8744-4A442B26F07B}"/>
              </a:ext>
            </a:extLst>
          </p:cNvPr>
          <p:cNvCxnSpPr>
            <a:cxnSpLocks/>
          </p:cNvCxnSpPr>
          <p:nvPr/>
        </p:nvCxnSpPr>
        <p:spPr>
          <a:xfrm>
            <a:off x="3395133" y="3053702"/>
            <a:ext cx="1193800" cy="375298"/>
          </a:xfrm>
          <a:prstGeom prst="bentConnector3">
            <a:avLst>
              <a:gd name="adj1" fmla="val -355"/>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BB4AD370-4BAB-4C53-8C6A-6C236A447231}"/>
              </a:ext>
            </a:extLst>
          </p:cNvPr>
          <p:cNvSpPr txBox="1"/>
          <p:nvPr/>
        </p:nvSpPr>
        <p:spPr>
          <a:xfrm>
            <a:off x="719668" y="4663798"/>
            <a:ext cx="2980266" cy="442674"/>
          </a:xfrm>
          <a:prstGeom prst="wedgeRoundRectCallout">
            <a:avLst>
              <a:gd name="adj1" fmla="val 46956"/>
              <a:gd name="adj2" fmla="val -171002"/>
              <a:gd name="adj3" fmla="val 16667"/>
            </a:avLst>
          </a:prstGeom>
          <a:solidFill>
            <a:schemeClr val="accent4">
              <a:lumMod val="40000"/>
              <a:lumOff val="60000"/>
            </a:schemeClr>
          </a:solidFill>
          <a:ln>
            <a:noFill/>
          </a:ln>
        </p:spPr>
        <p:txBody>
          <a:bodyPr wrap="square" rtlCol="0">
            <a:spAutoFit/>
          </a:bodyPr>
          <a:lstStyle/>
          <a:p>
            <a:r>
              <a:rPr lang="zh-TW" altLang="en-US" sz="2000" b="1" dirty="0">
                <a:cs typeface="+mn-ea"/>
                <a:sym typeface="+mn-lt"/>
              </a:rPr>
              <a:t>動態帶入表單提供設定。</a:t>
            </a:r>
            <a:endParaRPr lang="en-US" altLang="zh-TW" sz="2000" b="1" dirty="0">
              <a:cs typeface="+mn-ea"/>
              <a:sym typeface="+mn-lt"/>
            </a:endParaRPr>
          </a:p>
        </p:txBody>
      </p:sp>
      <p:sp>
        <p:nvSpPr>
          <p:cNvPr id="11" name="文字方塊 10">
            <a:extLst>
              <a:ext uri="{FF2B5EF4-FFF2-40B4-BE49-F238E27FC236}">
                <a16:creationId xmlns:a16="http://schemas.microsoft.com/office/drawing/2014/main" id="{BED99307-D06F-4A06-BAA8-A25E303426F6}"/>
              </a:ext>
            </a:extLst>
          </p:cNvPr>
          <p:cNvSpPr txBox="1"/>
          <p:nvPr/>
        </p:nvSpPr>
        <p:spPr>
          <a:xfrm>
            <a:off x="9489481" y="4700469"/>
            <a:ext cx="1561505"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設定</a:t>
            </a:r>
            <a:r>
              <a:rPr lang="zh-TW" altLang="en-US" b="1" dirty="0"/>
              <a:t>繳納</a:t>
            </a:r>
            <a:r>
              <a:rPr lang="zh-TW" altLang="en-US" b="1" dirty="0" smtClean="0"/>
              <a:t>金額</a:t>
            </a:r>
            <a:endParaRPr lang="zh-TW" altLang="en-US" b="1" dirty="0"/>
          </a:p>
        </p:txBody>
      </p:sp>
      <p:sp>
        <p:nvSpPr>
          <p:cNvPr id="12" name="矩形 11">
            <a:extLst>
              <a:ext uri="{FF2B5EF4-FFF2-40B4-BE49-F238E27FC236}">
                <a16:creationId xmlns:a16="http://schemas.microsoft.com/office/drawing/2014/main" id="{66E8F130-E107-4F6C-A90A-EE666FDD80CE}"/>
              </a:ext>
            </a:extLst>
          </p:cNvPr>
          <p:cNvSpPr/>
          <p:nvPr/>
        </p:nvSpPr>
        <p:spPr>
          <a:xfrm>
            <a:off x="4988459" y="3889821"/>
            <a:ext cx="3847723" cy="3290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矩形 16">
            <a:extLst>
              <a:ext uri="{FF2B5EF4-FFF2-40B4-BE49-F238E27FC236}">
                <a16:creationId xmlns:a16="http://schemas.microsoft.com/office/drawing/2014/main" id="{66E8F130-E107-4F6C-A90A-EE666FDD80CE}"/>
              </a:ext>
            </a:extLst>
          </p:cNvPr>
          <p:cNvSpPr/>
          <p:nvPr/>
        </p:nvSpPr>
        <p:spPr>
          <a:xfrm>
            <a:off x="4988459" y="5433786"/>
            <a:ext cx="3847723" cy="3290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9" name="肘形接點 18"/>
          <p:cNvCxnSpPr>
            <a:stCxn id="12" idx="3"/>
            <a:endCxn id="17" idx="3"/>
          </p:cNvCxnSpPr>
          <p:nvPr/>
        </p:nvCxnSpPr>
        <p:spPr>
          <a:xfrm>
            <a:off x="8836182" y="4054368"/>
            <a:ext cx="12700" cy="1543965"/>
          </a:xfrm>
          <a:prstGeom prst="bentConnector3">
            <a:avLst>
              <a:gd name="adj1" fmla="val 180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a:stCxn id="11" idx="1"/>
            <a:endCxn id="11" idx="1"/>
          </p:cNvCxnSpPr>
          <p:nvPr/>
        </p:nvCxnSpPr>
        <p:spPr>
          <a:xfrm>
            <a:off x="9489481" y="4885135"/>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線接點 24"/>
          <p:cNvCxnSpPr>
            <a:endCxn id="11" idx="1"/>
          </p:cNvCxnSpPr>
          <p:nvPr/>
        </p:nvCxnSpPr>
        <p:spPr>
          <a:xfrm>
            <a:off x="9062519" y="4885135"/>
            <a:ext cx="42696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8644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en-US" altLang="zh-TW" sz="2400" b="1" dirty="0">
                <a:cs typeface="+mn-ea"/>
                <a:sym typeface="+mn-lt"/>
              </a:rPr>
              <a:t>A5.3 </a:t>
            </a:r>
            <a:r>
              <a:rPr lang="zh-TW" altLang="en-US" sz="2400" b="1" dirty="0">
                <a:cs typeface="+mn-ea"/>
                <a:sym typeface="+mn-lt"/>
              </a:rPr>
              <a:t>相關文件上傳及完成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ACB9579D-A67B-4438-B623-50D569F76CDD}"/>
              </a:ext>
            </a:extLst>
          </p:cNvPr>
          <p:cNvPicPr>
            <a:picLocks noChangeAspect="1"/>
          </p:cNvPicPr>
          <p:nvPr/>
        </p:nvPicPr>
        <p:blipFill>
          <a:blip r:embed="rId3"/>
          <a:stretch>
            <a:fillRect/>
          </a:stretch>
        </p:blipFill>
        <p:spPr>
          <a:xfrm>
            <a:off x="136200" y="1564161"/>
            <a:ext cx="6486438" cy="4031638"/>
          </a:xfrm>
          <a:prstGeom prst="rect">
            <a:avLst/>
          </a:prstGeom>
        </p:spPr>
      </p:pic>
      <p:sp>
        <p:nvSpPr>
          <p:cNvPr id="14" name="矩形 13">
            <a:extLst>
              <a:ext uri="{FF2B5EF4-FFF2-40B4-BE49-F238E27FC236}">
                <a16:creationId xmlns:a16="http://schemas.microsoft.com/office/drawing/2014/main" id="{9AD267D6-2877-45D0-B12A-7B058F011B9D}"/>
              </a:ext>
            </a:extLst>
          </p:cNvPr>
          <p:cNvSpPr/>
          <p:nvPr/>
        </p:nvSpPr>
        <p:spPr>
          <a:xfrm>
            <a:off x="3015824" y="3426797"/>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C69D2B90-B288-409C-954B-FE8269822CF1}"/>
              </a:ext>
            </a:extLst>
          </p:cNvPr>
          <p:cNvSpPr txBox="1"/>
          <p:nvPr/>
        </p:nvSpPr>
        <p:spPr>
          <a:xfrm>
            <a:off x="6622638" y="2876621"/>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16" name="矩形 15">
            <a:extLst>
              <a:ext uri="{FF2B5EF4-FFF2-40B4-BE49-F238E27FC236}">
                <a16:creationId xmlns:a16="http://schemas.microsoft.com/office/drawing/2014/main" id="{5CF64567-80D9-4D81-9AEC-5EC4A8A1D7B7}"/>
              </a:ext>
            </a:extLst>
          </p:cNvPr>
          <p:cNvSpPr/>
          <p:nvPr/>
        </p:nvSpPr>
        <p:spPr>
          <a:xfrm>
            <a:off x="2776780" y="274530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7" name="直線接點 16">
            <a:extLst>
              <a:ext uri="{FF2B5EF4-FFF2-40B4-BE49-F238E27FC236}">
                <a16:creationId xmlns:a16="http://schemas.microsoft.com/office/drawing/2014/main" id="{F9AB67AC-D624-4797-9D84-2D10CF2E84AE}"/>
              </a:ext>
            </a:extLst>
          </p:cNvPr>
          <p:cNvCxnSpPr>
            <a:cxnSpLocks/>
            <a:stCxn id="14" idx="3"/>
          </p:cNvCxnSpPr>
          <p:nvPr/>
        </p:nvCxnSpPr>
        <p:spPr>
          <a:xfrm>
            <a:off x="3634430" y="3570338"/>
            <a:ext cx="121927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肘形接點 41">
            <a:extLst>
              <a:ext uri="{FF2B5EF4-FFF2-40B4-BE49-F238E27FC236}">
                <a16:creationId xmlns:a16="http://schemas.microsoft.com/office/drawing/2014/main" id="{9CD9ABC7-7C72-4855-9A3B-9C3B25D7CEBA}"/>
              </a:ext>
            </a:extLst>
          </p:cNvPr>
          <p:cNvCxnSpPr>
            <a:cxnSpLocks/>
            <a:stCxn id="16" idx="3"/>
          </p:cNvCxnSpPr>
          <p:nvPr/>
        </p:nvCxnSpPr>
        <p:spPr>
          <a:xfrm>
            <a:off x="4646000" y="2876621"/>
            <a:ext cx="207700" cy="67132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32B58BFA-786F-46BE-818F-DDECE32CB3A4}"/>
              </a:ext>
            </a:extLst>
          </p:cNvPr>
          <p:cNvSpPr/>
          <p:nvPr/>
        </p:nvSpPr>
        <p:spPr>
          <a:xfrm>
            <a:off x="380998" y="4538916"/>
            <a:ext cx="2997201" cy="2870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0" name="直線接點 19">
            <a:extLst>
              <a:ext uri="{FF2B5EF4-FFF2-40B4-BE49-F238E27FC236}">
                <a16:creationId xmlns:a16="http://schemas.microsoft.com/office/drawing/2014/main" id="{0648488F-2398-4A7F-9C2F-42D9AEB074F3}"/>
              </a:ext>
            </a:extLst>
          </p:cNvPr>
          <p:cNvCxnSpPr>
            <a:cxnSpLocks/>
          </p:cNvCxnSpPr>
          <p:nvPr/>
        </p:nvCxnSpPr>
        <p:spPr>
          <a:xfrm flipV="1">
            <a:off x="3354913" y="4702521"/>
            <a:ext cx="3182196" cy="1"/>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DF019A30-8379-46EF-A75C-6BA4B56C2BD1}"/>
              </a:ext>
            </a:extLst>
          </p:cNvPr>
          <p:cNvSpPr txBox="1"/>
          <p:nvPr/>
        </p:nvSpPr>
        <p:spPr>
          <a:xfrm>
            <a:off x="6629492" y="3633440"/>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
        <p:nvSpPr>
          <p:cNvPr id="23" name="矩形 22">
            <a:extLst>
              <a:ext uri="{FF2B5EF4-FFF2-40B4-BE49-F238E27FC236}">
                <a16:creationId xmlns:a16="http://schemas.microsoft.com/office/drawing/2014/main" id="{82C70AA1-1D3A-41C3-BC62-A59379918FE6}"/>
              </a:ext>
            </a:extLst>
          </p:cNvPr>
          <p:cNvSpPr/>
          <p:nvPr/>
        </p:nvSpPr>
        <p:spPr>
          <a:xfrm>
            <a:off x="145344" y="5244857"/>
            <a:ext cx="6299382" cy="3334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4" name="肘形接點 59">
            <a:extLst>
              <a:ext uri="{FF2B5EF4-FFF2-40B4-BE49-F238E27FC236}">
                <a16:creationId xmlns:a16="http://schemas.microsoft.com/office/drawing/2014/main" id="{BA608F26-9FB5-4C12-848F-6C382C3086D4}"/>
              </a:ext>
            </a:extLst>
          </p:cNvPr>
          <p:cNvCxnSpPr>
            <a:cxnSpLocks/>
            <a:stCxn id="23" idx="3"/>
            <a:endCxn id="21" idx="1"/>
          </p:cNvCxnSpPr>
          <p:nvPr/>
        </p:nvCxnSpPr>
        <p:spPr>
          <a:xfrm flipV="1">
            <a:off x="6444726" y="3818106"/>
            <a:ext cx="184766" cy="1593456"/>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EE3505B2-69E7-4B52-BCF4-84272F865BBB}"/>
              </a:ext>
            </a:extLst>
          </p:cNvPr>
          <p:cNvCxnSpPr>
            <a:cxnSpLocks/>
            <a:stCxn id="15" idx="1"/>
          </p:cNvCxnSpPr>
          <p:nvPr/>
        </p:nvCxnSpPr>
        <p:spPr>
          <a:xfrm flipH="1">
            <a:off x="4853700" y="3061287"/>
            <a:ext cx="17689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0820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退還超出保證金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a:t>
            </a:r>
            <a:r>
              <a:rPr lang="en-US" altLang="zh-TW" sz="3200" b="1" dirty="0">
                <a:solidFill>
                  <a:srgbClr val="39759D"/>
                </a:solidFill>
                <a:cs typeface="+mn-ea"/>
                <a:sym typeface="+mn-lt"/>
              </a:rPr>
              <a:t>A5.4 </a:t>
            </a:r>
            <a:r>
              <a:rPr lang="zh-TW" altLang="en-US" sz="3200" b="1" dirty="0">
                <a:solidFill>
                  <a:srgbClr val="39759D"/>
                </a:solidFill>
                <a:cs typeface="+mn-ea"/>
                <a:sym typeface="+mn-lt"/>
              </a:rPr>
              <a:t>總繳納金額超出應繳金額</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835D19A2-B742-4916-8FDA-19FFDD092E1D}"/>
              </a:ext>
            </a:extLst>
          </p:cNvPr>
          <p:cNvPicPr>
            <a:picLocks noChangeAspect="1"/>
          </p:cNvPicPr>
          <p:nvPr/>
        </p:nvPicPr>
        <p:blipFill>
          <a:blip r:embed="rId3"/>
          <a:stretch>
            <a:fillRect/>
          </a:stretch>
        </p:blipFill>
        <p:spPr>
          <a:xfrm>
            <a:off x="1205346" y="3429000"/>
            <a:ext cx="9470511" cy="1788589"/>
          </a:xfrm>
          <a:prstGeom prst="rect">
            <a:avLst/>
          </a:prstGeom>
        </p:spPr>
      </p:pic>
      <p:sp>
        <p:nvSpPr>
          <p:cNvPr id="23" name="文字方塊 22">
            <a:extLst>
              <a:ext uri="{FF2B5EF4-FFF2-40B4-BE49-F238E27FC236}">
                <a16:creationId xmlns:a16="http://schemas.microsoft.com/office/drawing/2014/main" id="{4CB207A8-57CF-44E2-B084-708E8538100B}"/>
              </a:ext>
            </a:extLst>
          </p:cNvPr>
          <p:cNvSpPr txBox="1"/>
          <p:nvPr/>
        </p:nvSpPr>
        <p:spPr>
          <a:xfrm>
            <a:off x="3083101" y="1564161"/>
            <a:ext cx="5714999" cy="646331"/>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若最終發生廠商多繳或是轉入金額後超出應繳保證金時</a:t>
            </a:r>
            <a:endParaRPr lang="en-US" altLang="zh-TW" b="1" dirty="0"/>
          </a:p>
          <a:p>
            <a:pPr algn="ctr"/>
            <a:r>
              <a:rPr lang="zh-TW" altLang="en-US" b="1" dirty="0"/>
              <a:t>可至</a:t>
            </a:r>
            <a:r>
              <a:rPr lang="en-US" altLang="zh-TW" b="1" dirty="0"/>
              <a:t>A5.3</a:t>
            </a:r>
            <a:r>
              <a:rPr lang="zh-TW" altLang="en-US" b="1" dirty="0"/>
              <a:t>自動產出的應退區域設定退款資訊。</a:t>
            </a:r>
          </a:p>
        </p:txBody>
      </p:sp>
      <p:sp>
        <p:nvSpPr>
          <p:cNvPr id="8" name="文字方塊 7"/>
          <p:cNvSpPr txBox="1"/>
          <p:nvPr/>
        </p:nvSpPr>
        <p:spPr>
          <a:xfrm>
            <a:off x="5119526" y="3746376"/>
            <a:ext cx="1821332" cy="369332"/>
          </a:xfrm>
          <a:prstGeom prst="rect">
            <a:avLst/>
          </a:prstGeom>
          <a:noFill/>
        </p:spPr>
        <p:txBody>
          <a:bodyPr wrap="none" rtlCol="0">
            <a:spAutoFit/>
          </a:bodyPr>
          <a:lstStyle/>
          <a:p>
            <a:r>
              <a:rPr lang="zh-TW" altLang="en-US" dirty="0" smtClean="0">
                <a:solidFill>
                  <a:srgbClr val="FF0000"/>
                </a:solidFill>
              </a:rPr>
              <a:t>此處</a:t>
            </a:r>
            <a:r>
              <a:rPr lang="en-US" altLang="zh-TW" dirty="0" smtClean="0">
                <a:solidFill>
                  <a:srgbClr val="FF0000"/>
                </a:solidFill>
              </a:rPr>
              <a:t>BUG</a:t>
            </a:r>
            <a:r>
              <a:rPr lang="zh-TW" altLang="en-US" dirty="0" smtClean="0">
                <a:solidFill>
                  <a:srgbClr val="FF0000"/>
                </a:solidFill>
              </a:rPr>
              <a:t>待補圖</a:t>
            </a:r>
            <a:endParaRPr lang="zh-TW" altLang="en-US" dirty="0">
              <a:solidFill>
                <a:srgbClr val="FF0000"/>
              </a:solidFill>
            </a:endParaRPr>
          </a:p>
        </p:txBody>
      </p:sp>
    </p:spTree>
    <p:extLst>
      <p:ext uri="{BB962C8B-B14F-4D97-AF65-F5344CB8AC3E}">
        <p14:creationId xmlns:p14="http://schemas.microsoft.com/office/powerpoint/2010/main" val="30104581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A5.4</a:t>
            </a:r>
            <a:r>
              <a:rPr lang="zh-TW" altLang="en-US" sz="3200" dirty="0"/>
              <a:t>發還履約保證金</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廠商所繳納之押標金，應於決標後無息發還未得標之廠商。廢標時，亦同。</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得標廠商已依規定繳納保證金，押標金應予發還。</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3" name="五邊形 12"/>
          <p:cNvSpPr/>
          <p:nvPr/>
        </p:nvSpPr>
        <p:spPr>
          <a:xfrm>
            <a:off x="425513" y="274502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5" name="矩形 14"/>
          <p:cNvSpPr/>
          <p:nvPr/>
        </p:nvSpPr>
        <p:spPr>
          <a:xfrm>
            <a:off x="425513" y="3133279"/>
            <a:ext cx="4083169"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C.32-2</a:t>
            </a:r>
            <a:r>
              <a:rPr lang="zh-TW" altLang="en-US" sz="1400" dirty="0">
                <a:latin typeface="微軟正黑體" panose="020B0604030504040204" pitchFamily="34" charset="-120"/>
                <a:ea typeface="微軟正黑體" panose="020B0604030504040204" pitchFamily="34" charset="-120"/>
                <a:hlinkClick r:id="rId2"/>
              </a:rPr>
              <a:t>押標金審核登記暨廠商簽收開</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決</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標紀錄表</a:t>
            </a:r>
            <a:endParaRPr lang="zh-TW" altLang="en-US" sz="1400" dirty="0"/>
          </a:p>
        </p:txBody>
      </p:sp>
      <p:sp>
        <p:nvSpPr>
          <p:cNvPr id="20" name="矩形 19"/>
          <p:cNvSpPr/>
          <p:nvPr/>
        </p:nvSpPr>
        <p:spPr>
          <a:xfrm>
            <a:off x="382013" y="5916408"/>
            <a:ext cx="2861681"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採購</a:t>
            </a:r>
            <a:r>
              <a:rPr lang="zh-TW" altLang="en-US" sz="1200" u="sng" dirty="0">
                <a:solidFill>
                  <a:srgbClr val="000000"/>
                </a:solidFill>
                <a:latin typeface="微軟正黑體" panose="020B0604030504040204" pitchFamily="34" charset="-120"/>
                <a:ea typeface="微軟正黑體" panose="020B0604030504040204" pitchFamily="34" charset="-120"/>
              </a:rPr>
              <a:t>法</a:t>
            </a:r>
            <a:r>
              <a:rPr lang="en-US" altLang="zh-TW" sz="1200" u="sng" dirty="0">
                <a:solidFill>
                  <a:srgbClr val="000000"/>
                </a:solidFill>
                <a:latin typeface="微軟正黑體" panose="020B0604030504040204" pitchFamily="34" charset="-120"/>
                <a:ea typeface="微軟正黑體" panose="020B0604030504040204" pitchFamily="34" charset="-120"/>
              </a:rPr>
              <a:t>30</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31</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26</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28</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3243694" y="5916407"/>
            <a:ext cx="2031325" cy="276999"/>
          </a:xfrm>
          <a:prstGeom prst="rect">
            <a:avLst/>
          </a:prstGeom>
          <a:noFill/>
        </p:spPr>
        <p:txBody>
          <a:bodyPr wrap="none" rtlCol="0">
            <a:spAutoFit/>
          </a:bodyPr>
          <a:lstStyle/>
          <a:p>
            <a:r>
              <a:rPr lang="zh-TW" altLang="en-US" sz="1200" dirty="0">
                <a:hlinkClick r:id="rId4"/>
              </a:rPr>
              <a:t>臺</a:t>
            </a:r>
            <a:r>
              <a:rPr lang="zh-TW" altLang="en-US" sz="1200" dirty="0" smtClean="0">
                <a:hlinkClick r:id="rId4"/>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3639108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CF4E49CE-3E4C-4BD4-BA9C-87840697B185}"/>
              </a:ext>
            </a:extLst>
          </p:cNvPr>
          <p:cNvPicPr>
            <a:picLocks noChangeAspect="1"/>
          </p:cNvPicPr>
          <p:nvPr/>
        </p:nvPicPr>
        <p:blipFill>
          <a:blip r:embed="rId3"/>
          <a:stretch>
            <a:fillRect/>
          </a:stretch>
        </p:blipFill>
        <p:spPr>
          <a:xfrm>
            <a:off x="145344" y="1564161"/>
            <a:ext cx="7272738" cy="3760752"/>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設定發還履約保證金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A5.4</a:t>
            </a:r>
            <a:r>
              <a:rPr lang="zh-TW" altLang="en-US" sz="3200" b="1" dirty="0">
                <a:solidFill>
                  <a:srgbClr val="39759D"/>
                </a:solidFill>
                <a:cs typeface="+mn-ea"/>
                <a:sym typeface="+mn-lt"/>
              </a:rPr>
              <a:t>發還履約保證金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32B58BFA-786F-46BE-818F-DDECE32CB3A4}"/>
              </a:ext>
            </a:extLst>
          </p:cNvPr>
          <p:cNvSpPr/>
          <p:nvPr/>
        </p:nvSpPr>
        <p:spPr>
          <a:xfrm>
            <a:off x="579385" y="4097943"/>
            <a:ext cx="3182196" cy="4012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文字方塊 20">
            <a:extLst>
              <a:ext uri="{FF2B5EF4-FFF2-40B4-BE49-F238E27FC236}">
                <a16:creationId xmlns:a16="http://schemas.microsoft.com/office/drawing/2014/main" id="{DF019A30-8379-46EF-A75C-6BA4B56C2BD1}"/>
              </a:ext>
            </a:extLst>
          </p:cNvPr>
          <p:cNvSpPr txBox="1"/>
          <p:nvPr/>
        </p:nvSpPr>
        <p:spPr>
          <a:xfrm>
            <a:off x="5324596" y="5589533"/>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
        <p:nvSpPr>
          <p:cNvPr id="23" name="矩形 22">
            <a:extLst>
              <a:ext uri="{FF2B5EF4-FFF2-40B4-BE49-F238E27FC236}">
                <a16:creationId xmlns:a16="http://schemas.microsoft.com/office/drawing/2014/main" id="{82C70AA1-1D3A-41C3-BC62-A59379918FE6}"/>
              </a:ext>
            </a:extLst>
          </p:cNvPr>
          <p:cNvSpPr/>
          <p:nvPr/>
        </p:nvSpPr>
        <p:spPr>
          <a:xfrm>
            <a:off x="205221" y="4920678"/>
            <a:ext cx="7103051" cy="3334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4" name="肘形接點 59">
            <a:extLst>
              <a:ext uri="{FF2B5EF4-FFF2-40B4-BE49-F238E27FC236}">
                <a16:creationId xmlns:a16="http://schemas.microsoft.com/office/drawing/2014/main" id="{BA608F26-9FB5-4C12-848F-6C382C3086D4}"/>
              </a:ext>
            </a:extLst>
          </p:cNvPr>
          <p:cNvCxnSpPr>
            <a:cxnSpLocks/>
            <a:endCxn id="21" idx="0"/>
          </p:cNvCxnSpPr>
          <p:nvPr/>
        </p:nvCxnSpPr>
        <p:spPr>
          <a:xfrm rot="16200000" flipH="1">
            <a:off x="7407096" y="4958879"/>
            <a:ext cx="896568" cy="364739"/>
          </a:xfrm>
          <a:prstGeom prst="bentConnector3">
            <a:avLst>
              <a:gd name="adj1" fmla="val 2096"/>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6998189-2596-4EB4-8795-1EB448925B1E}"/>
              </a:ext>
            </a:extLst>
          </p:cNvPr>
          <p:cNvCxnSpPr>
            <a:cxnSpLocks/>
          </p:cNvCxnSpPr>
          <p:nvPr/>
        </p:nvCxnSpPr>
        <p:spPr>
          <a:xfrm>
            <a:off x="3731151" y="4298549"/>
            <a:ext cx="394186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1E1C7A76-BF12-4F8F-8159-F7343CB088E5}"/>
              </a:ext>
            </a:extLst>
          </p:cNvPr>
          <p:cNvCxnSpPr>
            <a:cxnSpLocks/>
          </p:cNvCxnSpPr>
          <p:nvPr/>
        </p:nvCxnSpPr>
        <p:spPr>
          <a:xfrm>
            <a:off x="7673011" y="4298547"/>
            <a:ext cx="0" cy="78883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206B5E4F-6B1F-48C1-854F-7E9075BB2946}"/>
              </a:ext>
            </a:extLst>
          </p:cNvPr>
          <p:cNvCxnSpPr>
            <a:endCxn id="23" idx="3"/>
          </p:cNvCxnSpPr>
          <p:nvPr/>
        </p:nvCxnSpPr>
        <p:spPr>
          <a:xfrm flipH="1">
            <a:off x="7308272" y="5087383"/>
            <a:ext cx="3647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016DC0E9-046F-4C9B-AD22-9E01DFACBDFE}"/>
              </a:ext>
            </a:extLst>
          </p:cNvPr>
          <p:cNvSpPr/>
          <p:nvPr/>
        </p:nvSpPr>
        <p:spPr>
          <a:xfrm>
            <a:off x="205220" y="2559451"/>
            <a:ext cx="6403397" cy="4012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7" name="直線接點 46">
            <a:extLst>
              <a:ext uri="{FF2B5EF4-FFF2-40B4-BE49-F238E27FC236}">
                <a16:creationId xmlns:a16="http://schemas.microsoft.com/office/drawing/2014/main" id="{15406798-F3E9-4238-99E9-450B65E2A606}"/>
              </a:ext>
            </a:extLst>
          </p:cNvPr>
          <p:cNvCxnSpPr/>
          <p:nvPr/>
        </p:nvCxnSpPr>
        <p:spPr>
          <a:xfrm>
            <a:off x="3387416" y="2960661"/>
            <a:ext cx="0" cy="2605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E287B919-7D2A-446D-A3D0-BBF64E448DB2}"/>
              </a:ext>
            </a:extLst>
          </p:cNvPr>
          <p:cNvSpPr txBox="1"/>
          <p:nvPr/>
        </p:nvSpPr>
        <p:spPr>
          <a:xfrm>
            <a:off x="2299882" y="3219027"/>
            <a:ext cx="1676372"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選擇發還狀態。</a:t>
            </a:r>
          </a:p>
        </p:txBody>
      </p:sp>
      <p:sp>
        <p:nvSpPr>
          <p:cNvPr id="49" name="文字方塊 48">
            <a:extLst>
              <a:ext uri="{FF2B5EF4-FFF2-40B4-BE49-F238E27FC236}">
                <a16:creationId xmlns:a16="http://schemas.microsoft.com/office/drawing/2014/main" id="{27686E77-4CFF-4379-8E97-6134515624E2}"/>
              </a:ext>
            </a:extLst>
          </p:cNvPr>
          <p:cNvSpPr txBox="1"/>
          <p:nvPr/>
        </p:nvSpPr>
        <p:spPr>
          <a:xfrm>
            <a:off x="6835688" y="2033660"/>
            <a:ext cx="5195453" cy="1123712"/>
          </a:xfrm>
          <a:prstGeom prst="wedgeRoundRectCallout">
            <a:avLst>
              <a:gd name="adj1" fmla="val -54270"/>
              <a:gd name="adj2" fmla="val 1450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若選擇已發還、沒入需選擇發還</a:t>
            </a:r>
            <a:r>
              <a:rPr lang="en-US" altLang="zh-TW" sz="2000" b="1" dirty="0">
                <a:cs typeface="+mn-ea"/>
                <a:sym typeface="+mn-lt"/>
              </a:rPr>
              <a:t>/</a:t>
            </a:r>
            <a:r>
              <a:rPr lang="zh-TW" altLang="en-US" sz="2000" b="1" dirty="0">
                <a:cs typeface="+mn-ea"/>
                <a:sym typeface="+mn-lt"/>
              </a:rPr>
              <a:t>沒入日期。</a:t>
            </a:r>
            <a:endParaRPr lang="en-US" altLang="zh-TW" sz="2000" b="1" dirty="0">
              <a:cs typeface="+mn-ea"/>
              <a:sym typeface="+mn-lt"/>
            </a:endParaRPr>
          </a:p>
          <a:p>
            <a:endParaRPr lang="en-US" altLang="zh-TW" sz="2000" b="1" dirty="0">
              <a:cs typeface="+mn-ea"/>
              <a:sym typeface="+mn-lt"/>
            </a:endParaRPr>
          </a:p>
          <a:p>
            <a:endParaRPr lang="en-US" altLang="zh-TW" sz="2000" b="1" dirty="0">
              <a:cs typeface="+mn-ea"/>
              <a:sym typeface="+mn-lt"/>
            </a:endParaRPr>
          </a:p>
        </p:txBody>
      </p:sp>
      <p:pic>
        <p:nvPicPr>
          <p:cNvPr id="51" name="圖片 50">
            <a:extLst>
              <a:ext uri="{FF2B5EF4-FFF2-40B4-BE49-F238E27FC236}">
                <a16:creationId xmlns:a16="http://schemas.microsoft.com/office/drawing/2014/main" id="{574A4037-667C-4AA3-AC37-7B2FEE8C9499}"/>
              </a:ext>
            </a:extLst>
          </p:cNvPr>
          <p:cNvPicPr>
            <a:picLocks noChangeAspect="1"/>
          </p:cNvPicPr>
          <p:nvPr/>
        </p:nvPicPr>
        <p:blipFill>
          <a:blip r:embed="rId4"/>
          <a:stretch>
            <a:fillRect/>
          </a:stretch>
        </p:blipFill>
        <p:spPr>
          <a:xfrm>
            <a:off x="7060222" y="2569088"/>
            <a:ext cx="1968460" cy="415798"/>
          </a:xfrm>
          <a:prstGeom prst="rect">
            <a:avLst/>
          </a:prstGeom>
        </p:spPr>
      </p:pic>
      <p:pic>
        <p:nvPicPr>
          <p:cNvPr id="53" name="圖片 52">
            <a:extLst>
              <a:ext uri="{FF2B5EF4-FFF2-40B4-BE49-F238E27FC236}">
                <a16:creationId xmlns:a16="http://schemas.microsoft.com/office/drawing/2014/main" id="{91BB290C-1D45-4AC0-929E-FB610247BFEF}"/>
              </a:ext>
            </a:extLst>
          </p:cNvPr>
          <p:cNvPicPr>
            <a:picLocks noChangeAspect="1"/>
          </p:cNvPicPr>
          <p:nvPr/>
        </p:nvPicPr>
        <p:blipFill>
          <a:blip r:embed="rId5"/>
          <a:stretch>
            <a:fillRect/>
          </a:stretch>
        </p:blipFill>
        <p:spPr>
          <a:xfrm>
            <a:off x="9189981" y="2569087"/>
            <a:ext cx="1950576" cy="415797"/>
          </a:xfrm>
          <a:prstGeom prst="rect">
            <a:avLst/>
          </a:prstGeom>
        </p:spPr>
      </p:pic>
      <p:sp>
        <p:nvSpPr>
          <p:cNvPr id="55" name="矩形 54">
            <a:extLst>
              <a:ext uri="{FF2B5EF4-FFF2-40B4-BE49-F238E27FC236}">
                <a16:creationId xmlns:a16="http://schemas.microsoft.com/office/drawing/2014/main" id="{CACB7C96-D7AA-4D99-9E04-C63E6D7F39D1}"/>
              </a:ext>
            </a:extLst>
          </p:cNvPr>
          <p:cNvSpPr/>
          <p:nvPr/>
        </p:nvSpPr>
        <p:spPr>
          <a:xfrm>
            <a:off x="7834745" y="2639292"/>
            <a:ext cx="1193937" cy="321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6" name="矩形 55">
            <a:extLst>
              <a:ext uri="{FF2B5EF4-FFF2-40B4-BE49-F238E27FC236}">
                <a16:creationId xmlns:a16="http://schemas.microsoft.com/office/drawing/2014/main" id="{F12EFA8B-9D3D-40C7-A24D-9B115667E52E}"/>
              </a:ext>
            </a:extLst>
          </p:cNvPr>
          <p:cNvSpPr/>
          <p:nvPr/>
        </p:nvSpPr>
        <p:spPr>
          <a:xfrm>
            <a:off x="9850689" y="2639292"/>
            <a:ext cx="1193937" cy="321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2339145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1D16685E-7E1D-45F4-908C-77A15D2AAD26}"/>
              </a:ext>
            </a:extLst>
          </p:cNvPr>
          <p:cNvPicPr>
            <a:picLocks noChangeAspect="1"/>
          </p:cNvPicPr>
          <p:nvPr/>
        </p:nvPicPr>
        <p:blipFill>
          <a:blip r:embed="rId3"/>
          <a:stretch>
            <a:fillRect/>
          </a:stretch>
        </p:blipFill>
        <p:spPr>
          <a:xfrm>
            <a:off x="6330355" y="1964411"/>
            <a:ext cx="5716300" cy="3143773"/>
          </a:xfrm>
          <a:prstGeom prst="rect">
            <a:avLst/>
          </a:prstGeom>
          <a:ln>
            <a:solidFill>
              <a:schemeClr val="accent1">
                <a:lumMod val="20000"/>
                <a:lumOff val="80000"/>
              </a:schemeClr>
            </a:solidFill>
          </a:ln>
        </p:spPr>
      </p:pic>
      <p:cxnSp>
        <p:nvCxnSpPr>
          <p:cNvPr id="13" name="直線接點 12">
            <a:extLst>
              <a:ext uri="{FF2B5EF4-FFF2-40B4-BE49-F238E27FC236}">
                <a16:creationId xmlns:a16="http://schemas.microsoft.com/office/drawing/2014/main" id="{806442F3-7FEE-4258-AAEF-D76FD0E828FA}"/>
              </a:ext>
            </a:extLst>
          </p:cNvPr>
          <p:cNvCxnSpPr>
            <a:cxnSpLocks/>
          </p:cNvCxnSpPr>
          <p:nvPr/>
        </p:nvCxnSpPr>
        <p:spPr>
          <a:xfrm>
            <a:off x="9017334" y="3429000"/>
            <a:ext cx="0" cy="95379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CF4E49CE-3E4C-4BD4-BA9C-87840697B185}"/>
              </a:ext>
            </a:extLst>
          </p:cNvPr>
          <p:cNvPicPr>
            <a:picLocks noChangeAspect="1"/>
          </p:cNvPicPr>
          <p:nvPr/>
        </p:nvPicPr>
        <p:blipFill rotWithShape="1">
          <a:blip r:embed="rId4"/>
          <a:srcRect b="60544"/>
          <a:stretch/>
        </p:blipFill>
        <p:spPr>
          <a:xfrm>
            <a:off x="87709" y="952665"/>
            <a:ext cx="8034145" cy="1639187"/>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設定轉入履約保證金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A5.4</a:t>
            </a:r>
            <a:r>
              <a:rPr lang="zh-TW" altLang="en-US" sz="3200" b="1" dirty="0">
                <a:solidFill>
                  <a:srgbClr val="39759D"/>
                </a:solidFill>
                <a:cs typeface="+mn-ea"/>
                <a:sym typeface="+mn-lt"/>
              </a:rPr>
              <a:t>發還履約保證金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016DC0E9-046F-4C9B-AD22-9E01DFACBDFE}"/>
              </a:ext>
            </a:extLst>
          </p:cNvPr>
          <p:cNvSpPr/>
          <p:nvPr/>
        </p:nvSpPr>
        <p:spPr>
          <a:xfrm>
            <a:off x="5160818" y="2034067"/>
            <a:ext cx="1108365"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箭號: 向下 24">
            <a:extLst>
              <a:ext uri="{FF2B5EF4-FFF2-40B4-BE49-F238E27FC236}">
                <a16:creationId xmlns:a16="http://schemas.microsoft.com/office/drawing/2014/main" id="{0F28F618-0BF1-42CB-985A-FFCC506BCCAB}"/>
              </a:ext>
            </a:extLst>
          </p:cNvPr>
          <p:cNvSpPr/>
          <p:nvPr/>
        </p:nvSpPr>
        <p:spPr>
          <a:xfrm>
            <a:off x="9256363" y="1834667"/>
            <a:ext cx="508000" cy="596805"/>
          </a:xfrm>
          <a:prstGeom prst="downArrow">
            <a:avLst>
              <a:gd name="adj1" fmla="val 100000"/>
              <a:gd name="adj2" fmla="val 5708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文字方塊 48">
            <a:extLst>
              <a:ext uri="{FF2B5EF4-FFF2-40B4-BE49-F238E27FC236}">
                <a16:creationId xmlns:a16="http://schemas.microsoft.com/office/drawing/2014/main" id="{27686E77-4CFF-4379-8E97-6134515624E2}"/>
              </a:ext>
            </a:extLst>
          </p:cNvPr>
          <p:cNvSpPr txBox="1"/>
          <p:nvPr/>
        </p:nvSpPr>
        <p:spPr>
          <a:xfrm>
            <a:off x="5903526" y="1410402"/>
            <a:ext cx="6227617" cy="442674"/>
          </a:xfrm>
          <a:prstGeom prst="wedgeRoundRectCallout">
            <a:avLst>
              <a:gd name="adj1" fmla="val -49316"/>
              <a:gd name="adj2" fmla="val 89617"/>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若選擇轉入履約金，則帶入所選繳納方式提供編輯。</a:t>
            </a:r>
            <a:endParaRPr lang="en-US" altLang="zh-TW" sz="2000" b="1" dirty="0">
              <a:cs typeface="+mn-ea"/>
              <a:sym typeface="+mn-lt"/>
            </a:endParaRPr>
          </a:p>
        </p:txBody>
      </p:sp>
      <p:pic>
        <p:nvPicPr>
          <p:cNvPr id="9" name="圖片 8">
            <a:extLst>
              <a:ext uri="{FF2B5EF4-FFF2-40B4-BE49-F238E27FC236}">
                <a16:creationId xmlns:a16="http://schemas.microsoft.com/office/drawing/2014/main" id="{7795F5DF-169D-49A0-8A8C-0C60A6C04E46}"/>
              </a:ext>
            </a:extLst>
          </p:cNvPr>
          <p:cNvPicPr>
            <a:picLocks noChangeAspect="1"/>
          </p:cNvPicPr>
          <p:nvPr/>
        </p:nvPicPr>
        <p:blipFill>
          <a:blip r:embed="rId5"/>
          <a:stretch>
            <a:fillRect/>
          </a:stretch>
        </p:blipFill>
        <p:spPr>
          <a:xfrm>
            <a:off x="325583" y="4167015"/>
            <a:ext cx="6908324" cy="1882338"/>
          </a:xfrm>
          <a:prstGeom prst="rect">
            <a:avLst/>
          </a:prstGeom>
          <a:ln>
            <a:solidFill>
              <a:schemeClr val="accent1">
                <a:lumMod val="40000"/>
                <a:lumOff val="60000"/>
              </a:schemeClr>
            </a:solidFill>
          </a:ln>
        </p:spPr>
      </p:pic>
      <p:cxnSp>
        <p:nvCxnSpPr>
          <p:cNvPr id="11" name="接點: 肘形 10">
            <a:extLst>
              <a:ext uri="{FF2B5EF4-FFF2-40B4-BE49-F238E27FC236}">
                <a16:creationId xmlns:a16="http://schemas.microsoft.com/office/drawing/2014/main" id="{1D857E0E-29B0-41CA-A336-5681597C997E}"/>
              </a:ext>
            </a:extLst>
          </p:cNvPr>
          <p:cNvCxnSpPr>
            <a:stCxn id="7" idx="1"/>
            <a:endCxn id="9" idx="0"/>
          </p:cNvCxnSpPr>
          <p:nvPr/>
        </p:nvCxnSpPr>
        <p:spPr>
          <a:xfrm rot="10800000" flipV="1">
            <a:off x="3779745" y="3536297"/>
            <a:ext cx="2550610" cy="630717"/>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87DCBB73-4987-4BDD-A492-A2F4F7A48E7B}"/>
              </a:ext>
            </a:extLst>
          </p:cNvPr>
          <p:cNvSpPr txBox="1"/>
          <p:nvPr/>
        </p:nvSpPr>
        <p:spPr>
          <a:xfrm>
            <a:off x="325583" y="3325461"/>
            <a:ext cx="5577943"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設定完後須回到</a:t>
            </a:r>
            <a:r>
              <a:rPr lang="en-US" altLang="zh-TW" b="1" dirty="0"/>
              <a:t>A5.3</a:t>
            </a:r>
            <a:r>
              <a:rPr lang="zh-TW" altLang="en-US" b="1" dirty="0"/>
              <a:t>繳納保證金中設定轉入相關資訊。</a:t>
            </a:r>
          </a:p>
        </p:txBody>
      </p:sp>
      <p:sp>
        <p:nvSpPr>
          <p:cNvPr id="16" name="文字方塊 15">
            <a:extLst>
              <a:ext uri="{FF2B5EF4-FFF2-40B4-BE49-F238E27FC236}">
                <a16:creationId xmlns:a16="http://schemas.microsoft.com/office/drawing/2014/main" id="{271BFFCD-CF90-4233-9074-E28F2DAA1D28}"/>
              </a:ext>
            </a:extLst>
          </p:cNvPr>
          <p:cNvSpPr txBox="1"/>
          <p:nvPr/>
        </p:nvSpPr>
        <p:spPr>
          <a:xfrm>
            <a:off x="8221180" y="3691329"/>
            <a:ext cx="1761021" cy="369332"/>
          </a:xfrm>
          <a:prstGeom prst="rect">
            <a:avLst/>
          </a:prstGeom>
          <a:solidFill>
            <a:schemeClr val="accent4">
              <a:lumMod val="40000"/>
              <a:lumOff val="60000"/>
            </a:schemeClr>
          </a:solidFill>
          <a:ln w="12700">
            <a:solidFill>
              <a:srgbClr val="FF0000"/>
            </a:solidFill>
          </a:ln>
        </p:spPr>
        <p:txBody>
          <a:bodyPr wrap="square" rtlCol="0">
            <a:spAutoFit/>
          </a:bodyPr>
          <a:lstStyle/>
          <a:p>
            <a:r>
              <a:rPr lang="zh-TW" altLang="en-US" b="1" dirty="0"/>
              <a:t>輸入繳納金額。</a:t>
            </a:r>
          </a:p>
        </p:txBody>
      </p:sp>
      <p:sp>
        <p:nvSpPr>
          <p:cNvPr id="19" name="矩形 18">
            <a:extLst>
              <a:ext uri="{FF2B5EF4-FFF2-40B4-BE49-F238E27FC236}">
                <a16:creationId xmlns:a16="http://schemas.microsoft.com/office/drawing/2014/main" id="{FF6B00E1-5B50-4105-B373-4044988300FA}"/>
              </a:ext>
            </a:extLst>
          </p:cNvPr>
          <p:cNvSpPr/>
          <p:nvPr/>
        </p:nvSpPr>
        <p:spPr>
          <a:xfrm>
            <a:off x="7571438" y="3093673"/>
            <a:ext cx="4294979"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矩形 19">
            <a:extLst>
              <a:ext uri="{FF2B5EF4-FFF2-40B4-BE49-F238E27FC236}">
                <a16:creationId xmlns:a16="http://schemas.microsoft.com/office/drawing/2014/main" id="{066E2251-B351-47F8-8CDC-5AD37F329062}"/>
              </a:ext>
            </a:extLst>
          </p:cNvPr>
          <p:cNvSpPr/>
          <p:nvPr/>
        </p:nvSpPr>
        <p:spPr>
          <a:xfrm>
            <a:off x="7578365" y="4382795"/>
            <a:ext cx="4350399"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3349554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退還超出保證金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a:t>
            </a:r>
            <a:r>
              <a:rPr lang="en-US" altLang="zh-TW" sz="3200" b="1" dirty="0">
                <a:solidFill>
                  <a:srgbClr val="39759D"/>
                </a:solidFill>
                <a:cs typeface="+mn-ea"/>
                <a:sym typeface="+mn-lt"/>
              </a:rPr>
              <a:t>A5.4 </a:t>
            </a:r>
            <a:r>
              <a:rPr lang="zh-TW" altLang="en-US" sz="3200" b="1" dirty="0">
                <a:solidFill>
                  <a:srgbClr val="39759D"/>
                </a:solidFill>
                <a:cs typeface="+mn-ea"/>
                <a:sym typeface="+mn-lt"/>
              </a:rPr>
              <a:t>總繳納金額超出應繳金額</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835D19A2-B742-4916-8FDA-19FFDD092E1D}"/>
              </a:ext>
            </a:extLst>
          </p:cNvPr>
          <p:cNvPicPr>
            <a:picLocks noChangeAspect="1"/>
          </p:cNvPicPr>
          <p:nvPr/>
        </p:nvPicPr>
        <p:blipFill>
          <a:blip r:embed="rId3"/>
          <a:stretch>
            <a:fillRect/>
          </a:stretch>
        </p:blipFill>
        <p:spPr>
          <a:xfrm>
            <a:off x="1205346" y="3429000"/>
            <a:ext cx="9470511" cy="1788589"/>
          </a:xfrm>
          <a:prstGeom prst="rect">
            <a:avLst/>
          </a:prstGeom>
        </p:spPr>
      </p:pic>
      <p:sp>
        <p:nvSpPr>
          <p:cNvPr id="23" name="文字方塊 22">
            <a:extLst>
              <a:ext uri="{FF2B5EF4-FFF2-40B4-BE49-F238E27FC236}">
                <a16:creationId xmlns:a16="http://schemas.microsoft.com/office/drawing/2014/main" id="{4CB207A8-57CF-44E2-B084-708E8538100B}"/>
              </a:ext>
            </a:extLst>
          </p:cNvPr>
          <p:cNvSpPr txBox="1"/>
          <p:nvPr/>
        </p:nvSpPr>
        <p:spPr>
          <a:xfrm>
            <a:off x="3083101" y="1564161"/>
            <a:ext cx="5714999" cy="646331"/>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若最終發生廠商多繳或是轉入金額後超出應繳保證金時</a:t>
            </a:r>
            <a:endParaRPr lang="en-US" altLang="zh-TW" b="1" dirty="0"/>
          </a:p>
          <a:p>
            <a:pPr algn="ctr"/>
            <a:r>
              <a:rPr lang="zh-TW" altLang="en-US" b="1" dirty="0"/>
              <a:t>可至</a:t>
            </a:r>
            <a:r>
              <a:rPr lang="en-US" altLang="zh-TW" b="1" dirty="0"/>
              <a:t>A5.3</a:t>
            </a:r>
            <a:r>
              <a:rPr lang="zh-TW" altLang="en-US" b="1" dirty="0"/>
              <a:t>自動產出的應退區域設定退款資訊。</a:t>
            </a:r>
          </a:p>
        </p:txBody>
      </p:sp>
      <p:sp>
        <p:nvSpPr>
          <p:cNvPr id="2" name="文字方塊 1"/>
          <p:cNvSpPr txBox="1"/>
          <p:nvPr/>
        </p:nvSpPr>
        <p:spPr>
          <a:xfrm>
            <a:off x="5341468" y="3524435"/>
            <a:ext cx="1821332" cy="369332"/>
          </a:xfrm>
          <a:prstGeom prst="rect">
            <a:avLst/>
          </a:prstGeom>
          <a:noFill/>
        </p:spPr>
        <p:txBody>
          <a:bodyPr wrap="none" rtlCol="0">
            <a:spAutoFit/>
          </a:bodyPr>
          <a:lstStyle/>
          <a:p>
            <a:r>
              <a:rPr lang="zh-TW" altLang="en-US" dirty="0" smtClean="0">
                <a:solidFill>
                  <a:srgbClr val="FF0000"/>
                </a:solidFill>
              </a:rPr>
              <a:t>此處</a:t>
            </a:r>
            <a:r>
              <a:rPr lang="en-US" altLang="zh-TW" dirty="0" smtClean="0">
                <a:solidFill>
                  <a:srgbClr val="FF0000"/>
                </a:solidFill>
              </a:rPr>
              <a:t>BUG</a:t>
            </a:r>
            <a:r>
              <a:rPr lang="zh-TW" altLang="en-US" dirty="0" smtClean="0">
                <a:solidFill>
                  <a:srgbClr val="FF0000"/>
                </a:solidFill>
              </a:rPr>
              <a:t>待補圖</a:t>
            </a:r>
            <a:endParaRPr lang="zh-TW" altLang="en-US" dirty="0">
              <a:solidFill>
                <a:srgbClr val="FF0000"/>
              </a:solidFill>
            </a:endParaRPr>
          </a:p>
        </p:txBody>
      </p:sp>
    </p:spTree>
    <p:extLst>
      <p:ext uri="{BB962C8B-B14F-4D97-AF65-F5344CB8AC3E}">
        <p14:creationId xmlns:p14="http://schemas.microsoft.com/office/powerpoint/2010/main" val="25210533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A5.5</a:t>
            </a:r>
            <a:r>
              <a:rPr lang="zh-TW" altLang="en-US" sz="3200" dirty="0"/>
              <a:t>單價調整</a:t>
            </a:r>
            <a:r>
              <a:rPr lang="en-US" altLang="zh-TW" sz="3200" dirty="0"/>
              <a:t>(</a:t>
            </a:r>
            <a:r>
              <a:rPr lang="zh-TW" altLang="en-US" sz="3200" dirty="0"/>
              <a:t>待補</a:t>
            </a:r>
            <a:r>
              <a:rPr lang="en-US" altLang="zh-TW" sz="3200" dirty="0"/>
              <a:t>)</a:t>
            </a:r>
          </a:p>
        </p:txBody>
      </p:sp>
      <p:sp>
        <p:nvSpPr>
          <p:cNvPr id="5" name="矩形 4"/>
          <p:cNvSpPr/>
          <p:nvPr/>
        </p:nvSpPr>
        <p:spPr>
          <a:xfrm>
            <a:off x="612780" y="1706742"/>
            <a:ext cx="10975655" cy="1668534"/>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除招標文件另有規定者外，簽訂契約時詳細價目表、單價分析表或其他相關書表所列各項目之單價，依本機關原列預算單價，以決標總價與預算總價比例調整為原則，但詳細價目表所列之人力項目單價，依本機關原列預算單價不予調低。</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有特殊情形或得標廠商認為某項目單價不合理時，得於訂約時由機關與得標廠商協議調整之。</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廠商報價低於底價者，安全衛生經費、空氣污染及噪音防制設施經費項下之各項單價，依機關原列預算單價以核定底價與預算總價之比例調整，不隨得標廠商標價調整。</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0" name="矩形 19"/>
          <p:cNvSpPr/>
          <p:nvPr/>
        </p:nvSpPr>
        <p:spPr>
          <a:xfrm>
            <a:off x="382013" y="5916408"/>
            <a:ext cx="139974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投</a:t>
            </a:r>
            <a:r>
              <a:rPr lang="zh-TW" altLang="en-US" sz="1200" u="sng" dirty="0">
                <a:solidFill>
                  <a:srgbClr val="000000"/>
                </a:solidFill>
                <a:latin typeface="微軟正黑體" panose="020B0604030504040204" pitchFamily="34" charset="-120"/>
                <a:ea typeface="微軟正黑體" panose="020B0604030504040204" pitchFamily="34" charset="-120"/>
              </a:rPr>
              <a:t>須</a:t>
            </a:r>
            <a:r>
              <a:rPr lang="en-US" altLang="zh-TW" sz="1200" u="sng" dirty="0">
                <a:solidFill>
                  <a:srgbClr val="000000"/>
                </a:solidFill>
                <a:latin typeface="微軟正黑體" panose="020B0604030504040204" pitchFamily="34" charset="-120"/>
                <a:ea typeface="微軟正黑體" panose="020B0604030504040204" pitchFamily="34" charset="-120"/>
              </a:rPr>
              <a:t>84</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1781755" y="5916407"/>
            <a:ext cx="2031325" cy="276999"/>
          </a:xfrm>
          <a:prstGeom prst="rect">
            <a:avLst/>
          </a:prstGeom>
          <a:noFill/>
        </p:spPr>
        <p:txBody>
          <a:bodyPr wrap="none" rtlCol="0">
            <a:spAutoFit/>
          </a:bodyPr>
          <a:lstStyle/>
          <a:p>
            <a:r>
              <a:rPr lang="zh-TW" altLang="en-US" sz="1200" dirty="0">
                <a:hlinkClick r:id="rId3"/>
              </a:rPr>
              <a:t>臺</a:t>
            </a:r>
            <a:r>
              <a:rPr lang="zh-TW" altLang="en-US" sz="1200" dirty="0" smtClean="0">
                <a:hlinkClick r:id="rId3"/>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8295303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退還超出保證金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A5.5</a:t>
            </a:r>
            <a:r>
              <a:rPr lang="zh-TW" altLang="en-US" sz="3200" b="1" dirty="0">
                <a:solidFill>
                  <a:srgbClr val="39759D"/>
                </a:solidFill>
                <a:cs typeface="+mn-ea"/>
                <a:sym typeface="+mn-lt"/>
              </a:rPr>
              <a:t>單價調整</a:t>
            </a:r>
            <a:r>
              <a:rPr lang="en-US" altLang="zh-TW" sz="3200" b="1" dirty="0">
                <a:solidFill>
                  <a:srgbClr val="39759D"/>
                </a:solidFill>
                <a:cs typeface="+mn-ea"/>
                <a:sym typeface="+mn-lt"/>
              </a:rPr>
              <a:t>(</a:t>
            </a:r>
            <a:r>
              <a:rPr lang="zh-TW" altLang="en-US" sz="3200" b="1" dirty="0">
                <a:solidFill>
                  <a:srgbClr val="39759D"/>
                </a:solidFill>
                <a:cs typeface="+mn-ea"/>
                <a:sym typeface="+mn-lt"/>
              </a:rPr>
              <a:t>待補</a:t>
            </a:r>
            <a:r>
              <a:rPr lang="en-US" altLang="zh-TW" sz="3200" b="1" dirty="0">
                <a:solidFill>
                  <a:srgbClr val="39759D"/>
                </a:solidFill>
                <a:cs typeface="+mn-ea"/>
                <a:sym typeface="+mn-lt"/>
              </a:rPr>
              <a:t>)</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9550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2781531" cy="584775"/>
          </a:xfrm>
          <a:prstGeom prst="rect">
            <a:avLst/>
          </a:prstGeom>
        </p:spPr>
        <p:txBody>
          <a:bodyPr wrap="none">
            <a:spAutoFit/>
          </a:bodyPr>
          <a:lstStyle/>
          <a:p>
            <a:pPr lvl="0">
              <a:defRPr/>
            </a:pPr>
            <a:r>
              <a:rPr lang="en-US" altLang="zh-TW" sz="3200" dirty="0"/>
              <a:t>A5.6 </a:t>
            </a:r>
            <a:r>
              <a:rPr lang="zh-TW" altLang="en-US" sz="3200" dirty="0"/>
              <a:t>簽訂契約</a:t>
            </a:r>
          </a:p>
        </p:txBody>
      </p:sp>
      <p:sp>
        <p:nvSpPr>
          <p:cNvPr id="5" name="矩形 4"/>
          <p:cNvSpPr/>
          <p:nvPr/>
        </p:nvSpPr>
        <p:spPr>
          <a:xfrm>
            <a:off x="612780" y="1706742"/>
            <a:ext cx="10975655" cy="2314864"/>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得標廠商應於決標次日起</a:t>
            </a: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日內，按照機關所規定之格式及所需文件，與機關簽訂契約。</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契約書之製作裝訂由得標廠商為之，其所需費用由得標廠商負擔。</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簽約前應補正下列文件：</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工程及委託技術服務採購投標廠商：切結書</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受聘於工程技術顧問公司之執業技師：切結書</a:t>
            </a: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臺北市政府採購廠商誠信治理承諾書。</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(4)</a:t>
            </a:r>
            <a:r>
              <a:rPr lang="zh-TW" altLang="en-US" sz="1400" dirty="0">
                <a:solidFill>
                  <a:srgbClr val="000000"/>
                </a:solidFill>
                <a:latin typeface="微軟正黑體" panose="020B0604030504040204" pitchFamily="34" charset="-120"/>
                <a:ea typeface="微軟正黑體" panose="020B0604030504040204" pitchFamily="34" charset="-120"/>
              </a:rPr>
              <a:t>投標廠商投標文件所標示之分包廠商是否為採購法第</a:t>
            </a:r>
            <a:r>
              <a:rPr lang="en-US" altLang="zh-TW" sz="1400" dirty="0">
                <a:solidFill>
                  <a:srgbClr val="000000"/>
                </a:solidFill>
                <a:latin typeface="微軟正黑體" panose="020B0604030504040204" pitchFamily="34" charset="-120"/>
                <a:ea typeface="微軟正黑體" panose="020B0604030504040204" pitchFamily="34" charset="-120"/>
              </a:rPr>
              <a:t>103</a:t>
            </a:r>
            <a:r>
              <a:rPr lang="zh-TW" altLang="en-US" sz="1400" dirty="0">
                <a:solidFill>
                  <a:srgbClr val="000000"/>
                </a:solidFill>
                <a:latin typeface="微軟正黑體" panose="020B0604030504040204" pitchFamily="34" charset="-120"/>
                <a:ea typeface="微軟正黑體" panose="020B0604030504040204" pitchFamily="34" charset="-120"/>
              </a:rPr>
              <a:t>條第</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項之拒絕往來廠商自我檢核表。</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3" name="五邊形 12"/>
          <p:cNvSpPr/>
          <p:nvPr/>
        </p:nvSpPr>
        <p:spPr>
          <a:xfrm>
            <a:off x="425513" y="418959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5" name="矩形 14"/>
          <p:cNvSpPr/>
          <p:nvPr/>
        </p:nvSpPr>
        <p:spPr>
          <a:xfrm>
            <a:off x="587198" y="4577841"/>
            <a:ext cx="1632178"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C.41</a:t>
            </a:r>
            <a:r>
              <a:rPr lang="zh-TW" altLang="en-US" sz="1400" dirty="0">
                <a:latin typeface="微軟正黑體" panose="020B0604030504040204" pitchFamily="34" charset="-120"/>
                <a:ea typeface="微軟正黑體" panose="020B0604030504040204" pitchFamily="34" charset="-120"/>
                <a:hlinkClick r:id="rId2"/>
              </a:rPr>
              <a:t>簽約注意事項</a:t>
            </a:r>
            <a:endParaRPr lang="zh-TW" altLang="en-US" sz="1400" dirty="0"/>
          </a:p>
        </p:txBody>
      </p:sp>
      <p:sp>
        <p:nvSpPr>
          <p:cNvPr id="20" name="矩形 19"/>
          <p:cNvSpPr/>
          <p:nvPr/>
        </p:nvSpPr>
        <p:spPr>
          <a:xfrm>
            <a:off x="382013" y="5916408"/>
            <a:ext cx="139974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a:t>
            </a:r>
            <a:r>
              <a:rPr lang="zh-TW" altLang="en-US" sz="1200" u="sng" dirty="0" smtClean="0">
                <a:solidFill>
                  <a:srgbClr val="000000"/>
                </a:solidFill>
                <a:latin typeface="微軟正黑體" panose="020B0604030504040204" pitchFamily="34" charset="-120"/>
                <a:ea typeface="微軟正黑體" panose="020B0604030504040204" pitchFamily="34" charset="-120"/>
              </a:rPr>
              <a:t> 投</a:t>
            </a:r>
            <a:r>
              <a:rPr lang="zh-TW" altLang="en-US" sz="1200" u="sng" dirty="0">
                <a:solidFill>
                  <a:srgbClr val="000000"/>
                </a:solidFill>
                <a:latin typeface="微軟正黑體" panose="020B0604030504040204" pitchFamily="34" charset="-120"/>
                <a:ea typeface="微軟正黑體" panose="020B0604030504040204" pitchFamily="34" charset="-120"/>
              </a:rPr>
              <a:t>須</a:t>
            </a:r>
            <a:r>
              <a:rPr lang="en-US" altLang="zh-TW" sz="1200" u="sng" dirty="0">
                <a:solidFill>
                  <a:srgbClr val="000000"/>
                </a:solidFill>
                <a:latin typeface="微軟正黑體" panose="020B0604030504040204" pitchFamily="34" charset="-120"/>
                <a:ea typeface="微軟正黑體" panose="020B0604030504040204" pitchFamily="34" charset="-120"/>
              </a:rPr>
              <a:t>83</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1781755" y="5916407"/>
            <a:ext cx="2031325" cy="276999"/>
          </a:xfrm>
          <a:prstGeom prst="rect">
            <a:avLst/>
          </a:prstGeom>
          <a:noFill/>
        </p:spPr>
        <p:txBody>
          <a:bodyPr wrap="none" rtlCol="0">
            <a:spAutoFit/>
          </a:bodyPr>
          <a:lstStyle/>
          <a:p>
            <a:r>
              <a:rPr lang="zh-TW" altLang="en-US" sz="1200" dirty="0">
                <a:hlinkClick r:id="rId4"/>
              </a:rPr>
              <a:t>臺</a:t>
            </a:r>
            <a:r>
              <a:rPr lang="zh-TW" altLang="en-US" sz="1200" dirty="0" smtClean="0">
                <a:hlinkClick r:id="rId4"/>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
        <p:nvSpPr>
          <p:cNvPr id="11" name="五邊形 10"/>
          <p:cNvSpPr/>
          <p:nvPr/>
        </p:nvSpPr>
        <p:spPr>
          <a:xfrm>
            <a:off x="2416537" y="418958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smtClean="0">
                <a:solidFill>
                  <a:sysClr val="windowText" lastClr="000000"/>
                </a:solidFill>
              </a:rPr>
              <a:t>實例</a:t>
            </a:r>
            <a:endParaRPr lang="zh-TW" altLang="en-US" sz="1400" b="1" dirty="0">
              <a:solidFill>
                <a:sysClr val="windowText" lastClr="000000"/>
              </a:solidFill>
            </a:endParaRPr>
          </a:p>
        </p:txBody>
      </p:sp>
      <p:sp>
        <p:nvSpPr>
          <p:cNvPr id="12" name="矩形 11"/>
          <p:cNvSpPr/>
          <p:nvPr/>
        </p:nvSpPr>
        <p:spPr>
          <a:xfrm>
            <a:off x="2766575" y="4577840"/>
            <a:ext cx="1255472" cy="307777"/>
          </a:xfrm>
          <a:prstGeom prst="rect">
            <a:avLst/>
          </a:prstGeom>
        </p:spPr>
        <p:txBody>
          <a:bodyPr wrap="none">
            <a:spAutoFit/>
          </a:bodyPr>
          <a:lstStyle/>
          <a:p>
            <a:r>
              <a:rPr lang="en-US" altLang="zh-TW" sz="1400" dirty="0">
                <a:solidFill>
                  <a:srgbClr val="FF0000"/>
                </a:solidFill>
                <a:latin typeface="微軟正黑體" panose="020B0604030504040204" pitchFamily="34" charset="-120"/>
                <a:ea typeface="微軟正黑體" panose="020B0604030504040204" pitchFamily="34" charset="-120"/>
                <a:hlinkClick r:id="rId5"/>
              </a:rPr>
              <a:t>A.5.6</a:t>
            </a:r>
            <a:r>
              <a:rPr lang="zh-TW" altLang="en-US" sz="1400" dirty="0">
                <a:solidFill>
                  <a:srgbClr val="FF0000"/>
                </a:solidFill>
                <a:latin typeface="微軟正黑體" panose="020B0604030504040204" pitchFamily="34" charset="-120"/>
                <a:ea typeface="微軟正黑體" panose="020B0604030504040204" pitchFamily="34" charset="-120"/>
                <a:hlinkClick r:id="rId5"/>
              </a:rPr>
              <a:t>函</a:t>
            </a:r>
            <a:r>
              <a:rPr lang="en-US" altLang="zh-TW" sz="1400" dirty="0">
                <a:solidFill>
                  <a:srgbClr val="FF0000"/>
                </a:solidFill>
                <a:latin typeface="微軟正黑體" panose="020B0604030504040204" pitchFamily="34" charset="-120"/>
                <a:ea typeface="微軟正黑體" panose="020B0604030504040204" pitchFamily="34" charset="-120"/>
                <a:hlinkClick r:id="rId5"/>
              </a:rPr>
              <a:t>(</a:t>
            </a:r>
            <a:r>
              <a:rPr lang="zh-TW" altLang="en-US" sz="1400" dirty="0">
                <a:solidFill>
                  <a:srgbClr val="FF0000"/>
                </a:solidFill>
                <a:latin typeface="微軟正黑體" panose="020B0604030504040204" pitchFamily="34" charset="-120"/>
                <a:ea typeface="微軟正黑體" panose="020B0604030504040204" pitchFamily="34" charset="-120"/>
                <a:hlinkClick r:id="rId5"/>
              </a:rPr>
              <a:t>實例</a:t>
            </a:r>
            <a:r>
              <a:rPr lang="en-US" altLang="zh-TW" sz="1400" dirty="0">
                <a:solidFill>
                  <a:srgbClr val="FF0000"/>
                </a:solidFill>
                <a:latin typeface="微軟正黑體" panose="020B0604030504040204" pitchFamily="34" charset="-120"/>
                <a:ea typeface="微軟正黑體" panose="020B0604030504040204" pitchFamily="34" charset="-120"/>
                <a:hlinkClick r:id="rId5"/>
              </a:rPr>
              <a:t>)</a:t>
            </a:r>
            <a:endParaRPr lang="zh-TW" altLang="en-US" sz="1600" dirty="0"/>
          </a:p>
        </p:txBody>
      </p:sp>
    </p:spTree>
    <p:extLst>
      <p:ext uri="{BB962C8B-B14F-4D97-AF65-F5344CB8AC3E}">
        <p14:creationId xmlns:p14="http://schemas.microsoft.com/office/powerpoint/2010/main" val="33756625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根據契約內容設定相關</a:t>
            </a:r>
            <a:r>
              <a:rPr lang="zh-TW" altLang="en-US" sz="2400" b="1" dirty="0" smtClean="0">
                <a:cs typeface="+mn-ea"/>
                <a:sym typeface="+mn-lt"/>
              </a:rPr>
              <a:t>資訊</a:t>
            </a:r>
            <a:endParaRPr lang="zh-TW" altLang="en-US"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p:cNvPicPr>
            <a:picLocks noChangeAspect="1"/>
          </p:cNvPicPr>
          <p:nvPr/>
        </p:nvPicPr>
        <p:blipFill>
          <a:blip r:embed="rId3"/>
          <a:stretch>
            <a:fillRect/>
          </a:stretch>
        </p:blipFill>
        <p:spPr>
          <a:xfrm>
            <a:off x="2524387" y="1431807"/>
            <a:ext cx="7143223" cy="4927501"/>
          </a:xfrm>
          <a:prstGeom prst="rect">
            <a:avLst/>
          </a:prstGeom>
        </p:spPr>
      </p:pic>
      <p:sp>
        <p:nvSpPr>
          <p:cNvPr id="12" name="矩形 11"/>
          <p:cNvSpPr/>
          <p:nvPr/>
        </p:nvSpPr>
        <p:spPr>
          <a:xfrm>
            <a:off x="2524387" y="1748901"/>
            <a:ext cx="7120651" cy="46104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直線接點 12"/>
          <p:cNvCxnSpPr/>
          <p:nvPr/>
        </p:nvCxnSpPr>
        <p:spPr>
          <a:xfrm flipV="1">
            <a:off x="9645038" y="4155638"/>
            <a:ext cx="452759"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10097797" y="3970972"/>
            <a:ext cx="156966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發包單位</a:t>
            </a:r>
            <a:r>
              <a:rPr lang="zh-TW" altLang="en-US" dirty="0" smtClean="0"/>
              <a:t>填寫</a:t>
            </a:r>
            <a:endParaRPr lang="zh-TW" altLang="en-US" dirty="0"/>
          </a:p>
        </p:txBody>
      </p:sp>
    </p:spTree>
    <p:extLst>
      <p:ext uri="{BB962C8B-B14F-4D97-AF65-F5344CB8AC3E}">
        <p14:creationId xmlns:p14="http://schemas.microsoft.com/office/powerpoint/2010/main" val="23728856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根據契約內容設定相關</a:t>
            </a:r>
            <a:r>
              <a:rPr lang="zh-TW" altLang="en-US" sz="2400" b="1" dirty="0" smtClean="0">
                <a:cs typeface="+mn-ea"/>
                <a:sym typeface="+mn-lt"/>
              </a:rPr>
              <a:t>資訊</a:t>
            </a:r>
            <a:endParaRPr lang="zh-TW" altLang="en-US"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2" name="圖片 1"/>
          <p:cNvPicPr>
            <a:picLocks noChangeAspect="1"/>
          </p:cNvPicPr>
          <p:nvPr/>
        </p:nvPicPr>
        <p:blipFill>
          <a:blip r:embed="rId3"/>
          <a:stretch>
            <a:fillRect/>
          </a:stretch>
        </p:blipFill>
        <p:spPr>
          <a:xfrm>
            <a:off x="2499797" y="2691850"/>
            <a:ext cx="6990434" cy="3762077"/>
          </a:xfrm>
          <a:prstGeom prst="rect">
            <a:avLst/>
          </a:prstGeom>
        </p:spPr>
      </p:pic>
      <p:pic>
        <p:nvPicPr>
          <p:cNvPr id="7" name="圖片 6"/>
          <p:cNvPicPr>
            <a:picLocks noChangeAspect="1"/>
          </p:cNvPicPr>
          <p:nvPr/>
        </p:nvPicPr>
        <p:blipFill>
          <a:blip r:embed="rId4"/>
          <a:stretch>
            <a:fillRect/>
          </a:stretch>
        </p:blipFill>
        <p:spPr>
          <a:xfrm>
            <a:off x="2499797" y="1460136"/>
            <a:ext cx="962494" cy="266537"/>
          </a:xfrm>
          <a:prstGeom prst="rect">
            <a:avLst/>
          </a:prstGeom>
        </p:spPr>
      </p:pic>
      <p:pic>
        <p:nvPicPr>
          <p:cNvPr id="9" name="圖片 8"/>
          <p:cNvPicPr>
            <a:picLocks noChangeAspect="1"/>
          </p:cNvPicPr>
          <p:nvPr/>
        </p:nvPicPr>
        <p:blipFill>
          <a:blip r:embed="rId5"/>
          <a:stretch>
            <a:fillRect/>
          </a:stretch>
        </p:blipFill>
        <p:spPr>
          <a:xfrm>
            <a:off x="2499797" y="1726673"/>
            <a:ext cx="6990434" cy="505543"/>
          </a:xfrm>
          <a:prstGeom prst="rect">
            <a:avLst/>
          </a:prstGeom>
        </p:spPr>
      </p:pic>
      <p:cxnSp>
        <p:nvCxnSpPr>
          <p:cNvPr id="12" name="直線接點 11"/>
          <p:cNvCxnSpPr>
            <a:stCxn id="9" idx="2"/>
            <a:endCxn id="2" idx="0"/>
          </p:cNvCxnSpPr>
          <p:nvPr/>
        </p:nvCxnSpPr>
        <p:spPr>
          <a:xfrm>
            <a:off x="5995014" y="2232216"/>
            <a:ext cx="0" cy="4596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5441016" y="2277367"/>
            <a:ext cx="1107996"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smtClean="0"/>
              <a:t>中間省略</a:t>
            </a:r>
            <a:endParaRPr lang="zh-TW" altLang="en-US" dirty="0"/>
          </a:p>
        </p:txBody>
      </p:sp>
      <p:sp>
        <p:nvSpPr>
          <p:cNvPr id="13" name="矩形 12"/>
          <p:cNvSpPr/>
          <p:nvPr/>
        </p:nvSpPr>
        <p:spPr>
          <a:xfrm>
            <a:off x="2499797" y="2691850"/>
            <a:ext cx="6990434" cy="37620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5" name="直線接點 14"/>
          <p:cNvCxnSpPr>
            <a:stCxn id="13" idx="3"/>
          </p:cNvCxnSpPr>
          <p:nvPr/>
        </p:nvCxnSpPr>
        <p:spPr>
          <a:xfrm flipV="1">
            <a:off x="9490231" y="4572888"/>
            <a:ext cx="452759"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9942990" y="4388222"/>
            <a:ext cx="156966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smtClean="0"/>
              <a:t>工程單位填寫</a:t>
            </a:r>
            <a:endParaRPr lang="zh-TW" altLang="en-US" dirty="0"/>
          </a:p>
        </p:txBody>
      </p:sp>
    </p:spTree>
    <p:extLst>
      <p:ext uri="{BB962C8B-B14F-4D97-AF65-F5344CB8AC3E}">
        <p14:creationId xmlns:p14="http://schemas.microsoft.com/office/powerpoint/2010/main" val="317617617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設定機關人員</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4D537690-C83F-4EF0-BCAA-204E0047D35C}"/>
              </a:ext>
            </a:extLst>
          </p:cNvPr>
          <p:cNvPicPr>
            <a:picLocks noChangeAspect="1"/>
          </p:cNvPicPr>
          <p:nvPr/>
        </p:nvPicPr>
        <p:blipFill>
          <a:blip r:embed="rId3"/>
          <a:stretch>
            <a:fillRect/>
          </a:stretch>
        </p:blipFill>
        <p:spPr>
          <a:xfrm>
            <a:off x="857685" y="1978154"/>
            <a:ext cx="6859665" cy="4184073"/>
          </a:xfrm>
          <a:prstGeom prst="rect">
            <a:avLst/>
          </a:prstGeom>
        </p:spPr>
      </p:pic>
      <p:sp>
        <p:nvSpPr>
          <p:cNvPr id="14" name="文字方塊 13">
            <a:extLst>
              <a:ext uri="{FF2B5EF4-FFF2-40B4-BE49-F238E27FC236}">
                <a16:creationId xmlns:a16="http://schemas.microsoft.com/office/drawing/2014/main" id="{23ADD9C1-8F4F-418C-BEEE-807409B1F2F2}"/>
              </a:ext>
            </a:extLst>
          </p:cNvPr>
          <p:cNvSpPr txBox="1"/>
          <p:nvPr/>
        </p:nvSpPr>
        <p:spPr>
          <a:xfrm flipH="1">
            <a:off x="5971309" y="2859823"/>
            <a:ext cx="6165272" cy="783193"/>
          </a:xfrm>
          <a:prstGeom prst="wedgeRoundRectCallout">
            <a:avLst>
              <a:gd name="adj1" fmla="val 30539"/>
              <a:gd name="adj2" fmla="val -94408"/>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點擊此按鍵進入人事指派頁面。</a:t>
            </a:r>
            <a:endParaRPr lang="en-US" altLang="zh-TW" sz="2000" b="1" dirty="0">
              <a:cs typeface="+mn-ea"/>
              <a:sym typeface="+mn-lt"/>
            </a:endParaRPr>
          </a:p>
          <a:p>
            <a:r>
              <a:rPr lang="zh-TW" altLang="en-US" sz="2000" b="1" dirty="0">
                <a:solidFill>
                  <a:srgbClr val="FF0000"/>
                </a:solidFill>
                <a:cs typeface="+mn-ea"/>
                <a:sym typeface="+mn-lt"/>
              </a:rPr>
              <a:t>注意：此行為將會跳離此頁，請確保已存取資料。</a:t>
            </a:r>
            <a:endParaRPr lang="en-US" altLang="zh-TW" sz="2000" b="1" dirty="0">
              <a:solidFill>
                <a:srgbClr val="FF0000"/>
              </a:solidFill>
              <a:cs typeface="+mn-ea"/>
              <a:sym typeface="+mn-lt"/>
            </a:endParaRPr>
          </a:p>
        </p:txBody>
      </p:sp>
    </p:spTree>
    <p:extLst>
      <p:ext uri="{BB962C8B-B14F-4D97-AF65-F5344CB8AC3E}">
        <p14:creationId xmlns:p14="http://schemas.microsoft.com/office/powerpoint/2010/main" val="34979678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設定各廠商人員</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023BC65-438A-4FD8-9B83-F95D987470F6}"/>
              </a:ext>
            </a:extLst>
          </p:cNvPr>
          <p:cNvSpPr txBox="1"/>
          <p:nvPr/>
        </p:nvSpPr>
        <p:spPr>
          <a:xfrm>
            <a:off x="3428420" y="1713420"/>
            <a:ext cx="171819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設定相關廠商</a:t>
            </a:r>
          </a:p>
        </p:txBody>
      </p:sp>
      <p:pic>
        <p:nvPicPr>
          <p:cNvPr id="7" name="圖片 6">
            <a:extLst>
              <a:ext uri="{FF2B5EF4-FFF2-40B4-BE49-F238E27FC236}">
                <a16:creationId xmlns:a16="http://schemas.microsoft.com/office/drawing/2014/main" id="{AE3AF63A-4226-4C65-A186-B0D843B114AB}"/>
              </a:ext>
            </a:extLst>
          </p:cNvPr>
          <p:cNvPicPr>
            <a:picLocks noChangeAspect="1"/>
          </p:cNvPicPr>
          <p:nvPr/>
        </p:nvPicPr>
        <p:blipFill>
          <a:blip r:embed="rId3"/>
          <a:stretch>
            <a:fillRect/>
          </a:stretch>
        </p:blipFill>
        <p:spPr>
          <a:xfrm>
            <a:off x="194261" y="2120194"/>
            <a:ext cx="8186512" cy="3987731"/>
          </a:xfrm>
          <a:prstGeom prst="rect">
            <a:avLst/>
          </a:prstGeom>
        </p:spPr>
      </p:pic>
      <p:sp>
        <p:nvSpPr>
          <p:cNvPr id="11" name="矩形 10">
            <a:extLst>
              <a:ext uri="{FF2B5EF4-FFF2-40B4-BE49-F238E27FC236}">
                <a16:creationId xmlns:a16="http://schemas.microsoft.com/office/drawing/2014/main" id="{41356C4A-D6D5-4B8C-9F81-BB92DBDF7019}"/>
              </a:ext>
            </a:extLst>
          </p:cNvPr>
          <p:cNvSpPr/>
          <p:nvPr/>
        </p:nvSpPr>
        <p:spPr>
          <a:xfrm>
            <a:off x="241525" y="2682285"/>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11">
            <a:extLst>
              <a:ext uri="{FF2B5EF4-FFF2-40B4-BE49-F238E27FC236}">
                <a16:creationId xmlns:a16="http://schemas.microsoft.com/office/drawing/2014/main" id="{BE07F620-E951-4DD2-B1DA-7AE3E43A156E}"/>
              </a:ext>
            </a:extLst>
          </p:cNvPr>
          <p:cNvSpPr/>
          <p:nvPr/>
        </p:nvSpPr>
        <p:spPr>
          <a:xfrm>
            <a:off x="241525" y="3696134"/>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id="{6255A94C-9C6F-402D-AEB2-46A98FE100BB}"/>
              </a:ext>
            </a:extLst>
          </p:cNvPr>
          <p:cNvSpPr/>
          <p:nvPr/>
        </p:nvSpPr>
        <p:spPr>
          <a:xfrm>
            <a:off x="241525" y="4709983"/>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id="{234D0C85-B54F-4911-8C0B-EF1953AA6559}"/>
              </a:ext>
            </a:extLst>
          </p:cNvPr>
          <p:cNvSpPr/>
          <p:nvPr/>
        </p:nvSpPr>
        <p:spPr>
          <a:xfrm>
            <a:off x="241525" y="5742354"/>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2" name="接點: 肘形 21">
            <a:extLst>
              <a:ext uri="{FF2B5EF4-FFF2-40B4-BE49-F238E27FC236}">
                <a16:creationId xmlns:a16="http://schemas.microsoft.com/office/drawing/2014/main" id="{E8FEB939-1D8A-4354-8021-7BEE8F9B2B0C}"/>
              </a:ext>
            </a:extLst>
          </p:cNvPr>
          <p:cNvCxnSpPr>
            <a:stCxn id="15" idx="3"/>
            <a:endCxn id="11" idx="3"/>
          </p:cNvCxnSpPr>
          <p:nvPr/>
        </p:nvCxnSpPr>
        <p:spPr>
          <a:xfrm flipV="1">
            <a:off x="8236527" y="2842146"/>
            <a:ext cx="12700" cy="3060069"/>
          </a:xfrm>
          <a:prstGeom prst="bentConnector3">
            <a:avLst>
              <a:gd name="adj1" fmla="val 1800000"/>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接點: 肘形 23">
            <a:extLst>
              <a:ext uri="{FF2B5EF4-FFF2-40B4-BE49-F238E27FC236}">
                <a16:creationId xmlns:a16="http://schemas.microsoft.com/office/drawing/2014/main" id="{388682AA-6A28-4C2F-9FE2-8BB27A259201}"/>
              </a:ext>
            </a:extLst>
          </p:cNvPr>
          <p:cNvCxnSpPr>
            <a:stCxn id="12" idx="3"/>
            <a:endCxn id="13" idx="3"/>
          </p:cNvCxnSpPr>
          <p:nvPr/>
        </p:nvCxnSpPr>
        <p:spPr>
          <a:xfrm>
            <a:off x="8236527" y="3855995"/>
            <a:ext cx="12700" cy="1013849"/>
          </a:xfrm>
          <a:prstGeom prst="bentConnector3">
            <a:avLst>
              <a:gd name="adj1" fmla="val 1800000"/>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A7C54570-FB09-4FD9-B738-46A9A235014B}"/>
              </a:ext>
            </a:extLst>
          </p:cNvPr>
          <p:cNvCxnSpPr>
            <a:cxnSpLocks/>
          </p:cNvCxnSpPr>
          <p:nvPr/>
        </p:nvCxnSpPr>
        <p:spPr>
          <a:xfrm>
            <a:off x="8478982" y="4362919"/>
            <a:ext cx="706582"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07CE15B1-3529-41BB-B6F0-D54CE9F0C99A}"/>
              </a:ext>
            </a:extLst>
          </p:cNvPr>
          <p:cNvSpPr txBox="1"/>
          <p:nvPr/>
        </p:nvSpPr>
        <p:spPr>
          <a:xfrm>
            <a:off x="9185564" y="4178253"/>
            <a:ext cx="268085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新增相應類型廠商資訊。</a:t>
            </a:r>
          </a:p>
        </p:txBody>
      </p:sp>
      <p:cxnSp>
        <p:nvCxnSpPr>
          <p:cNvPr id="30" name="直線接點 29">
            <a:extLst>
              <a:ext uri="{FF2B5EF4-FFF2-40B4-BE49-F238E27FC236}">
                <a16:creationId xmlns:a16="http://schemas.microsoft.com/office/drawing/2014/main" id="{DD1EEE66-530B-423C-8487-D7C120A587DC}"/>
              </a:ext>
            </a:extLst>
          </p:cNvPr>
          <p:cNvCxnSpPr>
            <a:cxnSpLocks/>
          </p:cNvCxnSpPr>
          <p:nvPr/>
        </p:nvCxnSpPr>
        <p:spPr>
          <a:xfrm>
            <a:off x="5627944" y="4298725"/>
            <a:ext cx="706582"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3297ED18-831D-43FE-9528-6D89F1B69508}"/>
              </a:ext>
            </a:extLst>
          </p:cNvPr>
          <p:cNvSpPr txBox="1"/>
          <p:nvPr/>
        </p:nvSpPr>
        <p:spPr>
          <a:xfrm>
            <a:off x="3273136" y="4114059"/>
            <a:ext cx="2354808"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監造可選 自辦</a:t>
            </a:r>
            <a:r>
              <a:rPr lang="en-US" altLang="zh-TW" b="1" dirty="0"/>
              <a:t>/</a:t>
            </a:r>
            <a:r>
              <a:rPr lang="zh-TW" altLang="en-US" b="1" dirty="0"/>
              <a:t>委辦。</a:t>
            </a:r>
          </a:p>
        </p:txBody>
      </p:sp>
      <p:sp>
        <p:nvSpPr>
          <p:cNvPr id="32" name="矩形 31">
            <a:extLst>
              <a:ext uri="{FF2B5EF4-FFF2-40B4-BE49-F238E27FC236}">
                <a16:creationId xmlns:a16="http://schemas.microsoft.com/office/drawing/2014/main" id="{E1A4F4C4-1351-4499-85B0-A389C617BFE8}"/>
              </a:ext>
            </a:extLst>
          </p:cNvPr>
          <p:cNvSpPr/>
          <p:nvPr/>
        </p:nvSpPr>
        <p:spPr>
          <a:xfrm>
            <a:off x="6334525" y="4159369"/>
            <a:ext cx="1902001"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6294534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設定廠商人員表單</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91DE820D-ADCF-4346-BC3A-D1207A1B4C3F}"/>
              </a:ext>
            </a:extLst>
          </p:cNvPr>
          <p:cNvPicPr>
            <a:picLocks noChangeAspect="1"/>
          </p:cNvPicPr>
          <p:nvPr/>
        </p:nvPicPr>
        <p:blipFill>
          <a:blip r:embed="rId3"/>
          <a:stretch>
            <a:fillRect/>
          </a:stretch>
        </p:blipFill>
        <p:spPr>
          <a:xfrm>
            <a:off x="145344" y="1868961"/>
            <a:ext cx="9420799" cy="4384978"/>
          </a:xfrm>
          <a:prstGeom prst="rect">
            <a:avLst/>
          </a:prstGeom>
        </p:spPr>
      </p:pic>
      <p:sp>
        <p:nvSpPr>
          <p:cNvPr id="21" name="文字方塊 20">
            <a:extLst>
              <a:ext uri="{FF2B5EF4-FFF2-40B4-BE49-F238E27FC236}">
                <a16:creationId xmlns:a16="http://schemas.microsoft.com/office/drawing/2014/main" id="{DC38C38A-8E21-4F3A-B454-39F740256D08}"/>
              </a:ext>
            </a:extLst>
          </p:cNvPr>
          <p:cNvSpPr txBox="1"/>
          <p:nvPr/>
        </p:nvSpPr>
        <p:spPr>
          <a:xfrm>
            <a:off x="530601" y="1448335"/>
            <a:ext cx="281305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廠商設定表單</a:t>
            </a:r>
            <a:r>
              <a:rPr lang="en-US" altLang="zh-TW" b="1" dirty="0"/>
              <a:t>(</a:t>
            </a:r>
            <a:r>
              <a:rPr lang="zh-TW" altLang="en-US" b="1" dirty="0"/>
              <a:t>施工為例</a:t>
            </a:r>
            <a:r>
              <a:rPr lang="en-US" altLang="zh-TW" b="1" dirty="0"/>
              <a:t>)</a:t>
            </a:r>
          </a:p>
        </p:txBody>
      </p:sp>
      <p:sp>
        <p:nvSpPr>
          <p:cNvPr id="23" name="文字方塊 22">
            <a:extLst>
              <a:ext uri="{FF2B5EF4-FFF2-40B4-BE49-F238E27FC236}">
                <a16:creationId xmlns:a16="http://schemas.microsoft.com/office/drawing/2014/main" id="{DBD6CAD7-5D4C-4274-AC1E-523D88D87EDB}"/>
              </a:ext>
            </a:extLst>
          </p:cNvPr>
          <p:cNvSpPr txBox="1"/>
          <p:nvPr/>
        </p:nvSpPr>
        <p:spPr>
          <a:xfrm flipH="1">
            <a:off x="5562600" y="2379312"/>
            <a:ext cx="2854036" cy="442674"/>
          </a:xfrm>
          <a:prstGeom prst="wedgeRoundRectCallout">
            <a:avLst>
              <a:gd name="adj1" fmla="val -55978"/>
              <a:gd name="adj2" fmla="val -300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此按鍵可快速新增廠商</a:t>
            </a:r>
            <a:endParaRPr lang="en-US" altLang="zh-TW" sz="2000" b="1" dirty="0">
              <a:solidFill>
                <a:srgbClr val="FF0000"/>
              </a:solidFill>
              <a:cs typeface="+mn-ea"/>
              <a:sym typeface="+mn-lt"/>
            </a:endParaRPr>
          </a:p>
        </p:txBody>
      </p:sp>
      <p:sp>
        <p:nvSpPr>
          <p:cNvPr id="25" name="文字方塊 24">
            <a:extLst>
              <a:ext uri="{FF2B5EF4-FFF2-40B4-BE49-F238E27FC236}">
                <a16:creationId xmlns:a16="http://schemas.microsoft.com/office/drawing/2014/main" id="{D506FA75-A2AE-436C-B341-2D6695B00A6E}"/>
              </a:ext>
            </a:extLst>
          </p:cNvPr>
          <p:cNvSpPr txBox="1"/>
          <p:nvPr/>
        </p:nvSpPr>
        <p:spPr>
          <a:xfrm flipH="1">
            <a:off x="4350327" y="3429000"/>
            <a:ext cx="3782291" cy="783193"/>
          </a:xfrm>
          <a:prstGeom prst="wedgeRoundRectCallout">
            <a:avLst>
              <a:gd name="adj1" fmla="val -55978"/>
              <a:gd name="adj2" fmla="val -300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此按鍵可快速新增廠商使用者。</a:t>
            </a:r>
            <a:endParaRPr lang="en-US" altLang="zh-TW" sz="2000" b="1" dirty="0">
              <a:cs typeface="+mn-ea"/>
              <a:sym typeface="+mn-lt"/>
            </a:endParaRPr>
          </a:p>
          <a:p>
            <a:r>
              <a:rPr lang="zh-TW" altLang="en-US" sz="2000" b="1" dirty="0">
                <a:cs typeface="+mn-ea"/>
                <a:sym typeface="+mn-lt"/>
              </a:rPr>
              <a:t>機關使用者由單豋進入設定。</a:t>
            </a:r>
            <a:endParaRPr lang="en-US" altLang="zh-TW" sz="2000" b="1" dirty="0">
              <a:cs typeface="+mn-ea"/>
              <a:sym typeface="+mn-lt"/>
            </a:endParaRPr>
          </a:p>
        </p:txBody>
      </p:sp>
      <p:sp>
        <p:nvSpPr>
          <p:cNvPr id="33" name="矩形 32">
            <a:extLst>
              <a:ext uri="{FF2B5EF4-FFF2-40B4-BE49-F238E27FC236}">
                <a16:creationId xmlns:a16="http://schemas.microsoft.com/office/drawing/2014/main" id="{9E3F75C1-A683-4B0E-9D70-9D94948446F4}"/>
              </a:ext>
            </a:extLst>
          </p:cNvPr>
          <p:cNvSpPr/>
          <p:nvPr/>
        </p:nvSpPr>
        <p:spPr>
          <a:xfrm>
            <a:off x="214744" y="1956496"/>
            <a:ext cx="315857"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782EE172-FE8E-49D2-8BA0-084DA1461DA3}"/>
              </a:ext>
            </a:extLst>
          </p:cNvPr>
          <p:cNvCxnSpPr>
            <a:stCxn id="33" idx="2"/>
          </p:cNvCxnSpPr>
          <p:nvPr/>
        </p:nvCxnSpPr>
        <p:spPr>
          <a:xfrm>
            <a:off x="372673" y="2276217"/>
            <a:ext cx="1400" cy="54576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EAC6714E-CBB8-4C76-91F6-23BAF1B7BAAF}"/>
              </a:ext>
            </a:extLst>
          </p:cNvPr>
          <p:cNvSpPr txBox="1"/>
          <p:nvPr/>
        </p:nvSpPr>
        <p:spPr>
          <a:xfrm>
            <a:off x="189431" y="2491789"/>
            <a:ext cx="366482" cy="3139321"/>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此按鍵可移除該區表單 </a:t>
            </a:r>
            <a:endParaRPr lang="en-US" altLang="zh-TW" b="1" dirty="0"/>
          </a:p>
          <a:p>
            <a:pPr algn="ctr"/>
            <a:r>
              <a:rPr lang="zh-TW" altLang="en-US" b="1" dirty="0"/>
              <a:t>。</a:t>
            </a:r>
            <a:endParaRPr lang="en-US" altLang="zh-TW" b="1" dirty="0"/>
          </a:p>
        </p:txBody>
      </p:sp>
    </p:spTree>
    <p:extLst>
      <p:ext uri="{BB962C8B-B14F-4D97-AF65-F5344CB8AC3E}">
        <p14:creationId xmlns:p14="http://schemas.microsoft.com/office/powerpoint/2010/main" val="2346557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檢視詳細價目表</a:t>
            </a:r>
            <a:r>
              <a:rPr lang="en-US" altLang="zh-TW" sz="2400" b="1" dirty="0">
                <a:cs typeface="+mn-ea"/>
                <a:sym typeface="+mn-lt"/>
              </a:rPr>
              <a:t>(</a:t>
            </a:r>
            <a:r>
              <a:rPr lang="zh-TW" altLang="en-US" sz="2400" b="1" dirty="0">
                <a:cs typeface="+mn-ea"/>
                <a:sym typeface="+mn-lt"/>
              </a:rPr>
              <a:t>由系統資料帶入</a:t>
            </a:r>
            <a:r>
              <a:rPr lang="en-US" altLang="zh-TW" sz="2400" b="1" dirty="0">
                <a:cs typeface="+mn-ea"/>
                <a:sym typeface="+mn-lt"/>
              </a:rPr>
              <a:t>)</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808AF41B-65C2-49A9-8FB5-6B544C055DF5}"/>
              </a:ext>
            </a:extLst>
          </p:cNvPr>
          <p:cNvPicPr>
            <a:picLocks noChangeAspect="1"/>
          </p:cNvPicPr>
          <p:nvPr/>
        </p:nvPicPr>
        <p:blipFill>
          <a:blip r:embed="rId3"/>
          <a:stretch>
            <a:fillRect/>
          </a:stretch>
        </p:blipFill>
        <p:spPr>
          <a:xfrm>
            <a:off x="245295" y="1510146"/>
            <a:ext cx="7114488" cy="4800599"/>
          </a:xfrm>
          <a:prstGeom prst="rect">
            <a:avLst/>
          </a:prstGeom>
        </p:spPr>
      </p:pic>
      <p:sp>
        <p:nvSpPr>
          <p:cNvPr id="15" name="文字方塊 14">
            <a:extLst>
              <a:ext uri="{FF2B5EF4-FFF2-40B4-BE49-F238E27FC236}">
                <a16:creationId xmlns:a16="http://schemas.microsoft.com/office/drawing/2014/main" id="{A3A85F7A-4BCA-4CED-8829-A7A6B466680F}"/>
              </a:ext>
            </a:extLst>
          </p:cNvPr>
          <p:cNvSpPr txBox="1"/>
          <p:nvPr/>
        </p:nvSpPr>
        <p:spPr>
          <a:xfrm flipH="1">
            <a:off x="4939145" y="4956257"/>
            <a:ext cx="5784273" cy="783193"/>
          </a:xfrm>
          <a:prstGeom prst="wedgeRoundRectCallout">
            <a:avLst>
              <a:gd name="adj1" fmla="val 47618"/>
              <a:gd name="adj2" fmla="val 86028"/>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點擊此按鍵進入</a:t>
            </a:r>
            <a:r>
              <a:rPr lang="en-US" altLang="zh-TW" sz="2000" b="1" dirty="0">
                <a:cs typeface="+mn-ea"/>
                <a:sym typeface="+mn-lt"/>
              </a:rPr>
              <a:t>6.4</a:t>
            </a:r>
            <a:r>
              <a:rPr lang="zh-TW" altLang="en-US" sz="2000" b="1" dirty="0">
                <a:cs typeface="+mn-ea"/>
                <a:sym typeface="+mn-lt"/>
              </a:rPr>
              <a:t>上傳圖說。</a:t>
            </a:r>
            <a:endParaRPr lang="en-US" altLang="zh-TW" sz="2000" b="1" dirty="0">
              <a:cs typeface="+mn-ea"/>
              <a:sym typeface="+mn-lt"/>
            </a:endParaRPr>
          </a:p>
          <a:p>
            <a:r>
              <a:rPr lang="zh-TW" altLang="en-US" sz="2000" b="1" dirty="0">
                <a:solidFill>
                  <a:srgbClr val="FF0000"/>
                </a:solidFill>
                <a:cs typeface="+mn-ea"/>
                <a:sym typeface="+mn-lt"/>
              </a:rPr>
              <a:t>注意：此行為將會跳離此頁，請確保已存取資料。</a:t>
            </a:r>
            <a:endParaRPr lang="en-US" altLang="zh-TW" sz="2000" b="1" dirty="0">
              <a:solidFill>
                <a:srgbClr val="FF0000"/>
              </a:solidFill>
              <a:cs typeface="+mn-ea"/>
              <a:sym typeface="+mn-lt"/>
            </a:endParaRPr>
          </a:p>
        </p:txBody>
      </p:sp>
    </p:spTree>
    <p:extLst>
      <p:ext uri="{BB962C8B-B14F-4D97-AF65-F5344CB8AC3E}">
        <p14:creationId xmlns:p14="http://schemas.microsoft.com/office/powerpoint/2010/main" val="12706528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243743" cy="584775"/>
          </a:xfrm>
          <a:prstGeom prst="rect">
            <a:avLst/>
          </a:prstGeom>
        </p:spPr>
        <p:txBody>
          <a:bodyPr wrap="none">
            <a:spAutoFit/>
          </a:bodyPr>
          <a:lstStyle/>
          <a:p>
            <a:pPr lvl="0">
              <a:defRPr/>
            </a:pPr>
            <a:r>
              <a:rPr lang="en-US" altLang="zh-TW" sz="3200" dirty="0" smtClean="0"/>
              <a:t>A6.1 </a:t>
            </a:r>
            <a:r>
              <a:rPr lang="zh-TW" altLang="en-US" sz="3200" dirty="0" smtClean="0"/>
              <a:t>採購</a:t>
            </a:r>
            <a:r>
              <a:rPr lang="zh-TW" altLang="en-US" sz="3200" dirty="0"/>
              <a:t>文件紙本編目成冊</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採購文件，指採購案件自機關開始計劃至廠商完成契約責任期間所產生之各類文字或非文字紀錄資料及其附件。</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0" name="矩形 19"/>
          <p:cNvSpPr/>
          <p:nvPr/>
        </p:nvSpPr>
        <p:spPr>
          <a:xfrm>
            <a:off x="382013" y="5916408"/>
            <a:ext cx="164500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細則</a:t>
            </a:r>
            <a:r>
              <a:rPr lang="en-US" altLang="zh-TW" sz="1200" u="sng" dirty="0">
                <a:solidFill>
                  <a:srgbClr val="000000"/>
                </a:solidFill>
                <a:latin typeface="微軟正黑體" panose="020B0604030504040204" pitchFamily="34" charset="-120"/>
                <a:ea typeface="微軟正黑體" panose="020B0604030504040204" pitchFamily="34" charset="-120"/>
              </a:rPr>
              <a:t>112-2</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2027015" y="5916407"/>
            <a:ext cx="2031325" cy="276999"/>
          </a:xfrm>
          <a:prstGeom prst="rect">
            <a:avLst/>
          </a:prstGeom>
          <a:noFill/>
        </p:spPr>
        <p:txBody>
          <a:bodyPr wrap="none" rtlCol="0">
            <a:spAutoFit/>
          </a:bodyPr>
          <a:lstStyle/>
          <a:p>
            <a:r>
              <a:rPr lang="zh-TW" altLang="en-US" sz="1200" dirty="0">
                <a:hlinkClick r:id="rId3"/>
              </a:rPr>
              <a:t>臺</a:t>
            </a:r>
            <a:r>
              <a:rPr lang="zh-TW" altLang="en-US" sz="1200" dirty="0" smtClean="0">
                <a:hlinkClick r:id="rId3"/>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33370478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36200" y="1572579"/>
            <a:ext cx="7218670" cy="4784087"/>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smtClean="0">
                <a:solidFill>
                  <a:srgbClr val="39759D"/>
                </a:solidFill>
                <a:cs typeface="+mn-ea"/>
                <a:sym typeface="+mn-lt"/>
              </a:rPr>
              <a:t> </a:t>
            </a:r>
            <a:r>
              <a:rPr lang="en-US" altLang="zh-TW" sz="3200" b="1" dirty="0">
                <a:solidFill>
                  <a:srgbClr val="39759D"/>
                </a:solidFill>
                <a:cs typeface="+mn-ea"/>
                <a:sym typeface="+mn-lt"/>
              </a:rPr>
              <a:t>A6.1 </a:t>
            </a:r>
            <a:r>
              <a:rPr lang="zh-TW" altLang="en-US" sz="3200" b="1" dirty="0">
                <a:solidFill>
                  <a:srgbClr val="39759D"/>
                </a:solidFill>
                <a:cs typeface="+mn-ea"/>
                <a:sym typeface="+mn-lt"/>
              </a:rPr>
              <a:t>採購文件紙本編目成冊</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331835"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447526" y="4442567"/>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993382"/>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3092784" y="3800798"/>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矩形 45"/>
          <p:cNvSpPr/>
          <p:nvPr/>
        </p:nvSpPr>
        <p:spPr>
          <a:xfrm>
            <a:off x="492332" y="53569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文字方塊 50"/>
          <p:cNvSpPr txBox="1"/>
          <p:nvPr/>
        </p:nvSpPr>
        <p:spPr>
          <a:xfrm>
            <a:off x="5492208" y="5335894"/>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235590" y="6023170"/>
            <a:ext cx="711928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213557" y="1838046"/>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2" name="肘形接點 11"/>
          <p:cNvCxnSpPr>
            <a:stCxn id="35" idx="3"/>
          </p:cNvCxnSpPr>
          <p:nvPr/>
        </p:nvCxnSpPr>
        <p:spPr>
          <a:xfrm flipH="1">
            <a:off x="4066132" y="3932116"/>
            <a:ext cx="895872" cy="653992"/>
          </a:xfrm>
          <a:prstGeom prst="bentConnector3">
            <a:avLst>
              <a:gd name="adj1" fmla="val -25517"/>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a:stCxn id="30" idx="1"/>
          </p:cNvCxnSpPr>
          <p:nvPr/>
        </p:nvCxnSpPr>
        <p:spPr>
          <a:xfrm flipH="1">
            <a:off x="5181600" y="4178048"/>
            <a:ext cx="142486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a:stCxn id="46" idx="3"/>
          </p:cNvCxnSpPr>
          <p:nvPr/>
        </p:nvCxnSpPr>
        <p:spPr>
          <a:xfrm>
            <a:off x="3092783" y="5520560"/>
            <a:ext cx="238091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54" idx="0"/>
          </p:cNvCxnSpPr>
          <p:nvPr/>
        </p:nvCxnSpPr>
        <p:spPr>
          <a:xfrm flipV="1">
            <a:off x="3795230" y="5520560"/>
            <a:ext cx="0" cy="5026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0257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10230686" cy="523220"/>
          </a:xfrm>
          <a:prstGeom prst="rect">
            <a:avLst/>
          </a:prstGeom>
        </p:spPr>
        <p:txBody>
          <a:bodyPr wrap="none">
            <a:spAutoFit/>
          </a:bodyPr>
          <a:lstStyle/>
          <a:p>
            <a:pPr lvl="0">
              <a:defRPr/>
            </a:pPr>
            <a:r>
              <a:rPr lang="en-US" altLang="zh-TW" sz="2800" dirty="0" smtClean="0"/>
              <a:t>A6.2 </a:t>
            </a:r>
            <a:r>
              <a:rPr lang="zh-TW" altLang="en-US" sz="2800" dirty="0" smtClean="0"/>
              <a:t>招標</a:t>
            </a:r>
            <a:r>
              <a:rPr lang="zh-TW" altLang="en-US" sz="2800" dirty="0"/>
              <a:t>文件、契約文件及開決標錄影畫面電子存檔</a:t>
            </a:r>
            <a:r>
              <a:rPr lang="en-US" altLang="zh-TW" sz="2800" dirty="0"/>
              <a:t>(</a:t>
            </a:r>
            <a:r>
              <a:rPr lang="zh-TW" altLang="en-US" sz="2800" dirty="0"/>
              <a:t>如光碟片</a:t>
            </a:r>
            <a:r>
              <a:rPr lang="en-US" altLang="zh-TW" sz="2800" dirty="0"/>
              <a:t>)</a:t>
            </a:r>
            <a:endParaRPr lang="zh-TW" altLang="en-US" sz="2800" b="1" dirty="0"/>
          </a:p>
        </p:txBody>
      </p:sp>
      <p:sp>
        <p:nvSpPr>
          <p:cNvPr id="5" name="矩形 4"/>
          <p:cNvSpPr/>
          <p:nvPr/>
        </p:nvSpPr>
        <p:spPr>
          <a:xfrm>
            <a:off x="612780" y="18464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紙本採購文件應另以電子化方式保存。</a:t>
            </a:r>
            <a:endParaRPr lang="zh-TW" altLang="en-US" sz="1400" dirty="0"/>
          </a:p>
        </p:txBody>
      </p:sp>
      <p:sp>
        <p:nvSpPr>
          <p:cNvPr id="8" name="五邊形 7"/>
          <p:cNvSpPr/>
          <p:nvPr/>
        </p:nvSpPr>
        <p:spPr>
          <a:xfrm>
            <a:off x="425513" y="12529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612780" y="5928887"/>
            <a:ext cx="2031325" cy="276999"/>
          </a:xfrm>
          <a:prstGeom prst="rect">
            <a:avLst/>
          </a:prstGeom>
          <a:noFill/>
        </p:spPr>
        <p:txBody>
          <a:bodyPr wrap="none" rtlCol="0">
            <a:spAutoFit/>
          </a:bodyPr>
          <a:lstStyle/>
          <a:p>
            <a:r>
              <a:rPr lang="zh-TW" altLang="en-US" sz="1200" dirty="0">
                <a:hlinkClick r:id="rId3"/>
              </a:rPr>
              <a:t>臺</a:t>
            </a:r>
            <a:r>
              <a:rPr lang="zh-TW" altLang="en-US" sz="1200" dirty="0" smtClean="0">
                <a:hlinkClick r:id="rId3"/>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26771173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3"/>
          <a:stretch>
            <a:fillRect/>
          </a:stretch>
        </p:blipFill>
        <p:spPr>
          <a:xfrm>
            <a:off x="176863" y="1621557"/>
            <a:ext cx="7236734" cy="3298073"/>
          </a:xfrm>
          <a:prstGeom prst="rect">
            <a:avLst/>
          </a:prstGeom>
          <a:ln>
            <a:solidFill>
              <a:schemeClr val="accent1">
                <a:lumMod val="40000"/>
                <a:lumOff val="60000"/>
              </a:schemeClr>
            </a:solidFill>
          </a:ln>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smtClean="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6255211" y="4118285"/>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46" name="矩形 45"/>
          <p:cNvSpPr/>
          <p:nvPr/>
        </p:nvSpPr>
        <p:spPr>
          <a:xfrm>
            <a:off x="2495004" y="38202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3467100" y="4458436"/>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142352" y="1941107"/>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3" name="肘形接點 12"/>
          <p:cNvCxnSpPr>
            <a:stCxn id="46" idx="3"/>
            <a:endCxn id="54" idx="3"/>
          </p:cNvCxnSpPr>
          <p:nvPr/>
        </p:nvCxnSpPr>
        <p:spPr>
          <a:xfrm flipH="1">
            <a:off x="4292600" y="3983860"/>
            <a:ext cx="802855" cy="638182"/>
          </a:xfrm>
          <a:prstGeom prst="bentConnector3">
            <a:avLst>
              <a:gd name="adj1" fmla="val -28473"/>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5321300" y="4302951"/>
            <a:ext cx="93391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93582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36200" y="1564161"/>
            <a:ext cx="10167643" cy="3401539"/>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smtClean="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240128" y="5299407"/>
            <a:ext cx="47556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選擇</a:t>
            </a:r>
            <a:r>
              <a:rPr lang="zh-TW" altLang="en-US" b="1" dirty="0"/>
              <a:t>文件類型並點擊新增文件按鈕以上傳文件</a:t>
            </a:r>
          </a:p>
        </p:txBody>
      </p:sp>
      <p:sp>
        <p:nvSpPr>
          <p:cNvPr id="46" name="矩形 45"/>
          <p:cNvSpPr/>
          <p:nvPr/>
        </p:nvSpPr>
        <p:spPr>
          <a:xfrm>
            <a:off x="3654760" y="3541546"/>
            <a:ext cx="316514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95628" y="4409933"/>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0" name="肘形接點 9"/>
          <p:cNvCxnSpPr>
            <a:stCxn id="46" idx="3"/>
            <a:endCxn id="54" idx="3"/>
          </p:cNvCxnSpPr>
          <p:nvPr/>
        </p:nvCxnSpPr>
        <p:spPr>
          <a:xfrm flipH="1">
            <a:off x="5621128" y="3705152"/>
            <a:ext cx="1198772" cy="868387"/>
          </a:xfrm>
          <a:prstGeom prst="bentConnector3">
            <a:avLst>
              <a:gd name="adj1" fmla="val -1907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肘形接點 11"/>
          <p:cNvCxnSpPr>
            <a:endCxn id="30" idx="0"/>
          </p:cNvCxnSpPr>
          <p:nvPr/>
        </p:nvCxnSpPr>
        <p:spPr>
          <a:xfrm rot="16200000" flipH="1">
            <a:off x="6728233" y="4409666"/>
            <a:ext cx="1222707" cy="556773"/>
          </a:xfrm>
          <a:prstGeom prst="bentConnector3">
            <a:avLst>
              <a:gd name="adj1" fmla="val -895"/>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9920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301271" y="1607453"/>
            <a:ext cx="8810637" cy="3014589"/>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smtClean="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328111" y="48872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選擇</a:t>
            </a:r>
            <a:r>
              <a:rPr lang="zh-TW" altLang="en-US" b="1" dirty="0"/>
              <a:t>文件類型並點擊新增文件按鈕以上傳文件</a:t>
            </a:r>
          </a:p>
        </p:txBody>
      </p:sp>
      <p:sp>
        <p:nvSpPr>
          <p:cNvPr id="46" name="矩形 45"/>
          <p:cNvSpPr/>
          <p:nvPr/>
        </p:nvSpPr>
        <p:spPr>
          <a:xfrm>
            <a:off x="3225574" y="3302000"/>
            <a:ext cx="2908526"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292600" y="4118285"/>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092701" y="3498241"/>
            <a:ext cx="1041399" cy="834423"/>
          </a:xfrm>
          <a:prstGeom prst="bentConnector3">
            <a:avLst>
              <a:gd name="adj1" fmla="val -2195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6362700" y="3915452"/>
            <a:ext cx="1362306" cy="971786"/>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6191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034344" y="2484337"/>
            <a:ext cx="10476190" cy="2038095"/>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smtClean="0">
                <a:cs typeface="+mn-ea"/>
                <a:sym typeface="+mn-lt"/>
              </a:rPr>
              <a:t>設定狀態</a:t>
            </a:r>
            <a:r>
              <a:rPr lang="zh-TW" altLang="en-US" sz="2400" b="1" dirty="0">
                <a:cs typeface="+mn-ea"/>
                <a:sym typeface="+mn-lt"/>
              </a:rPr>
              <a:t>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smtClean="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400049" y="2910288"/>
            <a:ext cx="3895851" cy="5949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1034344" y="3850210"/>
            <a:ext cx="10476190" cy="5936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9" name="肘形接點 8"/>
          <p:cNvCxnSpPr>
            <a:stCxn id="46" idx="3"/>
            <a:endCxn id="54" idx="0"/>
          </p:cNvCxnSpPr>
          <p:nvPr/>
        </p:nvCxnSpPr>
        <p:spPr>
          <a:xfrm>
            <a:off x="5295900" y="3207744"/>
            <a:ext cx="976539" cy="642466"/>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787016" y="3052246"/>
            <a:ext cx="5236584"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Tree>
    <p:extLst>
      <p:ext uri="{BB962C8B-B14F-4D97-AF65-F5344CB8AC3E}">
        <p14:creationId xmlns:p14="http://schemas.microsoft.com/office/powerpoint/2010/main" val="9380291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602268" cy="584775"/>
          </a:xfrm>
          <a:prstGeom prst="rect">
            <a:avLst/>
          </a:prstGeom>
        </p:spPr>
        <p:txBody>
          <a:bodyPr wrap="none">
            <a:spAutoFit/>
          </a:bodyPr>
          <a:lstStyle/>
          <a:p>
            <a:pPr lvl="0">
              <a:defRPr/>
            </a:pPr>
            <a:r>
              <a:rPr lang="en-US" altLang="zh-TW" sz="3200" dirty="0" smtClean="0"/>
              <a:t>A6.3 </a:t>
            </a:r>
            <a:r>
              <a:rPr lang="zh-TW" altLang="en-US" sz="3200" dirty="0" smtClean="0"/>
              <a:t>簽</a:t>
            </a:r>
            <a:r>
              <a:rPr lang="zh-TW" altLang="en-US" sz="3200" dirty="0"/>
              <a:t>報歸檔作業</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採購文件歸檔作業應簽奉機關首長或其授權人員核定。</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612780" y="5916407"/>
            <a:ext cx="2031325" cy="276999"/>
          </a:xfrm>
          <a:prstGeom prst="rect">
            <a:avLst/>
          </a:prstGeom>
          <a:noFill/>
        </p:spPr>
        <p:txBody>
          <a:bodyPr wrap="none" rtlCol="0">
            <a:spAutoFit/>
          </a:bodyPr>
          <a:lstStyle/>
          <a:p>
            <a:r>
              <a:rPr lang="zh-TW" altLang="en-US" sz="1200" dirty="0">
                <a:hlinkClick r:id="rId3"/>
              </a:rPr>
              <a:t>臺</a:t>
            </a:r>
            <a:r>
              <a:rPr lang="zh-TW" altLang="en-US" sz="1200" dirty="0" smtClean="0">
                <a:hlinkClick r:id="rId3"/>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388141872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07244" y="1529223"/>
            <a:ext cx="7275097" cy="4856584"/>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A6.3 </a:t>
            </a:r>
            <a:r>
              <a:rPr lang="zh-TW" altLang="en-US" sz="3200" b="1" dirty="0">
                <a:solidFill>
                  <a:srgbClr val="39759D"/>
                </a:solidFill>
                <a:cs typeface="+mn-ea"/>
                <a:sym typeface="+mn-lt"/>
              </a:rPr>
              <a:t>簽報歸檔作業</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35468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447526" y="4442567"/>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993382"/>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603501" y="3788575"/>
            <a:ext cx="2358504" cy="3372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矩形 45"/>
          <p:cNvSpPr/>
          <p:nvPr/>
        </p:nvSpPr>
        <p:spPr>
          <a:xfrm>
            <a:off x="492332" y="53569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文字方塊 50"/>
          <p:cNvSpPr txBox="1"/>
          <p:nvPr/>
        </p:nvSpPr>
        <p:spPr>
          <a:xfrm>
            <a:off x="5492208" y="5335894"/>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235590" y="6023170"/>
            <a:ext cx="711928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213557" y="1838046"/>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2" name="肘形接點 11"/>
          <p:cNvCxnSpPr>
            <a:stCxn id="35" idx="3"/>
          </p:cNvCxnSpPr>
          <p:nvPr/>
        </p:nvCxnSpPr>
        <p:spPr>
          <a:xfrm flipH="1">
            <a:off x="4066132" y="3932116"/>
            <a:ext cx="895872" cy="653992"/>
          </a:xfrm>
          <a:prstGeom prst="bentConnector3">
            <a:avLst>
              <a:gd name="adj1" fmla="val -25517"/>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a:stCxn id="30" idx="1"/>
          </p:cNvCxnSpPr>
          <p:nvPr/>
        </p:nvCxnSpPr>
        <p:spPr>
          <a:xfrm flipH="1">
            <a:off x="5181600" y="4178048"/>
            <a:ext cx="142486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a:stCxn id="46" idx="3"/>
          </p:cNvCxnSpPr>
          <p:nvPr/>
        </p:nvCxnSpPr>
        <p:spPr>
          <a:xfrm>
            <a:off x="3092783" y="5520560"/>
            <a:ext cx="238091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54" idx="0"/>
          </p:cNvCxnSpPr>
          <p:nvPr/>
        </p:nvCxnSpPr>
        <p:spPr>
          <a:xfrm flipV="1">
            <a:off x="3795230" y="5520560"/>
            <a:ext cx="0" cy="5026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7962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6474849" cy="584775"/>
          </a:xfrm>
          <a:prstGeom prst="rect">
            <a:avLst/>
          </a:prstGeom>
        </p:spPr>
        <p:txBody>
          <a:bodyPr wrap="none">
            <a:spAutoFit/>
          </a:bodyPr>
          <a:lstStyle/>
          <a:p>
            <a:pPr lvl="0">
              <a:defRPr/>
            </a:pPr>
            <a:r>
              <a:rPr lang="en-US" altLang="zh-TW" sz="3200" dirty="0" smtClean="0"/>
              <a:t>A6.4 </a:t>
            </a:r>
            <a:r>
              <a:rPr lang="zh-TW" altLang="en-US" sz="3200" dirty="0" smtClean="0"/>
              <a:t>上</a:t>
            </a:r>
            <a:r>
              <a:rPr lang="zh-TW" altLang="en-US" sz="3200" dirty="0"/>
              <a:t>傳工程契約書及圖說電子檔</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契約及圖說電子檔應上傳工程履約管理資訊系統，以備查考。	</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612780" y="5916407"/>
            <a:ext cx="2031325" cy="276999"/>
          </a:xfrm>
          <a:prstGeom prst="rect">
            <a:avLst/>
          </a:prstGeom>
          <a:noFill/>
        </p:spPr>
        <p:txBody>
          <a:bodyPr wrap="none" rtlCol="0">
            <a:spAutoFit/>
          </a:bodyPr>
          <a:lstStyle/>
          <a:p>
            <a:r>
              <a:rPr lang="zh-TW" altLang="en-US" sz="1200" dirty="0">
                <a:hlinkClick r:id="rId3"/>
              </a:rPr>
              <a:t>臺</a:t>
            </a:r>
            <a:r>
              <a:rPr lang="zh-TW" altLang="en-US" sz="1200" dirty="0" smtClean="0">
                <a:hlinkClick r:id="rId3"/>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381559451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45344" y="1500500"/>
            <a:ext cx="8130469" cy="3731900"/>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smtClean="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518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6255211" y="4283385"/>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46" name="矩形 45"/>
          <p:cNvSpPr/>
          <p:nvPr/>
        </p:nvSpPr>
        <p:spPr>
          <a:xfrm>
            <a:off x="2910352" y="39853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3797827" y="4652717"/>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910352" y="1878079"/>
            <a:ext cx="4300496" cy="442674"/>
          </a:xfrm>
          <a:prstGeom prst="wedgeRoundRectCallout">
            <a:avLst>
              <a:gd name="adj1" fmla="val -57171"/>
              <a:gd name="adj2" fmla="val -4604"/>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3" name="肘形接點 12"/>
          <p:cNvCxnSpPr>
            <a:stCxn id="46" idx="3"/>
            <a:endCxn id="54" idx="3"/>
          </p:cNvCxnSpPr>
          <p:nvPr/>
        </p:nvCxnSpPr>
        <p:spPr>
          <a:xfrm flipH="1">
            <a:off x="4623327" y="4148960"/>
            <a:ext cx="887476" cy="667363"/>
          </a:xfrm>
          <a:prstGeom prst="bentConnector3">
            <a:avLst>
              <a:gd name="adj1" fmla="val -25758"/>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5727700" y="4468051"/>
            <a:ext cx="52751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4606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stretch>
            <a:fillRect/>
          </a:stretch>
        </p:blipFill>
        <p:spPr>
          <a:xfrm>
            <a:off x="136200" y="1452856"/>
            <a:ext cx="10438095" cy="3619048"/>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選擇</a:t>
            </a:r>
            <a:r>
              <a:rPr lang="zh-TW" altLang="en-US" b="1" dirty="0"/>
              <a:t>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11699" y="4356100"/>
            <a:ext cx="1155699"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287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45344" y="1423771"/>
            <a:ext cx="10466667" cy="3666667"/>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選擇</a:t>
            </a:r>
            <a:r>
              <a:rPr lang="zh-TW" altLang="en-US" b="1" dirty="0"/>
              <a:t>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11699" y="4356100"/>
            <a:ext cx="1155699"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86253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45344" y="1480909"/>
            <a:ext cx="10457143" cy="3571429"/>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選擇</a:t>
            </a:r>
            <a:r>
              <a:rPr lang="zh-TW" altLang="en-US" b="1" dirty="0"/>
              <a:t>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11699" y="4356100"/>
            <a:ext cx="1155699"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56700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45344" y="1360800"/>
            <a:ext cx="10504762" cy="3704762"/>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選擇</a:t>
            </a:r>
            <a:r>
              <a:rPr lang="zh-TW" altLang="en-US" b="1" dirty="0"/>
              <a:t>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867506" y="4356100"/>
            <a:ext cx="999892"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5059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034344" y="2484337"/>
            <a:ext cx="10476190" cy="2038095"/>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smtClean="0">
                <a:cs typeface="+mn-ea"/>
                <a:sym typeface="+mn-lt"/>
              </a:rPr>
              <a:t>設定狀態</a:t>
            </a:r>
            <a:r>
              <a:rPr lang="zh-TW" altLang="en-US" sz="2400" b="1" dirty="0">
                <a:cs typeface="+mn-ea"/>
                <a:sym typeface="+mn-lt"/>
              </a:rPr>
              <a:t>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5059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400049" y="2910288"/>
            <a:ext cx="3895851" cy="5949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1034344" y="3850210"/>
            <a:ext cx="10476190" cy="5936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9" name="肘形接點 8"/>
          <p:cNvCxnSpPr>
            <a:stCxn id="46" idx="3"/>
            <a:endCxn id="54" idx="0"/>
          </p:cNvCxnSpPr>
          <p:nvPr/>
        </p:nvCxnSpPr>
        <p:spPr>
          <a:xfrm>
            <a:off x="5295900" y="3207744"/>
            <a:ext cx="976539" cy="642466"/>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787016" y="3052246"/>
            <a:ext cx="5236584"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Tree>
    <p:extLst>
      <p:ext uri="{BB962C8B-B14F-4D97-AF65-F5344CB8AC3E}">
        <p14:creationId xmlns:p14="http://schemas.microsoft.com/office/powerpoint/2010/main" val="288497112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801314" cy="584775"/>
          </a:xfrm>
          <a:prstGeom prst="rect">
            <a:avLst/>
          </a:prstGeom>
        </p:spPr>
        <p:txBody>
          <a:bodyPr wrap="none">
            <a:spAutoFit/>
          </a:bodyPr>
          <a:lstStyle/>
          <a:p>
            <a:pPr lvl="0">
              <a:defRPr/>
            </a:pPr>
            <a:r>
              <a:rPr lang="en-US" altLang="zh-TW" sz="3200" dirty="0" smtClean="0"/>
              <a:t>A6.5 </a:t>
            </a:r>
            <a:r>
              <a:rPr lang="zh-TW" altLang="en-US" sz="3200" dirty="0" smtClean="0"/>
              <a:t>採購</a:t>
            </a:r>
            <a:r>
              <a:rPr lang="zh-TW" altLang="en-US" sz="3200" dirty="0"/>
              <a:t>文件紙本歸檔	</a:t>
            </a:r>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機關辦理採購之文件，除依會計法或其他法律規定保存者外，應另備具一份，保存於主管機關指定之場所。</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0" name="矩形 19"/>
          <p:cNvSpPr/>
          <p:nvPr/>
        </p:nvSpPr>
        <p:spPr>
          <a:xfrm>
            <a:off x="382013" y="5916408"/>
            <a:ext cx="2529860"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a:t>
            </a:r>
            <a:r>
              <a:rPr lang="zh-TW" altLang="en-US" sz="1200" u="sng" dirty="0" smtClean="0">
                <a:solidFill>
                  <a:srgbClr val="000000"/>
                </a:solidFill>
                <a:latin typeface="微軟正黑體" panose="020B0604030504040204" pitchFamily="34" charset="-120"/>
                <a:ea typeface="微軟正黑體" panose="020B0604030504040204" pitchFamily="34" charset="-120"/>
              </a:rPr>
              <a:t> 採購</a:t>
            </a:r>
            <a:r>
              <a:rPr lang="zh-TW" altLang="en-US" sz="1200" u="sng" dirty="0">
                <a:solidFill>
                  <a:srgbClr val="000000"/>
                </a:solidFill>
                <a:latin typeface="微軟正黑體" panose="020B0604030504040204" pitchFamily="34" charset="-120"/>
                <a:ea typeface="微軟正黑體" panose="020B0604030504040204" pitchFamily="34" charset="-120"/>
              </a:rPr>
              <a:t>法</a:t>
            </a:r>
            <a:r>
              <a:rPr lang="en-US" altLang="zh-TW" sz="1200" u="sng" dirty="0">
                <a:solidFill>
                  <a:srgbClr val="000000"/>
                </a:solidFill>
                <a:latin typeface="微軟正黑體" panose="020B0604030504040204" pitchFamily="34" charset="-120"/>
                <a:ea typeface="微軟正黑體" panose="020B0604030504040204" pitchFamily="34" charset="-120"/>
              </a:rPr>
              <a:t>107</a:t>
            </a:r>
            <a:r>
              <a:rPr lang="zh-TW" altLang="en-US" sz="1200" u="sng" dirty="0">
                <a:solidFill>
                  <a:srgbClr val="000000"/>
                </a:solidFill>
                <a:latin typeface="微軟正黑體" panose="020B0604030504040204" pitchFamily="34" charset="-120"/>
                <a:ea typeface="微軟正黑體" panose="020B0604030504040204" pitchFamily="34" charset="-120"/>
              </a:rPr>
              <a:t>、細則</a:t>
            </a:r>
            <a:r>
              <a:rPr lang="en-US" altLang="zh-TW" sz="1200" u="sng" dirty="0">
                <a:solidFill>
                  <a:srgbClr val="000000"/>
                </a:solidFill>
                <a:latin typeface="微軟正黑體" panose="020B0604030504040204" pitchFamily="34" charset="-120"/>
                <a:ea typeface="微軟正黑體" panose="020B0604030504040204" pitchFamily="34" charset="-120"/>
              </a:rPr>
              <a:t>112-2</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2822520" y="5916407"/>
            <a:ext cx="2031325" cy="276999"/>
          </a:xfrm>
          <a:prstGeom prst="rect">
            <a:avLst/>
          </a:prstGeom>
          <a:noFill/>
        </p:spPr>
        <p:txBody>
          <a:bodyPr wrap="none" rtlCol="0">
            <a:spAutoFit/>
          </a:bodyPr>
          <a:lstStyle/>
          <a:p>
            <a:r>
              <a:rPr lang="zh-TW" altLang="en-US" sz="1200" dirty="0">
                <a:hlinkClick r:id="rId3"/>
              </a:rPr>
              <a:t>臺</a:t>
            </a:r>
            <a:r>
              <a:rPr lang="zh-TW" altLang="en-US" sz="1200" dirty="0" smtClean="0">
                <a:hlinkClick r:id="rId3"/>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207431198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A6.5 </a:t>
            </a:r>
            <a:r>
              <a:rPr lang="zh-TW" altLang="en-US" sz="3200" b="1" dirty="0">
                <a:solidFill>
                  <a:srgbClr val="39759D"/>
                </a:solidFill>
                <a:cs typeface="+mn-ea"/>
                <a:sym typeface="+mn-lt"/>
              </a:rPr>
              <a:t>採購文件紙本歸檔</a:t>
            </a:r>
            <a:endParaRPr lang="zh-TW" altLang="en-US" sz="3200" b="1" i="0" dirty="0">
              <a:solidFill>
                <a:srgbClr val="277988"/>
              </a:solidFill>
              <a:effectLst/>
              <a:latin typeface="Noto Sans TC"/>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541678"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45" name="圖片 44">
            <a:extLst>
              <a:ext uri="{FF2B5EF4-FFF2-40B4-BE49-F238E27FC236}">
                <a16:creationId xmlns:a16="http://schemas.microsoft.com/office/drawing/2014/main" id="{FA68D052-1155-4B27-9540-28BDDBB9F042}"/>
              </a:ext>
            </a:extLst>
          </p:cNvPr>
          <p:cNvPicPr>
            <a:picLocks noChangeAspect="1"/>
          </p:cNvPicPr>
          <p:nvPr/>
        </p:nvPicPr>
        <p:blipFill>
          <a:blip r:embed="rId3"/>
          <a:stretch>
            <a:fillRect/>
          </a:stretch>
        </p:blipFill>
        <p:spPr>
          <a:xfrm>
            <a:off x="335824" y="1564161"/>
            <a:ext cx="9010965" cy="4702983"/>
          </a:xfrm>
          <a:prstGeom prst="rect">
            <a:avLst/>
          </a:prstGeom>
        </p:spPr>
      </p:pic>
      <p:sp>
        <p:nvSpPr>
          <p:cNvPr id="52" name="文字方塊 51">
            <a:extLst>
              <a:ext uri="{FF2B5EF4-FFF2-40B4-BE49-F238E27FC236}">
                <a16:creationId xmlns:a16="http://schemas.microsoft.com/office/drawing/2014/main" id="{8E133749-F174-4A9B-B9E5-F2B8B57F0218}"/>
              </a:ext>
            </a:extLst>
          </p:cNvPr>
          <p:cNvSpPr txBox="1"/>
          <p:nvPr/>
        </p:nvSpPr>
        <p:spPr>
          <a:xfrm flipH="1">
            <a:off x="5852498" y="1841515"/>
            <a:ext cx="2482029" cy="783193"/>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sp>
        <p:nvSpPr>
          <p:cNvPr id="47" name="矩形 46">
            <a:extLst>
              <a:ext uri="{FF2B5EF4-FFF2-40B4-BE49-F238E27FC236}">
                <a16:creationId xmlns:a16="http://schemas.microsoft.com/office/drawing/2014/main" id="{5830359E-A5E8-4321-BC08-C8375A5D83DA}"/>
              </a:ext>
            </a:extLst>
          </p:cNvPr>
          <p:cNvSpPr/>
          <p:nvPr/>
        </p:nvSpPr>
        <p:spPr>
          <a:xfrm>
            <a:off x="2532993" y="3429000"/>
            <a:ext cx="6684579" cy="3757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5" name="文字方塊 54">
            <a:extLst>
              <a:ext uri="{FF2B5EF4-FFF2-40B4-BE49-F238E27FC236}">
                <a16:creationId xmlns:a16="http://schemas.microsoft.com/office/drawing/2014/main" id="{9381F2E2-96AC-4FDA-B173-5BFE7CB57AE9}"/>
              </a:ext>
            </a:extLst>
          </p:cNvPr>
          <p:cNvSpPr txBox="1"/>
          <p:nvPr/>
        </p:nvSpPr>
        <p:spPr>
          <a:xfrm>
            <a:off x="8561406" y="4712779"/>
            <a:ext cx="3485249" cy="646331"/>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b="1" dirty="0"/>
              <a:t>3.</a:t>
            </a:r>
            <a:r>
              <a:rPr lang="zh-TW" altLang="en-US" b="1" dirty="0"/>
              <a:t>選擇辦理狀態後選擇完成</a:t>
            </a:r>
            <a:r>
              <a:rPr lang="en-US" altLang="zh-TW" b="1" dirty="0"/>
              <a:t>/</a:t>
            </a:r>
            <a:r>
              <a:rPr lang="zh-TW" altLang="en-US" b="1" dirty="0"/>
              <a:t>取消</a:t>
            </a:r>
            <a:endParaRPr lang="en-US" altLang="zh-TW" b="1" dirty="0"/>
          </a:p>
          <a:p>
            <a:r>
              <a:rPr lang="zh-TW" altLang="en-US" b="1" dirty="0"/>
              <a:t>來完成或放棄編輯。</a:t>
            </a:r>
          </a:p>
        </p:txBody>
      </p:sp>
      <p:sp>
        <p:nvSpPr>
          <p:cNvPr id="57" name="文字方塊 56">
            <a:extLst>
              <a:ext uri="{FF2B5EF4-FFF2-40B4-BE49-F238E27FC236}">
                <a16:creationId xmlns:a16="http://schemas.microsoft.com/office/drawing/2014/main" id="{6E992574-D70B-40D0-9972-76DE314BAA5A}"/>
              </a:ext>
            </a:extLst>
          </p:cNvPr>
          <p:cNvSpPr txBox="1"/>
          <p:nvPr/>
        </p:nvSpPr>
        <p:spPr>
          <a:xfrm>
            <a:off x="8958950" y="2622057"/>
            <a:ext cx="2690160" cy="646331"/>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b="1" dirty="0"/>
              <a:t>2.</a:t>
            </a:r>
            <a:r>
              <a:rPr lang="zh-TW" altLang="en-US" b="1" dirty="0"/>
              <a:t>選擇文件類型並點擊新</a:t>
            </a:r>
            <a:endParaRPr lang="en-US" altLang="zh-TW" b="1" dirty="0"/>
          </a:p>
          <a:p>
            <a:r>
              <a:rPr lang="zh-TW" altLang="en-US" b="1" dirty="0"/>
              <a:t>增文件按鈕以上傳文件</a:t>
            </a:r>
          </a:p>
        </p:txBody>
      </p:sp>
      <p:sp>
        <p:nvSpPr>
          <p:cNvPr id="58" name="矩形 57">
            <a:extLst>
              <a:ext uri="{FF2B5EF4-FFF2-40B4-BE49-F238E27FC236}">
                <a16:creationId xmlns:a16="http://schemas.microsoft.com/office/drawing/2014/main" id="{DFD7EBE0-9611-4356-B1F5-EADB693A651A}"/>
              </a:ext>
            </a:extLst>
          </p:cNvPr>
          <p:cNvSpPr/>
          <p:nvPr/>
        </p:nvSpPr>
        <p:spPr>
          <a:xfrm>
            <a:off x="567835" y="4712779"/>
            <a:ext cx="4110043" cy="49448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9" name="矩形 58">
            <a:extLst>
              <a:ext uri="{FF2B5EF4-FFF2-40B4-BE49-F238E27FC236}">
                <a16:creationId xmlns:a16="http://schemas.microsoft.com/office/drawing/2014/main" id="{4A970F2B-2F01-4164-8837-47BDB75C3715}"/>
              </a:ext>
            </a:extLst>
          </p:cNvPr>
          <p:cNvSpPr/>
          <p:nvPr/>
        </p:nvSpPr>
        <p:spPr>
          <a:xfrm>
            <a:off x="335823" y="5515896"/>
            <a:ext cx="9010966" cy="6463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50" name="接點: 肘形 49">
            <a:extLst>
              <a:ext uri="{FF2B5EF4-FFF2-40B4-BE49-F238E27FC236}">
                <a16:creationId xmlns:a16="http://schemas.microsoft.com/office/drawing/2014/main" id="{81B8FB3D-A914-4928-A7BC-8C16432AB8DB}"/>
              </a:ext>
            </a:extLst>
          </p:cNvPr>
          <p:cNvCxnSpPr>
            <a:stCxn id="55" idx="2"/>
            <a:endCxn id="59" idx="3"/>
          </p:cNvCxnSpPr>
          <p:nvPr/>
        </p:nvCxnSpPr>
        <p:spPr>
          <a:xfrm rot="5400000">
            <a:off x="9585434" y="5120465"/>
            <a:ext cx="479952" cy="957242"/>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35256001-F375-4A8C-9696-BBA02B692E62}"/>
              </a:ext>
            </a:extLst>
          </p:cNvPr>
          <p:cNvCxnSpPr>
            <a:stCxn id="58" idx="3"/>
          </p:cNvCxnSpPr>
          <p:nvPr/>
        </p:nvCxnSpPr>
        <p:spPr>
          <a:xfrm flipV="1">
            <a:off x="4677878" y="4937760"/>
            <a:ext cx="3883528" cy="222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接點: 肘形 63">
            <a:extLst>
              <a:ext uri="{FF2B5EF4-FFF2-40B4-BE49-F238E27FC236}">
                <a16:creationId xmlns:a16="http://schemas.microsoft.com/office/drawing/2014/main" id="{D5289EEE-2ADA-45B2-9510-C7E51DA87E3E}"/>
              </a:ext>
            </a:extLst>
          </p:cNvPr>
          <p:cNvCxnSpPr>
            <a:endCxn id="57" idx="2"/>
          </p:cNvCxnSpPr>
          <p:nvPr/>
        </p:nvCxnSpPr>
        <p:spPr>
          <a:xfrm flipV="1">
            <a:off x="9217572" y="3268388"/>
            <a:ext cx="1086458" cy="350711"/>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649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0EAD936-4D7F-4E9A-9D88-F3341E2D1130}"/>
              </a:ext>
            </a:extLst>
          </p:cNvPr>
          <p:cNvSpPr/>
          <p:nvPr/>
        </p:nvSpPr>
        <p:spPr>
          <a:xfrm>
            <a:off x="537210" y="40957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800" dirty="0"/>
              <a:t>A5.6</a:t>
            </a:r>
            <a:r>
              <a:rPr lang="zh-TW" altLang="en-US" sz="2800" dirty="0"/>
              <a:t>簽訂契約：說明有些欄位是發包古填的，有些是施工股填的</a:t>
            </a:r>
          </a:p>
        </p:txBody>
      </p:sp>
      <p:sp>
        <p:nvSpPr>
          <p:cNvPr id="3" name="矩形 2">
            <a:extLst>
              <a:ext uri="{FF2B5EF4-FFF2-40B4-BE49-F238E27FC236}">
                <a16:creationId xmlns:a16="http://schemas.microsoft.com/office/drawing/2014/main" id="{41E9FBB1-8C12-4D90-B3E4-A8630C81D05A}"/>
              </a:ext>
            </a:extLst>
          </p:cNvPr>
          <p:cNvSpPr/>
          <p:nvPr/>
        </p:nvSpPr>
        <p:spPr>
          <a:xfrm>
            <a:off x="537210" y="212788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dirty="0"/>
              <a:t>營造物價指數調整：需要從標案資料備註，填寫營造物價指數填寫，</a:t>
            </a:r>
            <a:r>
              <a:rPr lang="zh-TW" altLang="en-US" sz="2800" dirty="0">
                <a:hlinkClick r:id="rId2"/>
              </a:rPr>
              <a:t>營造工程物價指數</a:t>
            </a:r>
            <a:r>
              <a:rPr lang="en-US" altLang="zh-TW" sz="2800" dirty="0">
                <a:hlinkClick r:id="rId2"/>
              </a:rPr>
              <a:t>(CCI)</a:t>
            </a:r>
            <a:r>
              <a:rPr lang="zh-TW" altLang="en-US" sz="2800" dirty="0">
                <a:hlinkClick r:id="rId2"/>
              </a:rPr>
              <a:t>計算平台 </a:t>
            </a:r>
            <a:r>
              <a:rPr lang="en-US" altLang="zh-TW" sz="2800" dirty="0">
                <a:hlinkClick r:id="rId2"/>
              </a:rPr>
              <a:t>(stat.gov.tw)</a:t>
            </a:r>
            <a:endParaRPr lang="zh-TW" altLang="en-US" sz="2800" dirty="0"/>
          </a:p>
        </p:txBody>
      </p:sp>
      <p:sp>
        <p:nvSpPr>
          <p:cNvPr id="4" name="矩形 3">
            <a:extLst>
              <a:ext uri="{FF2B5EF4-FFF2-40B4-BE49-F238E27FC236}">
                <a16:creationId xmlns:a16="http://schemas.microsoft.com/office/drawing/2014/main" id="{3DCFBFF6-73EF-4300-BE2E-C6B6529DDDEA}"/>
              </a:ext>
            </a:extLst>
          </p:cNvPr>
          <p:cNvSpPr/>
          <p:nvPr/>
        </p:nvSpPr>
        <p:spPr>
          <a:xfrm>
            <a:off x="537210" y="384619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a:t>簽訂契約：施工廠商等廠商的基本資料建立，記得跟人事管理連結</a:t>
            </a:r>
            <a:endParaRPr lang="zh-TW" altLang="en-US" sz="2800" dirty="0"/>
          </a:p>
        </p:txBody>
      </p:sp>
    </p:spTree>
    <p:extLst>
      <p:ext uri="{BB962C8B-B14F-4D97-AF65-F5344CB8AC3E}">
        <p14:creationId xmlns:p14="http://schemas.microsoft.com/office/powerpoint/2010/main" val="35056784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CA03EF-12CE-45C7-9670-0664ACF3D864}"/>
              </a:ext>
            </a:extLst>
          </p:cNvPr>
          <p:cNvSpPr/>
          <p:nvPr/>
        </p:nvSpPr>
        <p:spPr>
          <a:xfrm>
            <a:off x="145344" y="1564161"/>
            <a:ext cx="10255956" cy="4598066"/>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圖片</a:t>
            </a:r>
            <a:endParaRPr lang="zh-TW" altLang="en-US" sz="3200" b="1" dirty="0">
              <a:solidFill>
                <a:schemeClr val="tx1"/>
              </a:solidFill>
            </a:endParaRPr>
          </a:p>
        </p:txBody>
      </p:sp>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說明在此網頁會做甚麼行為，如果一個頁面有很多功能可以分步驟寫  </a:t>
            </a:r>
            <a:r>
              <a:rPr lang="zh-TW" altLang="en-US" sz="2400" b="1" dirty="0">
                <a:solidFill>
                  <a:srgbClr val="FF0000"/>
                </a:solidFill>
                <a:cs typeface="+mn-ea"/>
                <a:sym typeface="+mn-lt"/>
              </a:rPr>
              <a:t>字體</a:t>
            </a:r>
            <a:r>
              <a:rPr lang="en-US" altLang="zh-TW" sz="2400" b="1" dirty="0">
                <a:solidFill>
                  <a:srgbClr val="FF0000"/>
                </a:solidFill>
                <a:cs typeface="+mn-ea"/>
                <a:sym typeface="+mn-lt"/>
              </a:rPr>
              <a:t>24</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6431802"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模組名稱</a:t>
            </a:r>
            <a:r>
              <a:rPr lang="en-US" altLang="zh-TW" sz="3200" b="1" dirty="0">
                <a:solidFill>
                  <a:srgbClr val="39759D"/>
                </a:solidFill>
                <a:cs typeface="+mn-ea"/>
                <a:sym typeface="+mn-lt"/>
              </a:rPr>
              <a:t>(EX:</a:t>
            </a:r>
            <a:r>
              <a:rPr lang="zh-TW" altLang="en-US" sz="3200" b="1" dirty="0">
                <a:solidFill>
                  <a:srgbClr val="39759D"/>
                </a:solidFill>
                <a:cs typeface="+mn-ea"/>
                <a:sym typeface="+mn-lt"/>
              </a:rPr>
              <a:t>招標前模組</a:t>
            </a:r>
            <a:r>
              <a:rPr lang="en-US" altLang="zh-TW" sz="3200" b="1" dirty="0">
                <a:solidFill>
                  <a:srgbClr val="39759D"/>
                </a:solidFill>
                <a:cs typeface="+mn-ea"/>
                <a:sym typeface="+mn-lt"/>
              </a:rPr>
              <a:t>) </a:t>
            </a:r>
            <a:r>
              <a:rPr lang="zh-TW" altLang="en-US" sz="3200" b="1" dirty="0">
                <a:solidFill>
                  <a:srgbClr val="FF0000"/>
                </a:solidFill>
                <a:cs typeface="+mn-ea"/>
                <a:sym typeface="+mn-lt"/>
              </a:rPr>
              <a:t>字體</a:t>
            </a:r>
            <a:r>
              <a:rPr lang="en-US" altLang="zh-TW" sz="3200" b="1" dirty="0">
                <a:solidFill>
                  <a:srgbClr val="FF0000"/>
                </a:solidFill>
                <a:cs typeface="+mn-ea"/>
                <a:sym typeface="+mn-lt"/>
              </a:rPr>
              <a:t>32</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a:off x="8558625" y="1935802"/>
            <a:ext cx="3488030" cy="1123712"/>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備註說明 </a:t>
            </a:r>
            <a:r>
              <a:rPr lang="zh-TW" altLang="en-US" sz="2000" b="1" dirty="0">
                <a:solidFill>
                  <a:srgbClr val="FF0000"/>
                </a:solidFill>
                <a:cs typeface="+mn-ea"/>
                <a:sym typeface="+mn-lt"/>
              </a:rPr>
              <a:t>字體</a:t>
            </a:r>
            <a:r>
              <a:rPr lang="en-US" altLang="zh-TW" sz="2000" b="1" dirty="0">
                <a:solidFill>
                  <a:srgbClr val="FF0000"/>
                </a:solidFill>
                <a:cs typeface="+mn-ea"/>
                <a:sym typeface="+mn-lt"/>
              </a:rPr>
              <a:t>20</a:t>
            </a:r>
          </a:p>
          <a:p>
            <a:r>
              <a:rPr lang="en-US" altLang="zh-TW" sz="2000" b="1" dirty="0">
                <a:cs typeface="+mn-ea"/>
                <a:sym typeface="+mn-lt"/>
              </a:rPr>
              <a:t>1.</a:t>
            </a:r>
            <a:r>
              <a:rPr lang="zh-TW" altLang="en-US" sz="2000" b="1" dirty="0">
                <a:cs typeface="+mn-ea"/>
                <a:sym typeface="+mn-lt"/>
              </a:rPr>
              <a:t>數值、欄位選擇的連動</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填入欄位注意的格式等等</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4689724" y="718365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23304104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en-US" altLang="zh-TW" sz="2400" b="1" dirty="0">
                <a:cs typeface="+mn-ea"/>
                <a:sym typeface="+mn-lt"/>
              </a:rPr>
              <a:t>3.</a:t>
            </a:r>
            <a:r>
              <a:rPr lang="zh-TW" altLang="en-US" sz="2400" b="1" dirty="0">
                <a:cs typeface="+mn-ea"/>
                <a:sym typeface="+mn-lt"/>
              </a:rPr>
              <a:t> 點擊「新增憑證」，選擇「憑證用途」的「機關單位」，進行確定，並綁定。</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機關</a:t>
            </a:r>
            <a:r>
              <a:rPr lang="en-US" altLang="zh-TW" sz="2000" b="1" dirty="0">
                <a:solidFill>
                  <a:schemeClr val="tx1"/>
                </a:solidFill>
                <a:cs typeface="+mn-ea"/>
                <a:sym typeface="+mn-lt"/>
              </a:rPr>
              <a:t>-</a:t>
            </a:r>
            <a:r>
              <a:rPr lang="zh-TW" altLang="en-US" sz="2000" b="1" dirty="0">
                <a:solidFill>
                  <a:schemeClr val="tx1"/>
                </a:solidFill>
                <a:cs typeface="+mn-ea"/>
                <a:sym typeface="+mn-lt"/>
              </a:rPr>
              <a:t>憑證管理</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憑證管理</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6906C932-03F6-4FC6-84A7-5C0ACBA3D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71" y="1488455"/>
            <a:ext cx="10963629" cy="5287999"/>
          </a:xfrm>
          <a:prstGeom prst="rect">
            <a:avLst/>
          </a:prstGeom>
        </p:spPr>
      </p:pic>
      <p:sp>
        <p:nvSpPr>
          <p:cNvPr id="8" name="文字方塊 7">
            <a:extLst>
              <a:ext uri="{FF2B5EF4-FFF2-40B4-BE49-F238E27FC236}">
                <a16:creationId xmlns:a16="http://schemas.microsoft.com/office/drawing/2014/main" id="{62B3DF71-B9CD-44D7-B25D-900103958020}"/>
              </a:ext>
            </a:extLst>
          </p:cNvPr>
          <p:cNvSpPr txBox="1"/>
          <p:nvPr/>
        </p:nvSpPr>
        <p:spPr>
          <a:xfrm>
            <a:off x="8610601" y="1665703"/>
            <a:ext cx="3276600" cy="1804749"/>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憑證管理</a:t>
            </a:r>
            <a:endParaRPr lang="en-US" altLang="zh-TW" sz="2000" b="1" dirty="0">
              <a:cs typeface="+mn-ea"/>
              <a:sym typeface="+mn-lt"/>
            </a:endParaRPr>
          </a:p>
          <a:p>
            <a:r>
              <a:rPr lang="en-US" altLang="zh-TW" sz="2000" b="1" dirty="0">
                <a:cs typeface="+mn-ea"/>
                <a:sym typeface="+mn-lt"/>
              </a:rPr>
              <a:t>1.</a:t>
            </a:r>
            <a:r>
              <a:rPr lang="zh-TW" altLang="en-US" sz="2000" b="1" dirty="0">
                <a:cs typeface="+mn-ea"/>
                <a:sym typeface="+mn-lt"/>
              </a:rPr>
              <a:t>一個帳號僅能綁定一張自然人憑證</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使用者名稱需和自然人憑證之名稱一致</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3706744" y="522912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3699609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hl141ys">
      <a:majorFont>
        <a:latin typeface="微軟正黑體" panose="020B0604020202020204"/>
        <a:ea typeface="微軟正黑體"/>
        <a:cs typeface=""/>
      </a:majorFont>
      <a:minorFont>
        <a:latin typeface="微軟正黑體" panose="020B0604020202020204"/>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B6C8E8"/>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20766</TotalTime>
  <Words>3476</Words>
  <Application>Microsoft Office PowerPoint</Application>
  <PresentationFormat>寬螢幕</PresentationFormat>
  <Paragraphs>445</Paragraphs>
  <Slides>49</Slides>
  <Notes>37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49</vt:i4>
      </vt:variant>
    </vt:vector>
  </HeadingPairs>
  <TitlesOfParts>
    <vt:vector size="56" baseType="lpstr">
      <vt:lpstr>Noto Sans TC</vt:lpstr>
      <vt:lpstr>微軟正黑體</vt:lpstr>
      <vt:lpstr>新細明體</vt:lpstr>
      <vt:lpstr>Arial</vt:lpstr>
      <vt:lpstr>Arial Black</vt:lpstr>
      <vt:lpstr>Calibri</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妤珊</dc:creator>
  <cp:lastModifiedBy>USER</cp:lastModifiedBy>
  <cp:revision>1293</cp:revision>
  <cp:lastPrinted>2020-08-17T01:41:09Z</cp:lastPrinted>
  <dcterms:created xsi:type="dcterms:W3CDTF">2020-05-15T02:43:33Z</dcterms:created>
  <dcterms:modified xsi:type="dcterms:W3CDTF">2022-01-10T11:02:04Z</dcterms:modified>
</cp:coreProperties>
</file>
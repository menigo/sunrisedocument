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1" r:id="rId3"/>
    <p:sldId id="262" r:id="rId4"/>
    <p:sldId id="263" r:id="rId5"/>
    <p:sldId id="257" r:id="rId6"/>
    <p:sldId id="258" r:id="rId7"/>
    <p:sldId id="260" r:id="rId8"/>
    <p:sldId id="264" r:id="rId9"/>
    <p:sldId id="265" r:id="rId10"/>
    <p:sldId id="266" r:id="rId11"/>
    <p:sldId id="267" r:id="rId12"/>
    <p:sldId id="268" r:id="rId13"/>
    <p:sldId id="269" r:id="rId14"/>
    <p:sldId id="270" r:id="rId15"/>
    <p:sldId id="271" r:id="rId16"/>
    <p:sldId id="273" r:id="rId17"/>
    <p:sldId id="276" r:id="rId18"/>
    <p:sldId id="275" r:id="rId19"/>
    <p:sldId id="277" r:id="rId20"/>
    <p:sldId id="278" r:id="rId21"/>
    <p:sldId id="279"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67"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BC32F-BC28-4221-B6FF-D78B62618E79}" type="datetimeFigureOut">
              <a:rPr lang="zh-TW" altLang="en-US" smtClean="0"/>
              <a:t>2022/1/25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5567D7-AF2A-47BD-9733-53C4274AEA13}" type="slidenum">
              <a:rPr lang="zh-TW" altLang="en-US" smtClean="0"/>
              <a:t>‹#›</a:t>
            </a:fld>
            <a:endParaRPr lang="zh-TW" altLang="en-US"/>
          </a:p>
        </p:txBody>
      </p:sp>
    </p:spTree>
    <p:extLst>
      <p:ext uri="{BB962C8B-B14F-4D97-AF65-F5344CB8AC3E}">
        <p14:creationId xmlns:p14="http://schemas.microsoft.com/office/powerpoint/2010/main" val="3984274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a:t>
            </a:fld>
            <a:endParaRPr lang="zh-TW" altLang="en-US"/>
          </a:p>
        </p:txBody>
      </p:sp>
    </p:spTree>
    <p:extLst>
      <p:ext uri="{BB962C8B-B14F-4D97-AF65-F5344CB8AC3E}">
        <p14:creationId xmlns:p14="http://schemas.microsoft.com/office/powerpoint/2010/main" val="2567466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2</a:t>
            </a:fld>
            <a:endParaRPr lang="zh-TW" altLang="en-US"/>
          </a:p>
        </p:txBody>
      </p:sp>
    </p:spTree>
    <p:extLst>
      <p:ext uri="{BB962C8B-B14F-4D97-AF65-F5344CB8AC3E}">
        <p14:creationId xmlns:p14="http://schemas.microsoft.com/office/powerpoint/2010/main" val="3409031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3</a:t>
            </a:fld>
            <a:endParaRPr lang="zh-TW" altLang="en-US"/>
          </a:p>
        </p:txBody>
      </p:sp>
    </p:spTree>
    <p:extLst>
      <p:ext uri="{BB962C8B-B14F-4D97-AF65-F5344CB8AC3E}">
        <p14:creationId xmlns:p14="http://schemas.microsoft.com/office/powerpoint/2010/main" val="3495748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4</a:t>
            </a:fld>
            <a:endParaRPr lang="zh-TW" altLang="en-US"/>
          </a:p>
        </p:txBody>
      </p:sp>
    </p:spTree>
    <p:extLst>
      <p:ext uri="{BB962C8B-B14F-4D97-AF65-F5344CB8AC3E}">
        <p14:creationId xmlns:p14="http://schemas.microsoft.com/office/powerpoint/2010/main" val="22669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5</a:t>
            </a:fld>
            <a:endParaRPr lang="zh-TW" altLang="en-US"/>
          </a:p>
        </p:txBody>
      </p:sp>
    </p:spTree>
    <p:extLst>
      <p:ext uri="{BB962C8B-B14F-4D97-AF65-F5344CB8AC3E}">
        <p14:creationId xmlns:p14="http://schemas.microsoft.com/office/powerpoint/2010/main" val="3087641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6</a:t>
            </a:fld>
            <a:endParaRPr lang="zh-TW" altLang="en-US"/>
          </a:p>
        </p:txBody>
      </p:sp>
    </p:spTree>
    <p:extLst>
      <p:ext uri="{BB962C8B-B14F-4D97-AF65-F5344CB8AC3E}">
        <p14:creationId xmlns:p14="http://schemas.microsoft.com/office/powerpoint/2010/main" val="1244417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7</a:t>
            </a:fld>
            <a:endParaRPr lang="zh-TW" altLang="en-US"/>
          </a:p>
        </p:txBody>
      </p:sp>
    </p:spTree>
    <p:extLst>
      <p:ext uri="{BB962C8B-B14F-4D97-AF65-F5344CB8AC3E}">
        <p14:creationId xmlns:p14="http://schemas.microsoft.com/office/powerpoint/2010/main" val="2214588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8</a:t>
            </a:fld>
            <a:endParaRPr lang="zh-TW" altLang="en-US"/>
          </a:p>
        </p:txBody>
      </p:sp>
    </p:spTree>
    <p:extLst>
      <p:ext uri="{BB962C8B-B14F-4D97-AF65-F5344CB8AC3E}">
        <p14:creationId xmlns:p14="http://schemas.microsoft.com/office/powerpoint/2010/main" val="4162814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9</a:t>
            </a:fld>
            <a:endParaRPr lang="zh-TW" altLang="en-US"/>
          </a:p>
        </p:txBody>
      </p:sp>
    </p:spTree>
    <p:extLst>
      <p:ext uri="{BB962C8B-B14F-4D97-AF65-F5344CB8AC3E}">
        <p14:creationId xmlns:p14="http://schemas.microsoft.com/office/powerpoint/2010/main" val="2281089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10</a:t>
            </a:fld>
            <a:endParaRPr lang="zh-TW" altLang="en-US"/>
          </a:p>
        </p:txBody>
      </p:sp>
    </p:spTree>
    <p:extLst>
      <p:ext uri="{BB962C8B-B14F-4D97-AF65-F5344CB8AC3E}">
        <p14:creationId xmlns:p14="http://schemas.microsoft.com/office/powerpoint/2010/main" val="299967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11</a:t>
            </a:fld>
            <a:endParaRPr lang="zh-TW" altLang="en-US"/>
          </a:p>
        </p:txBody>
      </p:sp>
    </p:spTree>
    <p:extLst>
      <p:ext uri="{BB962C8B-B14F-4D97-AF65-F5344CB8AC3E}">
        <p14:creationId xmlns:p14="http://schemas.microsoft.com/office/powerpoint/2010/main" val="3951469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12</a:t>
            </a:fld>
            <a:endParaRPr lang="zh-TW" altLang="en-US"/>
          </a:p>
        </p:txBody>
      </p:sp>
    </p:spTree>
    <p:extLst>
      <p:ext uri="{BB962C8B-B14F-4D97-AF65-F5344CB8AC3E}">
        <p14:creationId xmlns:p14="http://schemas.microsoft.com/office/powerpoint/2010/main" val="707290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13</a:t>
            </a:fld>
            <a:endParaRPr lang="zh-TW" altLang="en-US"/>
          </a:p>
        </p:txBody>
      </p:sp>
    </p:spTree>
    <p:extLst>
      <p:ext uri="{BB962C8B-B14F-4D97-AF65-F5344CB8AC3E}">
        <p14:creationId xmlns:p14="http://schemas.microsoft.com/office/powerpoint/2010/main" val="41855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14</a:t>
            </a:fld>
            <a:endParaRPr lang="zh-TW" altLang="en-US"/>
          </a:p>
        </p:txBody>
      </p:sp>
    </p:spTree>
    <p:extLst>
      <p:ext uri="{BB962C8B-B14F-4D97-AF65-F5344CB8AC3E}">
        <p14:creationId xmlns:p14="http://schemas.microsoft.com/office/powerpoint/2010/main" val="1339349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15</a:t>
            </a:fld>
            <a:endParaRPr lang="zh-TW" altLang="en-US"/>
          </a:p>
        </p:txBody>
      </p:sp>
    </p:spTree>
    <p:extLst>
      <p:ext uri="{BB962C8B-B14F-4D97-AF65-F5344CB8AC3E}">
        <p14:creationId xmlns:p14="http://schemas.microsoft.com/office/powerpoint/2010/main" val="3509005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16</a:t>
            </a:fld>
            <a:endParaRPr lang="zh-TW" altLang="en-US"/>
          </a:p>
        </p:txBody>
      </p:sp>
    </p:spTree>
    <p:extLst>
      <p:ext uri="{BB962C8B-B14F-4D97-AF65-F5344CB8AC3E}">
        <p14:creationId xmlns:p14="http://schemas.microsoft.com/office/powerpoint/2010/main" val="3956946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17</a:t>
            </a:fld>
            <a:endParaRPr lang="zh-TW" altLang="en-US"/>
          </a:p>
        </p:txBody>
      </p:sp>
    </p:spTree>
    <p:extLst>
      <p:ext uri="{BB962C8B-B14F-4D97-AF65-F5344CB8AC3E}">
        <p14:creationId xmlns:p14="http://schemas.microsoft.com/office/powerpoint/2010/main" val="467021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18</a:t>
            </a:fld>
            <a:endParaRPr lang="zh-TW" altLang="en-US"/>
          </a:p>
        </p:txBody>
      </p:sp>
    </p:spTree>
    <p:extLst>
      <p:ext uri="{BB962C8B-B14F-4D97-AF65-F5344CB8AC3E}">
        <p14:creationId xmlns:p14="http://schemas.microsoft.com/office/powerpoint/2010/main" val="3372108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19</a:t>
            </a:fld>
            <a:endParaRPr lang="zh-TW" altLang="en-US"/>
          </a:p>
        </p:txBody>
      </p:sp>
    </p:spTree>
    <p:extLst>
      <p:ext uri="{BB962C8B-B14F-4D97-AF65-F5344CB8AC3E}">
        <p14:creationId xmlns:p14="http://schemas.microsoft.com/office/powerpoint/2010/main" val="2482885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20</a:t>
            </a:fld>
            <a:endParaRPr lang="zh-TW" altLang="en-US"/>
          </a:p>
        </p:txBody>
      </p:sp>
    </p:spTree>
    <p:extLst>
      <p:ext uri="{BB962C8B-B14F-4D97-AF65-F5344CB8AC3E}">
        <p14:creationId xmlns:p14="http://schemas.microsoft.com/office/powerpoint/2010/main" val="618042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21</a:t>
            </a:fld>
            <a:endParaRPr lang="zh-TW" altLang="en-US"/>
          </a:p>
        </p:txBody>
      </p:sp>
    </p:spTree>
    <p:extLst>
      <p:ext uri="{BB962C8B-B14F-4D97-AF65-F5344CB8AC3E}">
        <p14:creationId xmlns:p14="http://schemas.microsoft.com/office/powerpoint/2010/main" val="2582764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3020967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84852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929409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140090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3182890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1995066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320406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1434976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127585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3412717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7013262-28ED-4F8C-8558-DF4C8F8DE18F}" type="datetimeFigureOut">
              <a:rPr lang="zh-TW" altLang="en-US" smtClean="0"/>
              <a:t>2022/1/25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1141219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6726" y="0"/>
            <a:ext cx="12198726" cy="6882634"/>
          </a:xfrm>
          <a:prstGeom prst="snip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64464" y="4054018"/>
            <a:ext cx="2041965" cy="2853251"/>
          </a:xfrm>
          <a:prstGeom prst="rtTriangle">
            <a:avLst/>
          </a:prstGeom>
          <a:solidFill>
            <a:srgbClr val="F5D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sp>
        <p:nvSpPr>
          <p:cNvPr id="20" name="矩形: 圓角 19">
            <a:extLst>
              <a:ext uri="{FF2B5EF4-FFF2-40B4-BE49-F238E27FC236}">
                <a16:creationId xmlns:a16="http://schemas.microsoft.com/office/drawing/2014/main" id="{CBABAB66-FCA0-479B-8E23-99A0AF2B57A9}"/>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投影片編號版面配置區 5">
            <a:extLst>
              <a:ext uri="{FF2B5EF4-FFF2-40B4-BE49-F238E27FC236}">
                <a16:creationId xmlns:a16="http://schemas.microsoft.com/office/drawing/2014/main" id="{C3C53CCB-49FE-47BB-9379-C78E720D13DC}"/>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75003233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013262-28ED-4F8C-8558-DF4C8F8DE18F}" type="datetimeFigureOut">
              <a:rPr lang="zh-TW" altLang="en-US" smtClean="0"/>
              <a:t>2022/1/25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C187F7-9DC5-429A-A246-D93D4F2788CE}" type="slidenum">
              <a:rPr lang="zh-TW" altLang="en-US" smtClean="0"/>
              <a:t>‹#›</a:t>
            </a:fld>
            <a:endParaRPr lang="zh-TW" altLang="en-US"/>
          </a:p>
        </p:txBody>
      </p:sp>
    </p:spTree>
    <p:extLst>
      <p:ext uri="{BB962C8B-B14F-4D97-AF65-F5344CB8AC3E}">
        <p14:creationId xmlns:p14="http://schemas.microsoft.com/office/powerpoint/2010/main" val="1873190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p:cNvPicPr>
            <a:picLocks noChangeAspect="1"/>
          </p:cNvPicPr>
          <p:nvPr/>
        </p:nvPicPr>
        <p:blipFill>
          <a:blip r:embed="rId3"/>
          <a:stretch>
            <a:fillRect/>
          </a:stretch>
        </p:blipFill>
        <p:spPr>
          <a:xfrm>
            <a:off x="705595" y="1183434"/>
            <a:ext cx="9132137" cy="4916158"/>
          </a:xfrm>
          <a:prstGeom prst="rect">
            <a:avLst/>
          </a:prstGeom>
        </p:spPr>
      </p:pic>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參與簽核人員設定</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459946"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904874" y="1464816"/>
            <a:ext cx="6524626" cy="452761"/>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文字方塊 28"/>
          <p:cNvSpPr txBox="1"/>
          <p:nvPr/>
        </p:nvSpPr>
        <p:spPr>
          <a:xfrm>
            <a:off x="8258909" y="1506034"/>
            <a:ext cx="3185487"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此處顯示目前所在階段及流程</a:t>
            </a:r>
          </a:p>
        </p:txBody>
      </p:sp>
      <p:cxnSp>
        <p:nvCxnSpPr>
          <p:cNvPr id="27" name="直線接點 26"/>
          <p:cNvCxnSpPr>
            <a:stCxn id="29" idx="1"/>
            <a:endCxn id="25" idx="3"/>
          </p:cNvCxnSpPr>
          <p:nvPr/>
        </p:nvCxnSpPr>
        <p:spPr>
          <a:xfrm flipH="1">
            <a:off x="7429500" y="1690700"/>
            <a:ext cx="829409" cy="497"/>
          </a:xfrm>
          <a:prstGeom prst="line">
            <a:avLst/>
          </a:prstGeom>
          <a:ln cap="flat">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800061" y="2539134"/>
            <a:ext cx="1596910" cy="442668"/>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文字方塊 35"/>
          <p:cNvSpPr txBox="1"/>
          <p:nvPr/>
        </p:nvSpPr>
        <p:spPr>
          <a:xfrm>
            <a:off x="466319" y="3943026"/>
            <a:ext cx="2194832" cy="646331"/>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dirty="0">
                <a:cs typeface="+mn-ea"/>
                <a:sym typeface="+mn-lt"/>
              </a:rPr>
              <a:t>選擇執行類別</a:t>
            </a:r>
            <a:endParaRPr lang="en-US" altLang="zh-TW" dirty="0">
              <a:cs typeface="+mn-ea"/>
              <a:sym typeface="+mn-lt"/>
            </a:endParaRPr>
          </a:p>
          <a:p>
            <a:pPr algn="l"/>
            <a:r>
              <a:rPr lang="en-US" altLang="zh-TW" dirty="0">
                <a:cs typeface="+mn-ea"/>
                <a:sym typeface="+mn-lt"/>
              </a:rPr>
              <a:t>(</a:t>
            </a:r>
            <a:r>
              <a:rPr lang="zh-TW" altLang="en-US" dirty="0">
                <a:cs typeface="+mn-ea"/>
                <a:sym typeface="+mn-lt"/>
              </a:rPr>
              <a:t>陳核、決行、會辦</a:t>
            </a:r>
            <a:r>
              <a:rPr lang="en-US" altLang="zh-TW" dirty="0">
                <a:cs typeface="+mn-ea"/>
                <a:sym typeface="+mn-lt"/>
              </a:rPr>
              <a:t>)</a:t>
            </a:r>
            <a:endParaRPr lang="zh-TW" altLang="en-US" dirty="0">
              <a:cs typeface="+mn-ea"/>
              <a:sym typeface="+mn-lt"/>
            </a:endParaRPr>
          </a:p>
        </p:txBody>
      </p:sp>
      <p:sp>
        <p:nvSpPr>
          <p:cNvPr id="39" name="矩形 38"/>
          <p:cNvSpPr/>
          <p:nvPr/>
        </p:nvSpPr>
        <p:spPr>
          <a:xfrm>
            <a:off x="2707534" y="2603149"/>
            <a:ext cx="2750291" cy="331524"/>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1" name="肘形接點 40"/>
          <p:cNvCxnSpPr>
            <a:stCxn id="39" idx="2"/>
            <a:endCxn id="42" idx="0"/>
          </p:cNvCxnSpPr>
          <p:nvPr/>
        </p:nvCxnSpPr>
        <p:spPr>
          <a:xfrm rot="16200000" flipH="1">
            <a:off x="4196575" y="2820777"/>
            <a:ext cx="1008427" cy="1236217"/>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文字方塊 41"/>
          <p:cNvSpPr txBox="1"/>
          <p:nvPr/>
        </p:nvSpPr>
        <p:spPr>
          <a:xfrm>
            <a:off x="3379904" y="3943100"/>
            <a:ext cx="3877985" cy="923330"/>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選擇單位</a:t>
            </a:r>
            <a:endParaRPr lang="en-US" altLang="zh-TW" dirty="0">
              <a:cs typeface="+mn-ea"/>
              <a:sym typeface="+mn-lt"/>
            </a:endParaRPr>
          </a:p>
          <a:p>
            <a:pPr algn="l"/>
            <a:r>
              <a:rPr lang="zh-TW" altLang="en-US" dirty="0">
                <a:cs typeface="+mn-ea"/>
                <a:sym typeface="+mn-lt"/>
              </a:rPr>
              <a:t>如為廠商單位將鎖死欄位</a:t>
            </a:r>
            <a:endParaRPr lang="en-US" altLang="zh-TW" dirty="0">
              <a:cs typeface="+mn-ea"/>
              <a:sym typeface="+mn-lt"/>
            </a:endParaRPr>
          </a:p>
          <a:p>
            <a:pPr algn="l"/>
            <a:r>
              <a:rPr lang="zh-TW" altLang="en-US" dirty="0">
                <a:cs typeface="+mn-ea"/>
                <a:sym typeface="+mn-lt"/>
              </a:rPr>
              <a:t>如為機關單位則可以於此處選取單位</a:t>
            </a:r>
          </a:p>
        </p:txBody>
      </p:sp>
      <p:sp>
        <p:nvSpPr>
          <p:cNvPr id="47" name="矩形 46"/>
          <p:cNvSpPr/>
          <p:nvPr/>
        </p:nvSpPr>
        <p:spPr>
          <a:xfrm>
            <a:off x="8356204" y="2688849"/>
            <a:ext cx="479886" cy="242596"/>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5795522" y="2032686"/>
            <a:ext cx="1698172" cy="362498"/>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58" name="肘形接點 57"/>
          <p:cNvCxnSpPr>
            <a:stCxn id="35" idx="1"/>
            <a:endCxn id="36" idx="1"/>
          </p:cNvCxnSpPr>
          <p:nvPr/>
        </p:nvCxnSpPr>
        <p:spPr>
          <a:xfrm rot="10800000" flipV="1">
            <a:off x="466319" y="2760468"/>
            <a:ext cx="333742" cy="1505724"/>
          </a:xfrm>
          <a:prstGeom prst="bentConnector3">
            <a:avLst>
              <a:gd name="adj1" fmla="val 168496"/>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1" name="文字方塊 60"/>
          <p:cNvSpPr txBox="1"/>
          <p:nvPr/>
        </p:nvSpPr>
        <p:spPr>
          <a:xfrm>
            <a:off x="1989709" y="2004296"/>
            <a:ext cx="3686175" cy="369332"/>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dirty="0">
                <a:cs typeface="+mn-ea"/>
                <a:sym typeface="+mn-lt"/>
              </a:rPr>
              <a:t>執行權責辦理、協辦、督導、核定</a:t>
            </a:r>
          </a:p>
        </p:txBody>
      </p:sp>
      <p:sp>
        <p:nvSpPr>
          <p:cNvPr id="63" name="矩形 62"/>
          <p:cNvSpPr/>
          <p:nvPr/>
        </p:nvSpPr>
        <p:spPr>
          <a:xfrm>
            <a:off x="8258909" y="1981737"/>
            <a:ext cx="1578823" cy="362498"/>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4" name="文字方塊 63"/>
          <p:cNvSpPr txBox="1"/>
          <p:nvPr/>
        </p:nvSpPr>
        <p:spPr>
          <a:xfrm>
            <a:off x="9984084" y="2099914"/>
            <a:ext cx="2149796" cy="1200329"/>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dirty="0">
                <a:cs typeface="+mn-ea"/>
                <a:sym typeface="+mn-lt"/>
              </a:rPr>
              <a:t>選擇已儲存人員設定</a:t>
            </a:r>
            <a:endParaRPr lang="en-US" altLang="zh-TW" dirty="0">
              <a:cs typeface="+mn-ea"/>
              <a:sym typeface="+mn-lt"/>
            </a:endParaRPr>
          </a:p>
          <a:p>
            <a:pPr algn="ctr"/>
            <a:r>
              <a:rPr lang="en-US" altLang="zh-TW" dirty="0">
                <a:cs typeface="+mn-ea"/>
                <a:sym typeface="+mn-lt"/>
              </a:rPr>
              <a:t>OR</a:t>
            </a:r>
          </a:p>
          <a:p>
            <a:pPr algn="ctr"/>
            <a:r>
              <a:rPr lang="zh-TW" altLang="en-US" dirty="0">
                <a:cs typeface="+mn-ea"/>
                <a:sym typeface="+mn-lt"/>
              </a:rPr>
              <a:t>存取當前人員設定</a:t>
            </a:r>
          </a:p>
        </p:txBody>
      </p:sp>
      <p:cxnSp>
        <p:nvCxnSpPr>
          <p:cNvPr id="66" name="肘形接點 65"/>
          <p:cNvCxnSpPr>
            <a:stCxn id="63" idx="3"/>
            <a:endCxn id="64" idx="1"/>
          </p:cNvCxnSpPr>
          <p:nvPr/>
        </p:nvCxnSpPr>
        <p:spPr>
          <a:xfrm>
            <a:off x="9837732" y="2162986"/>
            <a:ext cx="146352" cy="537093"/>
          </a:xfrm>
          <a:prstGeom prst="bentConnector3">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文字方塊 66"/>
          <p:cNvSpPr txBox="1"/>
          <p:nvPr/>
        </p:nvSpPr>
        <p:spPr>
          <a:xfrm>
            <a:off x="7349652" y="3279385"/>
            <a:ext cx="249299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點擊新增將人編入群組</a:t>
            </a:r>
          </a:p>
        </p:txBody>
      </p:sp>
      <p:cxnSp>
        <p:nvCxnSpPr>
          <p:cNvPr id="69" name="直線接點 68"/>
          <p:cNvCxnSpPr>
            <a:stCxn id="47" idx="2"/>
            <a:endCxn id="67" idx="0"/>
          </p:cNvCxnSpPr>
          <p:nvPr/>
        </p:nvCxnSpPr>
        <p:spPr>
          <a:xfrm>
            <a:off x="8596147" y="2931445"/>
            <a:ext cx="0" cy="3479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904874" y="5694805"/>
            <a:ext cx="8932858" cy="339641"/>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3" name="文字方塊 72"/>
          <p:cNvSpPr txBox="1"/>
          <p:nvPr/>
        </p:nvSpPr>
        <p:spPr>
          <a:xfrm>
            <a:off x="3706250" y="6017880"/>
            <a:ext cx="4903907"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設定結束點擊存檔</a:t>
            </a:r>
            <a:r>
              <a:rPr lang="en-US" altLang="zh-TW" dirty="0">
                <a:cs typeface="+mn-ea"/>
                <a:sym typeface="+mn-lt"/>
              </a:rPr>
              <a:t>/</a:t>
            </a:r>
            <a:r>
              <a:rPr lang="zh-TW" altLang="en-US" dirty="0">
                <a:cs typeface="+mn-ea"/>
                <a:sym typeface="+mn-lt"/>
              </a:rPr>
              <a:t>取消結束簽核流程人員設定</a:t>
            </a:r>
          </a:p>
        </p:txBody>
      </p:sp>
      <p:grpSp>
        <p:nvGrpSpPr>
          <p:cNvPr id="80" name="群組 79"/>
          <p:cNvGrpSpPr/>
          <p:nvPr/>
        </p:nvGrpSpPr>
        <p:grpSpPr>
          <a:xfrm>
            <a:off x="1201957" y="875936"/>
            <a:ext cx="9187130" cy="369332"/>
            <a:chOff x="1876224" y="849465"/>
            <a:chExt cx="9187130" cy="369332"/>
          </a:xfrm>
        </p:grpSpPr>
        <p:sp>
          <p:nvSpPr>
            <p:cNvPr id="10" name="文字方塊 9"/>
            <p:cNvSpPr txBox="1"/>
            <p:nvPr/>
          </p:nvSpPr>
          <p:spPr>
            <a:xfrm>
              <a:off x="1876224" y="849465"/>
              <a:ext cx="918713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使用系統各流程時，於新增紀錄或點擊畫面中　　　　　　鈕時，將顯示以下設定畫面。</a:t>
              </a:r>
            </a:p>
          </p:txBody>
        </p:sp>
        <p:pic>
          <p:nvPicPr>
            <p:cNvPr id="79" name="圖片 78"/>
            <p:cNvPicPr>
              <a:picLocks noChangeAspect="1"/>
            </p:cNvPicPr>
            <p:nvPr/>
          </p:nvPicPr>
          <p:blipFill>
            <a:blip r:embed="rId4"/>
            <a:stretch>
              <a:fillRect/>
            </a:stretch>
          </p:blipFill>
          <p:spPr>
            <a:xfrm>
              <a:off x="6648099" y="898902"/>
              <a:ext cx="1133633" cy="247685"/>
            </a:xfrm>
            <a:prstGeom prst="rect">
              <a:avLst/>
            </a:prstGeom>
          </p:spPr>
        </p:pic>
      </p:grpSp>
      <p:sp>
        <p:nvSpPr>
          <p:cNvPr id="84" name="文字方塊 83"/>
          <p:cNvSpPr txBox="1"/>
          <p:nvPr/>
        </p:nvSpPr>
        <p:spPr>
          <a:xfrm>
            <a:off x="60764" y="6357611"/>
            <a:ext cx="336021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註 </a:t>
            </a:r>
            <a:r>
              <a:rPr lang="en-US" altLang="zh-TW" dirty="0">
                <a:cs typeface="+mn-ea"/>
                <a:sym typeface="+mn-lt"/>
              </a:rPr>
              <a:t>:</a:t>
            </a:r>
            <a:r>
              <a:rPr lang="zh-TW" altLang="en-US" dirty="0">
                <a:cs typeface="+mn-ea"/>
                <a:sym typeface="+mn-lt"/>
              </a:rPr>
              <a:t> 人員順序由左至右橫向排序</a:t>
            </a:r>
          </a:p>
        </p:txBody>
      </p:sp>
    </p:spTree>
    <p:extLst>
      <p:ext uri="{BB962C8B-B14F-4D97-AF65-F5344CB8AC3E}">
        <p14:creationId xmlns:p14="http://schemas.microsoft.com/office/powerpoint/2010/main" val="1077145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參與簽核人員設定</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459946"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4" name="圖片 3"/>
          <p:cNvPicPr>
            <a:picLocks noChangeAspect="1"/>
          </p:cNvPicPr>
          <p:nvPr/>
        </p:nvPicPr>
        <p:blipFill rotWithShape="1">
          <a:blip r:embed="rId3"/>
          <a:srcRect l="9920" t="19630" r="58925" b="5450"/>
          <a:stretch/>
        </p:blipFill>
        <p:spPr>
          <a:xfrm>
            <a:off x="1500897" y="851878"/>
            <a:ext cx="8004480" cy="5413828"/>
          </a:xfrm>
          <a:prstGeom prst="rect">
            <a:avLst/>
          </a:prstGeom>
        </p:spPr>
      </p:pic>
      <p:sp>
        <p:nvSpPr>
          <p:cNvPr id="8" name="禁止標誌 7"/>
          <p:cNvSpPr/>
          <p:nvPr/>
        </p:nvSpPr>
        <p:spPr>
          <a:xfrm>
            <a:off x="4848408" y="4164990"/>
            <a:ext cx="97631" cy="97631"/>
          </a:xfrm>
          <a:prstGeom prst="noSmoking">
            <a:avLst>
              <a:gd name="adj" fmla="val 522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9" name="矩形 8"/>
          <p:cNvSpPr/>
          <p:nvPr/>
        </p:nvSpPr>
        <p:spPr>
          <a:xfrm>
            <a:off x="3675185" y="3815862"/>
            <a:ext cx="1960684" cy="7209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1828800" y="2833788"/>
            <a:ext cx="1433146" cy="6391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15" name="肘形接點 14"/>
          <p:cNvCxnSpPr>
            <a:stCxn id="13" idx="2"/>
            <a:endCxn id="9" idx="1"/>
          </p:cNvCxnSpPr>
          <p:nvPr/>
        </p:nvCxnSpPr>
        <p:spPr>
          <a:xfrm rot="16200000" flipH="1">
            <a:off x="2758587" y="3259748"/>
            <a:ext cx="703385" cy="1129812"/>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2222216" y="4866516"/>
            <a:ext cx="2723823"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人員區域可拖拽編輯順序</a:t>
            </a:r>
          </a:p>
        </p:txBody>
      </p:sp>
    </p:spTree>
    <p:extLst>
      <p:ext uri="{BB962C8B-B14F-4D97-AF65-F5344CB8AC3E}">
        <p14:creationId xmlns:p14="http://schemas.microsoft.com/office/powerpoint/2010/main" val="40756299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213759" y="695773"/>
            <a:ext cx="8577941" cy="5673543"/>
          </a:xfrm>
          <a:prstGeom prst="rect">
            <a:avLst/>
          </a:prstGeom>
        </p:spPr>
      </p:pic>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設定自訂群組</a:t>
            </a:r>
          </a:p>
        </p:txBody>
      </p:sp>
      <p:sp>
        <p:nvSpPr>
          <p:cNvPr id="2" name="矩形 1"/>
          <p:cNvSpPr/>
          <p:nvPr/>
        </p:nvSpPr>
        <p:spPr>
          <a:xfrm>
            <a:off x="1647826" y="2819400"/>
            <a:ext cx="5876924" cy="581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 name="文字方塊 2"/>
          <p:cNvSpPr txBox="1"/>
          <p:nvPr/>
        </p:nvSpPr>
        <p:spPr>
          <a:xfrm>
            <a:off x="2590800" y="4197571"/>
            <a:ext cx="3591048" cy="369332"/>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dirty="0"/>
              <a:t>1.</a:t>
            </a:r>
            <a:r>
              <a:rPr lang="zh-TW" altLang="en-US" dirty="0"/>
              <a:t>先加入想要設定的群組人員順序</a:t>
            </a:r>
          </a:p>
        </p:txBody>
      </p:sp>
      <p:sp>
        <p:nvSpPr>
          <p:cNvPr id="4" name="文字方塊 3"/>
          <p:cNvSpPr txBox="1"/>
          <p:nvPr/>
        </p:nvSpPr>
        <p:spPr>
          <a:xfrm>
            <a:off x="7329246" y="3809189"/>
            <a:ext cx="3360215" cy="369332"/>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dirty="0"/>
              <a:t>2.</a:t>
            </a:r>
            <a:r>
              <a:rPr lang="zh-TW" altLang="en-US" dirty="0"/>
              <a:t>點開群組下拉後點集新增群組</a:t>
            </a:r>
          </a:p>
        </p:txBody>
      </p:sp>
      <p:sp>
        <p:nvSpPr>
          <p:cNvPr id="8" name="矩形 7"/>
          <p:cNvSpPr/>
          <p:nvPr/>
        </p:nvSpPr>
        <p:spPr>
          <a:xfrm>
            <a:off x="8077200" y="3038475"/>
            <a:ext cx="831559" cy="3619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12" name="直線接點 11"/>
          <p:cNvCxnSpPr>
            <a:stCxn id="3" idx="0"/>
          </p:cNvCxnSpPr>
          <p:nvPr/>
        </p:nvCxnSpPr>
        <p:spPr>
          <a:xfrm flipV="1">
            <a:off x="4386324" y="3400426"/>
            <a:ext cx="0" cy="797145"/>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8492979" y="3400425"/>
            <a:ext cx="0" cy="3985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72154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2937661" y="1397689"/>
            <a:ext cx="8069231" cy="5410737"/>
          </a:xfrm>
          <a:prstGeom prst="rect">
            <a:avLst/>
          </a:prstGeom>
        </p:spPr>
      </p:pic>
      <p:pic>
        <p:nvPicPr>
          <p:cNvPr id="6" name="圖片 5"/>
          <p:cNvPicPr>
            <a:picLocks noChangeAspect="1"/>
          </p:cNvPicPr>
          <p:nvPr/>
        </p:nvPicPr>
        <p:blipFill>
          <a:blip r:embed="rId4"/>
          <a:stretch>
            <a:fillRect/>
          </a:stretch>
        </p:blipFill>
        <p:spPr>
          <a:xfrm>
            <a:off x="313941" y="961710"/>
            <a:ext cx="5506218" cy="2257740"/>
          </a:xfrm>
          <a:prstGeom prst="rect">
            <a:avLst/>
          </a:prstGeom>
        </p:spPr>
      </p:pic>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設定自訂群組</a:t>
            </a:r>
          </a:p>
        </p:txBody>
      </p:sp>
      <p:sp>
        <p:nvSpPr>
          <p:cNvPr id="2" name="矩形 1"/>
          <p:cNvSpPr/>
          <p:nvPr/>
        </p:nvSpPr>
        <p:spPr>
          <a:xfrm>
            <a:off x="313941" y="1202405"/>
            <a:ext cx="5410584" cy="192179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 name="文字方塊 2"/>
          <p:cNvSpPr txBox="1"/>
          <p:nvPr/>
        </p:nvSpPr>
        <p:spPr>
          <a:xfrm>
            <a:off x="1490365" y="3918392"/>
            <a:ext cx="249299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為群組命名後點擊確定</a:t>
            </a:r>
          </a:p>
        </p:txBody>
      </p:sp>
      <p:cxnSp>
        <p:nvCxnSpPr>
          <p:cNvPr id="12" name="直線接點 11"/>
          <p:cNvCxnSpPr>
            <a:stCxn id="3" idx="0"/>
          </p:cNvCxnSpPr>
          <p:nvPr/>
        </p:nvCxnSpPr>
        <p:spPr>
          <a:xfrm flipV="1">
            <a:off x="2824224" y="3114676"/>
            <a:ext cx="0" cy="797145"/>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305925" y="2163302"/>
            <a:ext cx="1838325" cy="22943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13" name="肘形接點 12"/>
          <p:cNvCxnSpPr>
            <a:stCxn id="3" idx="3"/>
            <a:endCxn id="10" idx="1"/>
          </p:cNvCxnSpPr>
          <p:nvPr/>
        </p:nvCxnSpPr>
        <p:spPr>
          <a:xfrm flipV="1">
            <a:off x="3983355" y="3310501"/>
            <a:ext cx="5322570" cy="792557"/>
          </a:xfrm>
          <a:prstGeom prst="bentConnector3">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6324600" y="4548751"/>
            <a:ext cx="341632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之後就可以從這裡帶入自訂群組</a:t>
            </a:r>
            <a:endParaRPr lang="en-US" altLang="zh-TW" dirty="0"/>
          </a:p>
        </p:txBody>
      </p:sp>
      <p:sp>
        <p:nvSpPr>
          <p:cNvPr id="17" name="矩形 16"/>
          <p:cNvSpPr/>
          <p:nvPr/>
        </p:nvSpPr>
        <p:spPr>
          <a:xfrm>
            <a:off x="152400" y="6346761"/>
            <a:ext cx="6886575" cy="369332"/>
          </a:xfrm>
          <a:prstGeom prst="rect">
            <a:avLst/>
          </a:prstGeom>
          <a:solidFill>
            <a:schemeClr val="accent4">
              <a:lumMod val="40000"/>
              <a:lumOff val="60000"/>
            </a:schemeClr>
          </a:solidFill>
          <a:ln>
            <a:solidFill>
              <a:srgbClr val="FF0000"/>
            </a:solidFill>
          </a:ln>
        </p:spPr>
        <p:txBody>
          <a:bodyPr wrap="square">
            <a:spAutoFit/>
          </a:bodyPr>
          <a:lstStyle/>
          <a:p>
            <a:r>
              <a:rPr lang="zh-TW" altLang="en-US" dirty="0">
                <a:solidFill>
                  <a:srgbClr val="FF0000"/>
                </a:solidFill>
              </a:rPr>
              <a:t>注意</a:t>
            </a:r>
            <a:r>
              <a:rPr lang="en-US" altLang="zh-TW" dirty="0">
                <a:solidFill>
                  <a:srgbClr val="FF0000"/>
                </a:solidFill>
              </a:rPr>
              <a:t>:</a:t>
            </a:r>
            <a:r>
              <a:rPr lang="zh-TW" altLang="en-US" dirty="0">
                <a:solidFill>
                  <a:srgbClr val="FF0000"/>
                </a:solidFill>
              </a:rPr>
              <a:t>每次選擇群組編修人員後點擊存檔會存下最新一次的人員順序</a:t>
            </a:r>
            <a:endParaRPr lang="en-US" altLang="zh-TW" dirty="0">
              <a:solidFill>
                <a:srgbClr val="FF0000"/>
              </a:solidFill>
            </a:endParaRPr>
          </a:p>
        </p:txBody>
      </p:sp>
    </p:spTree>
    <p:extLst>
      <p:ext uri="{BB962C8B-B14F-4D97-AF65-F5344CB8AC3E}">
        <p14:creationId xmlns:p14="http://schemas.microsoft.com/office/powerpoint/2010/main" val="6598148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查看人員設定</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580216"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3" name="圖片 2"/>
          <p:cNvPicPr>
            <a:picLocks noChangeAspect="1"/>
          </p:cNvPicPr>
          <p:nvPr/>
        </p:nvPicPr>
        <p:blipFill>
          <a:blip r:embed="rId3"/>
          <a:stretch>
            <a:fillRect/>
          </a:stretch>
        </p:blipFill>
        <p:spPr>
          <a:xfrm>
            <a:off x="432061" y="2033900"/>
            <a:ext cx="11139722" cy="2508593"/>
          </a:xfrm>
          <a:prstGeom prst="rect">
            <a:avLst/>
          </a:prstGeom>
        </p:spPr>
      </p:pic>
      <p:sp>
        <p:nvSpPr>
          <p:cNvPr id="4" name="矩形 3"/>
          <p:cNvSpPr/>
          <p:nvPr/>
        </p:nvSpPr>
        <p:spPr>
          <a:xfrm>
            <a:off x="5883861" y="2033899"/>
            <a:ext cx="5687922" cy="480700"/>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文字方塊 8"/>
          <p:cNvSpPr txBox="1"/>
          <p:nvPr/>
        </p:nvSpPr>
        <p:spPr>
          <a:xfrm>
            <a:off x="6061066" y="1180169"/>
            <a:ext cx="5333511"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於流程中尋找簽章資訊頁籤並選取跳至該分頁</a:t>
            </a:r>
            <a:r>
              <a:rPr lang="en-US" altLang="zh-TW" dirty="0">
                <a:cs typeface="+mn-ea"/>
                <a:sym typeface="+mn-lt"/>
              </a:rPr>
              <a:t>(</a:t>
            </a:r>
            <a:r>
              <a:rPr lang="zh-TW" altLang="en-US" dirty="0">
                <a:cs typeface="+mn-ea"/>
                <a:sym typeface="+mn-lt"/>
              </a:rPr>
              <a:t>註</a:t>
            </a:r>
            <a:r>
              <a:rPr lang="en-US" altLang="zh-TW" dirty="0">
                <a:cs typeface="+mn-ea"/>
                <a:sym typeface="+mn-lt"/>
              </a:rPr>
              <a:t>1)</a:t>
            </a:r>
            <a:endParaRPr lang="zh-TW" altLang="en-US" dirty="0">
              <a:cs typeface="+mn-ea"/>
              <a:sym typeface="+mn-lt"/>
            </a:endParaRPr>
          </a:p>
        </p:txBody>
      </p:sp>
      <p:cxnSp>
        <p:nvCxnSpPr>
          <p:cNvPr id="13" name="直線接點 12"/>
          <p:cNvCxnSpPr>
            <a:stCxn id="4" idx="0"/>
            <a:endCxn id="9" idx="2"/>
          </p:cNvCxnSpPr>
          <p:nvPr/>
        </p:nvCxnSpPr>
        <p:spPr>
          <a:xfrm flipV="1">
            <a:off x="8727822" y="1549501"/>
            <a:ext cx="0" cy="4843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71500" y="3429000"/>
            <a:ext cx="330200" cy="292100"/>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p:cNvSpPr txBox="1"/>
          <p:nvPr/>
        </p:nvSpPr>
        <p:spPr>
          <a:xfrm>
            <a:off x="701956" y="1347169"/>
            <a:ext cx="387798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橘色原點標註人員為當下應操作人員</a:t>
            </a:r>
          </a:p>
        </p:txBody>
      </p:sp>
      <p:cxnSp>
        <p:nvCxnSpPr>
          <p:cNvPr id="18" name="肘形接點 17"/>
          <p:cNvCxnSpPr>
            <a:stCxn id="15" idx="1"/>
            <a:endCxn id="16" idx="1"/>
          </p:cNvCxnSpPr>
          <p:nvPr/>
        </p:nvCxnSpPr>
        <p:spPr>
          <a:xfrm rot="10800000" flipH="1">
            <a:off x="571500" y="1531836"/>
            <a:ext cx="130456" cy="2043215"/>
          </a:xfrm>
          <a:prstGeom prst="bentConnector3">
            <a:avLst>
              <a:gd name="adj1" fmla="val -175231"/>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7315200" y="2997200"/>
            <a:ext cx="889000" cy="1143000"/>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4" name="文字方塊 43"/>
          <p:cNvSpPr txBox="1"/>
          <p:nvPr/>
        </p:nvSpPr>
        <p:spPr>
          <a:xfrm>
            <a:off x="3158484" y="4458295"/>
            <a:ext cx="3647152"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若以簽章則會於此處顯示簽章時間</a:t>
            </a:r>
          </a:p>
        </p:txBody>
      </p:sp>
      <p:cxnSp>
        <p:nvCxnSpPr>
          <p:cNvPr id="48" name="肘形接點 47"/>
          <p:cNvCxnSpPr>
            <a:stCxn id="37" idx="2"/>
            <a:endCxn id="44" idx="3"/>
          </p:cNvCxnSpPr>
          <p:nvPr/>
        </p:nvCxnSpPr>
        <p:spPr>
          <a:xfrm rot="5400000">
            <a:off x="7031288" y="3914548"/>
            <a:ext cx="502761" cy="954064"/>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8596146" y="2997200"/>
            <a:ext cx="916154" cy="1142999"/>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文字方塊 49"/>
          <p:cNvSpPr txBox="1"/>
          <p:nvPr/>
        </p:nvSpPr>
        <p:spPr>
          <a:xfrm>
            <a:off x="7195381" y="5396467"/>
            <a:ext cx="3717684"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於簽核時的備注將在這裡顯示</a:t>
            </a:r>
            <a:r>
              <a:rPr lang="en-US" altLang="zh-TW" dirty="0">
                <a:cs typeface="+mn-ea"/>
                <a:sym typeface="+mn-lt"/>
              </a:rPr>
              <a:t>(</a:t>
            </a:r>
            <a:r>
              <a:rPr lang="zh-TW" altLang="en-US" dirty="0">
                <a:cs typeface="+mn-ea"/>
                <a:sym typeface="+mn-lt"/>
              </a:rPr>
              <a:t>註</a:t>
            </a:r>
            <a:r>
              <a:rPr lang="en-US" altLang="zh-TW" dirty="0">
                <a:cs typeface="+mn-ea"/>
                <a:sym typeface="+mn-lt"/>
              </a:rPr>
              <a:t>2)</a:t>
            </a:r>
            <a:endParaRPr lang="zh-TW" altLang="en-US" dirty="0">
              <a:cs typeface="+mn-ea"/>
              <a:sym typeface="+mn-lt"/>
            </a:endParaRPr>
          </a:p>
        </p:txBody>
      </p:sp>
      <p:cxnSp>
        <p:nvCxnSpPr>
          <p:cNvPr id="52" name="直線接點 51"/>
          <p:cNvCxnSpPr>
            <a:stCxn id="49" idx="2"/>
            <a:endCxn id="50" idx="0"/>
          </p:cNvCxnSpPr>
          <p:nvPr/>
        </p:nvCxnSpPr>
        <p:spPr>
          <a:xfrm>
            <a:off x="9054223" y="4140199"/>
            <a:ext cx="0" cy="12562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文字方塊 61"/>
          <p:cNvSpPr txBox="1"/>
          <p:nvPr/>
        </p:nvSpPr>
        <p:spPr>
          <a:xfrm>
            <a:off x="37577" y="6163241"/>
            <a:ext cx="8807219" cy="646331"/>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註</a:t>
            </a:r>
            <a:r>
              <a:rPr lang="en-US" altLang="zh-TW" dirty="0">
                <a:cs typeface="+mn-ea"/>
                <a:sym typeface="+mn-lt"/>
              </a:rPr>
              <a:t>1</a:t>
            </a:r>
            <a:r>
              <a:rPr lang="zh-TW" altLang="en-US" dirty="0">
                <a:cs typeface="+mn-ea"/>
                <a:sym typeface="+mn-lt"/>
              </a:rPr>
              <a:t> </a:t>
            </a:r>
            <a:r>
              <a:rPr lang="en-US" altLang="zh-TW" dirty="0">
                <a:cs typeface="+mn-ea"/>
                <a:sym typeface="+mn-lt"/>
              </a:rPr>
              <a:t>:</a:t>
            </a:r>
            <a:r>
              <a:rPr lang="zh-TW" altLang="en-US" dirty="0">
                <a:cs typeface="+mn-ea"/>
                <a:sym typeface="+mn-lt"/>
              </a:rPr>
              <a:t> 若無顯示簽章資訊則代表該流程不需簽核，使用對應辦理權責編輯後完成即可。</a:t>
            </a:r>
            <a:endParaRPr lang="en-US" altLang="zh-TW" dirty="0">
              <a:cs typeface="+mn-ea"/>
              <a:sym typeface="+mn-lt"/>
            </a:endParaRPr>
          </a:p>
          <a:p>
            <a:pPr algn="l"/>
            <a:r>
              <a:rPr lang="zh-TW" altLang="en-US" dirty="0">
                <a:cs typeface="+mn-ea"/>
                <a:sym typeface="+mn-lt"/>
              </a:rPr>
              <a:t>註</a:t>
            </a:r>
            <a:r>
              <a:rPr lang="en-US" altLang="zh-TW" dirty="0">
                <a:cs typeface="+mn-ea"/>
                <a:sym typeface="+mn-lt"/>
              </a:rPr>
              <a:t>2</a:t>
            </a:r>
            <a:r>
              <a:rPr lang="zh-TW" altLang="en-US" dirty="0">
                <a:cs typeface="+mn-ea"/>
                <a:sym typeface="+mn-lt"/>
              </a:rPr>
              <a:t> </a:t>
            </a:r>
            <a:r>
              <a:rPr lang="en-US" altLang="zh-TW" dirty="0">
                <a:cs typeface="+mn-ea"/>
                <a:sym typeface="+mn-lt"/>
              </a:rPr>
              <a:t>:</a:t>
            </a:r>
            <a:r>
              <a:rPr lang="zh-TW" altLang="en-US" dirty="0">
                <a:cs typeface="+mn-ea"/>
                <a:sym typeface="+mn-lt"/>
              </a:rPr>
              <a:t> 簽核於下一頁講解。</a:t>
            </a:r>
          </a:p>
        </p:txBody>
      </p:sp>
    </p:spTree>
    <p:extLst>
      <p:ext uri="{BB962C8B-B14F-4D97-AF65-F5344CB8AC3E}">
        <p14:creationId xmlns:p14="http://schemas.microsoft.com/office/powerpoint/2010/main" val="226312285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簽核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59344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2" name="圖片 1"/>
          <p:cNvPicPr>
            <a:picLocks noChangeAspect="1"/>
          </p:cNvPicPr>
          <p:nvPr/>
        </p:nvPicPr>
        <p:blipFill>
          <a:blip r:embed="rId3"/>
          <a:stretch>
            <a:fillRect/>
          </a:stretch>
        </p:blipFill>
        <p:spPr>
          <a:xfrm>
            <a:off x="136200" y="861665"/>
            <a:ext cx="9937222" cy="3316635"/>
          </a:xfrm>
          <a:prstGeom prst="rect">
            <a:avLst/>
          </a:prstGeom>
        </p:spPr>
      </p:pic>
      <p:sp>
        <p:nvSpPr>
          <p:cNvPr id="8" name="矩形 7"/>
          <p:cNvSpPr/>
          <p:nvPr/>
        </p:nvSpPr>
        <p:spPr>
          <a:xfrm>
            <a:off x="8890000" y="3022600"/>
            <a:ext cx="965200" cy="1016000"/>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p:cNvSpPr txBox="1"/>
          <p:nvPr/>
        </p:nvSpPr>
        <p:spPr>
          <a:xfrm>
            <a:off x="1780824" y="4622800"/>
            <a:ext cx="6647974"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於需要簽核之流程頁面右下角點擊</a:t>
            </a:r>
            <a:r>
              <a:rPr lang="zh-TW" altLang="en-US" dirty="0">
                <a:solidFill>
                  <a:srgbClr val="FF0000"/>
                </a:solidFill>
                <a:cs typeface="+mn-ea"/>
                <a:sym typeface="+mn-lt"/>
              </a:rPr>
              <a:t>簽核程序</a:t>
            </a:r>
            <a:r>
              <a:rPr lang="zh-TW" altLang="en-US" dirty="0">
                <a:cs typeface="+mn-ea"/>
                <a:sym typeface="+mn-lt"/>
              </a:rPr>
              <a:t>以呼叫簽核程序視窗</a:t>
            </a:r>
          </a:p>
        </p:txBody>
      </p:sp>
      <p:cxnSp>
        <p:nvCxnSpPr>
          <p:cNvPr id="12" name="肘形接點 11"/>
          <p:cNvCxnSpPr>
            <a:stCxn id="10" idx="0"/>
            <a:endCxn id="8" idx="1"/>
          </p:cNvCxnSpPr>
          <p:nvPr/>
        </p:nvCxnSpPr>
        <p:spPr>
          <a:xfrm rot="5400000" flipH="1" flipV="1">
            <a:off x="6451305" y="2184106"/>
            <a:ext cx="1092200" cy="378518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65460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履約系統簽核流程操作說明</a:t>
            </a:r>
            <a:r>
              <a:rPr lang="en-US" altLang="zh-TW" sz="3200" b="1" dirty="0">
                <a:solidFill>
                  <a:srgbClr val="39759D"/>
                </a:solidFill>
                <a:cs typeface="+mn-ea"/>
                <a:sym typeface="+mn-lt"/>
              </a:rPr>
              <a:t>-</a:t>
            </a:r>
            <a:r>
              <a:rPr lang="zh-TW" altLang="en-US" sz="3200" b="1" dirty="0">
                <a:solidFill>
                  <a:srgbClr val="39759D"/>
                </a:solidFill>
                <a:cs typeface="+mn-ea"/>
                <a:sym typeface="+mn-lt"/>
              </a:rPr>
              <a:t>簽核</a:t>
            </a:r>
          </a:p>
        </p:txBody>
      </p:sp>
      <p:pic>
        <p:nvPicPr>
          <p:cNvPr id="3" name="圖片 2"/>
          <p:cNvPicPr>
            <a:picLocks noChangeAspect="1"/>
          </p:cNvPicPr>
          <p:nvPr/>
        </p:nvPicPr>
        <p:blipFill>
          <a:blip r:embed="rId3"/>
          <a:stretch>
            <a:fillRect/>
          </a:stretch>
        </p:blipFill>
        <p:spPr>
          <a:xfrm>
            <a:off x="982150" y="695773"/>
            <a:ext cx="9719700" cy="4689661"/>
          </a:xfrm>
          <a:prstGeom prst="rect">
            <a:avLst/>
          </a:prstGeom>
        </p:spPr>
      </p:pic>
      <p:sp>
        <p:nvSpPr>
          <p:cNvPr id="7" name="矩形 6"/>
          <p:cNvSpPr/>
          <p:nvPr/>
        </p:nvSpPr>
        <p:spPr>
          <a:xfrm>
            <a:off x="982150" y="1104900"/>
            <a:ext cx="1659450" cy="419100"/>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文字方塊 8"/>
          <p:cNvSpPr txBox="1"/>
          <p:nvPr/>
        </p:nvSpPr>
        <p:spPr>
          <a:xfrm>
            <a:off x="2895600" y="1129784"/>
            <a:ext cx="233269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需選取核定結果</a:t>
            </a:r>
            <a:r>
              <a:rPr lang="en-US" altLang="zh-TW" dirty="0">
                <a:cs typeface="+mn-ea"/>
                <a:sym typeface="+mn-lt"/>
              </a:rPr>
              <a:t>(</a:t>
            </a:r>
            <a:r>
              <a:rPr lang="zh-TW" altLang="en-US" dirty="0">
                <a:cs typeface="+mn-ea"/>
                <a:sym typeface="+mn-lt"/>
              </a:rPr>
              <a:t>註</a:t>
            </a:r>
            <a:r>
              <a:rPr lang="en-US" altLang="zh-TW" dirty="0">
                <a:cs typeface="+mn-ea"/>
                <a:sym typeface="+mn-lt"/>
              </a:rPr>
              <a:t>1)</a:t>
            </a:r>
          </a:p>
        </p:txBody>
      </p:sp>
      <p:cxnSp>
        <p:nvCxnSpPr>
          <p:cNvPr id="13" name="直線接點 12"/>
          <p:cNvCxnSpPr>
            <a:stCxn id="9" idx="1"/>
            <a:endCxn id="7" idx="3"/>
          </p:cNvCxnSpPr>
          <p:nvPr/>
        </p:nvCxnSpPr>
        <p:spPr>
          <a:xfrm flipH="1">
            <a:off x="2641600" y="1314450"/>
            <a:ext cx="254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842000" y="1104900"/>
            <a:ext cx="4762500" cy="876300"/>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p:cNvSpPr txBox="1"/>
          <p:nvPr/>
        </p:nvSpPr>
        <p:spPr>
          <a:xfrm>
            <a:off x="7438420" y="306544"/>
            <a:ext cx="156966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設定發文字號</a:t>
            </a:r>
          </a:p>
        </p:txBody>
      </p:sp>
      <p:cxnSp>
        <p:nvCxnSpPr>
          <p:cNvPr id="17" name="直線接點 16"/>
          <p:cNvCxnSpPr>
            <a:stCxn id="15" idx="2"/>
            <a:endCxn id="14" idx="0"/>
          </p:cNvCxnSpPr>
          <p:nvPr/>
        </p:nvCxnSpPr>
        <p:spPr>
          <a:xfrm>
            <a:off x="8223250" y="675876"/>
            <a:ext cx="0" cy="42902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612900" y="1979479"/>
            <a:ext cx="4131750" cy="890722"/>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文字方塊 19"/>
          <p:cNvSpPr txBox="1"/>
          <p:nvPr/>
        </p:nvSpPr>
        <p:spPr>
          <a:xfrm>
            <a:off x="2451100" y="2257158"/>
            <a:ext cx="203132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於此處可登打備註</a:t>
            </a:r>
          </a:p>
        </p:txBody>
      </p:sp>
      <p:sp>
        <p:nvSpPr>
          <p:cNvPr id="29" name="矩形 28"/>
          <p:cNvSpPr/>
          <p:nvPr/>
        </p:nvSpPr>
        <p:spPr>
          <a:xfrm>
            <a:off x="6858000" y="3313842"/>
            <a:ext cx="939800" cy="927957"/>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5" name="肘形接點 34"/>
          <p:cNvCxnSpPr>
            <a:stCxn id="19" idx="3"/>
            <a:endCxn id="29" idx="0"/>
          </p:cNvCxnSpPr>
          <p:nvPr/>
        </p:nvCxnSpPr>
        <p:spPr>
          <a:xfrm>
            <a:off x="5744650" y="2424840"/>
            <a:ext cx="1583250" cy="889002"/>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982150" y="3226116"/>
            <a:ext cx="9622350" cy="1206184"/>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文字方塊 36"/>
          <p:cNvSpPr txBox="1"/>
          <p:nvPr/>
        </p:nvSpPr>
        <p:spPr>
          <a:xfrm>
            <a:off x="4777662" y="4607144"/>
            <a:ext cx="203132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參與本次簽核人員</a:t>
            </a:r>
          </a:p>
        </p:txBody>
      </p:sp>
      <p:cxnSp>
        <p:nvCxnSpPr>
          <p:cNvPr id="39" name="直線接點 38"/>
          <p:cNvCxnSpPr>
            <a:stCxn id="37" idx="0"/>
            <a:endCxn id="36" idx="2"/>
          </p:cNvCxnSpPr>
          <p:nvPr/>
        </p:nvCxnSpPr>
        <p:spPr>
          <a:xfrm flipV="1">
            <a:off x="5793325" y="4432300"/>
            <a:ext cx="0" cy="1748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982150" y="4976476"/>
            <a:ext cx="1786450" cy="281324"/>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8" name="矩形 47"/>
          <p:cNvSpPr/>
          <p:nvPr/>
        </p:nvSpPr>
        <p:spPr>
          <a:xfrm>
            <a:off x="5793324" y="3325001"/>
            <a:ext cx="742951" cy="916798"/>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52" name="肘形接點 51"/>
          <p:cNvCxnSpPr>
            <a:stCxn id="41" idx="0"/>
            <a:endCxn id="48" idx="1"/>
          </p:cNvCxnSpPr>
          <p:nvPr/>
        </p:nvCxnSpPr>
        <p:spPr>
          <a:xfrm rot="5400000" flipH="1" flipV="1">
            <a:off x="3213090" y="2396243"/>
            <a:ext cx="1242518" cy="391794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684242" y="5554562"/>
            <a:ext cx="5262979"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送出時的簽章時間以按下送出當下的此處時間為準</a:t>
            </a:r>
          </a:p>
        </p:txBody>
      </p:sp>
      <p:cxnSp>
        <p:nvCxnSpPr>
          <p:cNvPr id="59" name="肘形接點 58"/>
          <p:cNvCxnSpPr>
            <a:stCxn id="41" idx="3"/>
            <a:endCxn id="53" idx="0"/>
          </p:cNvCxnSpPr>
          <p:nvPr/>
        </p:nvCxnSpPr>
        <p:spPr>
          <a:xfrm>
            <a:off x="2768600" y="5117138"/>
            <a:ext cx="547132" cy="437424"/>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5842000" y="2082799"/>
            <a:ext cx="694275" cy="254315"/>
          </a:xfrm>
          <a:prstGeom prst="rect">
            <a:avLst/>
          </a:prstGeom>
          <a:noFill/>
          <a:ln w="19050" cap="rnd">
            <a:solidFill>
              <a:srgbClr val="FF0000"/>
            </a:solidFill>
            <a:prstDash val="sysDash"/>
            <a:extLst>
              <a:ext uri="{C807C97D-BFC1-408E-A445-0C87EB9F89A2}">
                <ask:lineSketchStyleProps xmlns:ask="http://schemas.microsoft.com/office/drawing/2018/sketchyshape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文字方塊 62"/>
          <p:cNvSpPr txBox="1"/>
          <p:nvPr/>
        </p:nvSpPr>
        <p:spPr>
          <a:xfrm>
            <a:off x="7438420" y="2400757"/>
            <a:ext cx="341632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設定完成後點擊此鍵發文並簽章</a:t>
            </a:r>
          </a:p>
        </p:txBody>
      </p:sp>
      <p:cxnSp>
        <p:nvCxnSpPr>
          <p:cNvPr id="65" name="肘形接點 64"/>
          <p:cNvCxnSpPr>
            <a:stCxn id="60" idx="3"/>
            <a:endCxn id="63" idx="0"/>
          </p:cNvCxnSpPr>
          <p:nvPr/>
        </p:nvCxnSpPr>
        <p:spPr>
          <a:xfrm>
            <a:off x="6536275" y="2209957"/>
            <a:ext cx="2610305" cy="19080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8" name="文字方塊 67"/>
          <p:cNvSpPr txBox="1"/>
          <p:nvPr/>
        </p:nvSpPr>
        <p:spPr>
          <a:xfrm>
            <a:off x="40628" y="6184530"/>
            <a:ext cx="9474068" cy="646331"/>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dirty="0">
                <a:cs typeface="+mn-ea"/>
                <a:sym typeface="+mn-lt"/>
              </a:rPr>
              <a:t>註</a:t>
            </a:r>
            <a:r>
              <a:rPr lang="en-US" altLang="zh-TW" dirty="0">
                <a:cs typeface="+mn-ea"/>
                <a:sym typeface="+mn-lt"/>
              </a:rPr>
              <a:t>1</a:t>
            </a:r>
            <a:r>
              <a:rPr lang="zh-TW" altLang="en-US" dirty="0">
                <a:cs typeface="+mn-ea"/>
                <a:sym typeface="+mn-lt"/>
              </a:rPr>
              <a:t> </a:t>
            </a:r>
            <a:r>
              <a:rPr lang="en-US" altLang="zh-TW" dirty="0">
                <a:cs typeface="+mn-ea"/>
                <a:sym typeface="+mn-lt"/>
              </a:rPr>
              <a:t>:</a:t>
            </a:r>
            <a:r>
              <a:rPr lang="zh-TW" altLang="en-US" dirty="0">
                <a:cs typeface="+mn-ea"/>
                <a:sym typeface="+mn-lt"/>
              </a:rPr>
              <a:t> 此處除了陳核還有 會辦 </a:t>
            </a:r>
            <a:r>
              <a:rPr lang="en-US" altLang="zh-TW" dirty="0">
                <a:cs typeface="+mn-ea"/>
                <a:sym typeface="+mn-lt"/>
              </a:rPr>
              <a:t>/</a:t>
            </a:r>
            <a:r>
              <a:rPr lang="zh-TW" altLang="en-US" dirty="0">
                <a:cs typeface="+mn-ea"/>
                <a:sym typeface="+mn-lt"/>
              </a:rPr>
              <a:t> 決行 </a:t>
            </a:r>
            <a:r>
              <a:rPr lang="en-US" altLang="zh-TW" dirty="0">
                <a:cs typeface="+mn-ea"/>
                <a:sym typeface="+mn-lt"/>
              </a:rPr>
              <a:t>/</a:t>
            </a:r>
            <a:r>
              <a:rPr lang="zh-TW" altLang="en-US" dirty="0">
                <a:cs typeface="+mn-ea"/>
                <a:sym typeface="+mn-lt"/>
              </a:rPr>
              <a:t> 退回，依照當前帳號於流程中的角色顯示可選取行為。</a:t>
            </a:r>
            <a:endParaRPr lang="en-US" altLang="zh-TW" dirty="0">
              <a:cs typeface="+mn-ea"/>
              <a:sym typeface="+mn-lt"/>
            </a:endParaRPr>
          </a:p>
          <a:p>
            <a:pPr algn="l"/>
            <a:r>
              <a:rPr lang="zh-TW" altLang="en-US" dirty="0">
                <a:cs typeface="+mn-ea"/>
                <a:sym typeface="+mn-lt"/>
              </a:rPr>
              <a:t>註</a:t>
            </a:r>
            <a:r>
              <a:rPr lang="en-US" altLang="zh-TW" dirty="0">
                <a:cs typeface="+mn-ea"/>
                <a:sym typeface="+mn-lt"/>
              </a:rPr>
              <a:t>2</a:t>
            </a:r>
            <a:r>
              <a:rPr lang="zh-TW" altLang="en-US" dirty="0">
                <a:cs typeface="+mn-ea"/>
                <a:sym typeface="+mn-lt"/>
              </a:rPr>
              <a:t> </a:t>
            </a:r>
            <a:r>
              <a:rPr lang="en-US" altLang="zh-TW" dirty="0">
                <a:cs typeface="+mn-ea"/>
                <a:sym typeface="+mn-lt"/>
              </a:rPr>
              <a:t>:</a:t>
            </a:r>
            <a:r>
              <a:rPr lang="zh-TW" altLang="en-US" dirty="0">
                <a:cs typeface="+mn-ea"/>
                <a:sym typeface="+mn-lt"/>
              </a:rPr>
              <a:t> 簽章憑證將於憑證管理進行相關說明</a:t>
            </a:r>
          </a:p>
        </p:txBody>
      </p:sp>
    </p:spTree>
    <p:extLst>
      <p:ext uri="{BB962C8B-B14F-4D97-AF65-F5344CB8AC3E}">
        <p14:creationId xmlns:p14="http://schemas.microsoft.com/office/powerpoint/2010/main" val="28166112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298745" y="1204708"/>
            <a:ext cx="11524021" cy="2090942"/>
          </a:xfrm>
          <a:prstGeom prst="rect">
            <a:avLst/>
          </a:prstGeom>
        </p:spPr>
      </p:pic>
      <p:sp>
        <p:nvSpPr>
          <p:cNvPr id="4" name="矩形 3"/>
          <p:cNvSpPr/>
          <p:nvPr/>
        </p:nvSpPr>
        <p:spPr>
          <a:xfrm>
            <a:off x="11058525" y="1204708"/>
            <a:ext cx="764241" cy="3478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8" name="矩形 7"/>
          <p:cNvSpPr/>
          <p:nvPr/>
        </p:nvSpPr>
        <p:spPr>
          <a:xfrm>
            <a:off x="6734175" y="2895600"/>
            <a:ext cx="457200"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16" name="肘形接點 15"/>
          <p:cNvCxnSpPr>
            <a:stCxn id="4" idx="2"/>
            <a:endCxn id="8" idx="3"/>
          </p:cNvCxnSpPr>
          <p:nvPr/>
        </p:nvCxnSpPr>
        <p:spPr>
          <a:xfrm rot="5400000">
            <a:off x="8568299" y="175652"/>
            <a:ext cx="1495425" cy="4249271"/>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文字方塊 5"/>
          <p:cNvSpPr txBox="1"/>
          <p:nvPr/>
        </p:nvSpPr>
        <p:spPr>
          <a:xfrm>
            <a:off x="8596146" y="2865477"/>
            <a:ext cx="3185487"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新增案件時進入簽核流程設定</a:t>
            </a:r>
          </a:p>
        </p:txBody>
      </p:sp>
      <p:pic>
        <p:nvPicPr>
          <p:cNvPr id="18" name="圖片 17"/>
          <p:cNvPicPr>
            <a:picLocks noChangeAspect="1"/>
          </p:cNvPicPr>
          <p:nvPr/>
        </p:nvPicPr>
        <p:blipFill>
          <a:blip r:embed="rId4"/>
          <a:stretch>
            <a:fillRect/>
          </a:stretch>
        </p:blipFill>
        <p:spPr>
          <a:xfrm>
            <a:off x="298745" y="3518556"/>
            <a:ext cx="11482888" cy="2745472"/>
          </a:xfrm>
          <a:prstGeom prst="rect">
            <a:avLst/>
          </a:prstGeom>
          <a:ln>
            <a:solidFill>
              <a:srgbClr val="FF0000"/>
            </a:solidFill>
          </a:ln>
        </p:spPr>
      </p:pic>
      <p:sp>
        <p:nvSpPr>
          <p:cNvPr id="21" name="矩形 20"/>
          <p:cNvSpPr/>
          <p:nvPr/>
        </p:nvSpPr>
        <p:spPr>
          <a:xfrm>
            <a:off x="10725150" y="3576841"/>
            <a:ext cx="952500" cy="3569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2" name="文字方塊 21"/>
          <p:cNvSpPr txBox="1"/>
          <p:nvPr/>
        </p:nvSpPr>
        <p:spPr>
          <a:xfrm>
            <a:off x="7191375" y="3560766"/>
            <a:ext cx="3185487"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右上角點擊此處進入簽核流程</a:t>
            </a:r>
          </a:p>
        </p:txBody>
      </p:sp>
      <p:cxnSp>
        <p:nvCxnSpPr>
          <p:cNvPr id="24" name="直線接點 23"/>
          <p:cNvCxnSpPr>
            <a:endCxn id="21" idx="1"/>
          </p:cNvCxnSpPr>
          <p:nvPr/>
        </p:nvCxnSpPr>
        <p:spPr>
          <a:xfrm>
            <a:off x="10382250" y="3755332"/>
            <a:ext cx="342900" cy="1"/>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384470" y="1009309"/>
            <a:ext cx="2262158"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第一種方式進入設定</a:t>
            </a:r>
          </a:p>
        </p:txBody>
      </p:sp>
      <p:sp>
        <p:nvSpPr>
          <p:cNvPr id="40" name="文字方塊 39"/>
          <p:cNvSpPr txBox="1"/>
          <p:nvPr/>
        </p:nvSpPr>
        <p:spPr>
          <a:xfrm>
            <a:off x="384470" y="3376100"/>
            <a:ext cx="2262158"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第二種方式進入設定</a:t>
            </a:r>
          </a:p>
        </p:txBody>
      </p:sp>
      <p:sp>
        <p:nvSpPr>
          <p:cNvPr id="42" name="矩形 41">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3734906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1967435" y="894820"/>
            <a:ext cx="8261201" cy="5439306"/>
          </a:xfrm>
          <a:prstGeom prst="rect">
            <a:avLst/>
          </a:prstGeom>
        </p:spPr>
      </p:pic>
      <p:sp>
        <p:nvSpPr>
          <p:cNvPr id="7" name="文字方塊 6"/>
          <p:cNvSpPr txBox="1"/>
          <p:nvPr/>
        </p:nvSpPr>
        <p:spPr>
          <a:xfrm>
            <a:off x="4620707" y="800100"/>
            <a:ext cx="2954655"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此次施工簽核參與人員如下</a:t>
            </a:r>
          </a:p>
        </p:txBody>
      </p:sp>
      <p:sp>
        <p:nvSpPr>
          <p:cNvPr id="11" name="矩形 10">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21324275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527462" y="1080515"/>
            <a:ext cx="10578732" cy="5148835"/>
          </a:xfrm>
          <a:prstGeom prst="rect">
            <a:avLst/>
          </a:prstGeom>
        </p:spPr>
      </p:pic>
      <p:sp>
        <p:nvSpPr>
          <p:cNvPr id="4" name="矩形 3"/>
          <p:cNvSpPr/>
          <p:nvPr/>
        </p:nvSpPr>
        <p:spPr>
          <a:xfrm>
            <a:off x="10058400" y="5305425"/>
            <a:ext cx="904875" cy="381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 name="文字方塊 5"/>
          <p:cNvSpPr txBox="1"/>
          <p:nvPr/>
        </p:nvSpPr>
        <p:spPr>
          <a:xfrm>
            <a:off x="7465067" y="5305425"/>
            <a:ext cx="2262158"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找到此按鈕進行簽核</a:t>
            </a:r>
          </a:p>
        </p:txBody>
      </p:sp>
      <p:cxnSp>
        <p:nvCxnSpPr>
          <p:cNvPr id="9" name="直線單箭頭接點 8"/>
          <p:cNvCxnSpPr>
            <a:stCxn id="6" idx="3"/>
            <a:endCxn id="4" idx="1"/>
          </p:cNvCxnSpPr>
          <p:nvPr/>
        </p:nvCxnSpPr>
        <p:spPr>
          <a:xfrm>
            <a:off x="9727225" y="5490091"/>
            <a:ext cx="331175" cy="583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6489538" y="2425632"/>
            <a:ext cx="4108817"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找不到簽核程序選項請點此處確認資訊</a:t>
            </a:r>
          </a:p>
        </p:txBody>
      </p:sp>
      <p:sp>
        <p:nvSpPr>
          <p:cNvPr id="25" name="矩形 24"/>
          <p:cNvSpPr/>
          <p:nvPr/>
        </p:nvSpPr>
        <p:spPr>
          <a:xfrm>
            <a:off x="5981700" y="3114675"/>
            <a:ext cx="5124494" cy="2762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6" name="向下箭號 25"/>
          <p:cNvSpPr/>
          <p:nvPr/>
        </p:nvSpPr>
        <p:spPr>
          <a:xfrm>
            <a:off x="8401071" y="2845282"/>
            <a:ext cx="285750" cy="219075"/>
          </a:xfrm>
          <a:prstGeom prst="downArrow">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7" name="矩形 26"/>
          <p:cNvSpPr/>
          <p:nvPr/>
        </p:nvSpPr>
        <p:spPr>
          <a:xfrm>
            <a:off x="914400" y="4152900"/>
            <a:ext cx="333375"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8" name="矩形 27"/>
          <p:cNvSpPr/>
          <p:nvPr/>
        </p:nvSpPr>
        <p:spPr>
          <a:xfrm>
            <a:off x="1876425" y="971550"/>
            <a:ext cx="3209925" cy="6191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30" name="肘形接點 29"/>
          <p:cNvCxnSpPr>
            <a:stCxn id="28" idx="2"/>
            <a:endCxn id="27" idx="0"/>
          </p:cNvCxnSpPr>
          <p:nvPr/>
        </p:nvCxnSpPr>
        <p:spPr>
          <a:xfrm rot="5400000">
            <a:off x="1000126" y="1671637"/>
            <a:ext cx="2562225" cy="2400300"/>
          </a:xfrm>
          <a:prstGeom prst="bentConnector3">
            <a:avLst/>
          </a:prstGeom>
          <a:ln w="12700">
            <a:solidFill>
              <a:srgbClr val="FF000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515868" y="2558981"/>
            <a:ext cx="4570482"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是否為當前簽核的對應人員，否則不會顯示</a:t>
            </a:r>
          </a:p>
        </p:txBody>
      </p:sp>
      <p:sp>
        <p:nvSpPr>
          <p:cNvPr id="32" name="矩形 31"/>
          <p:cNvSpPr/>
          <p:nvPr/>
        </p:nvSpPr>
        <p:spPr>
          <a:xfrm>
            <a:off x="1259368" y="3590925"/>
            <a:ext cx="9599131" cy="1600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3" name="文字方塊 32"/>
          <p:cNvSpPr txBox="1"/>
          <p:nvPr/>
        </p:nvSpPr>
        <p:spPr>
          <a:xfrm>
            <a:off x="4350773" y="4256127"/>
            <a:ext cx="341632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此處若無資訊則代表無簽核流程</a:t>
            </a:r>
          </a:p>
        </p:txBody>
      </p:sp>
      <p:sp>
        <p:nvSpPr>
          <p:cNvPr id="35" name="矩形 34">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32624883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527462" y="1080515"/>
            <a:ext cx="10578732" cy="5148835"/>
          </a:xfrm>
          <a:prstGeom prst="rect">
            <a:avLst/>
          </a:prstGeom>
        </p:spPr>
      </p:pic>
      <p:sp>
        <p:nvSpPr>
          <p:cNvPr id="4" name="矩形 3"/>
          <p:cNvSpPr/>
          <p:nvPr/>
        </p:nvSpPr>
        <p:spPr>
          <a:xfrm>
            <a:off x="10058400" y="5305425"/>
            <a:ext cx="904875" cy="381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 name="文字方塊 5"/>
          <p:cNvSpPr txBox="1"/>
          <p:nvPr/>
        </p:nvSpPr>
        <p:spPr>
          <a:xfrm>
            <a:off x="7465067" y="5305425"/>
            <a:ext cx="2262158"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找到此按鈕進行簽核</a:t>
            </a:r>
          </a:p>
        </p:txBody>
      </p:sp>
      <p:cxnSp>
        <p:nvCxnSpPr>
          <p:cNvPr id="9" name="直線單箭頭接點 8"/>
          <p:cNvCxnSpPr>
            <a:stCxn id="6" idx="3"/>
            <a:endCxn id="4" idx="1"/>
          </p:cNvCxnSpPr>
          <p:nvPr/>
        </p:nvCxnSpPr>
        <p:spPr>
          <a:xfrm>
            <a:off x="9727225" y="5490091"/>
            <a:ext cx="331175" cy="583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6489538" y="2425632"/>
            <a:ext cx="4108817"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找不到簽核程序選項請點此處確認資訊</a:t>
            </a:r>
          </a:p>
        </p:txBody>
      </p:sp>
      <p:sp>
        <p:nvSpPr>
          <p:cNvPr id="25" name="矩形 24"/>
          <p:cNvSpPr/>
          <p:nvPr/>
        </p:nvSpPr>
        <p:spPr>
          <a:xfrm>
            <a:off x="5981700" y="3114675"/>
            <a:ext cx="5124494" cy="2762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6" name="向下箭號 25"/>
          <p:cNvSpPr/>
          <p:nvPr/>
        </p:nvSpPr>
        <p:spPr>
          <a:xfrm>
            <a:off x="8401071" y="2845282"/>
            <a:ext cx="285750" cy="219075"/>
          </a:xfrm>
          <a:prstGeom prst="downArrow">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7" name="矩形 26"/>
          <p:cNvSpPr/>
          <p:nvPr/>
        </p:nvSpPr>
        <p:spPr>
          <a:xfrm>
            <a:off x="914400" y="4152900"/>
            <a:ext cx="333375"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8" name="矩形 27"/>
          <p:cNvSpPr/>
          <p:nvPr/>
        </p:nvSpPr>
        <p:spPr>
          <a:xfrm>
            <a:off x="1876425" y="971550"/>
            <a:ext cx="3209925" cy="6191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30" name="肘形接點 29"/>
          <p:cNvCxnSpPr>
            <a:stCxn id="28" idx="2"/>
            <a:endCxn id="27" idx="0"/>
          </p:cNvCxnSpPr>
          <p:nvPr/>
        </p:nvCxnSpPr>
        <p:spPr>
          <a:xfrm rot="5400000">
            <a:off x="1000126" y="1671637"/>
            <a:ext cx="2562225" cy="2400300"/>
          </a:xfrm>
          <a:prstGeom prst="bentConnector3">
            <a:avLst/>
          </a:prstGeom>
          <a:ln w="12700">
            <a:solidFill>
              <a:srgbClr val="FF000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515868" y="2558981"/>
            <a:ext cx="4570482"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是否為當前簽核的對應人員，否則不會顯示</a:t>
            </a:r>
          </a:p>
        </p:txBody>
      </p:sp>
      <p:sp>
        <p:nvSpPr>
          <p:cNvPr id="32" name="矩形 31"/>
          <p:cNvSpPr/>
          <p:nvPr/>
        </p:nvSpPr>
        <p:spPr>
          <a:xfrm>
            <a:off x="1259368" y="3590925"/>
            <a:ext cx="9599131" cy="1600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3" name="文字方塊 32"/>
          <p:cNvSpPr txBox="1"/>
          <p:nvPr/>
        </p:nvSpPr>
        <p:spPr>
          <a:xfrm>
            <a:off x="4350773" y="4256127"/>
            <a:ext cx="341632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此處若無資訊則代表無簽核流程</a:t>
            </a:r>
          </a:p>
        </p:txBody>
      </p:sp>
      <p:sp>
        <p:nvSpPr>
          <p:cNvPr id="17" name="矩形 16">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9635591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1089586" y="1337806"/>
            <a:ext cx="10015275" cy="4453394"/>
          </a:xfrm>
          <a:prstGeom prst="rect">
            <a:avLst/>
          </a:prstGeom>
        </p:spPr>
      </p:pic>
      <p:sp>
        <p:nvSpPr>
          <p:cNvPr id="7" name="文字方塊 6"/>
          <p:cNvSpPr txBox="1"/>
          <p:nvPr/>
        </p:nvSpPr>
        <p:spPr>
          <a:xfrm>
            <a:off x="5543225" y="1153140"/>
            <a:ext cx="1107996"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簽核送出</a:t>
            </a:r>
          </a:p>
        </p:txBody>
      </p:sp>
      <p:sp>
        <p:nvSpPr>
          <p:cNvPr id="19" name="矩形 18">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25604926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p:cNvSpPr txBox="1"/>
          <p:nvPr/>
        </p:nvSpPr>
        <p:spPr>
          <a:xfrm>
            <a:off x="2274095" y="785957"/>
            <a:ext cx="6789038" cy="646331"/>
          </a:xfrm>
          <a:prstGeom prst="rect">
            <a:avLst/>
          </a:prstGeom>
          <a:solidFill>
            <a:schemeClr val="accent4">
              <a:lumMod val="40000"/>
              <a:lumOff val="60000"/>
            </a:schemeClr>
          </a:solidFill>
          <a:ln>
            <a:solidFill>
              <a:srgbClr val="FF0000"/>
            </a:solidFill>
          </a:ln>
        </p:spPr>
        <p:txBody>
          <a:bodyPr wrap="none" rtlCol="0">
            <a:spAutoFit/>
          </a:bodyPr>
          <a:lstStyle/>
          <a:p>
            <a:pPr algn="ctr"/>
            <a:r>
              <a:rPr lang="zh-TW" altLang="en-US" dirty="0"/>
              <a:t>簽核結束會發現簽核人員變為下一位人員</a:t>
            </a:r>
            <a:r>
              <a:rPr lang="en-US" altLang="zh-TW" dirty="0"/>
              <a:t>(</a:t>
            </a:r>
            <a:r>
              <a:rPr lang="zh-TW" altLang="en-US" dirty="0"/>
              <a:t>需下一位人員查閱過</a:t>
            </a:r>
            <a:r>
              <a:rPr lang="en-US" altLang="zh-TW" dirty="0"/>
              <a:t>)</a:t>
            </a:r>
          </a:p>
          <a:p>
            <a:pPr algn="ctr"/>
            <a:r>
              <a:rPr lang="zh-TW" altLang="en-US" dirty="0"/>
              <a:t>此時通知下一位人員進行簽核</a:t>
            </a:r>
          </a:p>
        </p:txBody>
      </p:sp>
      <p:pic>
        <p:nvPicPr>
          <p:cNvPr id="2" name="圖片 1"/>
          <p:cNvPicPr>
            <a:picLocks noChangeAspect="1"/>
          </p:cNvPicPr>
          <p:nvPr/>
        </p:nvPicPr>
        <p:blipFill>
          <a:blip r:embed="rId3"/>
          <a:stretch>
            <a:fillRect/>
          </a:stretch>
        </p:blipFill>
        <p:spPr>
          <a:xfrm>
            <a:off x="165541" y="1522472"/>
            <a:ext cx="11340659" cy="3247702"/>
          </a:xfrm>
          <a:prstGeom prst="rect">
            <a:avLst/>
          </a:prstGeom>
        </p:spPr>
      </p:pic>
      <p:sp>
        <p:nvSpPr>
          <p:cNvPr id="4" name="矩形 3"/>
          <p:cNvSpPr/>
          <p:nvPr/>
        </p:nvSpPr>
        <p:spPr>
          <a:xfrm>
            <a:off x="165540" y="3695700"/>
            <a:ext cx="11721659" cy="4667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8" name="矩形 7">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9717084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266194" y="1616598"/>
            <a:ext cx="11520349" cy="3155427"/>
          </a:xfrm>
          <a:prstGeom prst="rect">
            <a:avLst/>
          </a:prstGeom>
        </p:spPr>
      </p:pic>
      <p:sp>
        <p:nvSpPr>
          <p:cNvPr id="7" name="文字方塊 6"/>
          <p:cNvSpPr txBox="1"/>
          <p:nvPr/>
        </p:nvSpPr>
        <p:spPr>
          <a:xfrm>
            <a:off x="1894466" y="1859518"/>
            <a:ext cx="8263801" cy="369332"/>
          </a:xfrm>
          <a:prstGeom prst="rect">
            <a:avLst/>
          </a:prstGeom>
          <a:solidFill>
            <a:schemeClr val="accent4">
              <a:lumMod val="40000"/>
              <a:lumOff val="60000"/>
            </a:schemeClr>
          </a:solidFill>
          <a:ln>
            <a:solidFill>
              <a:srgbClr val="FF0000"/>
            </a:solidFill>
          </a:ln>
        </p:spPr>
        <p:txBody>
          <a:bodyPr wrap="none" rtlCol="0">
            <a:spAutoFit/>
          </a:bodyPr>
          <a:lstStyle/>
          <a:p>
            <a:pPr algn="ctr"/>
            <a:r>
              <a:rPr lang="zh-TW" altLang="en-US" dirty="0"/>
              <a:t>若非同權責觀看時則只會顯示上一個權責決行人並由列表得知上一權責是否決行</a:t>
            </a:r>
          </a:p>
        </p:txBody>
      </p:sp>
      <p:sp>
        <p:nvSpPr>
          <p:cNvPr id="4" name="矩形 3"/>
          <p:cNvSpPr/>
          <p:nvPr/>
        </p:nvSpPr>
        <p:spPr>
          <a:xfrm>
            <a:off x="165538" y="3076575"/>
            <a:ext cx="11721659" cy="8477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 name="向下箭號 5"/>
          <p:cNvSpPr/>
          <p:nvPr/>
        </p:nvSpPr>
        <p:spPr>
          <a:xfrm rot="10800000">
            <a:off x="5305425" y="4248150"/>
            <a:ext cx="447675" cy="457200"/>
          </a:xfrm>
          <a:prstGeom prst="downArrow">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8" name="文字方塊 7"/>
          <p:cNvSpPr txBox="1"/>
          <p:nvPr/>
        </p:nvSpPr>
        <p:spPr>
          <a:xfrm>
            <a:off x="3936518" y="4887572"/>
            <a:ext cx="3185487"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此為監造或機關單位觀看畫面</a:t>
            </a:r>
          </a:p>
        </p:txBody>
      </p:sp>
      <p:sp>
        <p:nvSpPr>
          <p:cNvPr id="10" name="矩形 9">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spTree>
    <p:extLst>
      <p:ext uri="{BB962C8B-B14F-4D97-AF65-F5344CB8AC3E}">
        <p14:creationId xmlns:p14="http://schemas.microsoft.com/office/powerpoint/2010/main" val="11392695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739D8F48-B55E-49DA-9B62-82A3E38C6C22}"/>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b="1" dirty="0">
                <a:solidFill>
                  <a:srgbClr val="39759D"/>
                </a:solidFill>
                <a:cs typeface="+mn-ea"/>
                <a:sym typeface="+mn-lt"/>
              </a:rPr>
              <a:t>履約系統簽核流程操作說明</a:t>
            </a:r>
            <a:r>
              <a:rPr lang="en-US" altLang="zh-TW" sz="2800" b="1" dirty="0">
                <a:solidFill>
                  <a:srgbClr val="39759D"/>
                </a:solidFill>
                <a:cs typeface="+mn-ea"/>
                <a:sym typeface="+mn-lt"/>
              </a:rPr>
              <a:t>-</a:t>
            </a:r>
            <a:r>
              <a:rPr lang="zh-TW" altLang="en-US" sz="2800" b="1" dirty="0">
                <a:solidFill>
                  <a:srgbClr val="39759D"/>
                </a:solidFill>
                <a:cs typeface="+mn-ea"/>
                <a:sym typeface="+mn-lt"/>
              </a:rPr>
              <a:t>實例</a:t>
            </a:r>
            <a:r>
              <a:rPr lang="en-US" altLang="zh-TW" sz="2800" b="1" dirty="0">
                <a:solidFill>
                  <a:srgbClr val="39759D"/>
                </a:solidFill>
                <a:cs typeface="+mn-ea"/>
                <a:sym typeface="+mn-lt"/>
              </a:rPr>
              <a:t>_</a:t>
            </a:r>
            <a:r>
              <a:rPr lang="zh-TW" altLang="en-US" sz="2800" b="1" dirty="0">
                <a:solidFill>
                  <a:srgbClr val="39759D"/>
                </a:solidFill>
                <a:cs typeface="+mn-ea"/>
                <a:sym typeface="+mn-lt"/>
              </a:rPr>
              <a:t>施工辦理階段為例</a:t>
            </a:r>
          </a:p>
        </p:txBody>
      </p:sp>
      <p:pic>
        <p:nvPicPr>
          <p:cNvPr id="2" name="圖片 1"/>
          <p:cNvPicPr>
            <a:picLocks noChangeAspect="1"/>
          </p:cNvPicPr>
          <p:nvPr/>
        </p:nvPicPr>
        <p:blipFill>
          <a:blip r:embed="rId3"/>
          <a:stretch>
            <a:fillRect/>
          </a:stretch>
        </p:blipFill>
        <p:spPr>
          <a:xfrm>
            <a:off x="875165" y="2161869"/>
            <a:ext cx="9903822" cy="2667306"/>
          </a:xfrm>
          <a:prstGeom prst="rect">
            <a:avLst/>
          </a:prstGeom>
        </p:spPr>
      </p:pic>
      <p:sp>
        <p:nvSpPr>
          <p:cNvPr id="5" name="矩形 4"/>
          <p:cNvSpPr/>
          <p:nvPr/>
        </p:nvSpPr>
        <p:spPr>
          <a:xfrm>
            <a:off x="6505575" y="3438525"/>
            <a:ext cx="2857500" cy="7524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9" name="文字方塊 8"/>
          <p:cNvSpPr txBox="1"/>
          <p:nvPr/>
        </p:nvSpPr>
        <p:spPr>
          <a:xfrm>
            <a:off x="1695175" y="1339028"/>
            <a:ext cx="826380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若上一權責已決行結束，則會顯示簽章時間與意見，且右上角出現設定流程按鈕</a:t>
            </a:r>
          </a:p>
        </p:txBody>
      </p:sp>
      <p:sp>
        <p:nvSpPr>
          <p:cNvPr id="11" name="矩形 10"/>
          <p:cNvSpPr/>
          <p:nvPr/>
        </p:nvSpPr>
        <p:spPr>
          <a:xfrm>
            <a:off x="9978026" y="2219325"/>
            <a:ext cx="718550" cy="2286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2" name="文字方塊 11"/>
          <p:cNvSpPr txBox="1"/>
          <p:nvPr/>
        </p:nvSpPr>
        <p:spPr>
          <a:xfrm>
            <a:off x="93828" y="6105831"/>
            <a:ext cx="7976864"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dirty="0"/>
              <a:t>1.</a:t>
            </a:r>
            <a:r>
              <a:rPr lang="zh-TW" altLang="en-US" dirty="0"/>
              <a:t>若簽核權責為核定權責，則該權責決行時則代表核定。</a:t>
            </a:r>
            <a:endParaRPr lang="en-US" altLang="zh-TW" dirty="0"/>
          </a:p>
          <a:p>
            <a:r>
              <a:rPr lang="en-US" altLang="zh-TW" dirty="0"/>
              <a:t>2.</a:t>
            </a:r>
            <a:r>
              <a:rPr lang="zh-TW" altLang="en-US" dirty="0"/>
              <a:t>此流程為機關決行，至此機關設定間和流程後以相同方式決行至機關核定。</a:t>
            </a:r>
            <a:endParaRPr lang="en-US" altLang="zh-TW" dirty="0"/>
          </a:p>
        </p:txBody>
      </p:sp>
    </p:spTree>
    <p:extLst>
      <p:ext uri="{BB962C8B-B14F-4D97-AF65-F5344CB8AC3E}">
        <p14:creationId xmlns:p14="http://schemas.microsoft.com/office/powerpoint/2010/main" val="16470014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704038" y="695773"/>
            <a:ext cx="10602138" cy="5682815"/>
          </a:xfrm>
          <a:prstGeom prst="rect">
            <a:avLst/>
          </a:prstGeom>
        </p:spPr>
      </p:pic>
      <p:sp>
        <p:nvSpPr>
          <p:cNvPr id="4" name="文字方塊 3"/>
          <p:cNvSpPr txBox="1"/>
          <p:nvPr/>
        </p:nvSpPr>
        <p:spPr>
          <a:xfrm>
            <a:off x="790575" y="4562189"/>
            <a:ext cx="6878806" cy="646331"/>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單點會辦框格使其呈現藍色</a:t>
            </a:r>
            <a:endParaRPr lang="en-US" altLang="zh-TW" dirty="0"/>
          </a:p>
          <a:p>
            <a:r>
              <a:rPr lang="zh-TW" altLang="en-US" dirty="0"/>
              <a:t>此時再度新增會辦，即可將會辦流程設在同一框格內使其成為分會</a:t>
            </a:r>
          </a:p>
        </p:txBody>
      </p:sp>
      <p:pic>
        <p:nvPicPr>
          <p:cNvPr id="6" name="圖片 5"/>
          <p:cNvPicPr>
            <a:picLocks noChangeAspect="1"/>
          </p:cNvPicPr>
          <p:nvPr/>
        </p:nvPicPr>
        <p:blipFill rotWithShape="1">
          <a:blip r:embed="rId4"/>
          <a:srcRect r="48526"/>
          <a:stretch/>
        </p:blipFill>
        <p:spPr>
          <a:xfrm>
            <a:off x="7999993" y="2666725"/>
            <a:ext cx="3972644" cy="2953025"/>
          </a:xfrm>
          <a:prstGeom prst="rect">
            <a:avLst/>
          </a:prstGeom>
          <a:ln>
            <a:solidFill>
              <a:srgbClr val="FF0000"/>
            </a:solidFill>
          </a:ln>
        </p:spPr>
      </p:pic>
      <p:sp>
        <p:nvSpPr>
          <p:cNvPr id="7" name="向右箭號 6"/>
          <p:cNvSpPr/>
          <p:nvPr/>
        </p:nvSpPr>
        <p:spPr>
          <a:xfrm>
            <a:off x="5819775" y="3371850"/>
            <a:ext cx="1400175" cy="457200"/>
          </a:xfrm>
          <a:prstGeom prst="rightArrow">
            <a:avLst>
              <a:gd name="adj1" fmla="val 50000"/>
              <a:gd name="adj2" fmla="val 137500"/>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dirty="0">
                <a:solidFill>
                  <a:schemeClr val="tx1"/>
                </a:solidFill>
              </a:rPr>
              <a:t>示例</a:t>
            </a:r>
          </a:p>
        </p:txBody>
      </p:sp>
      <p:sp>
        <p:nvSpPr>
          <p:cNvPr id="9" name="矩形 8">
            <a:extLst>
              <a:ext uri="{FF2B5EF4-FFF2-40B4-BE49-F238E27FC236}">
                <a16:creationId xmlns:a16="http://schemas.microsoft.com/office/drawing/2014/main" id="{59EB0BF1-428E-49A2-ADF4-F278497C3BDB}"/>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履約系統簽核流程操作說明</a:t>
            </a:r>
            <a:r>
              <a:rPr lang="en-US" altLang="zh-TW" sz="2400" b="1" dirty="0">
                <a:solidFill>
                  <a:srgbClr val="39759D"/>
                </a:solidFill>
                <a:cs typeface="+mn-ea"/>
                <a:sym typeface="+mn-lt"/>
              </a:rPr>
              <a:t>-</a:t>
            </a:r>
            <a:r>
              <a:rPr lang="zh-TW" altLang="en-US" sz="2400" b="1" dirty="0">
                <a:solidFill>
                  <a:srgbClr val="39759D"/>
                </a:solidFill>
                <a:cs typeface="+mn-ea"/>
                <a:sym typeface="+mn-lt"/>
              </a:rPr>
              <a:t>會辦陳會</a:t>
            </a:r>
          </a:p>
        </p:txBody>
      </p:sp>
    </p:spTree>
    <p:extLst>
      <p:ext uri="{BB962C8B-B14F-4D97-AF65-F5344CB8AC3E}">
        <p14:creationId xmlns:p14="http://schemas.microsoft.com/office/powerpoint/2010/main" val="3399463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32544" y="199945"/>
            <a:ext cx="11545911" cy="6239746"/>
          </a:xfrm>
          <a:prstGeom prst="rect">
            <a:avLst/>
          </a:prstGeom>
        </p:spPr>
      </p:pic>
      <p:sp>
        <p:nvSpPr>
          <p:cNvPr id="4" name="文字方塊 3"/>
          <p:cNvSpPr txBox="1"/>
          <p:nvPr/>
        </p:nvSpPr>
        <p:spPr>
          <a:xfrm>
            <a:off x="750539" y="5138807"/>
            <a:ext cx="4801314" cy="646331"/>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單點會辦內人員框格使其呈現藍色</a:t>
            </a:r>
            <a:endParaRPr lang="en-US" altLang="zh-TW" dirty="0"/>
          </a:p>
          <a:p>
            <a:r>
              <a:rPr lang="zh-TW" altLang="en-US" dirty="0"/>
              <a:t>此時類別內會顯示陳會選項提供設定陳會人員</a:t>
            </a:r>
          </a:p>
        </p:txBody>
      </p:sp>
      <p:sp>
        <p:nvSpPr>
          <p:cNvPr id="7" name="向右箭號 6"/>
          <p:cNvSpPr/>
          <p:nvPr/>
        </p:nvSpPr>
        <p:spPr>
          <a:xfrm>
            <a:off x="4665818" y="3919754"/>
            <a:ext cx="1400175" cy="457200"/>
          </a:xfrm>
          <a:prstGeom prst="rightArrow">
            <a:avLst>
              <a:gd name="adj1" fmla="val 50000"/>
              <a:gd name="adj2" fmla="val 137500"/>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dirty="0">
                <a:solidFill>
                  <a:schemeClr val="tx1"/>
                </a:solidFill>
              </a:rPr>
              <a:t>示例</a:t>
            </a:r>
          </a:p>
        </p:txBody>
      </p:sp>
      <p:pic>
        <p:nvPicPr>
          <p:cNvPr id="8" name="圖片 7"/>
          <p:cNvPicPr>
            <a:picLocks noChangeAspect="1"/>
          </p:cNvPicPr>
          <p:nvPr/>
        </p:nvPicPr>
        <p:blipFill>
          <a:blip r:embed="rId4"/>
          <a:stretch>
            <a:fillRect/>
          </a:stretch>
        </p:blipFill>
        <p:spPr>
          <a:xfrm>
            <a:off x="6113477" y="2683739"/>
            <a:ext cx="5752186" cy="2929231"/>
          </a:xfrm>
          <a:prstGeom prst="rect">
            <a:avLst/>
          </a:prstGeom>
          <a:ln>
            <a:solidFill>
              <a:srgbClr val="FF0000"/>
            </a:solidFill>
          </a:ln>
        </p:spPr>
      </p:pic>
      <p:sp>
        <p:nvSpPr>
          <p:cNvPr id="9" name="文字方塊 8"/>
          <p:cNvSpPr txBox="1"/>
          <p:nvPr/>
        </p:nvSpPr>
        <p:spPr>
          <a:xfrm>
            <a:off x="7870817" y="3608545"/>
            <a:ext cx="902811"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會辦人員</a:t>
            </a:r>
          </a:p>
        </p:txBody>
      </p:sp>
      <p:sp>
        <p:nvSpPr>
          <p:cNvPr id="10" name="文字方塊 9"/>
          <p:cNvSpPr txBox="1"/>
          <p:nvPr/>
        </p:nvSpPr>
        <p:spPr>
          <a:xfrm>
            <a:off x="9201150" y="3608545"/>
            <a:ext cx="902811"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陳會人員</a:t>
            </a:r>
          </a:p>
        </p:txBody>
      </p:sp>
      <p:sp>
        <p:nvSpPr>
          <p:cNvPr id="11" name="文字方塊 10"/>
          <p:cNvSpPr txBox="1"/>
          <p:nvPr/>
        </p:nvSpPr>
        <p:spPr>
          <a:xfrm>
            <a:off x="10538000" y="3603485"/>
            <a:ext cx="902811"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陳會人員</a:t>
            </a:r>
          </a:p>
        </p:txBody>
      </p:sp>
      <p:sp>
        <p:nvSpPr>
          <p:cNvPr id="12" name="文字方塊 11"/>
          <p:cNvSpPr txBox="1"/>
          <p:nvPr/>
        </p:nvSpPr>
        <p:spPr>
          <a:xfrm>
            <a:off x="7870816" y="4984918"/>
            <a:ext cx="902811"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會辦人員</a:t>
            </a:r>
          </a:p>
        </p:txBody>
      </p:sp>
      <p:sp>
        <p:nvSpPr>
          <p:cNvPr id="13" name="文字方塊 12"/>
          <p:cNvSpPr txBox="1"/>
          <p:nvPr/>
        </p:nvSpPr>
        <p:spPr>
          <a:xfrm>
            <a:off x="9201150" y="4984323"/>
            <a:ext cx="902811"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陳會人員</a:t>
            </a:r>
          </a:p>
        </p:txBody>
      </p:sp>
      <p:sp>
        <p:nvSpPr>
          <p:cNvPr id="15" name="文字方塊 14"/>
          <p:cNvSpPr txBox="1"/>
          <p:nvPr/>
        </p:nvSpPr>
        <p:spPr>
          <a:xfrm>
            <a:off x="7156672" y="4676546"/>
            <a:ext cx="543739"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分會</a:t>
            </a:r>
          </a:p>
        </p:txBody>
      </p:sp>
      <p:sp>
        <p:nvSpPr>
          <p:cNvPr id="16" name="文字方塊 15"/>
          <p:cNvSpPr txBox="1"/>
          <p:nvPr/>
        </p:nvSpPr>
        <p:spPr>
          <a:xfrm>
            <a:off x="7156673" y="3919754"/>
            <a:ext cx="543739" cy="307777"/>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400" dirty="0"/>
              <a:t>分會</a:t>
            </a:r>
          </a:p>
        </p:txBody>
      </p:sp>
      <p:sp>
        <p:nvSpPr>
          <p:cNvPr id="3" name="向右箭號 2"/>
          <p:cNvSpPr/>
          <p:nvPr/>
        </p:nvSpPr>
        <p:spPr>
          <a:xfrm>
            <a:off x="7736024" y="3977810"/>
            <a:ext cx="100564" cy="114300"/>
          </a:xfrm>
          <a:prstGeom prst="rightArrow">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7" name="向右箭號 16"/>
          <p:cNvSpPr/>
          <p:nvPr/>
        </p:nvSpPr>
        <p:spPr>
          <a:xfrm>
            <a:off x="7734993" y="4804531"/>
            <a:ext cx="100564" cy="114300"/>
          </a:xfrm>
          <a:prstGeom prst="rightArrow">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8" name="矩形 17">
            <a:extLst>
              <a:ext uri="{FF2B5EF4-FFF2-40B4-BE49-F238E27FC236}">
                <a16:creationId xmlns:a16="http://schemas.microsoft.com/office/drawing/2014/main" id="{D992128A-3811-467B-8EBD-0B06B2A20DCD}"/>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履約系統簽核流程操作說明</a:t>
            </a:r>
            <a:r>
              <a:rPr lang="en-US" altLang="zh-TW" sz="2400" b="1" dirty="0">
                <a:solidFill>
                  <a:srgbClr val="39759D"/>
                </a:solidFill>
                <a:cs typeface="+mn-ea"/>
                <a:sym typeface="+mn-lt"/>
              </a:rPr>
              <a:t>-</a:t>
            </a:r>
            <a:r>
              <a:rPr lang="zh-TW" altLang="en-US" sz="2400" b="1" dirty="0">
                <a:solidFill>
                  <a:srgbClr val="39759D"/>
                </a:solidFill>
                <a:cs typeface="+mn-ea"/>
                <a:sym typeface="+mn-lt"/>
              </a:rPr>
              <a:t>會辦陳會</a:t>
            </a:r>
          </a:p>
        </p:txBody>
      </p:sp>
    </p:spTree>
    <p:extLst>
      <p:ext uri="{BB962C8B-B14F-4D97-AF65-F5344CB8AC3E}">
        <p14:creationId xmlns:p14="http://schemas.microsoft.com/office/powerpoint/2010/main" val="21395044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p:cNvSpPr txBox="1"/>
          <p:nvPr/>
        </p:nvSpPr>
        <p:spPr>
          <a:xfrm>
            <a:off x="1066800" y="3617638"/>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陳核</a:t>
            </a:r>
          </a:p>
        </p:txBody>
      </p:sp>
      <p:sp>
        <p:nvSpPr>
          <p:cNvPr id="14" name="文字方塊 13"/>
          <p:cNvSpPr txBox="1"/>
          <p:nvPr/>
        </p:nvSpPr>
        <p:spPr>
          <a:xfrm>
            <a:off x="4559300" y="3111500"/>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會辦</a:t>
            </a:r>
          </a:p>
        </p:txBody>
      </p:sp>
      <p:sp>
        <p:nvSpPr>
          <p:cNvPr id="17" name="文字方塊 16"/>
          <p:cNvSpPr txBox="1"/>
          <p:nvPr/>
        </p:nvSpPr>
        <p:spPr>
          <a:xfrm>
            <a:off x="8272980" y="3480832"/>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決行</a:t>
            </a:r>
          </a:p>
        </p:txBody>
      </p:sp>
      <p:pic>
        <p:nvPicPr>
          <p:cNvPr id="4" name="圖片 3">
            <a:extLst>
              <a:ext uri="{FF2B5EF4-FFF2-40B4-BE49-F238E27FC236}">
                <a16:creationId xmlns:a16="http://schemas.microsoft.com/office/drawing/2014/main" id="{F1B4D39F-E2A8-4340-8EA7-8B9DDF1C52F5}"/>
              </a:ext>
            </a:extLst>
          </p:cNvPr>
          <p:cNvPicPr>
            <a:picLocks noChangeAspect="1"/>
          </p:cNvPicPr>
          <p:nvPr/>
        </p:nvPicPr>
        <p:blipFill rotWithShape="1">
          <a:blip r:embed="rId3"/>
          <a:srcRect l="3511" t="13869" r="6383" b="7315"/>
          <a:stretch/>
        </p:blipFill>
        <p:spPr>
          <a:xfrm>
            <a:off x="603115" y="2077425"/>
            <a:ext cx="10985770" cy="3080426"/>
          </a:xfrm>
          <a:prstGeom prst="rect">
            <a:avLst/>
          </a:prstGeom>
        </p:spPr>
      </p:pic>
      <p:sp>
        <p:nvSpPr>
          <p:cNvPr id="7" name="文字方塊 6">
            <a:extLst>
              <a:ext uri="{FF2B5EF4-FFF2-40B4-BE49-F238E27FC236}">
                <a16:creationId xmlns:a16="http://schemas.microsoft.com/office/drawing/2014/main" id="{1D20C89C-B539-428A-AC02-4E0FF57087EB}"/>
              </a:ext>
            </a:extLst>
          </p:cNvPr>
          <p:cNvSpPr txBox="1"/>
          <p:nvPr/>
        </p:nvSpPr>
        <p:spPr>
          <a:xfrm>
            <a:off x="2574588" y="2926834"/>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陳核</a:t>
            </a:r>
          </a:p>
        </p:txBody>
      </p:sp>
      <p:sp>
        <p:nvSpPr>
          <p:cNvPr id="8" name="文字方塊 7">
            <a:extLst>
              <a:ext uri="{FF2B5EF4-FFF2-40B4-BE49-F238E27FC236}">
                <a16:creationId xmlns:a16="http://schemas.microsoft.com/office/drawing/2014/main" id="{FFEFA445-5888-413F-B427-48E25D4550BA}"/>
              </a:ext>
            </a:extLst>
          </p:cNvPr>
          <p:cNvSpPr txBox="1"/>
          <p:nvPr/>
        </p:nvSpPr>
        <p:spPr>
          <a:xfrm>
            <a:off x="6913123" y="1809345"/>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會辦</a:t>
            </a:r>
          </a:p>
        </p:txBody>
      </p:sp>
      <p:sp>
        <p:nvSpPr>
          <p:cNvPr id="9" name="文字方塊 8">
            <a:extLst>
              <a:ext uri="{FF2B5EF4-FFF2-40B4-BE49-F238E27FC236}">
                <a16:creationId xmlns:a16="http://schemas.microsoft.com/office/drawing/2014/main" id="{F2C61E9C-346D-4B08-ADB3-D3E5B8B60249}"/>
              </a:ext>
            </a:extLst>
          </p:cNvPr>
          <p:cNvSpPr txBox="1"/>
          <p:nvPr/>
        </p:nvSpPr>
        <p:spPr>
          <a:xfrm>
            <a:off x="10271589" y="2919047"/>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決行</a:t>
            </a:r>
          </a:p>
        </p:txBody>
      </p:sp>
      <p:sp>
        <p:nvSpPr>
          <p:cNvPr id="12" name="矩形 11">
            <a:extLst>
              <a:ext uri="{FF2B5EF4-FFF2-40B4-BE49-F238E27FC236}">
                <a16:creationId xmlns:a16="http://schemas.microsoft.com/office/drawing/2014/main" id="{53C98EB6-D9C0-4C7E-90D9-2806B695D401}"/>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履約系統簽核流程操作說明</a:t>
            </a:r>
            <a:r>
              <a:rPr lang="en-US" altLang="zh-TW" sz="2400" b="1" dirty="0">
                <a:solidFill>
                  <a:srgbClr val="39759D"/>
                </a:solidFill>
                <a:cs typeface="+mn-ea"/>
                <a:sym typeface="+mn-lt"/>
              </a:rPr>
              <a:t>-</a:t>
            </a:r>
            <a:r>
              <a:rPr lang="zh-TW" altLang="en-US" sz="2400" b="1" dirty="0">
                <a:solidFill>
                  <a:srgbClr val="39759D"/>
                </a:solidFill>
                <a:cs typeface="+mn-ea"/>
                <a:sym typeface="+mn-lt"/>
              </a:rPr>
              <a:t>會辦陳會</a:t>
            </a:r>
          </a:p>
        </p:txBody>
      </p:sp>
    </p:spTree>
    <p:extLst>
      <p:ext uri="{BB962C8B-B14F-4D97-AF65-F5344CB8AC3E}">
        <p14:creationId xmlns:p14="http://schemas.microsoft.com/office/powerpoint/2010/main" val="5575771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E12F2D9-339F-421E-A1D8-98E876F23F3D}"/>
              </a:ext>
            </a:extLst>
          </p:cNvPr>
          <p:cNvPicPr>
            <a:picLocks noChangeAspect="1"/>
          </p:cNvPicPr>
          <p:nvPr/>
        </p:nvPicPr>
        <p:blipFill rotWithShape="1">
          <a:blip r:embed="rId3"/>
          <a:srcRect r="45053"/>
          <a:stretch/>
        </p:blipFill>
        <p:spPr>
          <a:xfrm>
            <a:off x="444300" y="1370712"/>
            <a:ext cx="11303399" cy="3726727"/>
          </a:xfrm>
          <a:prstGeom prst="rect">
            <a:avLst/>
          </a:prstGeom>
        </p:spPr>
      </p:pic>
      <p:cxnSp>
        <p:nvCxnSpPr>
          <p:cNvPr id="11" name="直線接點 10">
            <a:extLst>
              <a:ext uri="{FF2B5EF4-FFF2-40B4-BE49-F238E27FC236}">
                <a16:creationId xmlns:a16="http://schemas.microsoft.com/office/drawing/2014/main" id="{2DECFB34-B88E-4E69-9501-149B9DCBE0A4}"/>
              </a:ext>
            </a:extLst>
          </p:cNvPr>
          <p:cNvCxnSpPr>
            <a:cxnSpLocks/>
          </p:cNvCxnSpPr>
          <p:nvPr/>
        </p:nvCxnSpPr>
        <p:spPr>
          <a:xfrm>
            <a:off x="358736" y="2426581"/>
            <a:ext cx="11388963"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30A0DF2D-15C6-408A-A909-A0876DD8E64F}"/>
              </a:ext>
            </a:extLst>
          </p:cNvPr>
          <p:cNvCxnSpPr>
            <a:cxnSpLocks/>
          </p:cNvCxnSpPr>
          <p:nvPr/>
        </p:nvCxnSpPr>
        <p:spPr>
          <a:xfrm>
            <a:off x="358736" y="3482453"/>
            <a:ext cx="11388963"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92CFA755-6535-49F1-ABA1-BEC18C6B2401}"/>
              </a:ext>
            </a:extLst>
          </p:cNvPr>
          <p:cNvCxnSpPr>
            <a:cxnSpLocks/>
          </p:cNvCxnSpPr>
          <p:nvPr/>
        </p:nvCxnSpPr>
        <p:spPr>
          <a:xfrm>
            <a:off x="358737" y="4526508"/>
            <a:ext cx="11388962"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47" name="箭號: 弧形左彎 46">
            <a:extLst>
              <a:ext uri="{FF2B5EF4-FFF2-40B4-BE49-F238E27FC236}">
                <a16:creationId xmlns:a16="http://schemas.microsoft.com/office/drawing/2014/main" id="{70807072-BA89-41D3-9D2B-A0A17BA000A1}"/>
              </a:ext>
            </a:extLst>
          </p:cNvPr>
          <p:cNvSpPr/>
          <p:nvPr/>
        </p:nvSpPr>
        <p:spPr>
          <a:xfrm>
            <a:off x="10670708" y="2217499"/>
            <a:ext cx="307075" cy="543169"/>
          </a:xfrm>
          <a:prstGeom prst="curvedLeftArrow">
            <a:avLst>
              <a:gd name="adj1" fmla="val 0"/>
              <a:gd name="adj2" fmla="val 43280"/>
              <a:gd name="adj3" fmla="val 33889"/>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solidFill>
                <a:schemeClr val="tx1"/>
              </a:solidFill>
            </a:endParaRPr>
          </a:p>
        </p:txBody>
      </p:sp>
      <p:sp>
        <p:nvSpPr>
          <p:cNvPr id="50" name="文字方塊 49">
            <a:extLst>
              <a:ext uri="{FF2B5EF4-FFF2-40B4-BE49-F238E27FC236}">
                <a16:creationId xmlns:a16="http://schemas.microsoft.com/office/drawing/2014/main" id="{E2CD25A8-410D-44CC-B957-8623978BF1F4}"/>
              </a:ext>
            </a:extLst>
          </p:cNvPr>
          <p:cNvSpPr txBox="1"/>
          <p:nvPr/>
        </p:nvSpPr>
        <p:spPr>
          <a:xfrm>
            <a:off x="11039575" y="2241915"/>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會辦</a:t>
            </a:r>
          </a:p>
        </p:txBody>
      </p:sp>
      <p:sp>
        <p:nvSpPr>
          <p:cNvPr id="51" name="箭號: 弧形左彎 50">
            <a:extLst>
              <a:ext uri="{FF2B5EF4-FFF2-40B4-BE49-F238E27FC236}">
                <a16:creationId xmlns:a16="http://schemas.microsoft.com/office/drawing/2014/main" id="{283002C4-5B55-416A-8D37-57325196DBC4}"/>
              </a:ext>
            </a:extLst>
          </p:cNvPr>
          <p:cNvSpPr/>
          <p:nvPr/>
        </p:nvSpPr>
        <p:spPr>
          <a:xfrm flipH="1">
            <a:off x="9747253" y="2217498"/>
            <a:ext cx="307075" cy="1576576"/>
          </a:xfrm>
          <a:prstGeom prst="curvedLeftArrow">
            <a:avLst>
              <a:gd name="adj1" fmla="val 0"/>
              <a:gd name="adj2" fmla="val 43280"/>
              <a:gd name="adj3" fmla="val 33889"/>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solidFill>
                <a:schemeClr val="tx1"/>
              </a:solidFill>
            </a:endParaRPr>
          </a:p>
        </p:txBody>
      </p:sp>
      <p:sp>
        <p:nvSpPr>
          <p:cNvPr id="52" name="文字方塊 51">
            <a:extLst>
              <a:ext uri="{FF2B5EF4-FFF2-40B4-BE49-F238E27FC236}">
                <a16:creationId xmlns:a16="http://schemas.microsoft.com/office/drawing/2014/main" id="{1C8C259D-8A03-47F8-B95B-DAAB17E873AC}"/>
              </a:ext>
            </a:extLst>
          </p:cNvPr>
          <p:cNvSpPr txBox="1"/>
          <p:nvPr/>
        </p:nvSpPr>
        <p:spPr>
          <a:xfrm>
            <a:off x="9058140" y="2775808"/>
            <a:ext cx="646331"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會辦</a:t>
            </a:r>
          </a:p>
        </p:txBody>
      </p:sp>
      <p:sp>
        <p:nvSpPr>
          <p:cNvPr id="60" name="矩形 59">
            <a:extLst>
              <a:ext uri="{FF2B5EF4-FFF2-40B4-BE49-F238E27FC236}">
                <a16:creationId xmlns:a16="http://schemas.microsoft.com/office/drawing/2014/main" id="{1FC4A022-4949-4255-B694-7714AA3B1C84}"/>
              </a:ext>
            </a:extLst>
          </p:cNvPr>
          <p:cNvSpPr/>
          <p:nvPr/>
        </p:nvSpPr>
        <p:spPr>
          <a:xfrm>
            <a:off x="10139891" y="3043453"/>
            <a:ext cx="478067" cy="3320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1" name="矩形 60">
            <a:extLst>
              <a:ext uri="{FF2B5EF4-FFF2-40B4-BE49-F238E27FC236}">
                <a16:creationId xmlns:a16="http://schemas.microsoft.com/office/drawing/2014/main" id="{9DAF9EE1-8F8A-4E16-BBED-3BF721D03517}"/>
              </a:ext>
            </a:extLst>
          </p:cNvPr>
          <p:cNvSpPr/>
          <p:nvPr/>
        </p:nvSpPr>
        <p:spPr>
          <a:xfrm>
            <a:off x="10139890" y="4048841"/>
            <a:ext cx="478067" cy="3320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63" name="接點: 肘形 62">
            <a:extLst>
              <a:ext uri="{FF2B5EF4-FFF2-40B4-BE49-F238E27FC236}">
                <a16:creationId xmlns:a16="http://schemas.microsoft.com/office/drawing/2014/main" id="{4AADBCFF-3595-4EE2-AC45-F9667784382C}"/>
              </a:ext>
            </a:extLst>
          </p:cNvPr>
          <p:cNvCxnSpPr>
            <a:stCxn id="60" idx="3"/>
            <a:endCxn id="61" idx="3"/>
          </p:cNvCxnSpPr>
          <p:nvPr/>
        </p:nvCxnSpPr>
        <p:spPr>
          <a:xfrm flipH="1">
            <a:off x="10617957" y="3209500"/>
            <a:ext cx="1" cy="1005388"/>
          </a:xfrm>
          <a:prstGeom prst="bentConnector3">
            <a:avLst>
              <a:gd name="adj1" fmla="val -22860000000"/>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65" name="箭號: 弧形左彎 64">
            <a:extLst>
              <a:ext uri="{FF2B5EF4-FFF2-40B4-BE49-F238E27FC236}">
                <a16:creationId xmlns:a16="http://schemas.microsoft.com/office/drawing/2014/main" id="{854A594B-D8B1-430C-BFEB-2619FCA614F9}"/>
              </a:ext>
            </a:extLst>
          </p:cNvPr>
          <p:cNvSpPr/>
          <p:nvPr/>
        </p:nvSpPr>
        <p:spPr>
          <a:xfrm>
            <a:off x="10860863" y="3724208"/>
            <a:ext cx="307075" cy="1100276"/>
          </a:xfrm>
          <a:prstGeom prst="curvedLeftArrow">
            <a:avLst>
              <a:gd name="adj1" fmla="val 0"/>
              <a:gd name="adj2" fmla="val 43280"/>
              <a:gd name="adj3" fmla="val 33889"/>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solidFill>
                <a:schemeClr val="tx1"/>
              </a:solidFill>
            </a:endParaRPr>
          </a:p>
        </p:txBody>
      </p:sp>
      <p:sp>
        <p:nvSpPr>
          <p:cNvPr id="66" name="文字方塊 65">
            <a:extLst>
              <a:ext uri="{FF2B5EF4-FFF2-40B4-BE49-F238E27FC236}">
                <a16:creationId xmlns:a16="http://schemas.microsoft.com/office/drawing/2014/main" id="{9A54A928-B18D-4E2A-826F-CC0F4F8C2678}"/>
              </a:ext>
            </a:extLst>
          </p:cNvPr>
          <p:cNvSpPr txBox="1"/>
          <p:nvPr/>
        </p:nvSpPr>
        <p:spPr>
          <a:xfrm>
            <a:off x="8115335" y="5091338"/>
            <a:ext cx="3877985" cy="646331"/>
          </a:xfrm>
          <a:prstGeom prst="rect">
            <a:avLst/>
          </a:prstGeom>
          <a:solidFill>
            <a:schemeClr val="accent4">
              <a:lumMod val="40000"/>
              <a:lumOff val="60000"/>
            </a:schemeClr>
          </a:solidFill>
          <a:ln>
            <a:solidFill>
              <a:srgbClr val="FF0000"/>
            </a:solidFill>
          </a:ln>
        </p:spPr>
        <p:txBody>
          <a:bodyPr wrap="none" rtlCol="0">
            <a:spAutoFit/>
          </a:bodyPr>
          <a:lstStyle/>
          <a:p>
            <a:pPr algn="ctr"/>
            <a:r>
              <a:rPr lang="zh-TW" altLang="en-US" dirty="0"/>
              <a:t>兩場會議陳會皆有結果後則進入決行</a:t>
            </a:r>
            <a:endParaRPr lang="en-US" altLang="zh-TW" dirty="0"/>
          </a:p>
          <a:p>
            <a:pPr algn="ctr"/>
            <a:r>
              <a:rPr lang="zh-TW" altLang="en-US" dirty="0"/>
              <a:t>否則視為退回</a:t>
            </a:r>
          </a:p>
        </p:txBody>
      </p:sp>
      <p:sp>
        <p:nvSpPr>
          <p:cNvPr id="67" name="矩形 66">
            <a:extLst>
              <a:ext uri="{FF2B5EF4-FFF2-40B4-BE49-F238E27FC236}">
                <a16:creationId xmlns:a16="http://schemas.microsoft.com/office/drawing/2014/main" id="{7B71E2B3-5289-4AFF-A2F0-ACD7A8D77DAA}"/>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履約系統簽核流程操作說明</a:t>
            </a:r>
            <a:r>
              <a:rPr lang="en-US" altLang="zh-TW" sz="2400" b="1" dirty="0">
                <a:solidFill>
                  <a:srgbClr val="39759D"/>
                </a:solidFill>
                <a:cs typeface="+mn-ea"/>
                <a:sym typeface="+mn-lt"/>
              </a:rPr>
              <a:t>-</a:t>
            </a:r>
            <a:r>
              <a:rPr lang="zh-TW" altLang="en-US" sz="2400" b="1" dirty="0">
                <a:solidFill>
                  <a:srgbClr val="39759D"/>
                </a:solidFill>
                <a:cs typeface="+mn-ea"/>
                <a:sym typeface="+mn-lt"/>
              </a:rPr>
              <a:t>會辦陳會</a:t>
            </a:r>
          </a:p>
        </p:txBody>
      </p:sp>
    </p:spTree>
    <p:extLst>
      <p:ext uri="{BB962C8B-B14F-4D97-AF65-F5344CB8AC3E}">
        <p14:creationId xmlns:p14="http://schemas.microsoft.com/office/powerpoint/2010/main" val="220616073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E12F2D9-339F-421E-A1D8-98E876F23F3D}"/>
              </a:ext>
            </a:extLst>
          </p:cNvPr>
          <p:cNvPicPr>
            <a:picLocks noChangeAspect="1"/>
          </p:cNvPicPr>
          <p:nvPr/>
        </p:nvPicPr>
        <p:blipFill rotWithShape="1">
          <a:blip r:embed="rId3"/>
          <a:srcRect r="45053"/>
          <a:stretch/>
        </p:blipFill>
        <p:spPr>
          <a:xfrm>
            <a:off x="444300" y="1370712"/>
            <a:ext cx="11303399" cy="3726727"/>
          </a:xfrm>
          <a:prstGeom prst="rect">
            <a:avLst/>
          </a:prstGeom>
        </p:spPr>
      </p:pic>
      <p:cxnSp>
        <p:nvCxnSpPr>
          <p:cNvPr id="11" name="直線接點 10">
            <a:extLst>
              <a:ext uri="{FF2B5EF4-FFF2-40B4-BE49-F238E27FC236}">
                <a16:creationId xmlns:a16="http://schemas.microsoft.com/office/drawing/2014/main" id="{2DECFB34-B88E-4E69-9501-149B9DCBE0A4}"/>
              </a:ext>
            </a:extLst>
          </p:cNvPr>
          <p:cNvCxnSpPr>
            <a:cxnSpLocks/>
          </p:cNvCxnSpPr>
          <p:nvPr/>
        </p:nvCxnSpPr>
        <p:spPr>
          <a:xfrm>
            <a:off x="1321463" y="2426581"/>
            <a:ext cx="10426236"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30A0DF2D-15C6-408A-A909-A0876DD8E64F}"/>
              </a:ext>
            </a:extLst>
          </p:cNvPr>
          <p:cNvCxnSpPr>
            <a:cxnSpLocks/>
          </p:cNvCxnSpPr>
          <p:nvPr/>
        </p:nvCxnSpPr>
        <p:spPr>
          <a:xfrm>
            <a:off x="1321463" y="3482453"/>
            <a:ext cx="10426236"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92CFA755-6535-49F1-ABA1-BEC18C6B2401}"/>
              </a:ext>
            </a:extLst>
          </p:cNvPr>
          <p:cNvCxnSpPr>
            <a:cxnSpLocks/>
          </p:cNvCxnSpPr>
          <p:nvPr/>
        </p:nvCxnSpPr>
        <p:spPr>
          <a:xfrm>
            <a:off x="1321463" y="4526508"/>
            <a:ext cx="10426236"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D89447B2-74A4-471B-B7C2-4D75F69B2064}"/>
              </a:ext>
            </a:extLst>
          </p:cNvPr>
          <p:cNvSpPr txBox="1"/>
          <p:nvPr/>
        </p:nvSpPr>
        <p:spPr>
          <a:xfrm>
            <a:off x="444300" y="1964917"/>
            <a:ext cx="877163"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陳核後</a:t>
            </a:r>
          </a:p>
        </p:txBody>
      </p:sp>
      <p:pic>
        <p:nvPicPr>
          <p:cNvPr id="4" name="圖片 3">
            <a:extLst>
              <a:ext uri="{FF2B5EF4-FFF2-40B4-BE49-F238E27FC236}">
                <a16:creationId xmlns:a16="http://schemas.microsoft.com/office/drawing/2014/main" id="{49BA03D7-91FB-4981-A80E-C08AA22A82FA}"/>
              </a:ext>
            </a:extLst>
          </p:cNvPr>
          <p:cNvPicPr>
            <a:picLocks noChangeAspect="1"/>
          </p:cNvPicPr>
          <p:nvPr/>
        </p:nvPicPr>
        <p:blipFill>
          <a:blip r:embed="rId4"/>
          <a:stretch>
            <a:fillRect/>
          </a:stretch>
        </p:blipFill>
        <p:spPr>
          <a:xfrm>
            <a:off x="690281" y="2497530"/>
            <a:ext cx="330609" cy="358746"/>
          </a:xfrm>
          <a:prstGeom prst="rect">
            <a:avLst/>
          </a:prstGeom>
        </p:spPr>
      </p:pic>
      <p:pic>
        <p:nvPicPr>
          <p:cNvPr id="20" name="圖片 19">
            <a:extLst>
              <a:ext uri="{FF2B5EF4-FFF2-40B4-BE49-F238E27FC236}">
                <a16:creationId xmlns:a16="http://schemas.microsoft.com/office/drawing/2014/main" id="{4CEA293D-9EA5-4072-AC07-DE937A6A48A8}"/>
              </a:ext>
            </a:extLst>
          </p:cNvPr>
          <p:cNvPicPr>
            <a:picLocks noChangeAspect="1"/>
          </p:cNvPicPr>
          <p:nvPr/>
        </p:nvPicPr>
        <p:blipFill>
          <a:blip r:embed="rId4"/>
          <a:stretch>
            <a:fillRect/>
          </a:stretch>
        </p:blipFill>
        <p:spPr>
          <a:xfrm>
            <a:off x="690281" y="3553401"/>
            <a:ext cx="330609" cy="358746"/>
          </a:xfrm>
          <a:prstGeom prst="rect">
            <a:avLst/>
          </a:prstGeom>
        </p:spPr>
      </p:pic>
      <p:sp>
        <p:nvSpPr>
          <p:cNvPr id="6" name="矩形 5">
            <a:extLst>
              <a:ext uri="{FF2B5EF4-FFF2-40B4-BE49-F238E27FC236}">
                <a16:creationId xmlns:a16="http://schemas.microsoft.com/office/drawing/2014/main" id="{889F7F80-B3E3-443A-9725-3A9FEC0280A3}"/>
              </a:ext>
            </a:extLst>
          </p:cNvPr>
          <p:cNvSpPr/>
          <p:nvPr/>
        </p:nvSpPr>
        <p:spPr>
          <a:xfrm>
            <a:off x="690281" y="1508078"/>
            <a:ext cx="330609" cy="304142"/>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pic>
        <p:nvPicPr>
          <p:cNvPr id="22" name="圖片 21">
            <a:extLst>
              <a:ext uri="{FF2B5EF4-FFF2-40B4-BE49-F238E27FC236}">
                <a16:creationId xmlns:a16="http://schemas.microsoft.com/office/drawing/2014/main" id="{41D4C3EC-5F70-40C7-B93F-364484DAD376}"/>
              </a:ext>
            </a:extLst>
          </p:cNvPr>
          <p:cNvPicPr>
            <a:picLocks noChangeAspect="1"/>
          </p:cNvPicPr>
          <p:nvPr/>
        </p:nvPicPr>
        <p:blipFill rotWithShape="1">
          <a:blip r:embed="rId5"/>
          <a:srcRect l="20560" t="13869" r="7099" b="7315"/>
          <a:stretch/>
        </p:blipFill>
        <p:spPr>
          <a:xfrm>
            <a:off x="3295934" y="4653879"/>
            <a:ext cx="6058119" cy="2115842"/>
          </a:xfrm>
          <a:prstGeom prst="rect">
            <a:avLst/>
          </a:prstGeom>
          <a:ln>
            <a:solidFill>
              <a:schemeClr val="accent1">
                <a:lumMod val="60000"/>
                <a:lumOff val="40000"/>
              </a:schemeClr>
            </a:solidFill>
          </a:ln>
        </p:spPr>
      </p:pic>
      <p:sp>
        <p:nvSpPr>
          <p:cNvPr id="8" name="文字方塊 7">
            <a:extLst>
              <a:ext uri="{FF2B5EF4-FFF2-40B4-BE49-F238E27FC236}">
                <a16:creationId xmlns:a16="http://schemas.microsoft.com/office/drawing/2014/main" id="{79E4F090-DAF3-4067-B190-8091478AB7AF}"/>
              </a:ext>
            </a:extLst>
          </p:cNvPr>
          <p:cNvSpPr txBox="1"/>
          <p:nvPr/>
        </p:nvSpPr>
        <p:spPr>
          <a:xfrm>
            <a:off x="190384" y="5302622"/>
            <a:ext cx="2262158"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兩場分會可分別簽核</a:t>
            </a:r>
            <a:endParaRPr lang="en-US" altLang="zh-TW" dirty="0"/>
          </a:p>
        </p:txBody>
      </p:sp>
      <p:sp>
        <p:nvSpPr>
          <p:cNvPr id="9" name="矩形 8">
            <a:extLst>
              <a:ext uri="{FF2B5EF4-FFF2-40B4-BE49-F238E27FC236}">
                <a16:creationId xmlns:a16="http://schemas.microsoft.com/office/drawing/2014/main" id="{F722512C-D324-442D-B800-8815DA259709}"/>
              </a:ext>
            </a:extLst>
          </p:cNvPr>
          <p:cNvSpPr/>
          <p:nvPr/>
        </p:nvSpPr>
        <p:spPr>
          <a:xfrm>
            <a:off x="518615" y="2549096"/>
            <a:ext cx="614149" cy="14526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17" name="直線單箭頭接點 16">
            <a:extLst>
              <a:ext uri="{FF2B5EF4-FFF2-40B4-BE49-F238E27FC236}">
                <a16:creationId xmlns:a16="http://schemas.microsoft.com/office/drawing/2014/main" id="{E3E83F1D-33B4-42DE-9261-29389BCC0165}"/>
              </a:ext>
            </a:extLst>
          </p:cNvPr>
          <p:cNvCxnSpPr/>
          <p:nvPr/>
        </p:nvCxnSpPr>
        <p:spPr>
          <a:xfrm flipV="1">
            <a:off x="690281" y="4001725"/>
            <a:ext cx="0" cy="1300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CAAE28D4-40E8-4989-9645-9C356C627B0D}"/>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履約系統簽核流程操作說明</a:t>
            </a:r>
            <a:r>
              <a:rPr lang="en-US" altLang="zh-TW" sz="2400" b="1" dirty="0">
                <a:solidFill>
                  <a:srgbClr val="39759D"/>
                </a:solidFill>
                <a:cs typeface="+mn-ea"/>
                <a:sym typeface="+mn-lt"/>
              </a:rPr>
              <a:t>-</a:t>
            </a:r>
            <a:r>
              <a:rPr lang="zh-TW" altLang="en-US" sz="2400" b="1" dirty="0">
                <a:solidFill>
                  <a:srgbClr val="39759D"/>
                </a:solidFill>
                <a:cs typeface="+mn-ea"/>
                <a:sym typeface="+mn-lt"/>
              </a:rPr>
              <a:t>會辦陳會</a:t>
            </a:r>
          </a:p>
        </p:txBody>
      </p:sp>
    </p:spTree>
    <p:extLst>
      <p:ext uri="{BB962C8B-B14F-4D97-AF65-F5344CB8AC3E}">
        <p14:creationId xmlns:p14="http://schemas.microsoft.com/office/powerpoint/2010/main" val="40977603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E12F2D9-339F-421E-A1D8-98E876F23F3D}"/>
              </a:ext>
            </a:extLst>
          </p:cNvPr>
          <p:cNvPicPr>
            <a:picLocks noChangeAspect="1"/>
          </p:cNvPicPr>
          <p:nvPr/>
        </p:nvPicPr>
        <p:blipFill rotWithShape="1">
          <a:blip r:embed="rId3"/>
          <a:srcRect r="45053"/>
          <a:stretch/>
        </p:blipFill>
        <p:spPr>
          <a:xfrm>
            <a:off x="444300" y="1370712"/>
            <a:ext cx="11303399" cy="3726727"/>
          </a:xfrm>
          <a:prstGeom prst="rect">
            <a:avLst/>
          </a:prstGeom>
        </p:spPr>
      </p:pic>
      <p:cxnSp>
        <p:nvCxnSpPr>
          <p:cNvPr id="11" name="直線接點 10">
            <a:extLst>
              <a:ext uri="{FF2B5EF4-FFF2-40B4-BE49-F238E27FC236}">
                <a16:creationId xmlns:a16="http://schemas.microsoft.com/office/drawing/2014/main" id="{2DECFB34-B88E-4E69-9501-149B9DCBE0A4}"/>
              </a:ext>
            </a:extLst>
          </p:cNvPr>
          <p:cNvCxnSpPr>
            <a:cxnSpLocks/>
          </p:cNvCxnSpPr>
          <p:nvPr/>
        </p:nvCxnSpPr>
        <p:spPr>
          <a:xfrm>
            <a:off x="1321463" y="2426581"/>
            <a:ext cx="10426236"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30A0DF2D-15C6-408A-A909-A0876DD8E64F}"/>
              </a:ext>
            </a:extLst>
          </p:cNvPr>
          <p:cNvCxnSpPr>
            <a:cxnSpLocks/>
          </p:cNvCxnSpPr>
          <p:nvPr/>
        </p:nvCxnSpPr>
        <p:spPr>
          <a:xfrm>
            <a:off x="1321463" y="3482453"/>
            <a:ext cx="10426236"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92CFA755-6535-49F1-ABA1-BEC18C6B2401}"/>
              </a:ext>
            </a:extLst>
          </p:cNvPr>
          <p:cNvCxnSpPr>
            <a:cxnSpLocks/>
          </p:cNvCxnSpPr>
          <p:nvPr/>
        </p:nvCxnSpPr>
        <p:spPr>
          <a:xfrm>
            <a:off x="1321463" y="4526508"/>
            <a:ext cx="10426236"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D89447B2-74A4-471B-B7C2-4D75F69B2064}"/>
              </a:ext>
            </a:extLst>
          </p:cNvPr>
          <p:cNvSpPr txBox="1"/>
          <p:nvPr/>
        </p:nvSpPr>
        <p:spPr>
          <a:xfrm>
            <a:off x="417003" y="3010434"/>
            <a:ext cx="877163"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決行後</a:t>
            </a:r>
          </a:p>
        </p:txBody>
      </p:sp>
      <p:pic>
        <p:nvPicPr>
          <p:cNvPr id="20" name="圖片 19">
            <a:extLst>
              <a:ext uri="{FF2B5EF4-FFF2-40B4-BE49-F238E27FC236}">
                <a16:creationId xmlns:a16="http://schemas.microsoft.com/office/drawing/2014/main" id="{4CEA293D-9EA5-4072-AC07-DE937A6A48A8}"/>
              </a:ext>
            </a:extLst>
          </p:cNvPr>
          <p:cNvPicPr>
            <a:picLocks noChangeAspect="1"/>
          </p:cNvPicPr>
          <p:nvPr/>
        </p:nvPicPr>
        <p:blipFill>
          <a:blip r:embed="rId4"/>
          <a:stretch>
            <a:fillRect/>
          </a:stretch>
        </p:blipFill>
        <p:spPr>
          <a:xfrm>
            <a:off x="717579" y="4537148"/>
            <a:ext cx="330609" cy="358746"/>
          </a:xfrm>
          <a:prstGeom prst="rect">
            <a:avLst/>
          </a:prstGeom>
        </p:spPr>
      </p:pic>
      <p:sp>
        <p:nvSpPr>
          <p:cNvPr id="6" name="矩形 5">
            <a:extLst>
              <a:ext uri="{FF2B5EF4-FFF2-40B4-BE49-F238E27FC236}">
                <a16:creationId xmlns:a16="http://schemas.microsoft.com/office/drawing/2014/main" id="{889F7F80-B3E3-443A-9725-3A9FEC0280A3}"/>
              </a:ext>
            </a:extLst>
          </p:cNvPr>
          <p:cNvSpPr/>
          <p:nvPr/>
        </p:nvSpPr>
        <p:spPr>
          <a:xfrm>
            <a:off x="690281" y="1508078"/>
            <a:ext cx="330609" cy="304142"/>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8" name="文字方塊 7">
            <a:extLst>
              <a:ext uri="{FF2B5EF4-FFF2-40B4-BE49-F238E27FC236}">
                <a16:creationId xmlns:a16="http://schemas.microsoft.com/office/drawing/2014/main" id="{79E4F090-DAF3-4067-B190-8091478AB7AF}"/>
              </a:ext>
            </a:extLst>
          </p:cNvPr>
          <p:cNvSpPr txBox="1"/>
          <p:nvPr/>
        </p:nvSpPr>
        <p:spPr>
          <a:xfrm>
            <a:off x="37577" y="5151308"/>
            <a:ext cx="3877985"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兩場分會皆決行後流程才會繼續往後</a:t>
            </a:r>
            <a:endParaRPr lang="en-US" altLang="zh-TW" dirty="0"/>
          </a:p>
        </p:txBody>
      </p:sp>
      <p:sp>
        <p:nvSpPr>
          <p:cNvPr id="31" name="矩形 30">
            <a:extLst>
              <a:ext uri="{FF2B5EF4-FFF2-40B4-BE49-F238E27FC236}">
                <a16:creationId xmlns:a16="http://schemas.microsoft.com/office/drawing/2014/main" id="{CAAE28D4-40E8-4989-9645-9C356C627B0D}"/>
              </a:ext>
            </a:extLst>
          </p:cNvPr>
          <p:cNvSpPr/>
          <p:nvPr/>
        </p:nvSpPr>
        <p:spPr>
          <a:xfrm>
            <a:off x="37577" y="30746"/>
            <a:ext cx="8558569"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履約系統簽核流程操作說明</a:t>
            </a:r>
            <a:r>
              <a:rPr lang="en-US" altLang="zh-TW" sz="2400" b="1" dirty="0">
                <a:solidFill>
                  <a:srgbClr val="39759D"/>
                </a:solidFill>
                <a:cs typeface="+mn-ea"/>
                <a:sym typeface="+mn-lt"/>
              </a:rPr>
              <a:t>-</a:t>
            </a:r>
            <a:r>
              <a:rPr lang="zh-TW" altLang="en-US" sz="2400" b="1" dirty="0">
                <a:solidFill>
                  <a:srgbClr val="39759D"/>
                </a:solidFill>
                <a:cs typeface="+mn-ea"/>
                <a:sym typeface="+mn-lt"/>
              </a:rPr>
              <a:t>會辦陳會</a:t>
            </a:r>
          </a:p>
        </p:txBody>
      </p:sp>
      <p:sp>
        <p:nvSpPr>
          <p:cNvPr id="15" name="文字方塊 14">
            <a:extLst>
              <a:ext uri="{FF2B5EF4-FFF2-40B4-BE49-F238E27FC236}">
                <a16:creationId xmlns:a16="http://schemas.microsoft.com/office/drawing/2014/main" id="{1E273E0A-F67D-4A15-B84D-B33B41CB4D0F}"/>
              </a:ext>
            </a:extLst>
          </p:cNvPr>
          <p:cNvSpPr txBox="1"/>
          <p:nvPr/>
        </p:nvSpPr>
        <p:spPr>
          <a:xfrm>
            <a:off x="444301" y="4041503"/>
            <a:ext cx="877163"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決行後</a:t>
            </a:r>
          </a:p>
        </p:txBody>
      </p:sp>
      <p:cxnSp>
        <p:nvCxnSpPr>
          <p:cNvPr id="7" name="接點: 肘形 6">
            <a:extLst>
              <a:ext uri="{FF2B5EF4-FFF2-40B4-BE49-F238E27FC236}">
                <a16:creationId xmlns:a16="http://schemas.microsoft.com/office/drawing/2014/main" id="{34C5BD0B-457A-4F91-8A9F-DE1640F05AB8}"/>
              </a:ext>
            </a:extLst>
          </p:cNvPr>
          <p:cNvCxnSpPr>
            <a:stCxn id="16" idx="1"/>
            <a:endCxn id="20" idx="1"/>
          </p:cNvCxnSpPr>
          <p:nvPr/>
        </p:nvCxnSpPr>
        <p:spPr>
          <a:xfrm rot="10800000" flipH="1" flipV="1">
            <a:off x="417003" y="3195099"/>
            <a:ext cx="300576" cy="1521421"/>
          </a:xfrm>
          <a:prstGeom prst="bentConnector3">
            <a:avLst>
              <a:gd name="adj1" fmla="val -76054"/>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72E83A96-40A5-4471-964C-FD40EAC55C00}"/>
              </a:ext>
            </a:extLst>
          </p:cNvPr>
          <p:cNvCxnSpPr>
            <a:stCxn id="15" idx="1"/>
          </p:cNvCxnSpPr>
          <p:nvPr/>
        </p:nvCxnSpPr>
        <p:spPr>
          <a:xfrm flipH="1">
            <a:off x="197893" y="4226169"/>
            <a:ext cx="246408" cy="0"/>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pic>
        <p:nvPicPr>
          <p:cNvPr id="21" name="圖片 20">
            <a:extLst>
              <a:ext uri="{FF2B5EF4-FFF2-40B4-BE49-F238E27FC236}">
                <a16:creationId xmlns:a16="http://schemas.microsoft.com/office/drawing/2014/main" id="{2E024A3A-3FA7-4594-90E4-DB134954DAEC}"/>
              </a:ext>
            </a:extLst>
          </p:cNvPr>
          <p:cNvPicPr>
            <a:picLocks noChangeAspect="1"/>
          </p:cNvPicPr>
          <p:nvPr/>
        </p:nvPicPr>
        <p:blipFill rotWithShape="1">
          <a:blip r:embed="rId5"/>
          <a:srcRect l="20560" t="13869" r="7099" b="7315"/>
          <a:stretch/>
        </p:blipFill>
        <p:spPr>
          <a:xfrm>
            <a:off x="5513696" y="4978121"/>
            <a:ext cx="5382505" cy="1879879"/>
          </a:xfrm>
          <a:prstGeom prst="rect">
            <a:avLst/>
          </a:prstGeom>
          <a:ln>
            <a:solidFill>
              <a:schemeClr val="accent1">
                <a:lumMod val="60000"/>
                <a:lumOff val="40000"/>
              </a:schemeClr>
            </a:solidFill>
          </a:ln>
        </p:spPr>
      </p:pic>
    </p:spTree>
    <p:extLst>
      <p:ext uri="{BB962C8B-B14F-4D97-AF65-F5344CB8AC3E}">
        <p14:creationId xmlns:p14="http://schemas.microsoft.com/office/powerpoint/2010/main" val="211954630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txDef>
      <a:spPr>
        <a:solidFill>
          <a:schemeClr val="accent4">
            <a:lumMod val="40000"/>
            <a:lumOff val="60000"/>
          </a:schemeClr>
        </a:solidFill>
        <a:ln>
          <a:solidFill>
            <a:srgbClr val="FF0000"/>
          </a:solidFill>
        </a:ln>
      </a:spPr>
      <a:bodyPr wrap="none" rtlCol="0">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1049</Words>
  <Application>Microsoft Office PowerPoint</Application>
  <PresentationFormat>寬螢幕</PresentationFormat>
  <Paragraphs>126</Paragraphs>
  <Slides>21</Slides>
  <Notes>21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21</vt:i4>
      </vt:variant>
    </vt:vector>
  </HeadingPairs>
  <TitlesOfParts>
    <vt:vector size="27" baseType="lpstr">
      <vt:lpstr>微軟正黑體</vt:lpstr>
      <vt:lpstr>Arial</vt:lpstr>
      <vt:lpstr>Arial Black</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劉 約成</cp:lastModifiedBy>
  <cp:revision>36</cp:revision>
  <dcterms:created xsi:type="dcterms:W3CDTF">2022-01-12T13:46:18Z</dcterms:created>
  <dcterms:modified xsi:type="dcterms:W3CDTF">2022-01-25T04:07:24Z</dcterms:modified>
</cp:coreProperties>
</file>
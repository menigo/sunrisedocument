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58D_B4B9BE01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1410" r:id="rId2"/>
    <p:sldId id="1436" r:id="rId3"/>
    <p:sldId id="1320" r:id="rId4"/>
    <p:sldId id="1411" r:id="rId5"/>
    <p:sldId id="1421" r:id="rId6"/>
    <p:sldId id="1438" r:id="rId7"/>
    <p:sldId id="1428" r:id="rId8"/>
    <p:sldId id="1422" r:id="rId9"/>
    <p:sldId id="1264" r:id="rId10"/>
    <p:sldId id="1398" r:id="rId11"/>
    <p:sldId id="1415" r:id="rId12"/>
    <p:sldId id="1433" r:id="rId13"/>
    <p:sldId id="1430" r:id="rId14"/>
    <p:sldId id="1405" r:id="rId15"/>
    <p:sldId id="1439" r:id="rId16"/>
    <p:sldId id="1434" r:id="rId17"/>
    <p:sldId id="1440" r:id="rId18"/>
    <p:sldId id="1407" r:id="rId19"/>
    <p:sldId id="1423" r:id="rId20"/>
    <p:sldId id="1426" r:id="rId21"/>
    <p:sldId id="1427" r:id="rId22"/>
    <p:sldId id="1431" r:id="rId23"/>
    <p:sldId id="1406" r:id="rId24"/>
    <p:sldId id="1432" r:id="rId25"/>
    <p:sldId id="1289" r:id="rId26"/>
    <p:sldId id="1402" r:id="rId27"/>
    <p:sldId id="1403" r:id="rId28"/>
    <p:sldId id="1429" r:id="rId29"/>
    <p:sldId id="1413" r:id="rId30"/>
  </p:sldIdLst>
  <p:sldSz cx="12192000" cy="6858000"/>
  <p:notesSz cx="6735763" cy="986948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4A09F5-D1B4-67DF-9876-E74586846A9A}" name="10140 sunrise" initials="1s" userId="4d8244bf2ae8e4fa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浩然 邱" initials="浩然" lastIdx="4" clrIdx="0">
    <p:extLst>
      <p:ext uri="{19B8F6BF-5375-455C-9EA6-DF929625EA0E}">
        <p15:presenceInfo xmlns:p15="http://schemas.microsoft.com/office/powerpoint/2012/main" userId="80fc205e9e64c697" providerId="Windows Live"/>
      </p:ext>
    </p:extLst>
  </p:cmAuthor>
  <p:cmAuthor id="2" name="YUFANG LIN" initials="YL" lastIdx="10" clrIdx="1">
    <p:extLst>
      <p:ext uri="{19B8F6BF-5375-455C-9EA6-DF929625EA0E}">
        <p15:presenceInfo xmlns:p15="http://schemas.microsoft.com/office/powerpoint/2012/main" userId="f33887a6e075659f" providerId="Windows Live"/>
      </p:ext>
    </p:extLst>
  </p:cmAuthor>
  <p:cmAuthor id="3" name="10140 sunrise" initials="1s" lastIdx="10" clrIdx="2">
    <p:extLst>
      <p:ext uri="{19B8F6BF-5375-455C-9EA6-DF929625EA0E}">
        <p15:presenceInfo xmlns:p15="http://schemas.microsoft.com/office/powerpoint/2012/main" userId="4d8244bf2ae8e4fa" providerId="Windows Live"/>
      </p:ext>
    </p:extLst>
  </p:cmAuthor>
  <p:cmAuthor id="4" name="妤珊" initials="妤珊" lastIdx="14" clrIdx="3">
    <p:extLst>
      <p:ext uri="{19B8F6BF-5375-455C-9EA6-DF929625EA0E}">
        <p15:presenceInfo xmlns:p15="http://schemas.microsoft.com/office/powerpoint/2012/main" userId="a9ed651b00258aaf" providerId="Windows Live"/>
      </p:ext>
    </p:extLst>
  </p:cmAuthor>
  <p:cmAuthor id="5" name="佳莉 陳" initials="佳莉" lastIdx="9" clrIdx="4">
    <p:extLst>
      <p:ext uri="{19B8F6BF-5375-455C-9EA6-DF929625EA0E}">
        <p15:presenceInfo xmlns:p15="http://schemas.microsoft.com/office/powerpoint/2012/main" userId="aed248d31d88f476" providerId="Windows Live"/>
      </p:ext>
    </p:extLst>
  </p:cmAuthor>
  <p:cmAuthor id="6" name="祥維 李" initials="祥維" lastIdx="4" clrIdx="5">
    <p:extLst>
      <p:ext uri="{19B8F6BF-5375-455C-9EA6-DF929625EA0E}">
        <p15:presenceInfo xmlns:p15="http://schemas.microsoft.com/office/powerpoint/2012/main" userId="bb031ed8dce6bb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593"/>
    <a:srgbClr val="DFDED7"/>
    <a:srgbClr val="E6E6E6"/>
    <a:srgbClr val="FF6D9A"/>
    <a:srgbClr val="FF3D7A"/>
    <a:srgbClr val="FFC1D4"/>
    <a:srgbClr val="FFF2CC"/>
    <a:srgbClr val="F47131"/>
    <a:srgbClr val="343536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81" autoAdjust="0"/>
    <p:restoredTop sz="76110" autoAdjust="0"/>
  </p:normalViewPr>
  <p:slideViewPr>
    <p:cSldViewPr snapToGrid="0">
      <p:cViewPr varScale="1">
        <p:scale>
          <a:sx n="81" d="100"/>
          <a:sy n="81" d="100"/>
        </p:scale>
        <p:origin x="1230" y="60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58D_B4B9BE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198B8E-C2F8-4F50-AC76-9C41081A8E5E}" authorId="{804A09F5-D1B4-67DF-9876-E74586846A9A}" created="2022-01-18T08:33:45.9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32071681" sldId="1421"/>
      <ac:spMk id="8" creationId="{3D743502-6A85-4D4C-8850-BFA7C6312B8B}"/>
    </ac:deMkLst>
    <p188:replyLst>
      <p188:reply id="{1A680C74-AF3B-4955-BE4C-5A5073ABF32B}" authorId="{804A09F5-D1B4-67DF-9876-E74586846A9A}" created="2022-01-18T08:33:59.383">
        <p188:txBody>
          <a:bodyPr/>
          <a:lstStyle/>
          <a:p>
            <a:r>
              <a:rPr lang="zh-TW" altLang="en-US"/>
              <a:t>先看看那個影片怎麼用</a:t>
            </a:r>
          </a:p>
        </p188:txBody>
      </p188:reply>
    </p188:replyLst>
    <p188:txBody>
      <a:bodyPr/>
      <a:lstStyle/>
      <a:p>
        <a:r>
          <a:rPr lang="zh-TW" altLang="en-US"/>
          <a:t>說明告知要去TAIPEI ON改密碼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DAA72-4A6A-4898-A5B9-E02DE5971D93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F73C7-3DE2-478C-B86C-387D4C7CAD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368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3E498-D6A5-433E-B682-A841DF578F72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1233488"/>
            <a:ext cx="591978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3577" y="4749691"/>
            <a:ext cx="5388610" cy="388611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15373" y="9374301"/>
            <a:ext cx="2918831" cy="495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C1CDC-CB3F-4C6F-802F-7C071E6902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633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54149-731F-429D-85D9-92844701DF6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441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946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 員工愛上網帳號</a:t>
            </a:r>
            <a:br>
              <a:rPr lang="en-US" altLang="zh-TW" dirty="0"/>
            </a:br>
            <a:r>
              <a:rPr lang="en-US" altLang="zh-TW" dirty="0"/>
              <a:t>2.</a:t>
            </a:r>
            <a:r>
              <a:rPr lang="zh-TW" altLang="en-US" dirty="0"/>
              <a:t> </a:t>
            </a:r>
            <a:r>
              <a:rPr lang="en-US" altLang="zh-TW" dirty="0"/>
              <a:t>TPEAD</a:t>
            </a:r>
            <a:r>
              <a:rPr lang="zh-TW" altLang="en-US" dirty="0"/>
              <a:t>密碼</a:t>
            </a:r>
            <a:r>
              <a:rPr lang="en-US" altLang="zh-TW" dirty="0"/>
              <a:t>(</a:t>
            </a:r>
            <a:r>
              <a:rPr lang="en-US" altLang="zh-TW" dirty="0" err="1"/>
              <a:t>taipeion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54149-731F-429D-85D9-92844701DF6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0582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54149-731F-429D-85D9-92844701DF6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2447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１．系統自動帶一個預設權限，所以下一步要去群組權限管理或使用者管理微調權限，這邊有個指引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54149-731F-429D-85D9-92844701DF6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45415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091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54149-731F-429D-85D9-92844701DF6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441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１．第一次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54149-731F-429D-85D9-92844701DF6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207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682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灰色區塊說明一致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4255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群組新增說明一下可以自行輸入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8589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六種截圖各腳色單位需要開的權限　說明（只做會開的權限）</a:t>
            </a:r>
            <a:br>
              <a:rPr lang="en-US" altLang="zh-TW" dirty="0"/>
            </a:br>
            <a:r>
              <a:rPr lang="zh-TW" altLang="en-US" dirty="0"/>
              <a:t>截圖的時候，還是盡量滿版功能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063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764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六種截圖各腳色單位需要開的權限　說明（只做會開的權限）</a:t>
            </a:r>
            <a:br>
              <a:rPr lang="en-US" altLang="zh-TW" dirty="0"/>
            </a:br>
            <a:r>
              <a:rPr lang="zh-TW" altLang="en-US" dirty="0"/>
              <a:t>截圖的時候，還是盡量滿版功能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8276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171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775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090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566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3183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文字都用微軟正黑體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範例參照下張投影片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369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7345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搜尋部分另外用紅框標起來流程指到下方顯示的區塊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4787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386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編輯跟刪除分開說明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8347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編輯跟刪除分開說明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8629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順序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C1CDC-CB3F-4C6F-802F-7C071E69026E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576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平行四邊形 2">
            <a:extLst>
              <a:ext uri="{FF2B5EF4-FFF2-40B4-BE49-F238E27FC236}">
                <a16:creationId xmlns:a16="http://schemas.microsoft.com/office/drawing/2014/main" id="{7EA660E8-9556-4D3E-BCE8-C1715903129B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平行四邊形 2">
            <a:extLst>
              <a:ext uri="{FF2B5EF4-FFF2-40B4-BE49-F238E27FC236}">
                <a16:creationId xmlns:a16="http://schemas.microsoft.com/office/drawing/2014/main" id="{4DC73DC3-0A10-4B63-9D07-B05F0E5EDEFF}"/>
              </a:ext>
            </a:extLst>
          </p:cNvPr>
          <p:cNvSpPr/>
          <p:nvPr userDrawn="1"/>
        </p:nvSpPr>
        <p:spPr>
          <a:xfrm>
            <a:off x="-15832" y="1850938"/>
            <a:ext cx="6755168" cy="5036559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  <a:gd name="connsiteX0" fmla="*/ 4 w 9653085"/>
              <a:gd name="connsiteY0" fmla="*/ 6875771 h 6875771"/>
              <a:gd name="connsiteX1" fmla="*/ 1701624 w 9653085"/>
              <a:gd name="connsiteY1" fmla="*/ 21693 h 6875771"/>
              <a:gd name="connsiteX2" fmla="*/ 9653085 w 9653085"/>
              <a:gd name="connsiteY2" fmla="*/ 0 h 6875771"/>
              <a:gd name="connsiteX3" fmla="*/ 4839264 w 9653085"/>
              <a:gd name="connsiteY3" fmla="*/ 6866246 h 6875771"/>
              <a:gd name="connsiteX4" fmla="*/ 4 w 9653085"/>
              <a:gd name="connsiteY4" fmla="*/ 6875771 h 6875771"/>
              <a:gd name="connsiteX0" fmla="*/ 60 w 8009263"/>
              <a:gd name="connsiteY0" fmla="*/ 5924900 h 6866246"/>
              <a:gd name="connsiteX1" fmla="*/ 57802 w 8009263"/>
              <a:gd name="connsiteY1" fmla="*/ 21693 h 6866246"/>
              <a:gd name="connsiteX2" fmla="*/ 8009263 w 8009263"/>
              <a:gd name="connsiteY2" fmla="*/ 0 h 6866246"/>
              <a:gd name="connsiteX3" fmla="*/ 3195442 w 8009263"/>
              <a:gd name="connsiteY3" fmla="*/ 6866246 h 6866246"/>
              <a:gd name="connsiteX4" fmla="*/ 60 w 8009263"/>
              <a:gd name="connsiteY4" fmla="*/ 5924900 h 6866246"/>
              <a:gd name="connsiteX0" fmla="*/ 60 w 8009263"/>
              <a:gd name="connsiteY0" fmla="*/ 5924900 h 5924900"/>
              <a:gd name="connsiteX1" fmla="*/ 57802 w 8009263"/>
              <a:gd name="connsiteY1" fmla="*/ 21693 h 5924900"/>
              <a:gd name="connsiteX2" fmla="*/ 8009263 w 8009263"/>
              <a:gd name="connsiteY2" fmla="*/ 0 h 5924900"/>
              <a:gd name="connsiteX3" fmla="*/ 3872334 w 8009263"/>
              <a:gd name="connsiteY3" fmla="*/ 5899258 h 5924900"/>
              <a:gd name="connsiteX4" fmla="*/ 60 w 8009263"/>
              <a:gd name="connsiteY4" fmla="*/ 5924900 h 5924900"/>
              <a:gd name="connsiteX0" fmla="*/ 60 w 8009263"/>
              <a:gd name="connsiteY0" fmla="*/ 5924900 h 5947607"/>
              <a:gd name="connsiteX1" fmla="*/ 57802 w 8009263"/>
              <a:gd name="connsiteY1" fmla="*/ 21693 h 5947607"/>
              <a:gd name="connsiteX2" fmla="*/ 8009263 w 8009263"/>
              <a:gd name="connsiteY2" fmla="*/ 0 h 5947607"/>
              <a:gd name="connsiteX3" fmla="*/ 3823985 w 8009263"/>
              <a:gd name="connsiteY3" fmla="*/ 5947607 h 5947607"/>
              <a:gd name="connsiteX4" fmla="*/ 60 w 8009263"/>
              <a:gd name="connsiteY4" fmla="*/ 5924900 h 5947607"/>
              <a:gd name="connsiteX0" fmla="*/ 120 w 7977090"/>
              <a:gd name="connsiteY0" fmla="*/ 5989366 h 5989366"/>
              <a:gd name="connsiteX1" fmla="*/ 25629 w 7977090"/>
              <a:gd name="connsiteY1" fmla="*/ 21693 h 5989366"/>
              <a:gd name="connsiteX2" fmla="*/ 7977090 w 7977090"/>
              <a:gd name="connsiteY2" fmla="*/ 0 h 5989366"/>
              <a:gd name="connsiteX3" fmla="*/ 3791812 w 7977090"/>
              <a:gd name="connsiteY3" fmla="*/ 5947607 h 5989366"/>
              <a:gd name="connsiteX4" fmla="*/ 120 w 7977090"/>
              <a:gd name="connsiteY4" fmla="*/ 5989366 h 5989366"/>
              <a:gd name="connsiteX0" fmla="*/ 120 w 7977090"/>
              <a:gd name="connsiteY0" fmla="*/ 5989366 h 5989366"/>
              <a:gd name="connsiteX1" fmla="*/ 25629 w 7977090"/>
              <a:gd name="connsiteY1" fmla="*/ 21693 h 5989366"/>
              <a:gd name="connsiteX2" fmla="*/ 7977090 w 7977090"/>
              <a:gd name="connsiteY2" fmla="*/ 0 h 5989366"/>
              <a:gd name="connsiteX3" fmla="*/ 3791812 w 7977090"/>
              <a:gd name="connsiteY3" fmla="*/ 5947607 h 5989366"/>
              <a:gd name="connsiteX4" fmla="*/ 120 w 7977090"/>
              <a:gd name="connsiteY4" fmla="*/ 5989366 h 5989366"/>
              <a:gd name="connsiteX0" fmla="*/ 120 w 7977090"/>
              <a:gd name="connsiteY0" fmla="*/ 5941017 h 5947607"/>
              <a:gd name="connsiteX1" fmla="*/ 25629 w 7977090"/>
              <a:gd name="connsiteY1" fmla="*/ 21693 h 5947607"/>
              <a:gd name="connsiteX2" fmla="*/ 7977090 w 7977090"/>
              <a:gd name="connsiteY2" fmla="*/ 0 h 5947607"/>
              <a:gd name="connsiteX3" fmla="*/ 3791812 w 7977090"/>
              <a:gd name="connsiteY3" fmla="*/ 5947607 h 5947607"/>
              <a:gd name="connsiteX4" fmla="*/ 120 w 7977090"/>
              <a:gd name="connsiteY4" fmla="*/ 5941017 h 5947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090" h="5947607">
                <a:moveTo>
                  <a:pt x="120" y="5941017"/>
                </a:moveTo>
                <a:cubicBezTo>
                  <a:pt x="-2121" y="3659499"/>
                  <a:pt x="27870" y="2303211"/>
                  <a:pt x="25629" y="21693"/>
                </a:cubicBezTo>
                <a:lnTo>
                  <a:pt x="7977090" y="0"/>
                </a:lnTo>
                <a:lnTo>
                  <a:pt x="3791812" y="5947607"/>
                </a:lnTo>
                <a:lnTo>
                  <a:pt x="120" y="5941017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0A39F62-CC10-4F89-ADF8-988F0E3A78ED}"/>
              </a:ext>
            </a:extLst>
          </p:cNvPr>
          <p:cNvSpPr/>
          <p:nvPr userDrawn="1"/>
        </p:nvSpPr>
        <p:spPr>
          <a:xfrm flipH="1">
            <a:off x="10270311" y="4172811"/>
            <a:ext cx="1921689" cy="2685188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B43B2F04-A419-4ED0-AAD0-8F6077BBA007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34EDE549-9259-4005-B913-39370726E0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C673B2F3-C27A-40A3-B2D8-0D900C497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0FC2B7-D9EC-4820-AC6D-AEC37022133D}"/>
              </a:ext>
            </a:extLst>
          </p:cNvPr>
          <p:cNvSpPr/>
          <p:nvPr userDrawn="1"/>
        </p:nvSpPr>
        <p:spPr>
          <a:xfrm flipH="1">
            <a:off x="-2395469" y="4287002"/>
            <a:ext cx="1440000" cy="144000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D24200C-C5B0-46AC-A448-987F7FA4426B}"/>
              </a:ext>
            </a:extLst>
          </p:cNvPr>
          <p:cNvGrpSpPr/>
          <p:nvPr userDrawn="1"/>
        </p:nvGrpSpPr>
        <p:grpSpPr>
          <a:xfrm>
            <a:off x="9743406" y="1200733"/>
            <a:ext cx="1851248" cy="1165994"/>
            <a:chOff x="6498873" y="3874085"/>
            <a:chExt cx="1851248" cy="1165994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A84D87BA-7986-4419-A690-FF2B20C2C0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4CB09ECD-F120-4458-8B49-F02D1B5E83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D4B18A31-1A18-4E6B-BBCA-9FA2F35908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D61AC8BA-2A95-40FE-8EFB-286F64D9D6A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766" y="5112546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7917C57A-BC95-42BB-811D-180AAAECBBE9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0538DDB-9435-4944-9BD8-9314E3A8CCF4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8CDE7E8-97E6-41A3-9024-1E591649239B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035D045-3022-4E0A-91E4-0837CE910B00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D297F42-E53E-4CFB-ABBB-1AF6596F3D44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62131157-2C07-48D2-850C-67CFD748CFC0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BA05F7C6-13BC-4C90-A194-E2EF5003F3E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9E267137-FE0B-4305-B655-A68F5E762645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DB363C2F-FD92-4EFE-BABF-C649F6817A2D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FE4B6A15-2202-4C22-86EA-E9198CCBF715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" name="流程圖: 卡片 1">
            <a:extLst>
              <a:ext uri="{FF2B5EF4-FFF2-40B4-BE49-F238E27FC236}">
                <a16:creationId xmlns:a16="http://schemas.microsoft.com/office/drawing/2014/main" id="{D3383D3D-9485-47D9-B260-309D35F9C03B}"/>
              </a:ext>
            </a:extLst>
          </p:cNvPr>
          <p:cNvSpPr/>
          <p:nvPr userDrawn="1"/>
        </p:nvSpPr>
        <p:spPr>
          <a:xfrm rot="10800000">
            <a:off x="-231010" y="296640"/>
            <a:ext cx="9409337" cy="2718482"/>
          </a:xfrm>
          <a:prstGeom prst="flowChartPunchedCard">
            <a:avLst/>
          </a:prstGeom>
          <a:solidFill>
            <a:srgbClr val="A4AC4D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EFCBE47-441E-4136-B41F-A7DC71D5FB63}"/>
              </a:ext>
            </a:extLst>
          </p:cNvPr>
          <p:cNvSpPr txBox="1"/>
          <p:nvPr userDrawn="1"/>
        </p:nvSpPr>
        <p:spPr>
          <a:xfrm>
            <a:off x="289833" y="990105"/>
            <a:ext cx="9522590" cy="9233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zh-TW" altLang="en-US" sz="5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工程履約管理資訊系統建置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D0A68CC-2742-41B2-A7A3-2ABA0EEC8F6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642" y="3329442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DCB96681-C118-4BE9-9DF7-2CC63ED6DB66}"/>
              </a:ext>
            </a:extLst>
          </p:cNvPr>
          <p:cNvGrpSpPr/>
          <p:nvPr userDrawn="1"/>
        </p:nvGrpSpPr>
        <p:grpSpPr>
          <a:xfrm>
            <a:off x="573596" y="3467734"/>
            <a:ext cx="10625583" cy="1449750"/>
            <a:chOff x="573596" y="3467734"/>
            <a:chExt cx="10625583" cy="1449750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31306946-978D-4787-AFAA-053D20BAA0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0671" y="4219272"/>
              <a:ext cx="2388508" cy="698212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id="{7D15DA30-92DA-4FC8-903F-327D47A8F3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596" y="3467734"/>
              <a:ext cx="3931121" cy="578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610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圖: 接點 6">
            <a:extLst>
              <a:ext uri="{FF2B5EF4-FFF2-40B4-BE49-F238E27FC236}">
                <a16:creationId xmlns:a16="http://schemas.microsoft.com/office/drawing/2014/main" id="{C294AE49-9CCB-4A30-854D-316075F97540}"/>
              </a:ext>
            </a:extLst>
          </p:cNvPr>
          <p:cNvSpPr/>
          <p:nvPr userDrawn="1"/>
        </p:nvSpPr>
        <p:spPr>
          <a:xfrm>
            <a:off x="2697332" y="91033"/>
            <a:ext cx="6675934" cy="6675934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0A39F62-CC10-4F89-ADF8-988F0E3A78ED}"/>
              </a:ext>
            </a:extLst>
          </p:cNvPr>
          <p:cNvSpPr/>
          <p:nvPr userDrawn="1"/>
        </p:nvSpPr>
        <p:spPr>
          <a:xfrm flipH="1">
            <a:off x="10270311" y="4172811"/>
            <a:ext cx="1921689" cy="2685188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B43B2F04-A419-4ED0-AAD0-8F6077BBA007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C673B2F3-C27A-40A3-B2D8-0D900C497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32" y="2024814"/>
            <a:ext cx="6675934" cy="5822548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160FC2B7-D9EC-4820-AC6D-AEC37022133D}"/>
              </a:ext>
            </a:extLst>
          </p:cNvPr>
          <p:cNvSpPr/>
          <p:nvPr userDrawn="1"/>
        </p:nvSpPr>
        <p:spPr>
          <a:xfrm flipH="1">
            <a:off x="-2395469" y="4287002"/>
            <a:ext cx="1440000" cy="1440000"/>
          </a:xfrm>
          <a:prstGeom prst="rect">
            <a:avLst/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D61AC8BA-2A95-40FE-8EFB-286F64D9D6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713" y="4225369"/>
            <a:ext cx="2700301" cy="142143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EFCBE47-441E-4136-B41F-A7DC71D5FB63}"/>
              </a:ext>
            </a:extLst>
          </p:cNvPr>
          <p:cNvSpPr txBox="1"/>
          <p:nvPr userDrawn="1"/>
        </p:nvSpPr>
        <p:spPr>
          <a:xfrm>
            <a:off x="1334704" y="1960400"/>
            <a:ext cx="9522590" cy="76944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工程履約管理資訊系統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6D0A68CC-2742-41B2-A7A3-2ABA0EEC8F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169" y="2759105"/>
            <a:ext cx="2528275" cy="290840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31306946-978D-4787-AFAA-053D20BAA01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542" y="5812531"/>
            <a:ext cx="2128915" cy="622327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7D15DA30-92DA-4FC8-903F-327D47A8F3E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738" y="1174619"/>
            <a:ext cx="3931121" cy="5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89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1728D4F3-2E37-4A66-B424-B67D00BBF10F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B3A8D97-DD51-4F10-9E83-8018E9B83011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D35A7B1-00E3-4530-9944-25E584FB6BF6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97A6A7B-8311-4987-903A-8CE2CE0FF1C5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2174DB0-7A2B-4F62-A5EB-3ADA20995AAA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832B3EAC-1689-4586-9680-CB512E4DCAA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4A078F75-9D6F-4074-9E77-5FFAD4E5DF52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444CFA0-59FB-42A9-BB2D-D7FA391CDF97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EF934B6-B00C-48E1-956B-FCFE62368BFC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EBCCA57-3087-4605-891B-DA4431F8067F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D9252DC7-8ED9-4E5A-A054-698AF45E7F35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2117E41-215F-4319-8FB3-1B25156C46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7467E2B0-9BC6-42E1-BCD0-CFC6B6DC7B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81C52E3A-AD8A-4920-83BD-E372D1460659}"/>
              </a:ext>
            </a:extLst>
          </p:cNvPr>
          <p:cNvGrpSpPr/>
          <p:nvPr userDrawn="1"/>
        </p:nvGrpSpPr>
        <p:grpSpPr>
          <a:xfrm>
            <a:off x="9412884" y="93147"/>
            <a:ext cx="2828046" cy="338554"/>
            <a:chOff x="9412884" y="-21153"/>
            <a:chExt cx="2828046" cy="338554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8F15686-080F-4354-8044-CC473739B3FF}"/>
                </a:ext>
              </a:extLst>
            </p:cNvPr>
            <p:cNvSpPr txBox="1"/>
            <p:nvPr userDrawn="1"/>
          </p:nvSpPr>
          <p:spPr>
            <a:xfrm>
              <a:off x="9412884" y="-21153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BBA73F29-241F-4DE5-8289-17C263AFB0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500936" y="282053"/>
              <a:ext cx="2413429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4A773A06-6B88-46B7-904A-215E26543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A1EA72E4-D920-49B8-8D87-4919F65CB35F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投影片編號版面配置區 5">
            <a:extLst>
              <a:ext uri="{FF2B5EF4-FFF2-40B4-BE49-F238E27FC236}">
                <a16:creationId xmlns:a16="http://schemas.microsoft.com/office/drawing/2014/main" id="{3C87778F-9C90-4129-A46A-3B3A391B7472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545DB909-5F23-4D0F-91E8-27044E584F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48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50035" y="4004749"/>
            <a:ext cx="2041965" cy="2853251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429164" y="360965"/>
            <a:ext cx="11354937" cy="5822548"/>
          </a:xfrm>
          <a:prstGeom prst="snip1Rect">
            <a:avLst>
              <a:gd name="adj" fmla="val 0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CEE06B-7EE8-4234-B9E8-51EFD415D61A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46C81F43-51BE-4193-A468-3AFF6C00E7E3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855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50035" y="4004749"/>
            <a:ext cx="2041965" cy="2853251"/>
          </a:xfrm>
          <a:prstGeom prst="rtTriangl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429164" y="360965"/>
            <a:ext cx="11354937" cy="5822548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2CEE06B-7EE8-4234-B9E8-51EFD415D61A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46C81F43-51BE-4193-A468-3AFF6C00E7E3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14165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92677794-8779-4C7C-B0DE-6B053A0CA186}"/>
              </a:ext>
            </a:extLst>
          </p:cNvPr>
          <p:cNvGrpSpPr/>
          <p:nvPr userDrawn="1"/>
        </p:nvGrpSpPr>
        <p:grpSpPr>
          <a:xfrm>
            <a:off x="0" y="-24635"/>
            <a:ext cx="12220859" cy="8125281"/>
            <a:chOff x="0" y="-24635"/>
            <a:chExt cx="12220859" cy="8125281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B80F4E42-67B0-4320-B65E-AE50173AC2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8100646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97998DED-F427-4455-A05C-E7B56412BD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6390" y="6285829"/>
              <a:ext cx="1413933" cy="413323"/>
            </a:xfrm>
            <a:prstGeom prst="rect">
              <a:avLst/>
            </a:prstGeom>
          </p:spPr>
        </p:pic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A2CEE06B-7EE8-4234-B9E8-51EFD415D61A}"/>
                </a:ext>
              </a:extLst>
            </p:cNvPr>
            <p:cNvSpPr/>
            <p:nvPr userDrawn="1"/>
          </p:nvSpPr>
          <p:spPr>
            <a:xfrm>
              <a:off x="11113370" y="6264284"/>
              <a:ext cx="931059" cy="486568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投影片編號版面配置區 5">
              <a:extLst>
                <a:ext uri="{FF2B5EF4-FFF2-40B4-BE49-F238E27FC236}">
                  <a16:creationId xmlns:a16="http://schemas.microsoft.com/office/drawing/2014/main" id="{46C81F43-51BE-4193-A468-3AFF6C00E7E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1279745" y="6336854"/>
              <a:ext cx="634620" cy="365125"/>
            </a:xfrm>
            <a:prstGeom prst="rect">
              <a:avLst/>
            </a:prstGeom>
          </p:spPr>
          <p:txBody>
            <a:bodyPr/>
            <a:lstStyle>
              <a:defPPr>
                <a:defRPr lang="zh-TW"/>
              </a:defPPr>
              <a:lvl1pPr marL="0" algn="ctr" defTabSz="914400" rtl="0" eaLnBrk="1" latinLnBrk="0" hangingPunct="1">
                <a:defRPr sz="1800" b="1" kern="1200">
                  <a:solidFill>
                    <a:schemeClr val="tx2">
                      <a:lumMod val="75000"/>
                    </a:schemeClr>
                  </a:solidFill>
                  <a:latin typeface="Arial Black" panose="020B0A04020102020204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F4685F4-BC46-4A98-BFBE-D12F8F77043A}" type="slidenum">
                <a:rPr lang="zh-TW" altLang="en-US" smtClean="0"/>
                <a:pPr/>
                <a:t>‹#›</a:t>
              </a:fld>
              <a:endParaRPr lang="zh-TW" altLang="en-US" dirty="0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0027AE0E-B02F-4682-8455-DD002D2D488D}"/>
                </a:ext>
              </a:extLst>
            </p:cNvPr>
            <p:cNvGrpSpPr/>
            <p:nvPr userDrawn="1"/>
          </p:nvGrpSpPr>
          <p:grpSpPr>
            <a:xfrm>
              <a:off x="9392813" y="-24635"/>
              <a:ext cx="2828046" cy="338554"/>
              <a:chOff x="9154688" y="-24635"/>
              <a:chExt cx="2828046" cy="338554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637A318-5BE2-4A0C-AA7A-60FD8E8BEF7C}"/>
                  </a:ext>
                </a:extLst>
              </p:cNvPr>
              <p:cNvSpPr txBox="1"/>
              <p:nvPr userDrawn="1"/>
            </p:nvSpPr>
            <p:spPr>
              <a:xfrm>
                <a:off x="9154688" y="-24635"/>
                <a:ext cx="2828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600" b="1" dirty="0">
                    <a:solidFill>
                      <a:srgbClr val="00206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工程履約管理資訊系統建置</a:t>
                </a:r>
              </a:p>
            </p:txBody>
          </p: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D9BE1FAC-67A3-4D46-802E-1D6C3B3B981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191863" y="284850"/>
                <a:ext cx="2476262" cy="1"/>
              </a:xfrm>
              <a:prstGeom prst="line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1809C49-1534-424B-A6CC-321159C1E2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559" y="6341952"/>
              <a:ext cx="2590800" cy="38100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38EA68C-C2BB-4776-9F7F-171714D7AB39}"/>
                </a:ext>
              </a:extLst>
            </p:cNvPr>
            <p:cNvSpPr/>
            <p:nvPr userDrawn="1"/>
          </p:nvSpPr>
          <p:spPr>
            <a:xfrm>
              <a:off x="0" y="0"/>
              <a:ext cx="12192000" cy="7315200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17267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平行四邊形 2">
            <a:extLst>
              <a:ext uri="{FF2B5EF4-FFF2-40B4-BE49-F238E27FC236}">
                <a16:creationId xmlns:a16="http://schemas.microsoft.com/office/drawing/2014/main" id="{91D5AE83-63CE-48B5-A42F-B1CF0405B267}"/>
              </a:ext>
            </a:extLst>
          </p:cNvPr>
          <p:cNvSpPr/>
          <p:nvPr userDrawn="1"/>
        </p:nvSpPr>
        <p:spPr>
          <a:xfrm>
            <a:off x="-6724" y="-17772"/>
            <a:ext cx="9659805" cy="6875771"/>
          </a:xfrm>
          <a:custGeom>
            <a:avLst/>
            <a:gdLst>
              <a:gd name="connsiteX0" fmla="*/ 0 w 9211235"/>
              <a:gd name="connsiteY0" fmla="*/ 6858000 h 6858000"/>
              <a:gd name="connsiteX1" fmla="*/ 1714500 w 9211235"/>
              <a:gd name="connsiteY1" fmla="*/ 0 h 6858000"/>
              <a:gd name="connsiteX2" fmla="*/ 9211235 w 9211235"/>
              <a:gd name="connsiteY2" fmla="*/ 0 h 6858000"/>
              <a:gd name="connsiteX3" fmla="*/ 7496735 w 9211235"/>
              <a:gd name="connsiteY3" fmla="*/ 6858000 h 6858000"/>
              <a:gd name="connsiteX4" fmla="*/ 0 w 9211235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13447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75034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093634 w 9217959"/>
              <a:gd name="connsiteY3" fmla="*/ 68199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5103159 w 9217959"/>
              <a:gd name="connsiteY3" fmla="*/ 6858000 h 6858000"/>
              <a:gd name="connsiteX4" fmla="*/ 6724 w 9217959"/>
              <a:gd name="connsiteY4" fmla="*/ 6858000 h 6858000"/>
              <a:gd name="connsiteX0" fmla="*/ 6724 w 9217959"/>
              <a:gd name="connsiteY0" fmla="*/ 6858000 h 6858000"/>
              <a:gd name="connsiteX1" fmla="*/ 0 w 9217959"/>
              <a:gd name="connsiteY1" fmla="*/ 3922 h 6858000"/>
              <a:gd name="connsiteX2" fmla="*/ 9217959 w 9217959"/>
              <a:gd name="connsiteY2" fmla="*/ 0 h 6858000"/>
              <a:gd name="connsiteX3" fmla="*/ 4845984 w 9217959"/>
              <a:gd name="connsiteY3" fmla="*/ 6848475 h 6858000"/>
              <a:gd name="connsiteX4" fmla="*/ 6724 w 9217959"/>
              <a:gd name="connsiteY4" fmla="*/ 6858000 h 6858000"/>
              <a:gd name="connsiteX0" fmla="*/ 6724 w 9332259"/>
              <a:gd name="connsiteY0" fmla="*/ 6854078 h 6854078"/>
              <a:gd name="connsiteX1" fmla="*/ 0 w 9332259"/>
              <a:gd name="connsiteY1" fmla="*/ 0 h 6854078"/>
              <a:gd name="connsiteX2" fmla="*/ 9332259 w 9332259"/>
              <a:gd name="connsiteY2" fmla="*/ 5603 h 6854078"/>
              <a:gd name="connsiteX3" fmla="*/ 4845984 w 9332259"/>
              <a:gd name="connsiteY3" fmla="*/ 6844553 h 6854078"/>
              <a:gd name="connsiteX4" fmla="*/ 6724 w 9332259"/>
              <a:gd name="connsiteY4" fmla="*/ 6854078 h 6854078"/>
              <a:gd name="connsiteX0" fmla="*/ 6724 w 9659805"/>
              <a:gd name="connsiteY0" fmla="*/ 6875771 h 6875771"/>
              <a:gd name="connsiteX1" fmla="*/ 0 w 9659805"/>
              <a:gd name="connsiteY1" fmla="*/ 21693 h 6875771"/>
              <a:gd name="connsiteX2" fmla="*/ 9659805 w 9659805"/>
              <a:gd name="connsiteY2" fmla="*/ 0 h 6875771"/>
              <a:gd name="connsiteX3" fmla="*/ 4845984 w 9659805"/>
              <a:gd name="connsiteY3" fmla="*/ 6866246 h 6875771"/>
              <a:gd name="connsiteX4" fmla="*/ 6724 w 9659805"/>
              <a:gd name="connsiteY4" fmla="*/ 6875771 h 687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59805" h="6875771">
                <a:moveTo>
                  <a:pt x="6724" y="6875771"/>
                </a:moveTo>
                <a:cubicBezTo>
                  <a:pt x="4483" y="4594253"/>
                  <a:pt x="2241" y="2303211"/>
                  <a:pt x="0" y="21693"/>
                </a:cubicBezTo>
                <a:lnTo>
                  <a:pt x="9659805" y="0"/>
                </a:lnTo>
                <a:lnTo>
                  <a:pt x="4845984" y="6866246"/>
                </a:lnTo>
                <a:lnTo>
                  <a:pt x="6724" y="6875771"/>
                </a:lnTo>
                <a:close/>
              </a:path>
            </a:pathLst>
          </a:custGeom>
          <a:solidFill>
            <a:srgbClr val="FFC82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直角三角形 7">
            <a:extLst>
              <a:ext uri="{FF2B5EF4-FFF2-40B4-BE49-F238E27FC236}">
                <a16:creationId xmlns:a16="http://schemas.microsoft.com/office/drawing/2014/main" id="{129AC101-C702-4CAD-8D0F-5F51CAD09064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D0E8D8B-50AB-4582-82DA-49360B3A9D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466" y="2249905"/>
            <a:ext cx="6382794" cy="5822548"/>
          </a:xfrm>
          <a:prstGeom prst="rect">
            <a:avLst/>
          </a:prstGeom>
        </p:spPr>
      </p:pic>
      <p:sp>
        <p:nvSpPr>
          <p:cNvPr id="18" name="矩形: 剪去單一角落 17">
            <a:extLst>
              <a:ext uri="{FF2B5EF4-FFF2-40B4-BE49-F238E27FC236}">
                <a16:creationId xmlns:a16="http://schemas.microsoft.com/office/drawing/2014/main" id="{5ADD64BA-5421-4E9B-9A93-97EB2E797B10}"/>
              </a:ext>
            </a:extLst>
          </p:cNvPr>
          <p:cNvSpPr/>
          <p:nvPr userDrawn="1"/>
        </p:nvSpPr>
        <p:spPr>
          <a:xfrm>
            <a:off x="-6726" y="0"/>
            <a:ext cx="12198726" cy="6882634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B85A7BCC-ACFE-4A9D-9F71-011F8FB51103}"/>
              </a:ext>
            </a:extLst>
          </p:cNvPr>
          <p:cNvSpPr/>
          <p:nvPr userDrawn="1"/>
        </p:nvSpPr>
        <p:spPr>
          <a:xfrm flipH="1">
            <a:off x="10164464" y="4054018"/>
            <a:ext cx="2041965" cy="2853251"/>
          </a:xfrm>
          <a:prstGeom prst="rtTriangle">
            <a:avLst/>
          </a:prstGeom>
          <a:solidFill>
            <a:srgbClr val="F5D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7998DED-F427-4455-A05C-E7B56412BD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0027AE0E-B02F-4682-8455-DD002D2D488D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637A318-5BE2-4A0C-AA7A-60FD8E8BEF7C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D9BE1FAC-67A3-4D46-802E-1D6C3B3B981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31809C49-1534-424B-A6CC-321159C1E2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A42BB81-D9CF-4756-B45E-08299331D4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CBABAB66-FCA0-479B-8E23-99A0AF2B57A9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投影片編號版面配置區 5">
            <a:extLst>
              <a:ext uri="{FF2B5EF4-FFF2-40B4-BE49-F238E27FC236}">
                <a16:creationId xmlns:a16="http://schemas.microsoft.com/office/drawing/2014/main" id="{C3C53CCB-49FE-47BB-9379-C78E720D13DC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863844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4C4D7AF-CE6E-4188-887F-BA57E9F03AC9}"/>
              </a:ext>
            </a:extLst>
          </p:cNvPr>
          <p:cNvSpPr/>
          <p:nvPr userDrawn="1"/>
        </p:nvSpPr>
        <p:spPr>
          <a:xfrm rot="10800000" flipH="1" flipV="1">
            <a:off x="0" y="-17773"/>
            <a:ext cx="3993776" cy="6873091"/>
          </a:xfrm>
          <a:prstGeom prst="rtTriangle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608B48-861C-4D35-99DB-CBF9AA5E9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E37BC3-DC25-4A0A-B676-81EF8113F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ABECC9A-6CE1-4078-9EE8-16767ADC07F5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  <a:solidFill>
            <a:schemeClr val="accent6">
              <a:lumMod val="20000"/>
              <a:lumOff val="80000"/>
              <a:alpha val="58000"/>
            </a:scheme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F27CCCB-A475-4BDA-9C2F-972FA2789D6C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AFEF7B-638F-4A0D-9ECD-84C6AB21C683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765E9D-47CE-4B1A-B50D-4FEDF5DBCC8D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F0E141-0401-42D8-A66C-DA5702A157C8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B56B3FC-65D6-488E-B707-8737B4025B7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E9DBD54-058C-4A41-97E8-ECBFD922805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70E9BB-94FF-4099-828E-47965D98D3FB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935BF0C-88F4-4DDD-BC0F-3C2AACFEA46E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67F3CB6-1431-4FE9-8E0F-DB0ED98B68F0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619B40-4E9F-403B-8B1D-E93592E100BB}"/>
              </a:ext>
            </a:extLst>
          </p:cNvPr>
          <p:cNvSpPr/>
          <p:nvPr userDrawn="1"/>
        </p:nvSpPr>
        <p:spPr>
          <a:xfrm>
            <a:off x="866775" y="1203600"/>
            <a:ext cx="10600152" cy="2821023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9D0C5BF-ADF7-408B-A1E4-6799C5D5E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3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8B0D5F4-ACD4-4B3A-9730-E52597CC27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24" name="群組 23">
            <a:extLst>
              <a:ext uri="{FF2B5EF4-FFF2-40B4-BE49-F238E27FC236}">
                <a16:creationId xmlns:a16="http://schemas.microsoft.com/office/drawing/2014/main" id="{592722F0-4BC6-43B3-9128-4DDEDD331480}"/>
              </a:ext>
            </a:extLst>
          </p:cNvPr>
          <p:cNvGrpSpPr/>
          <p:nvPr userDrawn="1"/>
        </p:nvGrpSpPr>
        <p:grpSpPr>
          <a:xfrm>
            <a:off x="5020393" y="4329381"/>
            <a:ext cx="1851248" cy="1165994"/>
            <a:chOff x="6498873" y="3874085"/>
            <a:chExt cx="1851248" cy="1165994"/>
          </a:xfrm>
        </p:grpSpPr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21CB0ECD-250E-434E-9600-51951E24BA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458113B9-2319-452C-A5B8-E9C50DC034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F008F6B1-FC91-4928-ABC2-ABBA9857FC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30" name="圖片 29">
            <a:extLst>
              <a:ext uri="{FF2B5EF4-FFF2-40B4-BE49-F238E27FC236}">
                <a16:creationId xmlns:a16="http://schemas.microsoft.com/office/drawing/2014/main" id="{296BE42F-A56B-41E8-8B09-DC9915CB2A9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A15AFFC-23AB-4D6B-BEE7-ADB8E2AEE09D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510E8B75-26CB-47F9-83FD-7A06E8527435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39A919-E07C-4E22-B844-F3CA9F30201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" y="163231"/>
            <a:ext cx="2590800" cy="381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1478FBEA-332E-4164-B1DC-F2CC385AD4B3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C9A1C8D-3A71-4492-8FCC-4EFFB1A55321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31C8179-ECD9-44AB-97A1-FD896979DC0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899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4C4D7AF-CE6E-4188-887F-BA57E9F03AC9}"/>
              </a:ext>
            </a:extLst>
          </p:cNvPr>
          <p:cNvSpPr/>
          <p:nvPr userDrawn="1"/>
        </p:nvSpPr>
        <p:spPr>
          <a:xfrm rot="10800000" flipH="1" flipV="1">
            <a:off x="0" y="-17773"/>
            <a:ext cx="3993776" cy="6873091"/>
          </a:xfrm>
          <a:prstGeom prst="rtTriangle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608B48-861C-4D35-99DB-CBF9AA5E9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6794" y="2249905"/>
            <a:ext cx="6382794" cy="5822548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4E37BC3-DC25-4A0A-B676-81EF8113F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1" y="2249905"/>
            <a:ext cx="6382794" cy="5822548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2ABECC9A-6CE1-4078-9EE8-16767ADC07F5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  <a:solidFill>
            <a:schemeClr val="accent6">
              <a:lumMod val="20000"/>
              <a:lumOff val="80000"/>
              <a:alpha val="58000"/>
            </a:scheme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F27CCCB-A475-4BDA-9C2F-972FA2789D6C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AAFEF7B-638F-4A0D-9ECD-84C6AB21C683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8765E9D-47CE-4B1A-B50D-4FEDF5DBCC8D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F0E141-0401-42D8-A66C-DA5702A157C8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B56B3FC-65D6-488E-B707-8737B4025B74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E9DBD54-058C-4A41-97E8-ECBFD9228054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D70E9BB-94FF-4099-828E-47965D98D3FB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935BF0C-88F4-4DDD-BC0F-3C2AACFEA46E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67F3CB6-1431-4FE9-8E0F-DB0ED98B68F0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B619B40-4E9F-403B-8B1D-E93592E100BB}"/>
              </a:ext>
            </a:extLst>
          </p:cNvPr>
          <p:cNvSpPr/>
          <p:nvPr userDrawn="1"/>
        </p:nvSpPr>
        <p:spPr>
          <a:xfrm>
            <a:off x="866775" y="1203600"/>
            <a:ext cx="10600152" cy="2821023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E9D0C5BF-ADF7-408B-A1E4-6799C5D5E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73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8B0D5F4-ACD4-4B3A-9730-E52597CC27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32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296BE42F-A56B-41E8-8B09-DC9915CB2A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A15AFFC-23AB-4D6B-BEE7-ADB8E2AEE09D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投影片編號版面配置區 5">
            <a:extLst>
              <a:ext uri="{FF2B5EF4-FFF2-40B4-BE49-F238E27FC236}">
                <a16:creationId xmlns:a16="http://schemas.microsoft.com/office/drawing/2014/main" id="{510E8B75-26CB-47F9-83FD-7A06E8527435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6D39A919-E07C-4E22-B844-F3CA9F30201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" y="163231"/>
            <a:ext cx="2590800" cy="381000"/>
          </a:xfrm>
          <a:prstGeom prst="rect">
            <a:avLst/>
          </a:prstGeom>
        </p:spPr>
      </p:pic>
      <p:grpSp>
        <p:nvGrpSpPr>
          <p:cNvPr id="36" name="群組 35">
            <a:extLst>
              <a:ext uri="{FF2B5EF4-FFF2-40B4-BE49-F238E27FC236}">
                <a16:creationId xmlns:a16="http://schemas.microsoft.com/office/drawing/2014/main" id="{1478FBEA-332E-4164-B1DC-F2CC385AD4B3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9C9A1C8D-3A71-4492-8FCC-4EFFB1A55321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A31C8179-ECD9-44AB-97A1-FD896979DC0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517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流程圖: 卡片 28">
            <a:extLst>
              <a:ext uri="{FF2B5EF4-FFF2-40B4-BE49-F238E27FC236}">
                <a16:creationId xmlns:a16="http://schemas.microsoft.com/office/drawing/2014/main" id="{14D41468-A94D-444C-A544-9C0D95591FAD}"/>
              </a:ext>
            </a:extLst>
          </p:cNvPr>
          <p:cNvSpPr/>
          <p:nvPr userDrawn="1"/>
        </p:nvSpPr>
        <p:spPr>
          <a:xfrm rot="10800000">
            <a:off x="39834" y="1200733"/>
            <a:ext cx="12152165" cy="3496688"/>
          </a:xfrm>
          <a:prstGeom prst="flowChartPunchedCard">
            <a:avLst/>
          </a:prstGeom>
          <a:solidFill>
            <a:srgbClr val="A4AC4D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24CDF243-C1A1-4DC0-809B-39238EF664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94962">
            <a:off x="7782621" y="1880431"/>
            <a:ext cx="6382794" cy="5822548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67CCD85F-CD51-4399-8CD9-773D46B19E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89" y="3361161"/>
            <a:ext cx="3129513" cy="360003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群組 29">
            <a:extLst>
              <a:ext uri="{FF2B5EF4-FFF2-40B4-BE49-F238E27FC236}">
                <a16:creationId xmlns:a16="http://schemas.microsoft.com/office/drawing/2014/main" id="{23C1FA75-23BA-4B79-BAF7-1E2DC82E7E28}"/>
              </a:ext>
            </a:extLst>
          </p:cNvPr>
          <p:cNvGrpSpPr/>
          <p:nvPr userDrawn="1"/>
        </p:nvGrpSpPr>
        <p:grpSpPr>
          <a:xfrm>
            <a:off x="4227279" y="1803273"/>
            <a:ext cx="3876633" cy="2308324"/>
            <a:chOff x="2037262" y="604715"/>
            <a:chExt cx="3876633" cy="2308324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A7C600E0-EC6B-4359-B882-F323443D2FBB}"/>
                </a:ext>
              </a:extLst>
            </p:cNvPr>
            <p:cNvSpPr txBox="1"/>
            <p:nvPr userDrawn="1"/>
          </p:nvSpPr>
          <p:spPr>
            <a:xfrm>
              <a:off x="2037262" y="604715"/>
              <a:ext cx="3876633" cy="2308324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l"/>
              <a:r>
                <a:rPr lang="zh-TW" altLang="en-US" sz="7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簡報結束</a:t>
              </a:r>
              <a:endParaRPr lang="en-US" altLang="zh-TW" sz="7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l"/>
              <a:r>
                <a:rPr lang="zh-TW" altLang="en-US" sz="7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敬請指教</a:t>
              </a: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66646FF9-F0C0-470A-A21F-9937CCFB9D79}"/>
                </a:ext>
              </a:extLst>
            </p:cNvPr>
            <p:cNvSpPr/>
            <p:nvPr userDrawn="1"/>
          </p:nvSpPr>
          <p:spPr>
            <a:xfrm>
              <a:off x="2775103" y="1476461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79D8665E-25A6-4A86-A097-D32B2C65336F}"/>
                </a:ext>
              </a:extLst>
            </p:cNvPr>
            <p:cNvSpPr/>
            <p:nvPr userDrawn="1"/>
          </p:nvSpPr>
          <p:spPr>
            <a:xfrm>
              <a:off x="3482761" y="773390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4B30263-7369-4516-8867-99B30CB1E22A}"/>
                </a:ext>
              </a:extLst>
            </p:cNvPr>
            <p:cNvSpPr/>
            <p:nvPr userDrawn="1"/>
          </p:nvSpPr>
          <p:spPr>
            <a:xfrm>
              <a:off x="4188446" y="2181642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B56AC0E4-4D4C-4A8F-B4D0-FC4F2CE9F196}"/>
                </a:ext>
              </a:extLst>
            </p:cNvPr>
            <p:cNvSpPr/>
            <p:nvPr userDrawn="1"/>
          </p:nvSpPr>
          <p:spPr>
            <a:xfrm>
              <a:off x="4706241" y="1036649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B79447F8-6EAC-4D14-81F3-38CE2F5793FE}"/>
                </a:ext>
              </a:extLst>
            </p:cNvPr>
            <p:cNvSpPr/>
            <p:nvPr userDrawn="1"/>
          </p:nvSpPr>
          <p:spPr>
            <a:xfrm>
              <a:off x="2366645" y="2571510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612CF0A4-A001-4520-A13F-D1C0845C8ADB}"/>
                </a:ext>
              </a:extLst>
            </p:cNvPr>
            <p:cNvSpPr/>
            <p:nvPr userDrawn="1"/>
          </p:nvSpPr>
          <p:spPr>
            <a:xfrm>
              <a:off x="5261629" y="2086254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3C326DC0-16D2-4675-BAA5-D2B984749A77}"/>
                </a:ext>
              </a:extLst>
            </p:cNvPr>
            <p:cNvSpPr/>
            <p:nvPr userDrawn="1"/>
          </p:nvSpPr>
          <p:spPr>
            <a:xfrm>
              <a:off x="5583359" y="1431739"/>
              <a:ext cx="144379" cy="14437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751DC80-138D-4E51-AAE6-FCB51907FAC8}"/>
              </a:ext>
            </a:extLst>
          </p:cNvPr>
          <p:cNvGrpSpPr/>
          <p:nvPr userDrawn="1"/>
        </p:nvGrpSpPr>
        <p:grpSpPr>
          <a:xfrm>
            <a:off x="7012453" y="4844534"/>
            <a:ext cx="1851248" cy="1165994"/>
            <a:chOff x="6498873" y="3874085"/>
            <a:chExt cx="1851248" cy="1165994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6C58F170-9235-452E-B660-E57A15AE43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4500" y="4459386"/>
              <a:ext cx="580693" cy="580693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D5534188-2BCF-4719-8169-8E324F9459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8873" y="4035046"/>
              <a:ext cx="580693" cy="576085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844A74E6-3E72-4A73-B6C4-68B99670AE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4820" y="3874085"/>
              <a:ext cx="585301" cy="585301"/>
            </a:xfrm>
            <a:prstGeom prst="rect">
              <a:avLst/>
            </a:prstGeom>
          </p:spPr>
        </p:pic>
      </p:grpSp>
      <p:pic>
        <p:nvPicPr>
          <p:cNvPr id="46" name="圖片 45">
            <a:extLst>
              <a:ext uri="{FF2B5EF4-FFF2-40B4-BE49-F238E27FC236}">
                <a16:creationId xmlns:a16="http://schemas.microsoft.com/office/drawing/2014/main" id="{70EE7914-8CCF-42AE-A5FC-C8E1B79977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080044">
            <a:off x="-1872226" y="-1648179"/>
            <a:ext cx="6382794" cy="5822548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5474AB3-E1D3-4DB7-99C4-1AF17C2D1BB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48" y="5190325"/>
            <a:ext cx="3315831" cy="174545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B9367D93-DDE8-445A-BD05-87F0C3BFA75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BFB3A3C0-44EA-458A-B002-07C9BF0C07CF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投影片編號版面配置區 5">
            <a:extLst>
              <a:ext uri="{FF2B5EF4-FFF2-40B4-BE49-F238E27FC236}">
                <a16:creationId xmlns:a16="http://schemas.microsoft.com/office/drawing/2014/main" id="{A1736DF7-7646-4277-938E-B875AA44F08D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743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B8D1E175-7E5E-49D2-8C8F-57953C393336}"/>
              </a:ext>
            </a:extLst>
          </p:cNvPr>
          <p:cNvGrpSpPr/>
          <p:nvPr userDrawn="1"/>
        </p:nvGrpSpPr>
        <p:grpSpPr>
          <a:xfrm>
            <a:off x="5545057" y="-17773"/>
            <a:ext cx="6890863" cy="6890863"/>
            <a:chOff x="5545057" y="-17773"/>
            <a:chExt cx="6890863" cy="689086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4B71323-241A-4DD9-A90C-44F8341B5B16}"/>
                </a:ext>
              </a:extLst>
            </p:cNvPr>
            <p:cNvSpPr/>
            <p:nvPr userDrawn="1"/>
          </p:nvSpPr>
          <p:spPr>
            <a:xfrm>
              <a:off x="10616856" y="-1"/>
              <a:ext cx="353557" cy="601052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E0770B-54C2-40F3-80E0-E88D553E765F}"/>
                </a:ext>
              </a:extLst>
            </p:cNvPr>
            <p:cNvSpPr/>
            <p:nvPr userDrawn="1"/>
          </p:nvSpPr>
          <p:spPr>
            <a:xfrm>
              <a:off x="11113370" y="-17773"/>
              <a:ext cx="353557" cy="403990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4FA5AAE-78E0-40C9-897E-5E3617225E3F}"/>
                </a:ext>
              </a:extLst>
            </p:cNvPr>
            <p:cNvSpPr/>
            <p:nvPr userDrawn="1"/>
          </p:nvSpPr>
          <p:spPr>
            <a:xfrm>
              <a:off x="11609884" y="-1"/>
              <a:ext cx="353557" cy="6873091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C03FC57-A6CB-40BC-8734-90CF4B3BD95C}"/>
                </a:ext>
              </a:extLst>
            </p:cNvPr>
            <p:cNvSpPr/>
            <p:nvPr userDrawn="1"/>
          </p:nvSpPr>
          <p:spPr>
            <a:xfrm>
              <a:off x="10125717" y="-17773"/>
              <a:ext cx="353557" cy="2102315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DFEACF88-AC18-42D0-8EC4-F7CA6876807B}"/>
                </a:ext>
              </a:extLst>
            </p:cNvPr>
            <p:cNvGrpSpPr/>
            <p:nvPr userDrawn="1"/>
          </p:nvGrpSpPr>
          <p:grpSpPr>
            <a:xfrm rot="5400000">
              <a:off x="8071627" y="-2335895"/>
              <a:ext cx="1837724" cy="6890863"/>
              <a:chOff x="10278117" y="134627"/>
              <a:chExt cx="1837724" cy="6890863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099506C-DE65-4CE9-82D2-A4CF7ECF63C0}"/>
                  </a:ext>
                </a:extLst>
              </p:cNvPr>
              <p:cNvSpPr/>
              <p:nvPr userDrawn="1"/>
            </p:nvSpPr>
            <p:spPr>
              <a:xfrm>
                <a:off x="10769256" y="152399"/>
                <a:ext cx="353557" cy="601052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E7BC5AE-C6DC-496A-9B1F-075A6925DD7E}"/>
                  </a:ext>
                </a:extLst>
              </p:cNvPr>
              <p:cNvSpPr/>
              <p:nvPr userDrawn="1"/>
            </p:nvSpPr>
            <p:spPr>
              <a:xfrm>
                <a:off x="11265770" y="134627"/>
                <a:ext cx="353557" cy="403990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AEA2862-02E0-49BB-A30E-E84EFECC52F6}"/>
                  </a:ext>
                </a:extLst>
              </p:cNvPr>
              <p:cNvSpPr/>
              <p:nvPr userDrawn="1"/>
            </p:nvSpPr>
            <p:spPr>
              <a:xfrm>
                <a:off x="11762284" y="152399"/>
                <a:ext cx="353557" cy="68730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FD45587-7FF9-4BF0-85DB-4981F1DFD48A}"/>
                  </a:ext>
                </a:extLst>
              </p:cNvPr>
              <p:cNvSpPr/>
              <p:nvPr userDrawn="1"/>
            </p:nvSpPr>
            <p:spPr>
              <a:xfrm>
                <a:off x="10278117" y="375257"/>
                <a:ext cx="353557" cy="210231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8" name="直角三角形 17">
            <a:extLst>
              <a:ext uri="{FF2B5EF4-FFF2-40B4-BE49-F238E27FC236}">
                <a16:creationId xmlns:a16="http://schemas.microsoft.com/office/drawing/2014/main" id="{83EE823F-118C-4D47-ABCC-A01F8D4F43E3}"/>
              </a:ext>
            </a:extLst>
          </p:cNvPr>
          <p:cNvSpPr/>
          <p:nvPr userDrawn="1"/>
        </p:nvSpPr>
        <p:spPr>
          <a:xfrm rot="10800000" flipH="1">
            <a:off x="-6724" y="0"/>
            <a:ext cx="3993776" cy="5580529"/>
          </a:xfrm>
          <a:prstGeom prst="rtTriangle">
            <a:avLst/>
          </a:prstGeom>
          <a:solidFill>
            <a:srgbClr val="F2B3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E500A02F-E3D6-4FE4-B54B-BD4B42F84A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6390" y="6285829"/>
            <a:ext cx="1413933" cy="413323"/>
          </a:xfrm>
          <a:prstGeom prst="rect">
            <a:avLst/>
          </a:prstGeom>
        </p:spPr>
      </p:pic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B18011D9-72BD-402F-B50E-C484B4E43D28}"/>
              </a:ext>
            </a:extLst>
          </p:cNvPr>
          <p:cNvSpPr/>
          <p:nvPr userDrawn="1"/>
        </p:nvSpPr>
        <p:spPr>
          <a:xfrm>
            <a:off x="11113370" y="6264284"/>
            <a:ext cx="931059" cy="486568"/>
          </a:xfrm>
          <a:prstGeom prst="roundRect">
            <a:avLst>
              <a:gd name="adj" fmla="val 50000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投影片編號版面配置區 5">
            <a:extLst>
              <a:ext uri="{FF2B5EF4-FFF2-40B4-BE49-F238E27FC236}">
                <a16:creationId xmlns:a16="http://schemas.microsoft.com/office/drawing/2014/main" id="{A9B62460-2E60-435E-A7D5-D9546AB0DF80}"/>
              </a:ext>
            </a:extLst>
          </p:cNvPr>
          <p:cNvSpPr txBox="1">
            <a:spLocks/>
          </p:cNvSpPr>
          <p:nvPr userDrawn="1"/>
        </p:nvSpPr>
        <p:spPr>
          <a:xfrm>
            <a:off x="11279745" y="6336854"/>
            <a:ext cx="634620" cy="365125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ctr" defTabSz="914400" rtl="0" eaLnBrk="1" latinLnBrk="0" hangingPunct="1">
              <a:defRPr sz="1800" b="1" kern="1200">
                <a:solidFill>
                  <a:schemeClr val="tx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85F4-BC46-4A98-BFBE-D12F8F77043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2C0931A-6EED-4540-8783-7B689A04A9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9" y="6341952"/>
            <a:ext cx="2590800" cy="381000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CD2C02B6-88FA-45EB-8A5F-F8AB3ADBD15B}"/>
              </a:ext>
            </a:extLst>
          </p:cNvPr>
          <p:cNvGrpSpPr/>
          <p:nvPr userDrawn="1"/>
        </p:nvGrpSpPr>
        <p:grpSpPr>
          <a:xfrm>
            <a:off x="9392813" y="-24635"/>
            <a:ext cx="2828046" cy="338554"/>
            <a:chOff x="9154688" y="-24635"/>
            <a:chExt cx="2828046" cy="338554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C4D23C2-89E8-4A21-A9A6-157E1A4A77F4}"/>
                </a:ext>
              </a:extLst>
            </p:cNvPr>
            <p:cNvSpPr txBox="1"/>
            <p:nvPr userDrawn="1"/>
          </p:nvSpPr>
          <p:spPr>
            <a:xfrm>
              <a:off x="9154688" y="-24635"/>
              <a:ext cx="28280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600" b="1" dirty="0">
                  <a:solidFill>
                    <a:srgbClr val="00206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工程履約管理資訊系統建置</a:t>
              </a:r>
            </a:p>
          </p:txBody>
        </p: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101105DC-F468-4176-8DF3-903AE87FB9E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191863" y="284850"/>
              <a:ext cx="2476262" cy="1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883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2B098E-EA06-4136-980A-D0F6D635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BA22BA-E0CB-48A5-A809-548B33BD2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81B1AEE-2E9C-4FC1-8AA6-8D0C85F5F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209FAD-EA67-4F86-ACF7-309850950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F7E539-4784-4A75-BCB8-AE680AA3B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DAD9898-2C46-4F45-B195-4F136373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50A54AC-B50C-443F-8FA8-49F7B3AF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040000-43B1-419E-81DB-5ABFBAD7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959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C9A29-6B6B-45AF-9B6B-E187D5FA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4BEBD-E502-4B36-BD2B-1D252459C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36D5FD-F0B3-4545-8CED-D461D319C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2A8E6C9-D700-4319-B47B-A5C69CA7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54DEE8-86D3-4458-A460-ECA98EC2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27792C-EB51-4367-A353-C5158C35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873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13E260-584C-4F81-9460-776151E6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EE5F782-0EF2-444F-A059-78733F2DC2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0DD44-CC6D-4FFE-8C74-E42C4A9F2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2D5BBA-011B-4C89-956E-47A16389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C26A269-A884-4F16-AEAF-524A2551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990DAD-DE57-4A40-B734-EDE7E617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275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EEC3E7-61A1-4A29-96C9-6ABA008C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445E75-F54D-4CA9-8AD9-51378ACE1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006D-EE76-4A41-9935-C7CE820F8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ECCB14-D20D-4A3A-B7D6-E1F1A1DC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DA8A3-B76C-45CC-9750-DD36484E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8565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799E7B5-C417-4907-915F-473A4079B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1BA27D-BD7E-4CE3-A910-3E4E81193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CF3DF3-BD8C-4D1A-B313-2EABDBCB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15BCB2-EB72-44D8-B52E-EDF12BDF010A}" type="datetimeFigureOut">
              <a:rPr lang="zh-TW" altLang="en-US" smtClean="0"/>
              <a:t>2022/1/18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A5EA-5538-4651-82B4-46EE76A66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029A47-17A3-4583-A568-98566201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4685F4-BC46-4A98-BFBE-D12F8F7704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8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C3C15-B907-4771-AE4D-6B6A529E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037958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6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61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62" r:id="rId5"/>
    <p:sldLayoutId id="2147483663" r:id="rId6"/>
    <p:sldLayoutId id="2147483661" r:id="rId7"/>
    <p:sldLayoutId id="2147483655" r:id="rId8"/>
    <p:sldLayoutId id="2147483660" r:id="rId9"/>
    <p:sldLayoutId id="2147483654" r:id="rId10"/>
    <p:sldLayoutId id="2147483652" r:id="rId11"/>
    <p:sldLayoutId id="2147483653" r:id="rId12"/>
    <p:sldLayoutId id="2147483656" r:id="rId13"/>
    <p:sldLayoutId id="2147483657" r:id="rId14"/>
    <p:sldLayoutId id="2147483658" r:id="rId15"/>
    <p:sldLayoutId id="2147483659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D_B4B9BE0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835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81049192-BECB-4FE9-A506-BBC8A01AD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778706"/>
              </p:ext>
            </p:extLst>
          </p:nvPr>
        </p:nvGraphicFramePr>
        <p:xfrm>
          <a:off x="2098350" y="2308139"/>
          <a:ext cx="7235300" cy="27390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86578">
                  <a:extLst>
                    <a:ext uri="{9D8B030D-6E8A-4147-A177-3AD203B41FA5}">
                      <a16:colId xmlns:a16="http://schemas.microsoft.com/office/drawing/2014/main" val="1919288585"/>
                    </a:ext>
                  </a:extLst>
                </a:gridCol>
                <a:gridCol w="3648722">
                  <a:extLst>
                    <a:ext uri="{9D8B030D-6E8A-4147-A177-3AD203B41FA5}">
                      <a16:colId xmlns:a16="http://schemas.microsoft.com/office/drawing/2014/main" val="2859121907"/>
                    </a:ext>
                  </a:extLst>
                </a:gridCol>
              </a:tblGrid>
              <a:tr h="77667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功能模組</a:t>
                      </a:r>
                    </a:p>
                  </a:txBody>
                  <a:tcPr anchor="ctr">
                    <a:solidFill>
                      <a:srgbClr val="2981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altLang="zh-TW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</a:br>
                      <a:r>
                        <a:rPr lang="zh-TW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機關</a:t>
                      </a:r>
                    </a:p>
                  </a:txBody>
                  <a:tcPr>
                    <a:solidFill>
                      <a:srgbClr val="29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90638"/>
                  </a:ext>
                </a:extLst>
              </a:tr>
              <a:tr h="6541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使用者管理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solidFill>
                            <a:srgbClr val="437593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執行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225972"/>
                  </a:ext>
                </a:extLst>
              </a:tr>
              <a:tr h="6541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群組權限管理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solidFill>
                            <a:srgbClr val="437593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執行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805535"/>
                  </a:ext>
                </a:extLst>
              </a:tr>
              <a:tr h="6541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單位管理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solidFill>
                            <a:srgbClr val="437593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執行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251780"/>
                  </a:ext>
                </a:extLst>
              </a:tr>
            </a:tbl>
          </a:graphicData>
        </a:graphic>
      </p:graphicFrame>
      <p:pic>
        <p:nvPicPr>
          <p:cNvPr id="11" name="圖形 10">
            <a:extLst>
              <a:ext uri="{FF2B5EF4-FFF2-40B4-BE49-F238E27FC236}">
                <a16:creationId xmlns:a16="http://schemas.microsoft.com/office/drawing/2014/main" id="{1A7FC6C5-ACEE-46F7-AD28-C2D4CD217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2093" y="1963510"/>
            <a:ext cx="484392" cy="49035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93D6FFF-3A91-4157-BF51-22F462B52FF3}"/>
              </a:ext>
            </a:extLst>
          </p:cNvPr>
          <p:cNvSpPr/>
          <p:nvPr/>
        </p:nvSpPr>
        <p:spPr>
          <a:xfrm>
            <a:off x="0" y="989896"/>
            <a:ext cx="6684885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根據操作角色進行系統展示，功能模組權責分工表如下：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E3CAA2-B72C-48D2-ADF5-8D2CFB42A651}"/>
              </a:ext>
            </a:extLst>
          </p:cNvPr>
          <p:cNvSpPr/>
          <p:nvPr/>
        </p:nvSpPr>
        <p:spPr>
          <a:xfrm>
            <a:off x="0" y="-1832"/>
            <a:ext cx="9121620" cy="72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600" b="1" dirty="0">
                <a:solidFill>
                  <a:srgbClr val="39759D"/>
                </a:solidFill>
                <a:cs typeface="+mn-ea"/>
                <a:sym typeface="+mn-lt"/>
              </a:rPr>
              <a:t>系統管理模組</a:t>
            </a:r>
            <a:endParaRPr lang="zh-TW" altLang="en-US" sz="36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898D3D1-AD27-47E0-AE37-B4F6EA448127}"/>
              </a:ext>
            </a:extLst>
          </p:cNvPr>
          <p:cNvCxnSpPr>
            <a:cxnSpLocks/>
          </p:cNvCxnSpPr>
          <p:nvPr/>
        </p:nvCxnSpPr>
        <p:spPr>
          <a:xfrm>
            <a:off x="123290" y="727662"/>
            <a:ext cx="273532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0252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5">
            <a:extLst>
              <a:ext uri="{FF2B5EF4-FFF2-40B4-BE49-F238E27FC236}">
                <a16:creationId xmlns:a16="http://schemas.microsoft.com/office/drawing/2014/main" id="{AC1D3C8D-AEF5-4FA0-9780-D0A45E46B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503455"/>
              </p:ext>
            </p:extLst>
          </p:nvPr>
        </p:nvGraphicFramePr>
        <p:xfrm>
          <a:off x="264160" y="1092704"/>
          <a:ext cx="11623041" cy="551645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01615">
                  <a:extLst>
                    <a:ext uri="{9D8B030D-6E8A-4147-A177-3AD203B41FA5}">
                      <a16:colId xmlns:a16="http://schemas.microsoft.com/office/drawing/2014/main" val="1919288585"/>
                    </a:ext>
                  </a:extLst>
                </a:gridCol>
                <a:gridCol w="2395955">
                  <a:extLst>
                    <a:ext uri="{9D8B030D-6E8A-4147-A177-3AD203B41FA5}">
                      <a16:colId xmlns:a16="http://schemas.microsoft.com/office/drawing/2014/main" val="1539553019"/>
                    </a:ext>
                  </a:extLst>
                </a:gridCol>
                <a:gridCol w="5825471">
                  <a:extLst>
                    <a:ext uri="{9D8B030D-6E8A-4147-A177-3AD203B41FA5}">
                      <a16:colId xmlns:a16="http://schemas.microsoft.com/office/drawing/2014/main" val="3783450002"/>
                    </a:ext>
                  </a:extLst>
                </a:gridCol>
              </a:tblGrid>
              <a:tr h="5605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功能模組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功能概覽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操作重點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90638"/>
                  </a:ext>
                </a:extLst>
              </a:tr>
              <a:tr h="116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/>
                        <a:t>單一登入方式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介面教學</a:t>
                      </a:r>
                      <a:endParaRPr lang="en-US" altLang="zh-TW" sz="18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單一登入方式：</a:t>
                      </a:r>
                      <a:r>
                        <a:rPr lang="zh-TW" altLang="en-US" sz="1500" b="1" dirty="0">
                          <a:solidFill>
                            <a:srgbClr val="FF0000"/>
                          </a:solidFill>
                        </a:rPr>
                        <a:t>員工愛上網帳號密碼</a:t>
                      </a:r>
                      <a:r>
                        <a:rPr lang="zh-TW" altLang="en-US" sz="1500" b="1" dirty="0">
                          <a:solidFill>
                            <a:schemeClr val="tx1"/>
                          </a:solidFill>
                        </a:rPr>
                        <a:t>。</a:t>
                      </a:r>
                      <a:r>
                        <a:rPr lang="en-US" altLang="zh-TW" sz="1500" b="1" dirty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zh-TW" altLang="en-US" sz="1500" b="1" dirty="0">
                          <a:solidFill>
                            <a:schemeClr val="tx1"/>
                          </a:solidFill>
                        </a:rPr>
                        <a:t>注意：</a:t>
                      </a:r>
                      <a:r>
                        <a:rPr lang="zh-TW" altLang="en-US" sz="1500" b="1" dirty="0">
                          <a:solidFill>
                            <a:srgbClr val="FF0000"/>
                          </a:solidFill>
                        </a:rPr>
                        <a:t>使用員工愛上網登入帳號後面不需要加入</a:t>
                      </a:r>
                      <a:r>
                        <a:rPr lang="en-US" altLang="zh-TW" sz="1500" b="1" dirty="0">
                          <a:solidFill>
                            <a:srgbClr val="FF0000"/>
                          </a:solidFill>
                        </a:rPr>
                        <a:t>@</a:t>
                      </a:r>
                      <a:r>
                        <a:rPr lang="zh-TW" altLang="en-US" sz="1500" b="1" dirty="0">
                          <a:solidFill>
                            <a:srgbClr val="FF0000"/>
                          </a:solidFill>
                        </a:rPr>
                        <a:t>市府信箱</a:t>
                      </a:r>
                      <a:r>
                        <a:rPr lang="zh-TW" altLang="en-US" sz="1500" b="1" dirty="0">
                          <a:solidFill>
                            <a:schemeClr val="tx1"/>
                          </a:solidFill>
                        </a:rPr>
                        <a:t>。</a:t>
                      </a:r>
                      <a:endParaRPr lang="zh-TW" altLang="en-US" sz="1500" b="1" dirty="0">
                        <a:solidFill>
                          <a:schemeClr val="tx1"/>
                        </a:solidFill>
                        <a:cs typeface="+mn-ea"/>
                        <a:sym typeface="+mn-lt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從單一登入首頁找到：</a:t>
                      </a:r>
                      <a:r>
                        <a:rPr lang="zh-TW" altLang="en-US" sz="1500" b="1" dirty="0">
                          <a:solidFill>
                            <a:srgbClr val="FF0000"/>
                          </a:solidFill>
                          <a:cs typeface="+mn-ea"/>
                          <a:sym typeface="+mn-lt"/>
                        </a:rPr>
                        <a:t>工程履約管理系統</a:t>
                      </a:r>
                      <a:endParaRPr lang="en-US" altLang="zh-TW" sz="1500" b="1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34952"/>
                  </a:ext>
                </a:extLst>
              </a:tr>
              <a:tr h="1083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/>
                        <a:t>使用者管理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新增使用者</a:t>
                      </a:r>
                      <a:endParaRPr lang="en-US" altLang="zh-TW" sz="18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編輯個人權限</a:t>
                      </a:r>
                      <a:endParaRPr lang="en-US" altLang="zh-TW" sz="18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500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需先建立完</a:t>
                      </a:r>
                      <a:r>
                        <a:rPr lang="zh-TW" altLang="en-US" sz="15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群組權限管理</a:t>
                      </a:r>
                      <a:r>
                        <a:rPr lang="zh-TW" altLang="en-US" sz="1500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才可新增</a:t>
                      </a:r>
                      <a:endParaRPr lang="en-US" altLang="zh-TW" sz="15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500" b="1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新增使用者</a:t>
                      </a: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或</a:t>
                      </a:r>
                      <a:r>
                        <a:rPr lang="zh-TW" altLang="en-US" sz="1500" b="1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搜尋名稱</a:t>
                      </a: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後可開啟編輯</a:t>
                      </a:r>
                      <a:endParaRPr lang="en-US" altLang="zh-TW" sz="15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建立密碼時：</a:t>
                      </a:r>
                      <a:r>
                        <a:rPr lang="zh-TW" altLang="en-US" sz="1500" b="1" i="0" dirty="0">
                          <a:solidFill>
                            <a:srgbClr val="FF0000"/>
                          </a:solidFill>
                          <a:effectLst/>
                          <a:latin typeface="Noto Sans TC"/>
                        </a:rPr>
                        <a:t>長度至少為</a:t>
                      </a:r>
                      <a:r>
                        <a:rPr lang="en-US" altLang="zh-TW" sz="1500" b="1" i="0" dirty="0">
                          <a:solidFill>
                            <a:srgbClr val="FF0000"/>
                          </a:solidFill>
                          <a:effectLst/>
                          <a:latin typeface="Noto Sans TC"/>
                        </a:rPr>
                        <a:t>12</a:t>
                      </a:r>
                      <a:r>
                        <a:rPr lang="zh-TW" altLang="en-US" sz="1500" b="1" i="0" dirty="0">
                          <a:solidFill>
                            <a:srgbClr val="FF0000"/>
                          </a:solidFill>
                          <a:effectLst/>
                          <a:latin typeface="Noto Sans TC"/>
                        </a:rPr>
                        <a:t>個字元，並須包含一個大寫英文字母、一個小寫英文字母、一個數字及一個特殊符號</a:t>
                      </a:r>
                      <a:r>
                        <a:rPr lang="zh-TW" altLang="en-US" sz="1500" b="1" i="0" dirty="0">
                          <a:effectLst/>
                          <a:latin typeface="Noto Sans TC"/>
                        </a:rPr>
                        <a:t>。範例</a:t>
                      </a:r>
                      <a:r>
                        <a:rPr lang="en-US" altLang="zh-TW" sz="1500" b="1" i="0" dirty="0">
                          <a:effectLst/>
                          <a:latin typeface="Noto Sans TC"/>
                        </a:rPr>
                        <a:t>:</a:t>
                      </a:r>
                      <a:r>
                        <a:rPr lang="en-US" altLang="zh-TW" sz="1500" b="1" i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Nabcde01Nabcde01@</a:t>
                      </a: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500" b="1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使用者權限會帶入群組權限所管理內設定的權限</a:t>
                      </a:r>
                      <a:endParaRPr lang="en-US" altLang="zh-TW" sz="1500" b="1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472093"/>
                  </a:ext>
                </a:extLst>
              </a:tr>
              <a:tr h="116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/>
                        <a:t>群組權限管理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編輯群組權限</a:t>
                      </a:r>
                      <a:endParaRPr lang="en-US" altLang="zh-TW" sz="18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endParaRPr lang="en-US" altLang="zh-TW" sz="18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endParaRPr lang="en-US" altLang="zh-TW" sz="15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需先建立完</a:t>
                      </a:r>
                      <a:r>
                        <a:rPr lang="zh-TW" altLang="en-US" sz="1500" b="1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單位管理</a:t>
                      </a: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才可新增</a:t>
                      </a:r>
                      <a:endParaRPr lang="en-US" altLang="zh-TW" sz="15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建立群組名稱，設定群組內權限</a:t>
                      </a:r>
                      <a:endParaRPr lang="en-US" altLang="zh-TW" sz="15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可建立機關或廠商群組</a:t>
                      </a:r>
                      <a:endParaRPr lang="en-US" altLang="zh-TW" sz="15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225972"/>
                  </a:ext>
                </a:extLst>
              </a:tr>
              <a:tr h="116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3000" b="1" dirty="0"/>
                        <a:t>單位管理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8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新增機關與廠商</a:t>
                      </a:r>
                      <a:endParaRPr lang="en-US" altLang="zh-TW" sz="18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新增機關或廠商單位，</a:t>
                      </a:r>
                      <a:endParaRPr lang="en-US" altLang="zh-TW" sz="15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500" b="1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機關單位可分四個級別</a:t>
                      </a:r>
                      <a:endParaRPr lang="en-US" altLang="zh-TW" sz="15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  <a:p>
                      <a:pPr marL="457200" indent="-457200" algn="l">
                        <a:buFont typeface="+mj-lt"/>
                        <a:buAutoNum type="arabicPeriod"/>
                      </a:pPr>
                      <a:r>
                        <a:rPr lang="zh-TW" altLang="en-US" sz="1500" b="1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ea"/>
                          <a:sym typeface="+mn-lt"/>
                        </a:rPr>
                        <a:t>新增完畢會帶入群組權限管理</a:t>
                      </a:r>
                      <a:endParaRPr lang="en-US" altLang="zh-TW" sz="1500" b="1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ea"/>
                        <a:sym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943663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748E915-1F7F-4529-A100-6264FC10558F}"/>
              </a:ext>
            </a:extLst>
          </p:cNvPr>
          <p:cNvSpPr/>
          <p:nvPr/>
        </p:nvSpPr>
        <p:spPr>
          <a:xfrm>
            <a:off x="0" y="-126746"/>
            <a:ext cx="9121620" cy="72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系統管理模組功能概覽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B49E1B45-4DA7-4932-A7F2-36D5E77AD37C}"/>
              </a:ext>
            </a:extLst>
          </p:cNvPr>
          <p:cNvCxnSpPr>
            <a:cxnSpLocks/>
          </p:cNvCxnSpPr>
          <p:nvPr/>
        </p:nvCxnSpPr>
        <p:spPr>
          <a:xfrm>
            <a:off x="123290" y="501419"/>
            <a:ext cx="2753474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E98DB8A-9FEF-449F-A62F-739B429659F9}"/>
              </a:ext>
            </a:extLst>
          </p:cNvPr>
          <p:cNvSpPr/>
          <p:nvPr/>
        </p:nvSpPr>
        <p:spPr>
          <a:xfrm>
            <a:off x="0" y="591489"/>
            <a:ext cx="3464560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根據功能模組所含功能如下：</a:t>
            </a:r>
          </a:p>
        </p:txBody>
      </p:sp>
      <p:sp>
        <p:nvSpPr>
          <p:cNvPr id="6" name="文本框 16">
            <a:extLst>
              <a:ext uri="{FF2B5EF4-FFF2-40B4-BE49-F238E27FC236}">
                <a16:creationId xmlns:a16="http://schemas.microsoft.com/office/drawing/2014/main" id="{C149B792-D9EC-4F1E-83CB-486669305454}"/>
              </a:ext>
            </a:extLst>
          </p:cNvPr>
          <p:cNvSpPr txBox="1"/>
          <p:nvPr/>
        </p:nvSpPr>
        <p:spPr>
          <a:xfrm flipH="1">
            <a:off x="9121620" y="628722"/>
            <a:ext cx="3070380" cy="369332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lIns="0" rtlCol="0" anchor="ctr">
            <a:spAutoFit/>
          </a:bodyPr>
          <a:lstStyle/>
          <a:p>
            <a:pPr algn="ctr"/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功能模組權責分工表</a:t>
            </a:r>
          </a:p>
        </p:txBody>
      </p:sp>
    </p:spTree>
    <p:extLst>
      <p:ext uri="{BB962C8B-B14F-4D97-AF65-F5344CB8AC3E}">
        <p14:creationId xmlns:p14="http://schemas.microsoft.com/office/powerpoint/2010/main" val="2797088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520C00C-01CE-4655-9312-AD0E6B9A7DED}"/>
              </a:ext>
            </a:extLst>
          </p:cNvPr>
          <p:cNvGrpSpPr/>
          <p:nvPr/>
        </p:nvGrpSpPr>
        <p:grpSpPr>
          <a:xfrm>
            <a:off x="1347668" y="2039589"/>
            <a:ext cx="12482441" cy="1107996"/>
            <a:chOff x="2825712" y="1467601"/>
            <a:chExt cx="7840000" cy="110799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6033369C-8ACD-4F00-880A-AAF0AFAD759D}"/>
                </a:ext>
              </a:extLst>
            </p:cNvPr>
            <p:cNvSpPr txBox="1"/>
            <p:nvPr/>
          </p:nvSpPr>
          <p:spPr>
            <a:xfrm>
              <a:off x="2825712" y="1513767"/>
              <a:ext cx="97321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6000" b="1" dirty="0">
                <a:effectLst>
                  <a:outerShdw dist="38100" dir="120000" sx="108000" sy="108000" algn="tl" rotWithShape="0">
                    <a:srgbClr val="FF6F3C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2250469-7D63-474A-B25E-529B67A3AA3D}"/>
                </a:ext>
              </a:extLst>
            </p:cNvPr>
            <p:cNvSpPr txBox="1"/>
            <p:nvPr/>
          </p:nvSpPr>
          <p:spPr>
            <a:xfrm>
              <a:off x="3894650" y="1467601"/>
              <a:ext cx="677106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6600" b="1" spc="600" dirty="0">
                  <a:cs typeface="+mn-ea"/>
                  <a:sym typeface="+mn-lt"/>
                </a:rPr>
                <a:t>單一登入方式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263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93D6FFF-3A91-4157-BF51-22F462B52FF3}"/>
              </a:ext>
            </a:extLst>
          </p:cNvPr>
          <p:cNvSpPr/>
          <p:nvPr/>
        </p:nvSpPr>
        <p:spPr>
          <a:xfrm>
            <a:off x="0" y="989896"/>
            <a:ext cx="11812772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單一登入方式：</a:t>
            </a:r>
            <a:r>
              <a:rPr lang="zh-TW" altLang="en-US" sz="2000" b="1" dirty="0">
                <a:solidFill>
                  <a:srgbClr val="FF0000"/>
                </a:solidFill>
              </a:rPr>
              <a:t>員工愛上網帳號密碼</a:t>
            </a:r>
            <a:r>
              <a:rPr lang="zh-TW" altLang="en-US" sz="2000" b="1" dirty="0">
                <a:solidFill>
                  <a:schemeClr val="tx1"/>
                </a:solidFill>
              </a:rPr>
              <a:t>。</a:t>
            </a:r>
            <a:r>
              <a:rPr lang="en-US" altLang="zh-TW" sz="2000" b="1" dirty="0">
                <a:solidFill>
                  <a:srgbClr val="FF0000"/>
                </a:solidFill>
              </a:rPr>
              <a:t>※</a:t>
            </a:r>
            <a:r>
              <a:rPr lang="zh-TW" altLang="en-US" sz="2000" b="1" dirty="0">
                <a:solidFill>
                  <a:schemeClr val="tx1"/>
                </a:solidFill>
              </a:rPr>
              <a:t>注意：</a:t>
            </a:r>
            <a:r>
              <a:rPr lang="zh-TW" altLang="en-US" sz="2000" b="1" dirty="0">
                <a:solidFill>
                  <a:srgbClr val="FF0000"/>
                </a:solidFill>
              </a:rPr>
              <a:t>使用員工愛上網登入帳號後面不需要加入</a:t>
            </a:r>
            <a:r>
              <a:rPr lang="en-US" altLang="zh-TW" sz="2000" b="1" dirty="0">
                <a:solidFill>
                  <a:srgbClr val="FF0000"/>
                </a:solidFill>
              </a:rPr>
              <a:t>@</a:t>
            </a:r>
            <a:r>
              <a:rPr lang="zh-TW" altLang="en-US" sz="2000" b="1" dirty="0">
                <a:solidFill>
                  <a:srgbClr val="FF0000"/>
                </a:solidFill>
              </a:rPr>
              <a:t>市府信箱</a:t>
            </a:r>
            <a:r>
              <a:rPr lang="zh-TW" altLang="en-US" sz="2000" b="1" dirty="0">
                <a:solidFill>
                  <a:schemeClr val="tx1"/>
                </a:solidFill>
              </a:rPr>
              <a:t>。</a:t>
            </a:r>
            <a:endParaRPr lang="zh-TW" altLang="en-US" sz="20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E3CAA2-B72C-48D2-ADF5-8D2CFB42A651}"/>
              </a:ext>
            </a:extLst>
          </p:cNvPr>
          <p:cNvSpPr/>
          <p:nvPr/>
        </p:nvSpPr>
        <p:spPr>
          <a:xfrm>
            <a:off x="0" y="-1832"/>
            <a:ext cx="9121620" cy="72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600" b="1" dirty="0">
                <a:solidFill>
                  <a:srgbClr val="39759D"/>
                </a:solidFill>
                <a:cs typeface="+mn-ea"/>
                <a:sym typeface="+mn-lt"/>
              </a:rPr>
              <a:t>單一登入系統網</a:t>
            </a:r>
            <a:endParaRPr lang="zh-TW" altLang="en-US" sz="36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898D3D1-AD27-47E0-AE37-B4F6EA448127}"/>
              </a:ext>
            </a:extLst>
          </p:cNvPr>
          <p:cNvCxnSpPr>
            <a:cxnSpLocks/>
          </p:cNvCxnSpPr>
          <p:nvPr/>
        </p:nvCxnSpPr>
        <p:spPr>
          <a:xfrm>
            <a:off x="191023" y="727662"/>
            <a:ext cx="3037599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EA9F88A4-ECF5-4C34-8904-29C06A4E2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33" y="1522448"/>
            <a:ext cx="10092867" cy="460789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E83616D-CFD0-4D65-85CE-1E16008970B2}"/>
              </a:ext>
            </a:extLst>
          </p:cNvPr>
          <p:cNvSpPr/>
          <p:nvPr/>
        </p:nvSpPr>
        <p:spPr>
          <a:xfrm>
            <a:off x="8480808" y="3044650"/>
            <a:ext cx="1718269" cy="28015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員工愛上網帳號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743502-6A85-4D4C-8850-BFA7C6312B8B}"/>
              </a:ext>
            </a:extLst>
          </p:cNvPr>
          <p:cNvSpPr/>
          <p:nvPr/>
        </p:nvSpPr>
        <p:spPr>
          <a:xfrm>
            <a:off x="8508669" y="3733084"/>
            <a:ext cx="1690408" cy="28015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TPEAD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密碼</a:t>
            </a:r>
          </a:p>
        </p:txBody>
      </p:sp>
    </p:spTree>
    <p:extLst>
      <p:ext uri="{BB962C8B-B14F-4D97-AF65-F5344CB8AC3E}">
        <p14:creationId xmlns:p14="http://schemas.microsoft.com/office/powerpoint/2010/main" val="30320716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A74377-8087-4DA1-A4B3-E2F3E626C649}"/>
              </a:ext>
            </a:extLst>
          </p:cNvPr>
          <p:cNvSpPr/>
          <p:nvPr/>
        </p:nvSpPr>
        <p:spPr>
          <a:xfrm>
            <a:off x="0" y="989896"/>
            <a:ext cx="11812772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第一次登入：選第一級、第二級 、第三級、第四級、職稱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(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用範例：股、分隊、中心等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)</a:t>
            </a:r>
            <a:endParaRPr lang="zh-TW" altLang="en-US" sz="20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AEB263-5D39-4605-8437-EE2431C76727}"/>
              </a:ext>
            </a:extLst>
          </p:cNvPr>
          <p:cNvSpPr/>
          <p:nvPr/>
        </p:nvSpPr>
        <p:spPr>
          <a:xfrm>
            <a:off x="0" y="1598658"/>
            <a:ext cx="11812772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第二次登入：就無需設置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6FAEF8-A769-4E73-B027-A624A2BD4192}"/>
              </a:ext>
            </a:extLst>
          </p:cNvPr>
          <p:cNvSpPr/>
          <p:nvPr/>
        </p:nvSpPr>
        <p:spPr>
          <a:xfrm>
            <a:off x="0" y="2343683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缺每個功能頁面的總覽</a:t>
            </a:r>
          </a:p>
        </p:txBody>
      </p:sp>
    </p:spTree>
    <p:extLst>
      <p:ext uri="{BB962C8B-B14F-4D97-AF65-F5344CB8AC3E}">
        <p14:creationId xmlns:p14="http://schemas.microsoft.com/office/powerpoint/2010/main" val="3495884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93D6FFF-3A91-4157-BF51-22F462B52FF3}"/>
              </a:ext>
            </a:extLst>
          </p:cNvPr>
          <p:cNvSpPr/>
          <p:nvPr/>
        </p:nvSpPr>
        <p:spPr>
          <a:xfrm>
            <a:off x="0" y="989896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從「單一登入系統網」首頁找到：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工程履約管理系統（正式機）</a:t>
            </a:r>
            <a:endParaRPr lang="zh-TW" altLang="en-US" sz="20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E3CAA2-B72C-48D2-ADF5-8D2CFB42A651}"/>
              </a:ext>
            </a:extLst>
          </p:cNvPr>
          <p:cNvSpPr/>
          <p:nvPr/>
        </p:nvSpPr>
        <p:spPr>
          <a:xfrm>
            <a:off x="0" y="-1832"/>
            <a:ext cx="9121620" cy="72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600" b="1" dirty="0">
                <a:solidFill>
                  <a:srgbClr val="39759D"/>
                </a:solidFill>
                <a:cs typeface="+mn-ea"/>
                <a:sym typeface="+mn-lt"/>
              </a:rPr>
              <a:t>單一登入系統主畫面</a:t>
            </a:r>
            <a:endParaRPr lang="zh-TW" altLang="en-US" sz="36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898D3D1-AD27-47E0-AE37-B4F6EA448127}"/>
              </a:ext>
            </a:extLst>
          </p:cNvPr>
          <p:cNvCxnSpPr>
            <a:cxnSpLocks/>
          </p:cNvCxnSpPr>
          <p:nvPr/>
        </p:nvCxnSpPr>
        <p:spPr>
          <a:xfrm>
            <a:off x="123290" y="727662"/>
            <a:ext cx="4023408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FFDA8486-AEA7-4E8A-89AF-C61BB124D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11" y="1695927"/>
            <a:ext cx="10199023" cy="462155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D019CAD-0990-4C0C-BCC9-8FDF9FD2550C}"/>
              </a:ext>
            </a:extLst>
          </p:cNvPr>
          <p:cNvSpPr/>
          <p:nvPr/>
        </p:nvSpPr>
        <p:spPr>
          <a:xfrm flipV="1">
            <a:off x="7910623" y="4006705"/>
            <a:ext cx="2328530" cy="2107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4026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B4C5F4A-8F30-445E-968A-27118644E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27" y="1382232"/>
            <a:ext cx="11757145" cy="387973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BE3CAA2-B72C-48D2-ADF5-8D2CFB42A651}"/>
              </a:ext>
            </a:extLst>
          </p:cNvPr>
          <p:cNvSpPr/>
          <p:nvPr/>
        </p:nvSpPr>
        <p:spPr>
          <a:xfrm>
            <a:off x="0" y="-1832"/>
            <a:ext cx="9121620" cy="72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600" b="1" dirty="0">
                <a:solidFill>
                  <a:srgbClr val="39759D"/>
                </a:solidFill>
                <a:cs typeface="+mn-ea"/>
                <a:sym typeface="+mn-lt"/>
              </a:rPr>
              <a:t>工程履約管理系統主畫面</a:t>
            </a:r>
            <a:endParaRPr lang="zh-TW" altLang="en-US" sz="36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898D3D1-AD27-47E0-AE37-B4F6EA448127}"/>
              </a:ext>
            </a:extLst>
          </p:cNvPr>
          <p:cNvCxnSpPr>
            <a:cxnSpLocks/>
          </p:cNvCxnSpPr>
          <p:nvPr/>
        </p:nvCxnSpPr>
        <p:spPr>
          <a:xfrm>
            <a:off x="123290" y="727662"/>
            <a:ext cx="5071708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29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520C00C-01CE-4655-9312-AD0E6B9A7DED}"/>
              </a:ext>
            </a:extLst>
          </p:cNvPr>
          <p:cNvGrpSpPr/>
          <p:nvPr/>
        </p:nvGrpSpPr>
        <p:grpSpPr>
          <a:xfrm>
            <a:off x="784207" y="2039589"/>
            <a:ext cx="12482443" cy="1107996"/>
            <a:chOff x="2825712" y="1467601"/>
            <a:chExt cx="7840001" cy="110799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6033369C-8ACD-4F00-880A-AAF0AFAD759D}"/>
                </a:ext>
              </a:extLst>
            </p:cNvPr>
            <p:cNvSpPr txBox="1"/>
            <p:nvPr/>
          </p:nvSpPr>
          <p:spPr>
            <a:xfrm>
              <a:off x="2825712" y="1513767"/>
              <a:ext cx="97321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6000" b="1" dirty="0">
                <a:effectLst>
                  <a:outerShdw dist="38100" dir="120000" sx="108000" sy="108000" algn="tl" rotWithShape="0">
                    <a:srgbClr val="FF6F3C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2250469-7D63-474A-B25E-529B67A3AA3D}"/>
                </a:ext>
              </a:extLst>
            </p:cNvPr>
            <p:cNvSpPr txBox="1"/>
            <p:nvPr/>
          </p:nvSpPr>
          <p:spPr>
            <a:xfrm>
              <a:off x="3298779" y="1467601"/>
              <a:ext cx="736693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6600" b="1" spc="600" dirty="0">
                  <a:cs typeface="+mn-ea"/>
                  <a:sym typeface="+mn-lt"/>
                </a:rPr>
                <a:t>系統管理功能</a:t>
              </a:r>
              <a:r>
                <a:rPr lang="en-US" altLang="zh-TW" sz="6600" b="1" spc="600" dirty="0">
                  <a:cs typeface="+mn-ea"/>
                  <a:sym typeface="+mn-lt"/>
                </a:rPr>
                <a:t>-</a:t>
              </a:r>
              <a:r>
                <a:rPr lang="zh-TW" altLang="en-US" sz="6600" b="1" spc="600" dirty="0">
                  <a:cs typeface="+mn-ea"/>
                  <a:sym typeface="+mn-lt"/>
                </a:rPr>
                <a:t>操作手冊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914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81049192-BECB-4FE9-A506-BBC8A01AD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14120"/>
              </p:ext>
            </p:extLst>
          </p:nvPr>
        </p:nvGraphicFramePr>
        <p:xfrm>
          <a:off x="2389752" y="2059455"/>
          <a:ext cx="7235300" cy="27390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86578">
                  <a:extLst>
                    <a:ext uri="{9D8B030D-6E8A-4147-A177-3AD203B41FA5}">
                      <a16:colId xmlns:a16="http://schemas.microsoft.com/office/drawing/2014/main" val="1919288585"/>
                    </a:ext>
                  </a:extLst>
                </a:gridCol>
                <a:gridCol w="3648722">
                  <a:extLst>
                    <a:ext uri="{9D8B030D-6E8A-4147-A177-3AD203B41FA5}">
                      <a16:colId xmlns:a16="http://schemas.microsoft.com/office/drawing/2014/main" val="2859121907"/>
                    </a:ext>
                  </a:extLst>
                </a:gridCol>
              </a:tblGrid>
              <a:tr h="77667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功能模組</a:t>
                      </a:r>
                    </a:p>
                  </a:txBody>
                  <a:tcPr anchor="ctr">
                    <a:solidFill>
                      <a:srgbClr val="2981B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altLang="zh-TW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</a:br>
                      <a:r>
                        <a:rPr lang="zh-TW" altLang="en-US" sz="20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機關</a:t>
                      </a:r>
                    </a:p>
                  </a:txBody>
                  <a:tcPr>
                    <a:solidFill>
                      <a:srgbClr val="29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90638"/>
                  </a:ext>
                </a:extLst>
              </a:tr>
              <a:tr h="6541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使用者管理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solidFill>
                            <a:srgbClr val="437593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辦理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2225972"/>
                  </a:ext>
                </a:extLst>
              </a:tr>
              <a:tr h="6541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群組權限管理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solidFill>
                            <a:srgbClr val="437593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辦理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805535"/>
                  </a:ext>
                </a:extLst>
              </a:tr>
              <a:tr h="6541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/>
                        <a:t>單位管理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1" dirty="0">
                          <a:solidFill>
                            <a:srgbClr val="437593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辦理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251780"/>
                  </a:ext>
                </a:extLst>
              </a:tr>
            </a:tbl>
          </a:graphicData>
        </a:graphic>
      </p:graphicFrame>
      <p:pic>
        <p:nvPicPr>
          <p:cNvPr id="11" name="圖形 10">
            <a:extLst>
              <a:ext uri="{FF2B5EF4-FFF2-40B4-BE49-F238E27FC236}">
                <a16:creationId xmlns:a16="http://schemas.microsoft.com/office/drawing/2014/main" id="{1A7FC6C5-ACEE-46F7-AD28-C2D4CD217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3495" y="1805398"/>
            <a:ext cx="484392" cy="49035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93D6FFF-3A91-4157-BF51-22F462B52FF3}"/>
              </a:ext>
            </a:extLst>
          </p:cNvPr>
          <p:cNvSpPr/>
          <p:nvPr/>
        </p:nvSpPr>
        <p:spPr>
          <a:xfrm>
            <a:off x="0" y="989896"/>
            <a:ext cx="6684885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根據操作角色進行系統展示，功能模組權責分工表如下：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E3CAA2-B72C-48D2-ADF5-8D2CFB42A651}"/>
              </a:ext>
            </a:extLst>
          </p:cNvPr>
          <p:cNvSpPr/>
          <p:nvPr/>
        </p:nvSpPr>
        <p:spPr>
          <a:xfrm>
            <a:off x="0" y="-1832"/>
            <a:ext cx="9121620" cy="72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600" b="1" dirty="0">
                <a:solidFill>
                  <a:srgbClr val="39759D"/>
                </a:solidFill>
                <a:cs typeface="+mn-ea"/>
                <a:sym typeface="+mn-lt"/>
              </a:rPr>
              <a:t>系統管理模組</a:t>
            </a:r>
            <a:endParaRPr lang="zh-TW" altLang="en-US" sz="36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898D3D1-AD27-47E0-AE37-B4F6EA448127}"/>
              </a:ext>
            </a:extLst>
          </p:cNvPr>
          <p:cNvCxnSpPr>
            <a:cxnSpLocks/>
          </p:cNvCxnSpPr>
          <p:nvPr/>
        </p:nvCxnSpPr>
        <p:spPr>
          <a:xfrm>
            <a:off x="123290" y="727662"/>
            <a:ext cx="273532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54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圖片 31">
            <a:extLst>
              <a:ext uri="{FF2B5EF4-FFF2-40B4-BE49-F238E27FC236}">
                <a16:creationId xmlns:a16="http://schemas.microsoft.com/office/drawing/2014/main" id="{6160F5C1-B251-46A8-9E70-A217BDB81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902" y="1663774"/>
            <a:ext cx="1716710" cy="353045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BE3CAA2-B72C-48D2-ADF5-8D2CFB42A651}"/>
              </a:ext>
            </a:extLst>
          </p:cNvPr>
          <p:cNvSpPr/>
          <p:nvPr/>
        </p:nvSpPr>
        <p:spPr>
          <a:xfrm>
            <a:off x="0" y="-1832"/>
            <a:ext cx="9121620" cy="7294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系統管理模組流程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898D3D1-AD27-47E0-AE37-B4F6EA448127}"/>
              </a:ext>
            </a:extLst>
          </p:cNvPr>
          <p:cNvCxnSpPr>
            <a:cxnSpLocks/>
          </p:cNvCxnSpPr>
          <p:nvPr/>
        </p:nvCxnSpPr>
        <p:spPr>
          <a:xfrm>
            <a:off x="123290" y="727662"/>
            <a:ext cx="3041941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D5B06C68-8B5C-4187-AEDF-73CF33921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363" y="1673059"/>
            <a:ext cx="3272076" cy="250535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264C6B9-80DC-43F0-9B73-6BA44CAB5AF2}"/>
              </a:ext>
            </a:extLst>
          </p:cNvPr>
          <p:cNvSpPr txBox="1"/>
          <p:nvPr/>
        </p:nvSpPr>
        <p:spPr>
          <a:xfrm>
            <a:off x="5762848" y="1658281"/>
            <a:ext cx="2978279" cy="1464231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新增順序為：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solidFill>
                  <a:srgbClr val="FF0000"/>
                </a:solidFill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單位管理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solidFill>
                  <a:srgbClr val="FF0000"/>
                </a:solidFill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群組權限管理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solidFill>
                  <a:srgbClr val="FF0000"/>
                </a:solidFill>
                <a:cs typeface="+mn-ea"/>
                <a:sym typeface="+mn-lt"/>
              </a:rPr>
              <a:t>3.</a:t>
            </a:r>
            <a:r>
              <a:rPr lang="zh-TW" altLang="en-US" sz="2000" b="1" dirty="0">
                <a:cs typeface="+mn-ea"/>
                <a:sym typeface="+mn-lt"/>
              </a:rPr>
              <a:t>使用者管理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35A489-EE7C-4901-87FB-4632F1CCEAFB}"/>
              </a:ext>
            </a:extLst>
          </p:cNvPr>
          <p:cNvSpPr/>
          <p:nvPr/>
        </p:nvSpPr>
        <p:spPr>
          <a:xfrm flipV="1">
            <a:off x="2490773" y="2729163"/>
            <a:ext cx="1742570" cy="461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D323AC-2575-4B66-8F92-32857C69F722}"/>
              </a:ext>
            </a:extLst>
          </p:cNvPr>
          <p:cNvSpPr/>
          <p:nvPr/>
        </p:nvSpPr>
        <p:spPr>
          <a:xfrm flipV="1">
            <a:off x="2490773" y="2198513"/>
            <a:ext cx="1742570" cy="461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373212-D9A5-4B28-9238-AAF8D1FD3A93}"/>
              </a:ext>
            </a:extLst>
          </p:cNvPr>
          <p:cNvSpPr/>
          <p:nvPr/>
        </p:nvSpPr>
        <p:spPr>
          <a:xfrm flipV="1">
            <a:off x="2490773" y="1673059"/>
            <a:ext cx="1742570" cy="461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D8E0E8AD-A738-4217-805D-3532E766B970}"/>
              </a:ext>
            </a:extLst>
          </p:cNvPr>
          <p:cNvCxnSpPr>
            <a:cxnSpLocks/>
          </p:cNvCxnSpPr>
          <p:nvPr/>
        </p:nvCxnSpPr>
        <p:spPr>
          <a:xfrm flipV="1">
            <a:off x="4243975" y="1818944"/>
            <a:ext cx="12700" cy="525454"/>
          </a:xfrm>
          <a:prstGeom prst="bentConnector3">
            <a:avLst>
              <a:gd name="adj1" fmla="val 376866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F56EDC98-B26F-4A02-9909-5D29D2DE1955}"/>
              </a:ext>
            </a:extLst>
          </p:cNvPr>
          <p:cNvSpPr/>
          <p:nvPr/>
        </p:nvSpPr>
        <p:spPr>
          <a:xfrm flipV="1">
            <a:off x="1285042" y="4527611"/>
            <a:ext cx="1716710" cy="5859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AEF9AFD-F2AF-4BF4-A9F0-AE24592174B9}"/>
              </a:ext>
            </a:extLst>
          </p:cNvPr>
          <p:cNvSpPr txBox="1"/>
          <p:nvPr/>
        </p:nvSpPr>
        <p:spPr>
          <a:xfrm>
            <a:off x="3680501" y="4472985"/>
            <a:ext cx="2978279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登入系統後，進入此圖示，為系統管理模組。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91D75673-A59D-46B4-98BF-87850AEF6F57}"/>
              </a:ext>
            </a:extLst>
          </p:cNvPr>
          <p:cNvSpPr txBox="1"/>
          <p:nvPr/>
        </p:nvSpPr>
        <p:spPr>
          <a:xfrm>
            <a:off x="123290" y="990573"/>
            <a:ext cx="6330673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solidFill>
                  <a:schemeClr val="tx1"/>
                </a:solidFill>
                <a:cs typeface="+mn-ea"/>
                <a:sym typeface="+mn-lt"/>
              </a:rPr>
              <a:t>重點整理：介紹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系統管理新增順序</a:t>
            </a:r>
            <a:r>
              <a:rPr lang="zh-TW" altLang="en-US" sz="2400" b="1" dirty="0">
                <a:solidFill>
                  <a:schemeClr val="tx1"/>
                </a:solidFill>
                <a:cs typeface="+mn-ea"/>
                <a:sym typeface="+mn-lt"/>
              </a:rPr>
              <a:t>操作流程。</a:t>
            </a:r>
          </a:p>
        </p:txBody>
      </p:sp>
      <p:cxnSp>
        <p:nvCxnSpPr>
          <p:cNvPr id="4" name="接點: 肘形 3">
            <a:extLst>
              <a:ext uri="{FF2B5EF4-FFF2-40B4-BE49-F238E27FC236}">
                <a16:creationId xmlns:a16="http://schemas.microsoft.com/office/drawing/2014/main" id="{EF036975-53C1-4036-89AC-C9D31E0FFABD}"/>
              </a:ext>
            </a:extLst>
          </p:cNvPr>
          <p:cNvCxnSpPr>
            <a:stCxn id="10" idx="3"/>
            <a:endCxn id="12" idx="3"/>
          </p:cNvCxnSpPr>
          <p:nvPr/>
        </p:nvCxnSpPr>
        <p:spPr>
          <a:xfrm flipV="1">
            <a:off x="4233343" y="2429393"/>
            <a:ext cx="12700" cy="530650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D44F01E5-E179-49D5-9287-6B362622792D}"/>
              </a:ext>
            </a:extLst>
          </p:cNvPr>
          <p:cNvCxnSpPr>
            <a:cxnSpLocks/>
          </p:cNvCxnSpPr>
          <p:nvPr/>
        </p:nvCxnSpPr>
        <p:spPr>
          <a:xfrm>
            <a:off x="4763386" y="2081671"/>
            <a:ext cx="88405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001FB2B-7142-4A05-BDF3-B9514D1991B0}"/>
              </a:ext>
            </a:extLst>
          </p:cNvPr>
          <p:cNvCxnSpPr>
            <a:stCxn id="33" idx="3"/>
          </p:cNvCxnSpPr>
          <p:nvPr/>
        </p:nvCxnSpPr>
        <p:spPr>
          <a:xfrm>
            <a:off x="3001752" y="4820574"/>
            <a:ext cx="67874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93A4D5B3-BD4A-49DE-BE1D-44EAA481D31C}"/>
              </a:ext>
            </a:extLst>
          </p:cNvPr>
          <p:cNvSpPr/>
          <p:nvPr/>
        </p:nvSpPr>
        <p:spPr>
          <a:xfrm>
            <a:off x="2084786" y="2800098"/>
            <a:ext cx="39305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  <a:endParaRPr lang="zh-TW" altLang="en-US" sz="20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247682-7374-400D-86CC-F219D2BB42A5}"/>
              </a:ext>
            </a:extLst>
          </p:cNvPr>
          <p:cNvSpPr/>
          <p:nvPr/>
        </p:nvSpPr>
        <p:spPr>
          <a:xfrm>
            <a:off x="2077139" y="2280778"/>
            <a:ext cx="39305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  <a:endParaRPr lang="zh-TW" altLang="en-US" sz="20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90851F-7DB3-4201-AF7C-5BC046A3F9BB}"/>
              </a:ext>
            </a:extLst>
          </p:cNvPr>
          <p:cNvSpPr/>
          <p:nvPr/>
        </p:nvSpPr>
        <p:spPr>
          <a:xfrm>
            <a:off x="2112011" y="1741284"/>
            <a:ext cx="39305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  <a:endParaRPr lang="zh-TW" altLang="en-US" sz="20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32024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520C00C-01CE-4655-9312-AD0E6B9A7DED}"/>
              </a:ext>
            </a:extLst>
          </p:cNvPr>
          <p:cNvGrpSpPr/>
          <p:nvPr/>
        </p:nvGrpSpPr>
        <p:grpSpPr>
          <a:xfrm>
            <a:off x="-361305" y="2003470"/>
            <a:ext cx="13487278" cy="1107996"/>
            <a:chOff x="2825712" y="1421434"/>
            <a:chExt cx="8471120" cy="110799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6033369C-8ACD-4F00-880A-AAF0AFAD759D}"/>
                </a:ext>
              </a:extLst>
            </p:cNvPr>
            <p:cNvSpPr txBox="1"/>
            <p:nvPr/>
          </p:nvSpPr>
          <p:spPr>
            <a:xfrm>
              <a:off x="2825712" y="1513767"/>
              <a:ext cx="97321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6000" b="1" dirty="0">
                <a:effectLst>
                  <a:outerShdw dist="38100" dir="120000" sx="108000" sy="108000" algn="tl" rotWithShape="0">
                    <a:srgbClr val="FF6F3C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2250469-7D63-474A-B25E-529B67A3AA3D}"/>
                </a:ext>
              </a:extLst>
            </p:cNvPr>
            <p:cNvSpPr txBox="1"/>
            <p:nvPr/>
          </p:nvSpPr>
          <p:spPr>
            <a:xfrm>
              <a:off x="3929898" y="1421434"/>
              <a:ext cx="736693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6600" b="1" spc="600" dirty="0">
                  <a:cs typeface="+mn-ea"/>
                  <a:sym typeface="+mn-lt"/>
                </a:rPr>
                <a:t>群組權限管理</a:t>
              </a:r>
              <a:r>
                <a:rPr lang="en-US" altLang="zh-TW" sz="6600" b="1" spc="600" dirty="0">
                  <a:cs typeface="+mn-ea"/>
                  <a:sym typeface="+mn-lt"/>
                </a:rPr>
                <a:t>-</a:t>
              </a:r>
              <a:r>
                <a:rPr lang="zh-TW" altLang="en-US" sz="6600" b="1" spc="600" dirty="0">
                  <a:cs typeface="+mn-ea"/>
                  <a:sym typeface="+mn-lt"/>
                </a:rPr>
                <a:t>操作手冊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3619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78979767-874C-4656-B6AA-31F8D930C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056" y="4046707"/>
            <a:ext cx="7883371" cy="180191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17EFD25-8D44-46B7-B59C-A2901D178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24" y="1695635"/>
            <a:ext cx="11369711" cy="219729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5029557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群組權限管理：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搜尋、編輯、刪除。</a:t>
            </a:r>
            <a:endParaRPr lang="en-US" altLang="zh-TW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群組權限管理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2420569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976833-B313-4336-B43F-9C3E3E3CE5B4}"/>
              </a:ext>
            </a:extLst>
          </p:cNvPr>
          <p:cNvSpPr/>
          <p:nvPr/>
        </p:nvSpPr>
        <p:spPr>
          <a:xfrm flipV="1">
            <a:off x="286223" y="1918961"/>
            <a:ext cx="1054305" cy="2378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BBCFB-2201-4C82-A1CC-03E1091634E3}"/>
              </a:ext>
            </a:extLst>
          </p:cNvPr>
          <p:cNvSpPr/>
          <p:nvPr/>
        </p:nvSpPr>
        <p:spPr>
          <a:xfrm flipV="1">
            <a:off x="6120975" y="3160016"/>
            <a:ext cx="1945147" cy="26425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CC5A33-2D1A-403A-9698-7F863DEF5C4C}"/>
              </a:ext>
            </a:extLst>
          </p:cNvPr>
          <p:cNvSpPr/>
          <p:nvPr/>
        </p:nvSpPr>
        <p:spPr>
          <a:xfrm flipV="1">
            <a:off x="9849183" y="5175681"/>
            <a:ext cx="715244" cy="3285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E8CF0DBF-88C3-42F8-9F36-B719FB627A66}"/>
              </a:ext>
            </a:extLst>
          </p:cNvPr>
          <p:cNvSpPr txBox="1"/>
          <p:nvPr/>
        </p:nvSpPr>
        <p:spPr>
          <a:xfrm>
            <a:off x="4056097" y="3527143"/>
            <a:ext cx="1659976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搜尋功能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A4BCBFBC-18AE-47E0-B875-848DB7959335}"/>
              </a:ext>
            </a:extLst>
          </p:cNvPr>
          <p:cNvSpPr txBox="1"/>
          <p:nvPr/>
        </p:nvSpPr>
        <p:spPr>
          <a:xfrm>
            <a:off x="286223" y="3004579"/>
            <a:ext cx="3194970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進入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群組權限管理</a:t>
            </a:r>
            <a:r>
              <a:rPr lang="zh-TW" altLang="en-US" sz="2000" b="1" dirty="0">
                <a:cs typeface="+mn-ea"/>
                <a:sym typeface="+mn-lt"/>
              </a:rPr>
              <a:t>畫面。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BDDD507D-7375-4090-B700-33F953F4CED0}"/>
              </a:ext>
            </a:extLst>
          </p:cNvPr>
          <p:cNvCxnSpPr>
            <a:stCxn id="22" idx="3"/>
            <a:endCxn id="85" idx="0"/>
          </p:cNvCxnSpPr>
          <p:nvPr/>
        </p:nvCxnSpPr>
        <p:spPr>
          <a:xfrm>
            <a:off x="1340528" y="2037869"/>
            <a:ext cx="543180" cy="96671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圖片 33">
            <a:extLst>
              <a:ext uri="{FF2B5EF4-FFF2-40B4-BE49-F238E27FC236}">
                <a16:creationId xmlns:a16="http://schemas.microsoft.com/office/drawing/2014/main" id="{D3D244BC-B296-45F0-AA43-8F4ED9CA8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186" y="3674005"/>
            <a:ext cx="1645152" cy="2074639"/>
          </a:xfrm>
          <a:prstGeom prst="rect">
            <a:avLst/>
          </a:prstGeom>
        </p:spPr>
      </p:pic>
      <p:cxnSp>
        <p:nvCxnSpPr>
          <p:cNvPr id="38" name="接點: 肘形 37">
            <a:extLst>
              <a:ext uri="{FF2B5EF4-FFF2-40B4-BE49-F238E27FC236}">
                <a16:creationId xmlns:a16="http://schemas.microsoft.com/office/drawing/2014/main" id="{2B5D5B73-4A7A-4155-B260-692030E90C9A}"/>
              </a:ext>
            </a:extLst>
          </p:cNvPr>
          <p:cNvCxnSpPr>
            <a:stCxn id="23" idx="1"/>
            <a:endCxn id="65" idx="3"/>
          </p:cNvCxnSpPr>
          <p:nvPr/>
        </p:nvCxnSpPr>
        <p:spPr>
          <a:xfrm rot="10800000">
            <a:off x="5716073" y="3748480"/>
            <a:ext cx="404902" cy="73280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C71B0D00-BE9B-4F6B-B429-AFD657F5E20F}"/>
              </a:ext>
            </a:extLst>
          </p:cNvPr>
          <p:cNvSpPr txBox="1"/>
          <p:nvPr/>
        </p:nvSpPr>
        <p:spPr>
          <a:xfrm>
            <a:off x="9193856" y="4268651"/>
            <a:ext cx="2025898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3.</a:t>
            </a:r>
            <a:r>
              <a:rPr lang="zh-TW" altLang="en-US" sz="2000" b="1" dirty="0">
                <a:cs typeface="+mn-ea"/>
                <a:sym typeface="+mn-lt"/>
              </a:rPr>
              <a:t>編輯與刪除。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52C91B4F-3F12-48EE-BB11-4701A654B736}"/>
              </a:ext>
            </a:extLst>
          </p:cNvPr>
          <p:cNvCxnSpPr>
            <a:stCxn id="25" idx="2"/>
            <a:endCxn id="50" idx="2"/>
          </p:cNvCxnSpPr>
          <p:nvPr/>
        </p:nvCxnSpPr>
        <p:spPr>
          <a:xfrm flipV="1">
            <a:off x="10206805" y="4711325"/>
            <a:ext cx="0" cy="4643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77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36200" y="874198"/>
            <a:ext cx="839485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控制重點：需在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單位管理建立群組後抓取資料才可設定權限</a:t>
            </a:r>
            <a:r>
              <a:rPr lang="zh-TW" altLang="en-US" sz="2400" b="1" dirty="0">
                <a:cs typeface="+mn-ea"/>
                <a:sym typeface="+mn-lt"/>
              </a:rPr>
              <a:t>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群組權限管理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新增權限教學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5119088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6CA0549-DF14-4780-A366-1E00866AB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009" y="1369630"/>
            <a:ext cx="9832502" cy="98122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D681E24-5252-49CA-ADE4-1C73EA5E7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44" y="2602499"/>
            <a:ext cx="5236812" cy="3390183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ECF8CA74-C3EF-4AE0-BD16-F89EA02ED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3750" y="5958865"/>
            <a:ext cx="3331439" cy="812546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843CF2E2-8D06-43EB-8CA4-CCD838B8E978}"/>
              </a:ext>
            </a:extLst>
          </p:cNvPr>
          <p:cNvSpPr/>
          <p:nvPr/>
        </p:nvSpPr>
        <p:spPr>
          <a:xfrm flipV="1">
            <a:off x="124362" y="2572749"/>
            <a:ext cx="1926355" cy="3419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49765C3-6764-46C1-8CF5-CD2FBF349E29}"/>
              </a:ext>
            </a:extLst>
          </p:cNvPr>
          <p:cNvSpPr txBox="1"/>
          <p:nvPr/>
        </p:nvSpPr>
        <p:spPr>
          <a:xfrm>
            <a:off x="6469380" y="2572749"/>
            <a:ext cx="3782886" cy="1123712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選擇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機關</a:t>
            </a:r>
            <a:r>
              <a:rPr lang="zh-TW" altLang="en-US" sz="2000" b="1" dirty="0">
                <a:cs typeface="+mn-ea"/>
                <a:sym typeface="+mn-lt"/>
              </a:rPr>
              <a:t>或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廠商</a:t>
            </a:r>
            <a:r>
              <a:rPr lang="zh-TW" altLang="en-US" sz="2000" b="1" dirty="0">
                <a:cs typeface="+mn-ea"/>
                <a:sym typeface="+mn-lt"/>
              </a:rPr>
              <a:t>。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選擇單位。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3.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群組</a:t>
            </a:r>
            <a:r>
              <a:rPr lang="zh-TW" altLang="en-US" sz="2000" b="1" dirty="0">
                <a:cs typeface="+mn-ea"/>
                <a:sym typeface="+mn-lt"/>
              </a:rPr>
              <a:t>：可以新增新群組。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B871CFE7-7011-4F17-85F0-18DEEC9FFB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683373" y="-1047435"/>
            <a:ext cx="12700" cy="7263887"/>
          </a:xfrm>
          <a:prstGeom prst="bentConnector3">
            <a:avLst>
              <a:gd name="adj1" fmla="val 145046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88ED8E64-1908-4820-882B-E9375E95BE73}"/>
              </a:ext>
            </a:extLst>
          </p:cNvPr>
          <p:cNvSpPr/>
          <p:nvPr/>
        </p:nvSpPr>
        <p:spPr>
          <a:xfrm flipV="1">
            <a:off x="2111474" y="2595153"/>
            <a:ext cx="3270682" cy="323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367F374-6E48-4198-9404-F38DD62FBA17}"/>
              </a:ext>
            </a:extLst>
          </p:cNvPr>
          <p:cNvSpPr txBox="1"/>
          <p:nvPr/>
        </p:nvSpPr>
        <p:spPr>
          <a:xfrm>
            <a:off x="6393132" y="3791049"/>
            <a:ext cx="4946180" cy="1804749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 身分模板：系統管理者 </a:t>
            </a:r>
            <a:r>
              <a:rPr lang="en-US" altLang="zh-TW" sz="2000" b="1" dirty="0">
                <a:cs typeface="+mn-ea"/>
                <a:sym typeface="+mn-lt"/>
              </a:rPr>
              <a:t>/</a:t>
            </a:r>
            <a:r>
              <a:rPr lang="zh-TW" altLang="en-US" sz="2000" b="1" dirty="0">
                <a:cs typeface="+mn-ea"/>
                <a:sym typeface="+mn-lt"/>
              </a:rPr>
              <a:t> 權限全開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	</a:t>
            </a:r>
            <a:r>
              <a:rPr lang="zh-TW" altLang="en-US" sz="2000" b="1" dirty="0">
                <a:cs typeface="+mn-ea"/>
                <a:sym typeface="+mn-lt"/>
              </a:rPr>
              <a:t>          一般管理者 </a:t>
            </a:r>
            <a:r>
              <a:rPr lang="en-US" altLang="zh-TW" sz="2000" b="1" dirty="0">
                <a:cs typeface="+mn-ea"/>
                <a:sym typeface="+mn-lt"/>
              </a:rPr>
              <a:t>/</a:t>
            </a:r>
            <a:r>
              <a:rPr lang="zh-TW" altLang="en-US" sz="2000" b="1" dirty="0">
                <a:cs typeface="+mn-ea"/>
                <a:sym typeface="+mn-lt"/>
              </a:rPr>
              <a:t> 部分權限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 四大管理：預算、工程、檔案、系統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3.</a:t>
            </a:r>
            <a:r>
              <a:rPr lang="zh-TW" altLang="en-US" sz="2000" b="1" dirty="0">
                <a:cs typeface="+mn-ea"/>
                <a:sym typeface="+mn-lt"/>
              </a:rPr>
              <a:t> 分類：四大管理的細項計畫。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4.</a:t>
            </a:r>
            <a:r>
              <a:rPr lang="zh-TW" altLang="en-US" sz="2000" b="1" dirty="0">
                <a:cs typeface="+mn-ea"/>
                <a:sym typeface="+mn-lt"/>
              </a:rPr>
              <a:t> 權限：</a:t>
            </a:r>
            <a:r>
              <a:rPr lang="en-US" altLang="zh-TW" sz="2000" b="1" dirty="0">
                <a:cs typeface="+mn-ea"/>
                <a:sym typeface="+mn-lt"/>
              </a:rPr>
              <a:t>on/off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96E706-04DB-4DB3-B9A3-40D609A8E9B0}"/>
              </a:ext>
            </a:extLst>
          </p:cNvPr>
          <p:cNvSpPr/>
          <p:nvPr/>
        </p:nvSpPr>
        <p:spPr>
          <a:xfrm flipV="1">
            <a:off x="2111474" y="2925231"/>
            <a:ext cx="3270681" cy="323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373C72-0F50-448C-8499-ABCB982A3C1A}"/>
              </a:ext>
            </a:extLst>
          </p:cNvPr>
          <p:cNvSpPr/>
          <p:nvPr/>
        </p:nvSpPr>
        <p:spPr>
          <a:xfrm flipV="1">
            <a:off x="2111474" y="3244164"/>
            <a:ext cx="3270681" cy="323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CB2F0C00-A0DC-4FF5-8DB0-D29AB3A6E705}"/>
              </a:ext>
            </a:extLst>
          </p:cNvPr>
          <p:cNvCxnSpPr>
            <a:cxnSpLocks/>
            <a:stCxn id="51" idx="3"/>
            <a:endCxn id="18" idx="3"/>
          </p:cNvCxnSpPr>
          <p:nvPr/>
        </p:nvCxnSpPr>
        <p:spPr>
          <a:xfrm flipH="1">
            <a:off x="5382155" y="2756900"/>
            <a:ext cx="1" cy="649011"/>
          </a:xfrm>
          <a:prstGeom prst="bentConnector3">
            <a:avLst>
              <a:gd name="adj1" fmla="val -228600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076FDED8-DA11-46DE-8F45-40DB0299176A}"/>
              </a:ext>
            </a:extLst>
          </p:cNvPr>
          <p:cNvCxnSpPr>
            <a:cxnSpLocks/>
            <a:stCxn id="16" idx="3"/>
            <a:endCxn id="58" idx="1"/>
          </p:cNvCxnSpPr>
          <p:nvPr/>
        </p:nvCxnSpPr>
        <p:spPr>
          <a:xfrm>
            <a:off x="5382155" y="3086978"/>
            <a:ext cx="1010977" cy="160644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8BDCBF4-808E-441D-9B40-4A70AC33DD5C}"/>
              </a:ext>
            </a:extLst>
          </p:cNvPr>
          <p:cNvSpPr/>
          <p:nvPr/>
        </p:nvSpPr>
        <p:spPr>
          <a:xfrm flipV="1">
            <a:off x="2835505" y="6049430"/>
            <a:ext cx="3187929" cy="626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F4213DD-F049-45C5-B4FC-D2FA5095599F}"/>
              </a:ext>
            </a:extLst>
          </p:cNvPr>
          <p:cNvSpPr txBox="1"/>
          <p:nvPr/>
        </p:nvSpPr>
        <p:spPr>
          <a:xfrm>
            <a:off x="6469380" y="5762465"/>
            <a:ext cx="3864228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5.</a:t>
            </a:r>
            <a:r>
              <a:rPr lang="zh-TW" altLang="en-US" sz="2000" b="1" dirty="0">
                <a:cs typeface="+mn-ea"/>
                <a:sym typeface="+mn-lt"/>
              </a:rPr>
              <a:t>設定完成按新增群組預設權限。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12F15F36-1A81-4414-885B-35342F8426E7}"/>
              </a:ext>
            </a:extLst>
          </p:cNvPr>
          <p:cNvCxnSpPr>
            <a:cxnSpLocks/>
            <a:stCxn id="20" idx="3"/>
            <a:endCxn id="33" idx="1"/>
          </p:cNvCxnSpPr>
          <p:nvPr/>
        </p:nvCxnSpPr>
        <p:spPr>
          <a:xfrm flipV="1">
            <a:off x="6095189" y="5983802"/>
            <a:ext cx="374191" cy="381336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5FE3AD60-975F-42CF-8E0A-9A96B3398D37}"/>
              </a:ext>
            </a:extLst>
          </p:cNvPr>
          <p:cNvSpPr/>
          <p:nvPr/>
        </p:nvSpPr>
        <p:spPr>
          <a:xfrm flipV="1">
            <a:off x="10889719" y="1593711"/>
            <a:ext cx="1105827" cy="4928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6BA32D3-C62A-4FCD-A066-257D422D3DAE}"/>
              </a:ext>
            </a:extLst>
          </p:cNvPr>
          <p:cNvSpPr/>
          <p:nvPr/>
        </p:nvSpPr>
        <p:spPr>
          <a:xfrm flipV="1">
            <a:off x="2260692" y="1468288"/>
            <a:ext cx="4731730" cy="8571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4295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247167-2238-4540-896B-5AC6A75396AF}"/>
              </a:ext>
            </a:extLst>
          </p:cNvPr>
          <p:cNvSpPr/>
          <p:nvPr/>
        </p:nvSpPr>
        <p:spPr>
          <a:xfrm>
            <a:off x="0" y="1025522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處本部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C2503B-553D-4669-9B1F-B24F157FF31C}"/>
              </a:ext>
            </a:extLst>
          </p:cNvPr>
          <p:cNvSpPr/>
          <p:nvPr/>
        </p:nvSpPr>
        <p:spPr>
          <a:xfrm>
            <a:off x="0" y="1736062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會計單位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D00128-1683-438C-9439-8E7BD32A3BF9}"/>
              </a:ext>
            </a:extLst>
          </p:cNvPr>
          <p:cNvSpPr/>
          <p:nvPr/>
        </p:nvSpPr>
        <p:spPr>
          <a:xfrm>
            <a:off x="0" y="2498533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設計單位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DA1AD8-07C4-4373-803B-C443E0612274}"/>
              </a:ext>
            </a:extLst>
          </p:cNvPr>
          <p:cNvSpPr/>
          <p:nvPr/>
        </p:nvSpPr>
        <p:spPr>
          <a:xfrm>
            <a:off x="0" y="4848097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資訊單位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C2C6B3-6E74-43D8-83D5-5261328A6DDA}"/>
              </a:ext>
            </a:extLst>
          </p:cNvPr>
          <p:cNvSpPr/>
          <p:nvPr/>
        </p:nvSpPr>
        <p:spPr>
          <a:xfrm>
            <a:off x="0" y="3281721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發包單位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3BF397-C603-4163-B3A8-E395325E0818}"/>
              </a:ext>
            </a:extLst>
          </p:cNvPr>
          <p:cNvSpPr/>
          <p:nvPr/>
        </p:nvSpPr>
        <p:spPr>
          <a:xfrm>
            <a:off x="0" y="4064909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工程單位</a:t>
            </a:r>
          </a:p>
        </p:txBody>
      </p:sp>
    </p:spTree>
    <p:extLst>
      <p:ext uri="{BB962C8B-B14F-4D97-AF65-F5344CB8AC3E}">
        <p14:creationId xmlns:p14="http://schemas.microsoft.com/office/powerpoint/2010/main" val="2955195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520C00C-01CE-4655-9312-AD0E6B9A7DED}"/>
              </a:ext>
            </a:extLst>
          </p:cNvPr>
          <p:cNvGrpSpPr/>
          <p:nvPr/>
        </p:nvGrpSpPr>
        <p:grpSpPr>
          <a:xfrm>
            <a:off x="-361305" y="2003470"/>
            <a:ext cx="13487278" cy="1107996"/>
            <a:chOff x="2825712" y="1421434"/>
            <a:chExt cx="8471120" cy="110799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6033369C-8ACD-4F00-880A-AAF0AFAD759D}"/>
                </a:ext>
              </a:extLst>
            </p:cNvPr>
            <p:cNvSpPr txBox="1"/>
            <p:nvPr/>
          </p:nvSpPr>
          <p:spPr>
            <a:xfrm>
              <a:off x="2825712" y="1513767"/>
              <a:ext cx="97321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6000" b="1" dirty="0">
                <a:effectLst>
                  <a:outerShdw dist="38100" dir="120000" sx="108000" sy="108000" algn="tl" rotWithShape="0">
                    <a:srgbClr val="FF6F3C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2250469-7D63-474A-B25E-529B67A3AA3D}"/>
                </a:ext>
              </a:extLst>
            </p:cNvPr>
            <p:cNvSpPr txBox="1"/>
            <p:nvPr/>
          </p:nvSpPr>
          <p:spPr>
            <a:xfrm>
              <a:off x="3929898" y="1421434"/>
              <a:ext cx="736693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6600" b="1" spc="600" dirty="0">
                  <a:cs typeface="+mn-ea"/>
                  <a:sym typeface="+mn-lt"/>
                </a:rPr>
                <a:t>使用者管理</a:t>
              </a:r>
              <a:r>
                <a:rPr lang="en-US" altLang="zh-TW" sz="6600" b="1" spc="600" dirty="0">
                  <a:cs typeface="+mn-ea"/>
                  <a:sym typeface="+mn-lt"/>
                </a:rPr>
                <a:t>-</a:t>
              </a:r>
              <a:r>
                <a:rPr lang="zh-TW" altLang="en-US" sz="6600" b="1" spc="600" dirty="0">
                  <a:cs typeface="+mn-ea"/>
                  <a:sym typeface="+mn-lt"/>
                </a:rPr>
                <a:t>操作手冊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382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2247167-2238-4540-896B-5AC6A75396AF}"/>
              </a:ext>
            </a:extLst>
          </p:cNvPr>
          <p:cNvSpPr/>
          <p:nvPr/>
        </p:nvSpPr>
        <p:spPr>
          <a:xfrm>
            <a:off x="0" y="1025522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缺每個功能頁面的總覽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963B4D-F68F-4DF9-A5F0-33C4A45848E9}"/>
              </a:ext>
            </a:extLst>
          </p:cNvPr>
          <p:cNvSpPr/>
          <p:nvPr/>
        </p:nvSpPr>
        <p:spPr>
          <a:xfrm>
            <a:off x="0" y="1676686"/>
            <a:ext cx="8922936" cy="4437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使用者管理：缺說明各處就只能看到各處的使用者</a:t>
            </a:r>
          </a:p>
        </p:txBody>
      </p:sp>
    </p:spTree>
    <p:extLst>
      <p:ext uri="{BB962C8B-B14F-4D97-AF65-F5344CB8AC3E}">
        <p14:creationId xmlns:p14="http://schemas.microsoft.com/office/powerpoint/2010/main" val="187674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圖片 16">
            <a:extLst>
              <a:ext uri="{FF2B5EF4-FFF2-40B4-BE49-F238E27FC236}">
                <a16:creationId xmlns:a16="http://schemas.microsoft.com/office/drawing/2014/main" id="{288CCF3B-2A49-44AB-B07E-46D447D20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40" y="1772605"/>
            <a:ext cx="2943225" cy="267652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6D315C8-2462-472F-BB2B-4329ABE4A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324" y="3193474"/>
            <a:ext cx="2641598" cy="16996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BEAD053-56D7-4221-87C9-ABBDAFBC2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073" y="2842788"/>
            <a:ext cx="3348813" cy="3170396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E078046E-3C65-47F5-A517-FF7B908D3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140" y="1468847"/>
            <a:ext cx="7990515" cy="1006347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5" y="890257"/>
            <a:ext cx="10083878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教學重點：開啟預算管理視窗，選擇權限，完成後主畫面顯示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計算機圖案</a:t>
            </a:r>
            <a:r>
              <a:rPr lang="zh-TW" altLang="en-US" sz="2400" b="1" dirty="0">
                <a:cs typeface="+mn-ea"/>
                <a:sym typeface="+mn-lt"/>
              </a:rPr>
              <a:t>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開啟權限功能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使用者管理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開啟預算管理功能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539535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B103CC-8760-4394-86A6-E3A3F5A1C78C}"/>
              </a:ext>
            </a:extLst>
          </p:cNvPr>
          <p:cNvSpPr/>
          <p:nvPr/>
        </p:nvSpPr>
        <p:spPr>
          <a:xfrm flipV="1">
            <a:off x="10686898" y="1668989"/>
            <a:ext cx="1335339" cy="472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C19B018-C358-4C11-A8A2-A9243C0426BE}"/>
              </a:ext>
            </a:extLst>
          </p:cNvPr>
          <p:cNvSpPr txBox="1"/>
          <p:nvPr/>
        </p:nvSpPr>
        <p:spPr>
          <a:xfrm>
            <a:off x="3290544" y="3121254"/>
            <a:ext cx="2805456" cy="1123712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 顯示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預算管理視窗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zh-TW" altLang="en-US" sz="2000" b="1" dirty="0">
                <a:cs typeface="+mn-ea"/>
                <a:sym typeface="+mn-lt"/>
              </a:rPr>
              <a:t>選擇所需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分類</a:t>
            </a:r>
            <a:r>
              <a:rPr lang="zh-TW" altLang="en-US" sz="2000" b="1" dirty="0">
                <a:cs typeface="+mn-ea"/>
                <a:sym typeface="+mn-lt"/>
              </a:rPr>
              <a:t>，開啟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權限</a:t>
            </a:r>
            <a:r>
              <a:rPr lang="zh-TW" altLang="en-US" sz="2000" b="1" dirty="0">
                <a:cs typeface="+mn-ea"/>
                <a:sym typeface="+mn-lt"/>
              </a:rPr>
              <a:t>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F8E7692-7563-46F7-83A4-640F3B0F14BC}"/>
              </a:ext>
            </a:extLst>
          </p:cNvPr>
          <p:cNvSpPr/>
          <p:nvPr/>
        </p:nvSpPr>
        <p:spPr>
          <a:xfrm flipV="1">
            <a:off x="207542" y="1772605"/>
            <a:ext cx="809626" cy="800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1368A06-344E-4B9D-A1C1-BD44A9A411CB}"/>
              </a:ext>
            </a:extLst>
          </p:cNvPr>
          <p:cNvSpPr txBox="1"/>
          <p:nvPr/>
        </p:nvSpPr>
        <p:spPr>
          <a:xfrm>
            <a:off x="3332660" y="2546638"/>
            <a:ext cx="2302143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 點選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新增使用者</a:t>
            </a:r>
            <a:endParaRPr lang="en-US" altLang="zh-TW" sz="20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05AD175-1369-426E-909C-BD30C3E975AB}"/>
              </a:ext>
            </a:extLst>
          </p:cNvPr>
          <p:cNvSpPr txBox="1"/>
          <p:nvPr/>
        </p:nvSpPr>
        <p:spPr>
          <a:xfrm>
            <a:off x="1292833" y="5422509"/>
            <a:ext cx="3082089" cy="442674"/>
          </a:xfrm>
          <a:prstGeom prst="wedgeRoundRectCallout">
            <a:avLst>
              <a:gd name="adj1" fmla="val -42805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cs typeface="+mn-ea"/>
                <a:sym typeface="+mn-lt"/>
              </a:rPr>
              <a:t>Ps.</a:t>
            </a:r>
            <a:r>
              <a:rPr lang="zh-TW" altLang="en-US" sz="2000" b="1" dirty="0">
                <a:cs typeface="+mn-ea"/>
                <a:sym typeface="+mn-lt"/>
              </a:rPr>
              <a:t>開啟權限後顯示圖案。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8E38D2F-2F5E-4597-98E8-C02981A782E2}"/>
              </a:ext>
            </a:extLst>
          </p:cNvPr>
          <p:cNvSpPr/>
          <p:nvPr/>
        </p:nvSpPr>
        <p:spPr>
          <a:xfrm flipV="1">
            <a:off x="6575226" y="3285246"/>
            <a:ext cx="2125148" cy="3606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6A33E0EC-E395-42DF-B873-B291BEB17A45}"/>
              </a:ext>
            </a:extLst>
          </p:cNvPr>
          <p:cNvCxnSpPr>
            <a:cxnSpLocks/>
          </p:cNvCxnSpPr>
          <p:nvPr/>
        </p:nvCxnSpPr>
        <p:spPr>
          <a:xfrm>
            <a:off x="8700374" y="3464357"/>
            <a:ext cx="12066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DCF477BD-12FA-4A15-8A72-BE2E4F088FD3}"/>
              </a:ext>
            </a:extLst>
          </p:cNvPr>
          <p:cNvSpPr/>
          <p:nvPr/>
        </p:nvSpPr>
        <p:spPr>
          <a:xfrm flipV="1">
            <a:off x="9949135" y="3191311"/>
            <a:ext cx="2188787" cy="17018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8F2B15C-14F0-4B51-9730-7E6963E7F7DC}"/>
              </a:ext>
            </a:extLst>
          </p:cNvPr>
          <p:cNvSpPr/>
          <p:nvPr/>
        </p:nvSpPr>
        <p:spPr>
          <a:xfrm>
            <a:off x="8877911" y="3775945"/>
            <a:ext cx="851556" cy="1061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87" name="接點: 肘形 86">
            <a:extLst>
              <a:ext uri="{FF2B5EF4-FFF2-40B4-BE49-F238E27FC236}">
                <a16:creationId xmlns:a16="http://schemas.microsoft.com/office/drawing/2014/main" id="{CEF2D62A-6E94-44D0-9E45-2E3C6946A0A5}"/>
              </a:ext>
            </a:extLst>
          </p:cNvPr>
          <p:cNvCxnSpPr>
            <a:cxnSpLocks/>
            <a:stCxn id="40" idx="3"/>
            <a:endCxn id="14" idx="0"/>
          </p:cNvCxnSpPr>
          <p:nvPr/>
        </p:nvCxnSpPr>
        <p:spPr>
          <a:xfrm flipV="1">
            <a:off x="5634803" y="2141302"/>
            <a:ext cx="5719765" cy="62667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接點: 肘形 93">
            <a:extLst>
              <a:ext uri="{FF2B5EF4-FFF2-40B4-BE49-F238E27FC236}">
                <a16:creationId xmlns:a16="http://schemas.microsoft.com/office/drawing/2014/main" id="{4E329CC8-0CDC-41AA-99EC-ACD14D09CD46}"/>
              </a:ext>
            </a:extLst>
          </p:cNvPr>
          <p:cNvCxnSpPr>
            <a:cxnSpLocks/>
            <a:stCxn id="64" idx="1"/>
            <a:endCxn id="31" idx="0"/>
          </p:cNvCxnSpPr>
          <p:nvPr/>
        </p:nvCxnSpPr>
        <p:spPr>
          <a:xfrm rot="10800000">
            <a:off x="612355" y="2573170"/>
            <a:ext cx="680478" cy="307067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D0D7127B-C99C-4595-AE37-492B044AA1B9}"/>
              </a:ext>
            </a:extLst>
          </p:cNvPr>
          <p:cNvCxnSpPr>
            <a:stCxn id="24" idx="3"/>
          </p:cNvCxnSpPr>
          <p:nvPr/>
        </p:nvCxnSpPr>
        <p:spPr>
          <a:xfrm>
            <a:off x="6096000" y="3683110"/>
            <a:ext cx="373380" cy="13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11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>
            <a:extLst>
              <a:ext uri="{FF2B5EF4-FFF2-40B4-BE49-F238E27FC236}">
                <a16:creationId xmlns:a16="http://schemas.microsoft.com/office/drawing/2014/main" id="{66B41777-760E-4A9A-B155-88F87BB83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91" y="1531208"/>
            <a:ext cx="4142457" cy="303681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5" y="890257"/>
            <a:ext cx="8375658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教學重點：打開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分類</a:t>
            </a:r>
            <a:r>
              <a:rPr lang="zh-TW" altLang="en-US" sz="2400" b="1" dirty="0">
                <a:cs typeface="+mn-ea"/>
                <a:sym typeface="+mn-lt"/>
              </a:rPr>
              <a:t>選擇管理權限。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開啟權限後所顯示圖案</a:t>
            </a:r>
            <a:r>
              <a:rPr lang="zh-TW" altLang="en-US" sz="2400" b="1" dirty="0">
                <a:cs typeface="+mn-ea"/>
                <a:sym typeface="+mn-lt"/>
              </a:rPr>
              <a:t>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開啟權限功能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使用者管理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開啟工程管理功能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539535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0AC1C288-E8AA-44A3-BE8C-B34FB84BE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775" y="2000094"/>
            <a:ext cx="3028950" cy="268605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F62DABB3-C882-4DF6-9147-4F621131F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91" y="4894317"/>
            <a:ext cx="9408695" cy="1242258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B1B7915E-C5DB-46AB-9093-1117DEC21824}"/>
              </a:ext>
            </a:extLst>
          </p:cNvPr>
          <p:cNvSpPr/>
          <p:nvPr/>
        </p:nvSpPr>
        <p:spPr>
          <a:xfrm flipV="1">
            <a:off x="4417443" y="5633739"/>
            <a:ext cx="5229942" cy="2787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675A604-0099-4A36-B353-72BAADDCD05E}"/>
              </a:ext>
            </a:extLst>
          </p:cNvPr>
          <p:cNvSpPr/>
          <p:nvPr/>
        </p:nvSpPr>
        <p:spPr>
          <a:xfrm flipV="1">
            <a:off x="4739085" y="2922740"/>
            <a:ext cx="880543" cy="16021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586834D-193C-4F75-8890-40F561B5DD78}"/>
              </a:ext>
            </a:extLst>
          </p:cNvPr>
          <p:cNvSpPr/>
          <p:nvPr/>
        </p:nvSpPr>
        <p:spPr>
          <a:xfrm flipV="1">
            <a:off x="1020086" y="2324394"/>
            <a:ext cx="1743740" cy="3296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8CEF8D57-956E-471B-B389-8432D0CFCD0A}"/>
              </a:ext>
            </a:extLst>
          </p:cNvPr>
          <p:cNvCxnSpPr>
            <a:cxnSpLocks/>
            <a:stCxn id="48" idx="3"/>
          </p:cNvCxnSpPr>
          <p:nvPr/>
        </p:nvCxnSpPr>
        <p:spPr>
          <a:xfrm>
            <a:off x="2763826" y="2489198"/>
            <a:ext cx="16536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C8C8C6FF-4E09-47CE-B306-5CE77FDB4BC3}"/>
              </a:ext>
            </a:extLst>
          </p:cNvPr>
          <p:cNvCxnSpPr>
            <a:cxnSpLocks/>
            <a:stCxn id="44" idx="3"/>
          </p:cNvCxnSpPr>
          <p:nvPr/>
        </p:nvCxnSpPr>
        <p:spPr>
          <a:xfrm flipH="1">
            <a:off x="5039833" y="3723822"/>
            <a:ext cx="579795" cy="1723022"/>
          </a:xfrm>
          <a:prstGeom prst="bentConnector4">
            <a:avLst>
              <a:gd name="adj1" fmla="val -39428"/>
              <a:gd name="adj2" fmla="val 6391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C2B3EAF4-42DE-4A4F-A05F-1566B8EA5F61}"/>
              </a:ext>
            </a:extLst>
          </p:cNvPr>
          <p:cNvSpPr txBox="1"/>
          <p:nvPr/>
        </p:nvSpPr>
        <p:spPr>
          <a:xfrm>
            <a:off x="6177340" y="3461621"/>
            <a:ext cx="3782886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選擇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工程管理</a:t>
            </a:r>
            <a:r>
              <a:rPr lang="zh-TW" altLang="en-US" sz="2000" b="1" dirty="0">
                <a:cs typeface="+mn-ea"/>
                <a:sym typeface="+mn-lt"/>
              </a:rPr>
              <a:t>。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依照需要的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分類</a:t>
            </a:r>
            <a:r>
              <a:rPr lang="zh-TW" altLang="en-US" sz="2000" b="1" dirty="0">
                <a:cs typeface="+mn-ea"/>
                <a:sym typeface="+mn-lt"/>
              </a:rPr>
              <a:t>開啟權限。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FA0DD5E-736C-43BB-B7AF-3C04F9C5383A}"/>
              </a:ext>
            </a:extLst>
          </p:cNvPr>
          <p:cNvSpPr txBox="1"/>
          <p:nvPr/>
        </p:nvSpPr>
        <p:spPr>
          <a:xfrm>
            <a:off x="5329730" y="4953070"/>
            <a:ext cx="3782886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3.</a:t>
            </a:r>
            <a:r>
              <a:rPr lang="zh-TW" altLang="en-US" sz="2000" b="1" dirty="0">
                <a:cs typeface="+mn-ea"/>
                <a:sym typeface="+mn-lt"/>
              </a:rPr>
              <a:t>開啟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權限</a:t>
            </a:r>
            <a:r>
              <a:rPr lang="zh-TW" altLang="en-US" sz="2000" b="1" dirty="0">
                <a:cs typeface="+mn-ea"/>
                <a:sym typeface="+mn-lt"/>
              </a:rPr>
              <a:t>後對應按鈕。</a:t>
            </a:r>
            <a:endParaRPr lang="en-US" altLang="zh-TW" sz="20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6610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圖片 22">
            <a:extLst>
              <a:ext uri="{FF2B5EF4-FFF2-40B4-BE49-F238E27FC236}">
                <a16:creationId xmlns:a16="http://schemas.microsoft.com/office/drawing/2014/main" id="{A2EDB90E-D84A-4A54-845A-F4FB25F00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935" y="1703941"/>
            <a:ext cx="3188519" cy="306979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E00C576-896B-41E1-9AB6-06437167E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67" y="1683517"/>
            <a:ext cx="2396933" cy="294795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5" y="890257"/>
            <a:ext cx="6324036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教學重點：檔案管理分採購文件與履約文件。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開啟權限功能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使用者管理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開啟檔案管理功能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539535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C19B018-C358-4C11-A8A2-A9243C0426BE}"/>
              </a:ext>
            </a:extLst>
          </p:cNvPr>
          <p:cNvSpPr txBox="1"/>
          <p:nvPr/>
        </p:nvSpPr>
        <p:spPr>
          <a:xfrm>
            <a:off x="7152799" y="3333710"/>
            <a:ext cx="3134917" cy="1123712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 顯示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檔案管理視窗</a:t>
            </a:r>
            <a:r>
              <a:rPr lang="zh-TW" altLang="en-US" sz="2000" b="1" dirty="0">
                <a:cs typeface="+mn-ea"/>
                <a:sym typeface="+mn-lt"/>
              </a:rPr>
              <a:t>選擇所需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分類</a:t>
            </a:r>
            <a:r>
              <a:rPr lang="zh-TW" altLang="en-US" sz="2000" b="1" dirty="0">
                <a:cs typeface="+mn-ea"/>
                <a:sym typeface="+mn-lt"/>
              </a:rPr>
              <a:t>，開啟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權限</a:t>
            </a:r>
            <a:r>
              <a:rPr lang="zh-TW" altLang="en-US" sz="2000" b="1" dirty="0">
                <a:cs typeface="+mn-ea"/>
                <a:sym typeface="+mn-lt"/>
              </a:rPr>
              <a:t>，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顯示圖案。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F8E7692-7563-46F7-83A4-640F3B0F14BC}"/>
              </a:ext>
            </a:extLst>
          </p:cNvPr>
          <p:cNvSpPr/>
          <p:nvPr/>
        </p:nvSpPr>
        <p:spPr>
          <a:xfrm flipV="1">
            <a:off x="346267" y="3628172"/>
            <a:ext cx="1025333" cy="10032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05AD175-1369-426E-909C-BD30C3E975AB}"/>
              </a:ext>
            </a:extLst>
          </p:cNvPr>
          <p:cNvSpPr txBox="1"/>
          <p:nvPr/>
        </p:nvSpPr>
        <p:spPr>
          <a:xfrm>
            <a:off x="1202155" y="5604696"/>
            <a:ext cx="3082089" cy="442674"/>
          </a:xfrm>
          <a:prstGeom prst="wedgeRoundRectCallout">
            <a:avLst>
              <a:gd name="adj1" fmla="val -42805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cs typeface="+mn-ea"/>
                <a:sym typeface="+mn-lt"/>
              </a:rPr>
              <a:t>Ps.</a:t>
            </a:r>
            <a:r>
              <a:rPr lang="zh-TW" altLang="en-US" sz="2000" b="1" dirty="0">
                <a:cs typeface="+mn-ea"/>
                <a:sym typeface="+mn-lt"/>
              </a:rPr>
              <a:t>開啟權限後顯示圖案。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8E38D2F-2F5E-4597-98E8-C02981A782E2}"/>
              </a:ext>
            </a:extLst>
          </p:cNvPr>
          <p:cNvSpPr/>
          <p:nvPr/>
        </p:nvSpPr>
        <p:spPr>
          <a:xfrm flipV="1">
            <a:off x="3702935" y="2201072"/>
            <a:ext cx="3188519" cy="596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74" name="直線單箭頭接點 73">
            <a:extLst>
              <a:ext uri="{FF2B5EF4-FFF2-40B4-BE49-F238E27FC236}">
                <a16:creationId xmlns:a16="http://schemas.microsoft.com/office/drawing/2014/main" id="{6A33E0EC-E395-42DF-B873-B291BEB17A45}"/>
              </a:ext>
            </a:extLst>
          </p:cNvPr>
          <p:cNvCxnSpPr>
            <a:cxnSpLocks/>
          </p:cNvCxnSpPr>
          <p:nvPr/>
        </p:nvCxnSpPr>
        <p:spPr>
          <a:xfrm>
            <a:off x="6891454" y="2568410"/>
            <a:ext cx="26134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DCF477BD-12FA-4A15-8A72-BE2E4F088FD3}"/>
              </a:ext>
            </a:extLst>
          </p:cNvPr>
          <p:cNvSpPr/>
          <p:nvPr/>
        </p:nvSpPr>
        <p:spPr>
          <a:xfrm flipV="1">
            <a:off x="7210459" y="1703941"/>
            <a:ext cx="2188792" cy="13102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8F2B15C-14F0-4B51-9730-7E6963E7F7DC}"/>
              </a:ext>
            </a:extLst>
          </p:cNvPr>
          <p:cNvSpPr/>
          <p:nvPr/>
        </p:nvSpPr>
        <p:spPr>
          <a:xfrm>
            <a:off x="5946168" y="2893245"/>
            <a:ext cx="851556" cy="15100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4" name="接點: 肘形 93">
            <a:extLst>
              <a:ext uri="{FF2B5EF4-FFF2-40B4-BE49-F238E27FC236}">
                <a16:creationId xmlns:a16="http://schemas.microsoft.com/office/drawing/2014/main" id="{4E329CC8-0CDC-41AA-99EC-ACD14D09CD46}"/>
              </a:ext>
            </a:extLst>
          </p:cNvPr>
          <p:cNvCxnSpPr>
            <a:cxnSpLocks/>
            <a:stCxn id="64" idx="1"/>
            <a:endCxn id="31" idx="0"/>
          </p:cNvCxnSpPr>
          <p:nvPr/>
        </p:nvCxnSpPr>
        <p:spPr>
          <a:xfrm rot="10800000">
            <a:off x="858935" y="4631471"/>
            <a:ext cx="343221" cy="119456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圖片 29">
            <a:extLst>
              <a:ext uri="{FF2B5EF4-FFF2-40B4-BE49-F238E27FC236}">
                <a16:creationId xmlns:a16="http://schemas.microsoft.com/office/drawing/2014/main" id="{BBA2EBA6-470E-45F7-826A-FFF0EB975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0536" y="1725192"/>
            <a:ext cx="2188787" cy="1289048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0928A27-65C4-4A08-A2E2-E82D0B7986CB}"/>
              </a:ext>
            </a:extLst>
          </p:cNvPr>
          <p:cNvCxnSpPr>
            <a:cxnSpLocks/>
          </p:cNvCxnSpPr>
          <p:nvPr/>
        </p:nvCxnSpPr>
        <p:spPr>
          <a:xfrm flipH="1" flipV="1">
            <a:off x="2833878" y="4116903"/>
            <a:ext cx="3014263" cy="129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0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619FA87B-B02E-4B8D-BC4B-AC1949AB7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429" y="1616363"/>
            <a:ext cx="2982292" cy="391071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5EDE58A-73F3-4E64-968E-C5C2AB1FD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60" y="1616363"/>
            <a:ext cx="2960447" cy="3467952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-65299" y="838210"/>
            <a:ext cx="8043690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教學重點：顯示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系統管理視窗</a:t>
            </a:r>
            <a:r>
              <a:rPr lang="zh-TW" altLang="en-US" sz="2400" b="1" dirty="0">
                <a:cs typeface="+mn-ea"/>
                <a:sym typeface="+mn-lt"/>
              </a:rPr>
              <a:t>，選擇所需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分類</a:t>
            </a:r>
            <a:r>
              <a:rPr lang="zh-TW" altLang="en-US" sz="2400" b="1" dirty="0">
                <a:cs typeface="+mn-ea"/>
                <a:sym typeface="+mn-lt"/>
              </a:rPr>
              <a:t>，開啟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權限</a:t>
            </a:r>
            <a:r>
              <a:rPr lang="zh-TW" altLang="en-US" sz="2400" b="1" dirty="0">
                <a:cs typeface="+mn-ea"/>
                <a:sym typeface="+mn-lt"/>
              </a:rPr>
              <a:t>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開啟權限功能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使用者管理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開啟系統管理功能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539535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F8E7692-7563-46F7-83A4-640F3B0F14BC}"/>
              </a:ext>
            </a:extLst>
          </p:cNvPr>
          <p:cNvSpPr/>
          <p:nvPr/>
        </p:nvSpPr>
        <p:spPr>
          <a:xfrm flipV="1">
            <a:off x="450272" y="4199858"/>
            <a:ext cx="839561" cy="884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05AD175-1369-426E-909C-BD30C3E975AB}"/>
              </a:ext>
            </a:extLst>
          </p:cNvPr>
          <p:cNvSpPr txBox="1"/>
          <p:nvPr/>
        </p:nvSpPr>
        <p:spPr>
          <a:xfrm>
            <a:off x="998087" y="5473846"/>
            <a:ext cx="3082089" cy="442674"/>
          </a:xfrm>
          <a:prstGeom prst="wedgeRoundRectCallout">
            <a:avLst>
              <a:gd name="adj1" fmla="val -42805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cs typeface="+mn-ea"/>
                <a:sym typeface="+mn-lt"/>
              </a:rPr>
              <a:t>Ps.</a:t>
            </a:r>
            <a:r>
              <a:rPr lang="zh-TW" altLang="en-US" sz="2000" b="1" dirty="0">
                <a:cs typeface="+mn-ea"/>
                <a:sym typeface="+mn-lt"/>
              </a:rPr>
              <a:t>開啟權限後顯示圖案。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8E38D2F-2F5E-4597-98E8-C02981A782E2}"/>
              </a:ext>
            </a:extLst>
          </p:cNvPr>
          <p:cNvSpPr/>
          <p:nvPr/>
        </p:nvSpPr>
        <p:spPr>
          <a:xfrm flipV="1">
            <a:off x="3838811" y="2863780"/>
            <a:ext cx="2893586" cy="6561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CF477BD-12FA-4A15-8A72-BE2E4F088FD3}"/>
              </a:ext>
            </a:extLst>
          </p:cNvPr>
          <p:cNvSpPr/>
          <p:nvPr/>
        </p:nvSpPr>
        <p:spPr>
          <a:xfrm flipV="1">
            <a:off x="1444735" y="1634761"/>
            <a:ext cx="1851124" cy="19441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4" name="接點: 肘形 93">
            <a:extLst>
              <a:ext uri="{FF2B5EF4-FFF2-40B4-BE49-F238E27FC236}">
                <a16:creationId xmlns:a16="http://schemas.microsoft.com/office/drawing/2014/main" id="{4E329CC8-0CDC-41AA-99EC-ACD14D09CD46}"/>
              </a:ext>
            </a:extLst>
          </p:cNvPr>
          <p:cNvCxnSpPr>
            <a:cxnSpLocks/>
            <a:stCxn id="64" idx="1"/>
            <a:endCxn id="31" idx="0"/>
          </p:cNvCxnSpPr>
          <p:nvPr/>
        </p:nvCxnSpPr>
        <p:spPr>
          <a:xfrm rot="10800000">
            <a:off x="870053" y="5084313"/>
            <a:ext cx="128034" cy="61087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77CBA3B4-A0ED-4ED1-9769-E8CD745A7001}"/>
              </a:ext>
            </a:extLst>
          </p:cNvPr>
          <p:cNvSpPr/>
          <p:nvPr/>
        </p:nvSpPr>
        <p:spPr>
          <a:xfrm flipV="1">
            <a:off x="4289388" y="3542555"/>
            <a:ext cx="1685049" cy="1314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1F0A453E-9385-4DB7-9FED-BBE1223FE520}"/>
              </a:ext>
            </a:extLst>
          </p:cNvPr>
          <p:cNvCxnSpPr>
            <a:cxnSpLocks/>
          </p:cNvCxnSpPr>
          <p:nvPr/>
        </p:nvCxnSpPr>
        <p:spPr>
          <a:xfrm flipV="1">
            <a:off x="1617784" y="3588988"/>
            <a:ext cx="0" cy="6108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9A06DA6-F3EE-4329-8615-69A94F2DAED6}"/>
              </a:ext>
            </a:extLst>
          </p:cNvPr>
          <p:cNvSpPr txBox="1"/>
          <p:nvPr/>
        </p:nvSpPr>
        <p:spPr>
          <a:xfrm>
            <a:off x="1714113" y="3674091"/>
            <a:ext cx="2569421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開啟權限後相對位置。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17C31044-9B20-4528-9497-74980170383B}"/>
              </a:ext>
            </a:extLst>
          </p:cNvPr>
          <p:cNvCxnSpPr>
            <a:cxnSpLocks/>
          </p:cNvCxnSpPr>
          <p:nvPr/>
        </p:nvCxnSpPr>
        <p:spPr>
          <a:xfrm flipV="1">
            <a:off x="1607735" y="4199858"/>
            <a:ext cx="2721845" cy="3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圖片 50">
            <a:extLst>
              <a:ext uri="{FF2B5EF4-FFF2-40B4-BE49-F238E27FC236}">
                <a16:creationId xmlns:a16="http://schemas.microsoft.com/office/drawing/2014/main" id="{697A21B7-447A-4A1B-8429-02D82F19B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723" y="1634761"/>
            <a:ext cx="1533525" cy="2762250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D1E7D48A-7641-4708-A2EC-6A26E05D2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806" y="1442311"/>
            <a:ext cx="2982292" cy="3910714"/>
          </a:xfrm>
          <a:prstGeom prst="rect">
            <a:avLst/>
          </a:prstGeom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0175708A-AD0F-4BAC-98BF-8D45EB0B3F67}"/>
              </a:ext>
            </a:extLst>
          </p:cNvPr>
          <p:cNvSpPr/>
          <p:nvPr/>
        </p:nvSpPr>
        <p:spPr>
          <a:xfrm flipV="1">
            <a:off x="6931459" y="2371764"/>
            <a:ext cx="665095" cy="20226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3F88EDA-CDF9-46EF-855C-57D8F2F800B6}"/>
              </a:ext>
            </a:extLst>
          </p:cNvPr>
          <p:cNvSpPr/>
          <p:nvPr/>
        </p:nvSpPr>
        <p:spPr>
          <a:xfrm flipV="1">
            <a:off x="8733159" y="2708341"/>
            <a:ext cx="2893586" cy="6561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91EF0E0-1DF0-4B5C-A34B-5A0CDCF71058}"/>
              </a:ext>
            </a:extLst>
          </p:cNvPr>
          <p:cNvSpPr/>
          <p:nvPr/>
        </p:nvSpPr>
        <p:spPr>
          <a:xfrm flipV="1">
            <a:off x="9177882" y="4672789"/>
            <a:ext cx="1685049" cy="698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A134E6AD-FB72-45A4-ACB6-72555C844AAF}"/>
              </a:ext>
            </a:extLst>
          </p:cNvPr>
          <p:cNvSpPr txBox="1"/>
          <p:nvPr/>
        </p:nvSpPr>
        <p:spPr>
          <a:xfrm>
            <a:off x="6578262" y="5108303"/>
            <a:ext cx="2569421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開啟權限後相對位置。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48" name="接點: 肘形 47">
            <a:extLst>
              <a:ext uri="{FF2B5EF4-FFF2-40B4-BE49-F238E27FC236}">
                <a16:creationId xmlns:a16="http://schemas.microsoft.com/office/drawing/2014/main" id="{23B5D7D9-7A10-4CBE-B0D5-9413A0B3C142}"/>
              </a:ext>
            </a:extLst>
          </p:cNvPr>
          <p:cNvCxnSpPr>
            <a:stCxn id="55" idx="1"/>
            <a:endCxn id="53" idx="0"/>
          </p:cNvCxnSpPr>
          <p:nvPr/>
        </p:nvCxnSpPr>
        <p:spPr>
          <a:xfrm rot="10800000">
            <a:off x="7264008" y="4394447"/>
            <a:ext cx="1913875" cy="6277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47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D4AB7396-7CBD-4D13-939F-E65324070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36" y="1634760"/>
            <a:ext cx="1533525" cy="276225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619FA87B-B02E-4B8D-BC4B-AC1949AB7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391" y="1762939"/>
            <a:ext cx="2982292" cy="391071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-65299" y="838210"/>
            <a:ext cx="5712474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教學重點：開啟權限後顯示的相對位置。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開啟權限功能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使用者管理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開啟系統管理功能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5395356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F8E7692-7563-46F7-83A4-640F3B0F14BC}"/>
              </a:ext>
            </a:extLst>
          </p:cNvPr>
          <p:cNvSpPr/>
          <p:nvPr/>
        </p:nvSpPr>
        <p:spPr>
          <a:xfrm flipV="1">
            <a:off x="450272" y="2371763"/>
            <a:ext cx="665095" cy="20226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8E38D2F-2F5E-4597-98E8-C02981A782E2}"/>
              </a:ext>
            </a:extLst>
          </p:cNvPr>
          <p:cNvSpPr/>
          <p:nvPr/>
        </p:nvSpPr>
        <p:spPr>
          <a:xfrm flipV="1">
            <a:off x="3035744" y="3028969"/>
            <a:ext cx="2893586" cy="6561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CBA3B4-A0ED-4ED1-9769-E8CD745A7001}"/>
              </a:ext>
            </a:extLst>
          </p:cNvPr>
          <p:cNvSpPr/>
          <p:nvPr/>
        </p:nvSpPr>
        <p:spPr>
          <a:xfrm flipV="1">
            <a:off x="3480467" y="4993417"/>
            <a:ext cx="1685049" cy="698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9A06DA6-F3EE-4329-8615-69A94F2DAED6}"/>
              </a:ext>
            </a:extLst>
          </p:cNvPr>
          <p:cNvSpPr txBox="1"/>
          <p:nvPr/>
        </p:nvSpPr>
        <p:spPr>
          <a:xfrm>
            <a:off x="846933" y="4827245"/>
            <a:ext cx="2569421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開啟權限後相對位置。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D2DBAB9C-36A8-4108-ABCF-63A32FACC127}"/>
              </a:ext>
            </a:extLst>
          </p:cNvPr>
          <p:cNvCxnSpPr>
            <a:cxnSpLocks/>
            <a:stCxn id="20" idx="1"/>
            <a:endCxn id="31" idx="0"/>
          </p:cNvCxnSpPr>
          <p:nvPr/>
        </p:nvCxnSpPr>
        <p:spPr>
          <a:xfrm rot="10800000">
            <a:off x="782821" y="4394445"/>
            <a:ext cx="2697647" cy="94839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67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圖片 29">
            <a:extLst>
              <a:ext uri="{FF2B5EF4-FFF2-40B4-BE49-F238E27FC236}">
                <a16:creationId xmlns:a16="http://schemas.microsoft.com/office/drawing/2014/main" id="{D40434FD-15DD-4311-9D29-949ADF1CB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30" y="1456877"/>
            <a:ext cx="2700249" cy="488695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E078046E-3C65-47F5-A517-FF7B908D3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810" y="1456877"/>
            <a:ext cx="7324845" cy="92251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0257"/>
            <a:ext cx="1190131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控制重點：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群組</a:t>
            </a:r>
            <a:r>
              <a:rPr lang="zh-TW" altLang="en-US" sz="2400" b="1" dirty="0">
                <a:cs typeface="+mn-ea"/>
                <a:sym typeface="+mn-lt"/>
              </a:rPr>
              <a:t>與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職稱</a:t>
            </a:r>
            <a:r>
              <a:rPr lang="zh-TW" altLang="en-US" sz="2400" b="1" dirty="0">
                <a:cs typeface="+mn-ea"/>
                <a:sym typeface="+mn-lt"/>
              </a:rPr>
              <a:t>由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群組權限管理帶入</a:t>
            </a:r>
            <a:r>
              <a:rPr lang="zh-TW" altLang="en-US" sz="2400" b="1" dirty="0">
                <a:cs typeface="+mn-ea"/>
                <a:sym typeface="+mn-lt"/>
              </a:rPr>
              <a:t>，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密碼</a:t>
            </a:r>
            <a:r>
              <a:rPr lang="zh-TW" altLang="en-US" sz="2400" b="1" dirty="0">
                <a:cs typeface="+mn-ea"/>
                <a:sym typeface="+mn-lt"/>
              </a:rPr>
              <a:t>有設制規定。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使用者管理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新增使用者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1712265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EA96D843-724B-45A2-AB58-3E5F867DCD31}"/>
              </a:ext>
            </a:extLst>
          </p:cNvPr>
          <p:cNvSpPr txBox="1"/>
          <p:nvPr/>
        </p:nvSpPr>
        <p:spPr>
          <a:xfrm>
            <a:off x="4689724" y="7183654"/>
            <a:ext cx="2982292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>
                <a:cs typeface="+mn-ea"/>
                <a:sym typeface="+mn-lt"/>
              </a:rPr>
              <a:t>憑證用途：選擇「機關單位」</a:t>
            </a:r>
            <a:endParaRPr lang="en-US" altLang="zh-TW" b="1" dirty="0"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20E2A3-4039-4406-B26C-7EE24A3A9868}"/>
              </a:ext>
            </a:extLst>
          </p:cNvPr>
          <p:cNvSpPr/>
          <p:nvPr/>
        </p:nvSpPr>
        <p:spPr>
          <a:xfrm flipV="1">
            <a:off x="553230" y="3441473"/>
            <a:ext cx="2700249" cy="13733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B103CC-8760-4394-86A6-E3A3F5A1C78C}"/>
              </a:ext>
            </a:extLst>
          </p:cNvPr>
          <p:cNvSpPr/>
          <p:nvPr/>
        </p:nvSpPr>
        <p:spPr>
          <a:xfrm flipV="1">
            <a:off x="10835778" y="1623727"/>
            <a:ext cx="1210877" cy="4705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06ACBD-DADA-427E-9D3B-BF43251505E4}"/>
              </a:ext>
            </a:extLst>
          </p:cNvPr>
          <p:cNvSpPr/>
          <p:nvPr/>
        </p:nvSpPr>
        <p:spPr>
          <a:xfrm flipV="1">
            <a:off x="553230" y="5931895"/>
            <a:ext cx="2700249" cy="411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5795E1EB-D098-40C3-841A-D098DD3B2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7721" y="5445699"/>
            <a:ext cx="4192013" cy="953069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39995CCD-B212-484A-B430-3BD33B35BE82}"/>
              </a:ext>
            </a:extLst>
          </p:cNvPr>
          <p:cNvSpPr txBox="1"/>
          <p:nvPr/>
        </p:nvSpPr>
        <p:spPr>
          <a:xfrm>
            <a:off x="4005702" y="3336252"/>
            <a:ext cx="7574405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i="0" dirty="0">
                <a:effectLst/>
                <a:latin typeface="Noto Sans TC"/>
              </a:rPr>
              <a:t>2.</a:t>
            </a:r>
            <a:r>
              <a:rPr lang="zh-TW" altLang="en-US" sz="2000" b="1" i="0" dirty="0">
                <a:effectLst/>
                <a:latin typeface="Noto Sans TC"/>
              </a:rPr>
              <a:t> 長度至少為</a:t>
            </a:r>
            <a:r>
              <a:rPr lang="en-US" altLang="zh-TW" sz="2000" b="1" i="0" dirty="0">
                <a:effectLst/>
                <a:latin typeface="Noto Sans TC"/>
              </a:rPr>
              <a:t>12</a:t>
            </a:r>
            <a:r>
              <a:rPr lang="zh-TW" altLang="en-US" sz="2000" b="1" i="0" dirty="0">
                <a:effectLst/>
                <a:latin typeface="Noto Sans TC"/>
              </a:rPr>
              <a:t>個字元，並須包含一個大寫英文字母、一個小寫英文字母、一個數字及一個特殊符號。範例</a:t>
            </a:r>
            <a:r>
              <a:rPr lang="en-US" altLang="zh-TW" sz="2000" b="1" i="0" dirty="0">
                <a:effectLst/>
                <a:latin typeface="Noto Sans TC"/>
              </a:rPr>
              <a:t>:</a:t>
            </a:r>
            <a:r>
              <a:rPr lang="en-US" altLang="zh-TW" sz="1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Nabcde01Nabcde01@</a:t>
            </a:r>
            <a:endParaRPr lang="en-US" altLang="zh-TW" sz="20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19D6341-09B4-4B32-8057-1A7B4AD3FA8C}"/>
              </a:ext>
            </a:extLst>
          </p:cNvPr>
          <p:cNvSpPr txBox="1"/>
          <p:nvPr/>
        </p:nvSpPr>
        <p:spPr>
          <a:xfrm>
            <a:off x="4005702" y="2672241"/>
            <a:ext cx="5273609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 從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群組權限管理</a:t>
            </a:r>
            <a:r>
              <a:rPr lang="zh-TW" altLang="en-US" sz="2000" b="1" dirty="0">
                <a:cs typeface="+mn-ea"/>
                <a:sym typeface="+mn-lt"/>
              </a:rPr>
              <a:t>帶入，選擇群組與職稱。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6B01CE9-9113-4E63-ADC8-F8B9E912F82D}"/>
              </a:ext>
            </a:extLst>
          </p:cNvPr>
          <p:cNvSpPr/>
          <p:nvPr/>
        </p:nvSpPr>
        <p:spPr>
          <a:xfrm flipV="1">
            <a:off x="3857721" y="5445698"/>
            <a:ext cx="4192013" cy="9530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38A44CC1-958D-4773-9F43-99E8E4FA0338}"/>
              </a:ext>
            </a:extLst>
          </p:cNvPr>
          <p:cNvSpPr txBox="1"/>
          <p:nvPr/>
        </p:nvSpPr>
        <p:spPr>
          <a:xfrm>
            <a:off x="4005702" y="4389058"/>
            <a:ext cx="2988485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3.</a:t>
            </a:r>
            <a:r>
              <a:rPr lang="zh-TW" altLang="en-US" sz="2000" b="1" dirty="0">
                <a:cs typeface="+mn-ea"/>
                <a:sym typeface="+mn-lt"/>
              </a:rPr>
              <a:t> 設定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基本資料</a:t>
            </a:r>
            <a:r>
              <a:rPr lang="zh-TW" altLang="en-US" sz="2000" b="1" dirty="0">
                <a:cs typeface="+mn-ea"/>
                <a:sym typeface="+mn-lt"/>
              </a:rPr>
              <a:t>、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權限</a:t>
            </a:r>
            <a:r>
              <a:rPr lang="zh-TW" altLang="en-US" sz="2000" b="1" dirty="0">
                <a:cs typeface="+mn-ea"/>
                <a:sym typeface="+mn-lt"/>
              </a:rPr>
              <a:t>完成後按新增一筆。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561C3743-8873-403D-A14A-733E897A1049}"/>
              </a:ext>
            </a:extLst>
          </p:cNvPr>
          <p:cNvCxnSpPr>
            <a:stCxn id="43" idx="1"/>
            <a:endCxn id="12" idx="3"/>
          </p:cNvCxnSpPr>
          <p:nvPr/>
        </p:nvCxnSpPr>
        <p:spPr>
          <a:xfrm rot="10800000" flipV="1">
            <a:off x="3253480" y="2893577"/>
            <a:ext cx="752223" cy="1234573"/>
          </a:xfrm>
          <a:prstGeom prst="bentConnector3">
            <a:avLst>
              <a:gd name="adj1" fmla="val 771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8F97D949-9CA9-488E-B6C0-F9193CC2AB4E}"/>
              </a:ext>
            </a:extLst>
          </p:cNvPr>
          <p:cNvCxnSpPr>
            <a:stCxn id="33" idx="1"/>
            <a:endCxn id="22" idx="3"/>
          </p:cNvCxnSpPr>
          <p:nvPr/>
        </p:nvCxnSpPr>
        <p:spPr>
          <a:xfrm rot="10800000" flipV="1">
            <a:off x="3253480" y="3727849"/>
            <a:ext cx="752223" cy="2410012"/>
          </a:xfrm>
          <a:prstGeom prst="bentConnector3">
            <a:avLst>
              <a:gd name="adj1" fmla="val 5799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E870FCED-F565-4254-9578-662FAEC00968}"/>
              </a:ext>
            </a:extLst>
          </p:cNvPr>
          <p:cNvCxnSpPr>
            <a:stCxn id="49" idx="1"/>
            <a:endCxn id="48" idx="1"/>
          </p:cNvCxnSpPr>
          <p:nvPr/>
        </p:nvCxnSpPr>
        <p:spPr>
          <a:xfrm rot="10800000" flipV="1">
            <a:off x="3857722" y="4780655"/>
            <a:ext cx="147981" cy="1141578"/>
          </a:xfrm>
          <a:prstGeom prst="bentConnector3">
            <a:avLst>
              <a:gd name="adj1" fmla="val 21382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1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3520C00C-01CE-4655-9312-AD0E6B9A7DED}"/>
              </a:ext>
            </a:extLst>
          </p:cNvPr>
          <p:cNvGrpSpPr/>
          <p:nvPr/>
        </p:nvGrpSpPr>
        <p:grpSpPr>
          <a:xfrm>
            <a:off x="784207" y="2039589"/>
            <a:ext cx="12482443" cy="1107996"/>
            <a:chOff x="2825712" y="1467601"/>
            <a:chExt cx="7840001" cy="110799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6033369C-8ACD-4F00-880A-AAF0AFAD759D}"/>
                </a:ext>
              </a:extLst>
            </p:cNvPr>
            <p:cNvSpPr txBox="1"/>
            <p:nvPr/>
          </p:nvSpPr>
          <p:spPr>
            <a:xfrm>
              <a:off x="2825712" y="1513767"/>
              <a:ext cx="97321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TW" altLang="en-US" sz="6000" b="1" dirty="0">
                <a:effectLst>
                  <a:outerShdw dist="38100" dir="120000" sx="108000" sy="108000" algn="tl" rotWithShape="0">
                    <a:srgbClr val="FF6F3C"/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62250469-7D63-474A-B25E-529B67A3AA3D}"/>
                </a:ext>
              </a:extLst>
            </p:cNvPr>
            <p:cNvSpPr txBox="1"/>
            <p:nvPr/>
          </p:nvSpPr>
          <p:spPr>
            <a:xfrm>
              <a:off x="3298779" y="1467601"/>
              <a:ext cx="736693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6600" b="1" spc="600" dirty="0">
                  <a:cs typeface="+mn-ea"/>
                  <a:sym typeface="+mn-lt"/>
                </a:rPr>
                <a:t>單位管理功能</a:t>
              </a:r>
              <a:r>
                <a:rPr lang="en-US" altLang="zh-TW" sz="6600" b="1" spc="600" dirty="0">
                  <a:cs typeface="+mn-ea"/>
                  <a:sym typeface="+mn-lt"/>
                </a:rPr>
                <a:t>-</a:t>
              </a:r>
              <a:r>
                <a:rPr lang="zh-TW" altLang="en-US" sz="6600" b="1" spc="600" dirty="0">
                  <a:cs typeface="+mn-ea"/>
                  <a:sym typeface="+mn-lt"/>
                </a:rPr>
                <a:t>操作手冊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300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511153C-90C6-495E-8954-309374AB3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637" y="5143897"/>
            <a:ext cx="8644941" cy="944624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43E74C9F-1AC2-408B-97DB-42ACF0387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39" y="2111132"/>
            <a:ext cx="11423940" cy="242933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5046351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進入單位管理畫面，介紹搜尋功能。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單位管理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搜尋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260700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>
            <a:off x="383456" y="4717103"/>
            <a:ext cx="2035279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點選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系統管理</a:t>
            </a:r>
            <a:endParaRPr lang="en-US" altLang="zh-TW" sz="2000" b="1" dirty="0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選擇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單位管理</a:t>
            </a:r>
            <a:endParaRPr lang="en-US" altLang="zh-TW" sz="20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ADEBE3-AB9F-4BE0-B841-80720B90A527}"/>
              </a:ext>
            </a:extLst>
          </p:cNvPr>
          <p:cNvSpPr/>
          <p:nvPr/>
        </p:nvSpPr>
        <p:spPr>
          <a:xfrm flipV="1">
            <a:off x="732503" y="2485024"/>
            <a:ext cx="668593" cy="2863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597F33-46FA-4036-BEEC-08C5670191FD}"/>
              </a:ext>
            </a:extLst>
          </p:cNvPr>
          <p:cNvSpPr/>
          <p:nvPr/>
        </p:nvSpPr>
        <p:spPr>
          <a:xfrm flipV="1">
            <a:off x="305046" y="3548437"/>
            <a:ext cx="355289" cy="4276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976833-B313-4336-B43F-9C3E3E3CE5B4}"/>
              </a:ext>
            </a:extLst>
          </p:cNvPr>
          <p:cNvSpPr/>
          <p:nvPr/>
        </p:nvSpPr>
        <p:spPr>
          <a:xfrm flipV="1">
            <a:off x="4026310" y="2485024"/>
            <a:ext cx="1165385" cy="3384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BBCFB-2201-4C82-A1CC-03E1091634E3}"/>
              </a:ext>
            </a:extLst>
          </p:cNvPr>
          <p:cNvSpPr/>
          <p:nvPr/>
        </p:nvSpPr>
        <p:spPr>
          <a:xfrm flipV="1">
            <a:off x="2492461" y="3305703"/>
            <a:ext cx="2369574" cy="345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CC5A33-2D1A-403A-9698-7F863DEF5C4C}"/>
              </a:ext>
            </a:extLst>
          </p:cNvPr>
          <p:cNvSpPr/>
          <p:nvPr/>
        </p:nvSpPr>
        <p:spPr>
          <a:xfrm flipV="1">
            <a:off x="9053565" y="3305703"/>
            <a:ext cx="2675422" cy="3059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E8CF0DBF-88C3-42F8-9F36-B719FB627A66}"/>
              </a:ext>
            </a:extLst>
          </p:cNvPr>
          <p:cNvSpPr txBox="1"/>
          <p:nvPr/>
        </p:nvSpPr>
        <p:spPr>
          <a:xfrm>
            <a:off x="2647637" y="4102077"/>
            <a:ext cx="6673344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條件篩選後選項顯示於右邊，需重新搜尋可使用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全部清空</a:t>
            </a:r>
            <a:r>
              <a:rPr lang="zh-TW" altLang="en-US" sz="2000" b="1" dirty="0">
                <a:cs typeface="+mn-ea"/>
                <a:sym typeface="+mn-lt"/>
              </a:rPr>
              <a:t>。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zh-TW" altLang="en-US" sz="2000" b="1" dirty="0">
                <a:cs typeface="+mn-ea"/>
                <a:sym typeface="+mn-lt"/>
              </a:rPr>
              <a:t>搜尋完成如下圖。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80" name="接點: 肘形 79">
            <a:extLst>
              <a:ext uri="{FF2B5EF4-FFF2-40B4-BE49-F238E27FC236}">
                <a16:creationId xmlns:a16="http://schemas.microsoft.com/office/drawing/2014/main" id="{86257593-ACA6-4C66-83DB-6B431320E6A7}"/>
              </a:ext>
            </a:extLst>
          </p:cNvPr>
          <p:cNvCxnSpPr>
            <a:cxnSpLocks/>
            <a:stCxn id="25" idx="0"/>
            <a:endCxn id="65" idx="0"/>
          </p:cNvCxnSpPr>
          <p:nvPr/>
        </p:nvCxnSpPr>
        <p:spPr>
          <a:xfrm rot="5400000">
            <a:off x="7942575" y="1653376"/>
            <a:ext cx="490436" cy="440696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938DEC40-2E73-4FD0-9B5F-8E5B68FBFE78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4862035" y="3458672"/>
            <a:ext cx="4191530" cy="196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A4BCBFBC-18AE-47E0-B875-848DB7959335}"/>
              </a:ext>
            </a:extLst>
          </p:cNvPr>
          <p:cNvSpPr txBox="1"/>
          <p:nvPr/>
        </p:nvSpPr>
        <p:spPr>
          <a:xfrm>
            <a:off x="3119862" y="1714103"/>
            <a:ext cx="2978279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cs typeface="+mn-ea"/>
                <a:sym typeface="+mn-lt"/>
              </a:rPr>
              <a:t>此按鈕選擇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機關</a:t>
            </a:r>
            <a:r>
              <a:rPr lang="zh-TW" altLang="en-US" sz="2000" b="1" dirty="0">
                <a:cs typeface="+mn-ea"/>
                <a:sym typeface="+mn-lt"/>
              </a:rPr>
              <a:t>或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廠商</a:t>
            </a:r>
            <a:r>
              <a:rPr lang="zh-TW" altLang="en-US" sz="2000" b="1" dirty="0">
                <a:cs typeface="+mn-ea"/>
                <a:sym typeface="+mn-lt"/>
              </a:rPr>
              <a:t>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87" name="直線單箭頭接點 86">
            <a:extLst>
              <a:ext uri="{FF2B5EF4-FFF2-40B4-BE49-F238E27FC236}">
                <a16:creationId xmlns:a16="http://schemas.microsoft.com/office/drawing/2014/main" id="{DA02E17D-450D-42B5-AB6C-1F44CFE8EB00}"/>
              </a:ext>
            </a:extLst>
          </p:cNvPr>
          <p:cNvCxnSpPr>
            <a:cxnSpLocks/>
            <a:stCxn id="22" idx="2"/>
          </p:cNvCxnSpPr>
          <p:nvPr/>
        </p:nvCxnSpPr>
        <p:spPr>
          <a:xfrm flipV="1">
            <a:off x="4609003" y="2156777"/>
            <a:ext cx="0" cy="3282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C60DEB41-9086-4DEE-9397-99A9CC2DA1F3}"/>
              </a:ext>
            </a:extLst>
          </p:cNvPr>
          <p:cNvCxnSpPr>
            <a:endCxn id="8" idx="0"/>
          </p:cNvCxnSpPr>
          <p:nvPr/>
        </p:nvCxnSpPr>
        <p:spPr>
          <a:xfrm flipH="1">
            <a:off x="1401096" y="3779271"/>
            <a:ext cx="15643" cy="937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639FB736-F3A4-4C56-B252-A9B677921072}"/>
              </a:ext>
            </a:extLst>
          </p:cNvPr>
          <p:cNvCxnSpPr>
            <a:cxnSpLocks/>
            <a:stCxn id="18" idx="3"/>
            <a:endCxn id="21" idx="3"/>
          </p:cNvCxnSpPr>
          <p:nvPr/>
        </p:nvCxnSpPr>
        <p:spPr>
          <a:xfrm flipH="1">
            <a:off x="660335" y="2628182"/>
            <a:ext cx="740761" cy="1134074"/>
          </a:xfrm>
          <a:prstGeom prst="bentConnector3">
            <a:avLst>
              <a:gd name="adj1" fmla="val -3086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E03F90EE-88AF-4BAD-A448-9A690A9743C1}"/>
              </a:ext>
            </a:extLst>
          </p:cNvPr>
          <p:cNvSpPr/>
          <p:nvPr/>
        </p:nvSpPr>
        <p:spPr>
          <a:xfrm flipV="1">
            <a:off x="2585493" y="5172257"/>
            <a:ext cx="8707085" cy="9352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36EEDB2B-8DB9-4B14-85AE-02BD3EC384E9}"/>
              </a:ext>
            </a:extLst>
          </p:cNvPr>
          <p:cNvCxnSpPr>
            <a:cxnSpLocks/>
            <a:stCxn id="25" idx="3"/>
            <a:endCxn id="26" idx="3"/>
          </p:cNvCxnSpPr>
          <p:nvPr/>
        </p:nvCxnSpPr>
        <p:spPr>
          <a:xfrm flipH="1">
            <a:off x="11292578" y="3458672"/>
            <a:ext cx="436409" cy="2181211"/>
          </a:xfrm>
          <a:prstGeom prst="bentConnector3">
            <a:avLst>
              <a:gd name="adj1" fmla="val -5238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6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6A3FA7FE-BAD8-422D-B4F5-CB0809F99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821" y="4092938"/>
            <a:ext cx="7959797" cy="38260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43E74C9F-1AC2-408B-97DB-42ACF0387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33" y="1564161"/>
            <a:ext cx="11423940" cy="242933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939C7BC-9BC5-4399-B89F-C9EF560FF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1097" y="3113236"/>
            <a:ext cx="3401476" cy="3720368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6" y="899135"/>
            <a:ext cx="3700476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重點：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單位管理</a:t>
            </a:r>
            <a:r>
              <a:rPr lang="zh-TW" altLang="en-US" sz="2400" b="1" dirty="0">
                <a:cs typeface="+mn-ea"/>
                <a:sym typeface="+mn-lt"/>
              </a:rPr>
              <a:t>建立資料。</a:t>
            </a:r>
            <a:endParaRPr lang="en-US" altLang="zh-TW" sz="2400" b="1" dirty="0"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單位管理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新增機關或廠商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4546332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>
            <a:off x="302442" y="4190227"/>
            <a:ext cx="2035279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點選系統管理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選擇單位管理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ADEBE3-AB9F-4BE0-B841-80720B90A527}"/>
              </a:ext>
            </a:extLst>
          </p:cNvPr>
          <p:cNvSpPr/>
          <p:nvPr/>
        </p:nvSpPr>
        <p:spPr>
          <a:xfrm flipV="1">
            <a:off x="667132" y="1997157"/>
            <a:ext cx="668593" cy="2863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597F33-46FA-4036-BEEC-08C5670191FD}"/>
              </a:ext>
            </a:extLst>
          </p:cNvPr>
          <p:cNvSpPr/>
          <p:nvPr/>
        </p:nvSpPr>
        <p:spPr>
          <a:xfrm flipV="1">
            <a:off x="214982" y="3086009"/>
            <a:ext cx="355288" cy="3327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E8CF0DBF-88C3-42F8-9F36-B719FB627A66}"/>
              </a:ext>
            </a:extLst>
          </p:cNvPr>
          <p:cNvSpPr txBox="1"/>
          <p:nvPr/>
        </p:nvSpPr>
        <p:spPr>
          <a:xfrm>
            <a:off x="6723239" y="4510645"/>
            <a:ext cx="5003187" cy="1464231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 按下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新增單位</a:t>
            </a:r>
            <a:r>
              <a:rPr lang="zh-TW" altLang="en-US" sz="2000" b="1" dirty="0">
                <a:cs typeface="+mn-ea"/>
                <a:sym typeface="+mn-lt"/>
              </a:rPr>
              <a:t>，跳出對應視窗。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zh-TW" altLang="en-US" sz="2000" b="1" dirty="0">
                <a:cs typeface="+mn-ea"/>
                <a:sym typeface="+mn-lt"/>
              </a:rPr>
              <a:t>    可以選擇機關或是廠商。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選擇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機關單位新增</a:t>
            </a:r>
            <a:r>
              <a:rPr lang="zh-TW" altLang="en-US" sz="2000" b="1" dirty="0">
                <a:cs typeface="+mn-ea"/>
                <a:sym typeface="+mn-lt"/>
              </a:rPr>
              <a:t>，可細分為四個級別。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3.</a:t>
            </a:r>
            <a:r>
              <a:rPr lang="zh-TW" altLang="en-US" sz="2000" b="1" dirty="0">
                <a:cs typeface="+mn-ea"/>
                <a:sym typeface="+mn-lt"/>
              </a:rPr>
              <a:t>選擇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廠商新增</a:t>
            </a:r>
            <a:r>
              <a:rPr lang="zh-TW" altLang="en-US" sz="2000" b="1" dirty="0">
                <a:cs typeface="+mn-ea"/>
                <a:sym typeface="+mn-lt"/>
              </a:rPr>
              <a:t>，將廠商名稱輸入新增。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C60DEB41-9086-4DEE-9397-99A9CC2DA1F3}"/>
              </a:ext>
            </a:extLst>
          </p:cNvPr>
          <p:cNvCxnSpPr>
            <a:endCxn id="8" idx="0"/>
          </p:cNvCxnSpPr>
          <p:nvPr/>
        </p:nvCxnSpPr>
        <p:spPr>
          <a:xfrm flipH="1">
            <a:off x="1320082" y="3252395"/>
            <a:ext cx="15643" cy="937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639FB736-F3A4-4C56-B252-A9B677921072}"/>
              </a:ext>
            </a:extLst>
          </p:cNvPr>
          <p:cNvCxnSpPr>
            <a:cxnSpLocks/>
            <a:stCxn id="18" idx="3"/>
            <a:endCxn id="21" idx="3"/>
          </p:cNvCxnSpPr>
          <p:nvPr/>
        </p:nvCxnSpPr>
        <p:spPr>
          <a:xfrm flipH="1">
            <a:off x="570270" y="2140315"/>
            <a:ext cx="765455" cy="1112080"/>
          </a:xfrm>
          <a:prstGeom prst="bentConnector3">
            <a:avLst>
              <a:gd name="adj1" fmla="val -2986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9F604982-8868-4255-B1AF-DFD1523EF70F}"/>
              </a:ext>
            </a:extLst>
          </p:cNvPr>
          <p:cNvSpPr/>
          <p:nvPr/>
        </p:nvSpPr>
        <p:spPr>
          <a:xfrm flipV="1">
            <a:off x="9570127" y="3507491"/>
            <a:ext cx="834501" cy="463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091039-3E94-43AD-87B0-7B59E214CC6D}"/>
              </a:ext>
            </a:extLst>
          </p:cNvPr>
          <p:cNvSpPr/>
          <p:nvPr/>
        </p:nvSpPr>
        <p:spPr>
          <a:xfrm flipV="1">
            <a:off x="2729485" y="3096228"/>
            <a:ext cx="3423993" cy="3731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79F3E39-DD6B-49A3-859F-30C75929F9D4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6312023" y="3721312"/>
            <a:ext cx="3258104" cy="178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65D0BEA-058A-4BB4-BC45-885F0A886E47}"/>
              </a:ext>
            </a:extLst>
          </p:cNvPr>
          <p:cNvCxnSpPr>
            <a:cxnSpLocks/>
          </p:cNvCxnSpPr>
          <p:nvPr/>
        </p:nvCxnSpPr>
        <p:spPr>
          <a:xfrm>
            <a:off x="6153478" y="4973420"/>
            <a:ext cx="4643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32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6A3FA7FE-BAD8-422D-B4F5-CB0809F99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821" y="4092938"/>
            <a:ext cx="7959797" cy="38260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43E74C9F-1AC2-408B-97DB-42ACF0387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33" y="1564161"/>
            <a:ext cx="11423940" cy="242933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A6D93B37-49A3-47C5-860F-E2BA8547B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337" y="3435133"/>
            <a:ext cx="3351461" cy="305222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99135"/>
            <a:ext cx="44595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單位管理功能：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刪除機關單位。</a:t>
            </a:r>
            <a:endParaRPr lang="en-US" altLang="zh-TW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單位管理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刪除機關或廠商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4616670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>
            <a:off x="302442" y="4190227"/>
            <a:ext cx="2035279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點選系統管理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選擇單位管理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ADEBE3-AB9F-4BE0-B841-80720B90A527}"/>
              </a:ext>
            </a:extLst>
          </p:cNvPr>
          <p:cNvSpPr/>
          <p:nvPr/>
        </p:nvSpPr>
        <p:spPr>
          <a:xfrm flipV="1">
            <a:off x="667132" y="1972631"/>
            <a:ext cx="668593" cy="2863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597F33-46FA-4036-BEEC-08C5670191FD}"/>
              </a:ext>
            </a:extLst>
          </p:cNvPr>
          <p:cNvSpPr/>
          <p:nvPr/>
        </p:nvSpPr>
        <p:spPr>
          <a:xfrm flipV="1">
            <a:off x="224032" y="3098306"/>
            <a:ext cx="319995" cy="330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E8CF0DBF-88C3-42F8-9F36-B719FB627A66}"/>
              </a:ext>
            </a:extLst>
          </p:cNvPr>
          <p:cNvSpPr txBox="1"/>
          <p:nvPr/>
        </p:nvSpPr>
        <p:spPr>
          <a:xfrm>
            <a:off x="6664984" y="4579342"/>
            <a:ext cx="4565883" cy="442674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此功能可選取單位後刪除。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C60DEB41-9086-4DEE-9397-99A9CC2DA1F3}"/>
              </a:ext>
            </a:extLst>
          </p:cNvPr>
          <p:cNvCxnSpPr>
            <a:endCxn id="8" idx="0"/>
          </p:cNvCxnSpPr>
          <p:nvPr/>
        </p:nvCxnSpPr>
        <p:spPr>
          <a:xfrm flipH="1">
            <a:off x="1320082" y="3252395"/>
            <a:ext cx="15643" cy="937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639FB736-F3A4-4C56-B252-A9B677921072}"/>
              </a:ext>
            </a:extLst>
          </p:cNvPr>
          <p:cNvCxnSpPr>
            <a:cxnSpLocks/>
            <a:stCxn id="18" idx="3"/>
            <a:endCxn id="21" idx="3"/>
          </p:cNvCxnSpPr>
          <p:nvPr/>
        </p:nvCxnSpPr>
        <p:spPr>
          <a:xfrm flipH="1">
            <a:off x="544027" y="2115789"/>
            <a:ext cx="791698" cy="1147862"/>
          </a:xfrm>
          <a:prstGeom prst="bentConnector3">
            <a:avLst>
              <a:gd name="adj1" fmla="val -2887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5D091039-3E94-43AD-87B0-7B59E214CC6D}"/>
              </a:ext>
            </a:extLst>
          </p:cNvPr>
          <p:cNvSpPr/>
          <p:nvPr/>
        </p:nvSpPr>
        <p:spPr>
          <a:xfrm flipV="1">
            <a:off x="2553877" y="3428999"/>
            <a:ext cx="3352922" cy="30816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79F3E39-DD6B-49A3-859F-30C75929F9D4}"/>
              </a:ext>
            </a:extLst>
          </p:cNvPr>
          <p:cNvCxnSpPr>
            <a:cxnSpLocks/>
          </p:cNvCxnSpPr>
          <p:nvPr/>
        </p:nvCxnSpPr>
        <p:spPr>
          <a:xfrm flipH="1">
            <a:off x="6065344" y="3739202"/>
            <a:ext cx="416173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65D0BEA-058A-4BB4-BC45-885F0A886E47}"/>
              </a:ext>
            </a:extLst>
          </p:cNvPr>
          <p:cNvCxnSpPr>
            <a:cxnSpLocks/>
          </p:cNvCxnSpPr>
          <p:nvPr/>
        </p:nvCxnSpPr>
        <p:spPr>
          <a:xfrm>
            <a:off x="6095999" y="4800679"/>
            <a:ext cx="5524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CE51E2CF-D915-4DC6-8742-A27DCC8444CD}"/>
              </a:ext>
            </a:extLst>
          </p:cNvPr>
          <p:cNvSpPr/>
          <p:nvPr/>
        </p:nvSpPr>
        <p:spPr>
          <a:xfrm flipV="1">
            <a:off x="10449016" y="3553418"/>
            <a:ext cx="994301" cy="3392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8DE4411-ACE8-430E-9B10-47A63DBC8329}"/>
              </a:ext>
            </a:extLst>
          </p:cNvPr>
          <p:cNvSpPr/>
          <p:nvPr/>
        </p:nvSpPr>
        <p:spPr>
          <a:xfrm flipV="1">
            <a:off x="11366205" y="4119867"/>
            <a:ext cx="376168" cy="3556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0BE0346-5E94-4D09-950C-7720E644B736}"/>
              </a:ext>
            </a:extLst>
          </p:cNvPr>
          <p:cNvSpPr txBox="1"/>
          <p:nvPr/>
        </p:nvSpPr>
        <p:spPr>
          <a:xfrm>
            <a:off x="6664985" y="5196870"/>
            <a:ext cx="4423226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利用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搜尋</a:t>
            </a:r>
            <a:r>
              <a:rPr lang="zh-TW" altLang="en-US" sz="2000" b="1" dirty="0">
                <a:cs typeface="+mn-ea"/>
                <a:sym typeface="+mn-lt"/>
              </a:rPr>
              <a:t>找到單位後，按圖案即可編輯</a:t>
            </a:r>
            <a:r>
              <a:rPr lang="en-US" altLang="zh-TW" sz="2000" b="1" dirty="0">
                <a:cs typeface="+mn-ea"/>
                <a:sym typeface="+mn-lt"/>
              </a:rPr>
              <a:t>/</a:t>
            </a:r>
            <a:r>
              <a:rPr lang="zh-TW" altLang="en-US" sz="2000" b="1" dirty="0">
                <a:cs typeface="+mn-ea"/>
                <a:sym typeface="+mn-lt"/>
              </a:rPr>
              <a:t>刪除。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B6A68BFC-F2E4-49DA-8DBF-3BF52052D017}"/>
              </a:ext>
            </a:extLst>
          </p:cNvPr>
          <p:cNvCxnSpPr>
            <a:cxnSpLocks/>
            <a:stCxn id="33" idx="3"/>
            <a:endCxn id="37" idx="3"/>
          </p:cNvCxnSpPr>
          <p:nvPr/>
        </p:nvCxnSpPr>
        <p:spPr>
          <a:xfrm flipH="1">
            <a:off x="11088211" y="4297702"/>
            <a:ext cx="654162" cy="1290765"/>
          </a:xfrm>
          <a:prstGeom prst="bentConnector3">
            <a:avLst>
              <a:gd name="adj1" fmla="val -349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39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6A3FA7FE-BAD8-422D-B4F5-CB0809F99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821" y="4092938"/>
            <a:ext cx="7959797" cy="38260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43E74C9F-1AC2-408B-97DB-42ACF0387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33" y="1564161"/>
            <a:ext cx="11423940" cy="242933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96B8C7B-4323-4DFF-897B-A68CFAE7E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998" y="3426380"/>
            <a:ext cx="3559745" cy="224752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74A5070-52E6-45D8-9E57-142D6C512E7A}"/>
              </a:ext>
            </a:extLst>
          </p:cNvPr>
          <p:cNvSpPr txBox="1"/>
          <p:nvPr/>
        </p:nvSpPr>
        <p:spPr>
          <a:xfrm>
            <a:off x="145344" y="889087"/>
            <a:ext cx="4459509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cs typeface="+mn-ea"/>
                <a:sym typeface="+mn-lt"/>
              </a:rPr>
              <a:t>單位管理功能：</a:t>
            </a:r>
            <a:r>
              <a:rPr lang="zh-TW" altLang="en-US" sz="2400" b="1" dirty="0">
                <a:solidFill>
                  <a:srgbClr val="FF0000"/>
                </a:solidFill>
                <a:cs typeface="+mn-ea"/>
                <a:sym typeface="+mn-lt"/>
              </a:rPr>
              <a:t>編輯機關單位。</a:t>
            </a:r>
            <a:endParaRPr lang="en-US" altLang="zh-TW" sz="24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98EF11F7-FC50-4FF9-BE16-AE146D8B5FE4}"/>
              </a:ext>
            </a:extLst>
          </p:cNvPr>
          <p:cNvSpPr/>
          <p:nvPr/>
        </p:nvSpPr>
        <p:spPr>
          <a:xfrm flipH="1">
            <a:off x="9645038" y="338200"/>
            <a:ext cx="2546957" cy="357573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機關</a:t>
            </a:r>
            <a:r>
              <a:rPr lang="en-US" altLang="zh-TW" sz="2000" b="1" dirty="0">
                <a:solidFill>
                  <a:schemeClr val="tx1"/>
                </a:solidFill>
                <a:cs typeface="+mn-ea"/>
                <a:sym typeface="+mn-lt"/>
              </a:rPr>
              <a:t>-</a:t>
            </a:r>
            <a:r>
              <a:rPr lang="zh-TW" altLang="en-US" sz="2000" b="1" dirty="0">
                <a:solidFill>
                  <a:schemeClr val="tx1"/>
                </a:solidFill>
                <a:cs typeface="+mn-ea"/>
                <a:sym typeface="+mn-lt"/>
              </a:rPr>
              <a:t>使用的功能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D8F48-B55E-49DA-9B62-82A3E38C6C22}"/>
              </a:ext>
            </a:extLst>
          </p:cNvPr>
          <p:cNvSpPr/>
          <p:nvPr/>
        </p:nvSpPr>
        <p:spPr>
          <a:xfrm>
            <a:off x="37578" y="30746"/>
            <a:ext cx="6431802" cy="6650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單位管理</a:t>
            </a:r>
            <a:r>
              <a:rPr lang="en-US" altLang="zh-TW" sz="3200" b="1" dirty="0">
                <a:solidFill>
                  <a:srgbClr val="39759D"/>
                </a:solidFill>
                <a:cs typeface="+mn-ea"/>
                <a:sym typeface="+mn-lt"/>
              </a:rPr>
              <a:t>_</a:t>
            </a:r>
            <a:r>
              <a:rPr lang="zh-TW" altLang="en-US" sz="3200" b="1" dirty="0">
                <a:solidFill>
                  <a:srgbClr val="39759D"/>
                </a:solidFill>
                <a:cs typeface="+mn-ea"/>
                <a:sym typeface="+mn-lt"/>
              </a:rPr>
              <a:t>編輯機關或廠商</a:t>
            </a:r>
            <a:endParaRPr lang="zh-TW" altLang="en-US" sz="3200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CCC58A9-F8FF-419B-A67A-55D2B959D158}"/>
              </a:ext>
            </a:extLst>
          </p:cNvPr>
          <p:cNvCxnSpPr>
            <a:cxnSpLocks/>
          </p:cNvCxnSpPr>
          <p:nvPr/>
        </p:nvCxnSpPr>
        <p:spPr>
          <a:xfrm>
            <a:off x="136200" y="695773"/>
            <a:ext cx="4596574" cy="0"/>
          </a:xfrm>
          <a:prstGeom prst="line">
            <a:avLst/>
          </a:prstGeom>
          <a:ln w="76200">
            <a:solidFill>
              <a:srgbClr val="3975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B3DF71-B9CD-44D7-B25D-900103958020}"/>
              </a:ext>
            </a:extLst>
          </p:cNvPr>
          <p:cNvSpPr txBox="1"/>
          <p:nvPr/>
        </p:nvSpPr>
        <p:spPr>
          <a:xfrm>
            <a:off x="302442" y="4190227"/>
            <a:ext cx="2035279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點選系統管理</a:t>
            </a:r>
            <a:endParaRPr lang="en-US" altLang="zh-TW" sz="2000" b="1" dirty="0">
              <a:cs typeface="+mn-ea"/>
              <a:sym typeface="+mn-lt"/>
            </a:endParaRPr>
          </a:p>
          <a:p>
            <a:r>
              <a:rPr lang="en-US" altLang="zh-TW" sz="2000" b="1" dirty="0">
                <a:cs typeface="+mn-ea"/>
                <a:sym typeface="+mn-lt"/>
              </a:rPr>
              <a:t>2.</a:t>
            </a:r>
            <a:r>
              <a:rPr lang="zh-TW" altLang="en-US" sz="2000" b="1" dirty="0">
                <a:cs typeface="+mn-ea"/>
                <a:sym typeface="+mn-lt"/>
              </a:rPr>
              <a:t>選擇單位管理</a:t>
            </a:r>
            <a:endParaRPr lang="en-US" altLang="zh-TW" sz="2000" b="1" dirty="0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ADEBE3-AB9F-4BE0-B841-80720B90A527}"/>
              </a:ext>
            </a:extLst>
          </p:cNvPr>
          <p:cNvSpPr/>
          <p:nvPr/>
        </p:nvSpPr>
        <p:spPr>
          <a:xfrm flipV="1">
            <a:off x="667132" y="1972631"/>
            <a:ext cx="668593" cy="2863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9597F33-46FA-4036-BEEC-08C5670191FD}"/>
              </a:ext>
            </a:extLst>
          </p:cNvPr>
          <p:cNvSpPr/>
          <p:nvPr/>
        </p:nvSpPr>
        <p:spPr>
          <a:xfrm flipV="1">
            <a:off x="224032" y="3098306"/>
            <a:ext cx="319995" cy="330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C60DEB41-9086-4DEE-9397-99A9CC2DA1F3}"/>
              </a:ext>
            </a:extLst>
          </p:cNvPr>
          <p:cNvCxnSpPr>
            <a:endCxn id="8" idx="0"/>
          </p:cNvCxnSpPr>
          <p:nvPr/>
        </p:nvCxnSpPr>
        <p:spPr>
          <a:xfrm flipH="1">
            <a:off x="1320082" y="3252395"/>
            <a:ext cx="15643" cy="937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639FB736-F3A4-4C56-B252-A9B677921072}"/>
              </a:ext>
            </a:extLst>
          </p:cNvPr>
          <p:cNvCxnSpPr>
            <a:cxnSpLocks/>
            <a:stCxn id="18" idx="3"/>
            <a:endCxn id="21" idx="3"/>
          </p:cNvCxnSpPr>
          <p:nvPr/>
        </p:nvCxnSpPr>
        <p:spPr>
          <a:xfrm flipH="1">
            <a:off x="544027" y="2115789"/>
            <a:ext cx="791698" cy="1147862"/>
          </a:xfrm>
          <a:prstGeom prst="bentConnector3">
            <a:avLst>
              <a:gd name="adj1" fmla="val -2887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5D091039-3E94-43AD-87B0-7B59E214CC6D}"/>
              </a:ext>
            </a:extLst>
          </p:cNvPr>
          <p:cNvSpPr/>
          <p:nvPr/>
        </p:nvSpPr>
        <p:spPr>
          <a:xfrm flipV="1">
            <a:off x="2399998" y="3428994"/>
            <a:ext cx="3559746" cy="2244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65D0BEA-058A-4BB4-BC45-885F0A886E47}"/>
              </a:ext>
            </a:extLst>
          </p:cNvPr>
          <p:cNvCxnSpPr>
            <a:cxnSpLocks/>
          </p:cNvCxnSpPr>
          <p:nvPr/>
        </p:nvCxnSpPr>
        <p:spPr>
          <a:xfrm flipH="1">
            <a:off x="6074144" y="5090427"/>
            <a:ext cx="68998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78DE4411-ACE8-430E-9B10-47A63DBC8329}"/>
              </a:ext>
            </a:extLst>
          </p:cNvPr>
          <p:cNvSpPr/>
          <p:nvPr/>
        </p:nvSpPr>
        <p:spPr>
          <a:xfrm flipV="1">
            <a:off x="11123525" y="4119866"/>
            <a:ext cx="306475" cy="2943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20BE0346-5E94-4D09-950C-7720E644B736}"/>
              </a:ext>
            </a:extLst>
          </p:cNvPr>
          <p:cNvSpPr txBox="1"/>
          <p:nvPr/>
        </p:nvSpPr>
        <p:spPr>
          <a:xfrm>
            <a:off x="6811928" y="4689297"/>
            <a:ext cx="4423226" cy="783193"/>
          </a:xfrm>
          <a:prstGeom prst="wedgeRoundRectCallout">
            <a:avLst>
              <a:gd name="adj1" fmla="val -45077"/>
              <a:gd name="adj2" fmla="val 248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cs typeface="+mn-ea"/>
                <a:sym typeface="+mn-lt"/>
              </a:rPr>
              <a:t>1.</a:t>
            </a:r>
            <a:r>
              <a:rPr lang="zh-TW" altLang="en-US" sz="2000" b="1" dirty="0">
                <a:cs typeface="+mn-ea"/>
                <a:sym typeface="+mn-lt"/>
              </a:rPr>
              <a:t>使用</a:t>
            </a:r>
            <a:r>
              <a:rPr lang="zh-TW" altLang="en-US" sz="2000" b="1" dirty="0">
                <a:solidFill>
                  <a:srgbClr val="FF0000"/>
                </a:solidFill>
                <a:cs typeface="+mn-ea"/>
                <a:sym typeface="+mn-lt"/>
              </a:rPr>
              <a:t>搜尋</a:t>
            </a:r>
            <a:r>
              <a:rPr lang="zh-TW" altLang="en-US" sz="2000" b="1" dirty="0">
                <a:cs typeface="+mn-ea"/>
                <a:sym typeface="+mn-lt"/>
              </a:rPr>
              <a:t>找到單位後，按圖案即可編輯</a:t>
            </a:r>
            <a:endParaRPr lang="en-US" altLang="zh-TW" sz="2000" b="1" dirty="0">
              <a:cs typeface="+mn-ea"/>
              <a:sym typeface="+mn-lt"/>
            </a:endParaRPr>
          </a:p>
        </p:txBody>
      </p:sp>
      <p:cxnSp>
        <p:nvCxnSpPr>
          <p:cNvPr id="43" name="接點: 肘形 42">
            <a:extLst>
              <a:ext uri="{FF2B5EF4-FFF2-40B4-BE49-F238E27FC236}">
                <a16:creationId xmlns:a16="http://schemas.microsoft.com/office/drawing/2014/main" id="{B6A68BFC-F2E4-49DA-8DBF-3BF52052D017}"/>
              </a:ext>
            </a:extLst>
          </p:cNvPr>
          <p:cNvCxnSpPr>
            <a:cxnSpLocks/>
          </p:cNvCxnSpPr>
          <p:nvPr/>
        </p:nvCxnSpPr>
        <p:spPr>
          <a:xfrm flipH="1">
            <a:off x="11235154" y="4414220"/>
            <a:ext cx="194846" cy="620519"/>
          </a:xfrm>
          <a:prstGeom prst="bentConnector3">
            <a:avLst>
              <a:gd name="adj1" fmla="val -11732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53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5A965B-7F54-44F1-88D1-0AF99808D701}"/>
              </a:ext>
            </a:extLst>
          </p:cNvPr>
          <p:cNvSpPr/>
          <p:nvPr/>
        </p:nvSpPr>
        <p:spPr>
          <a:xfrm>
            <a:off x="210261" y="2269261"/>
            <a:ext cx="11555730" cy="675820"/>
          </a:xfrm>
          <a:prstGeom prst="rect">
            <a:avLst/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使用者管理</a:t>
            </a:r>
            <a:r>
              <a:rPr lang="en-US" altLang="zh-TW" dirty="0"/>
              <a:t>(</a:t>
            </a:r>
            <a:r>
              <a:rPr lang="zh-TW" altLang="en-US" dirty="0"/>
              <a:t>微調權限、各處只看到各處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BEA731-9BC0-4250-BBC7-27F62FE714CB}"/>
              </a:ext>
            </a:extLst>
          </p:cNvPr>
          <p:cNvSpPr/>
          <p:nvPr/>
        </p:nvSpPr>
        <p:spPr>
          <a:xfrm>
            <a:off x="210261" y="1286817"/>
            <a:ext cx="11555730" cy="784860"/>
          </a:xfrm>
          <a:prstGeom prst="rect">
            <a:avLst/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開機關、開廠商</a:t>
            </a:r>
            <a:r>
              <a:rPr lang="en-US" altLang="zh-TW" dirty="0"/>
              <a:t>(</a:t>
            </a:r>
            <a:r>
              <a:rPr lang="zh-TW" altLang="en-US" dirty="0"/>
              <a:t>群組權限</a:t>
            </a:r>
            <a:r>
              <a:rPr lang="en-US" altLang="zh-TW" dirty="0"/>
              <a:t>)</a:t>
            </a:r>
            <a:r>
              <a:rPr lang="zh-TW" altLang="en-US" dirty="0"/>
              <a:t>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548828-A093-4150-85FB-29F3ADA1D09D}"/>
              </a:ext>
            </a:extLst>
          </p:cNvPr>
          <p:cNvSpPr/>
          <p:nvPr/>
        </p:nvSpPr>
        <p:spPr>
          <a:xfrm>
            <a:off x="210261" y="3142665"/>
            <a:ext cx="11555730" cy="784860"/>
          </a:xfrm>
          <a:prstGeom prst="rect">
            <a:avLst/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憑證管理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9EF353-1CB6-43D3-B46A-E5F872979C4D}"/>
              </a:ext>
            </a:extLst>
          </p:cNvPr>
          <p:cNvSpPr/>
          <p:nvPr/>
        </p:nvSpPr>
        <p:spPr>
          <a:xfrm>
            <a:off x="210261" y="4301783"/>
            <a:ext cx="11555730" cy="784860"/>
          </a:xfrm>
          <a:prstGeom prst="rect">
            <a:avLst/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人事管理</a:t>
            </a:r>
            <a:r>
              <a:rPr lang="en-US" altLang="zh-TW" dirty="0"/>
              <a:t>(</a:t>
            </a:r>
            <a:r>
              <a:rPr lang="zh-TW" altLang="en-US" dirty="0"/>
              <a:t>可以先做，但是放哪裡可以等整份合併在調整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E044E3-8D97-4D11-946D-EEFC313B2588}"/>
              </a:ext>
            </a:extLst>
          </p:cNvPr>
          <p:cNvSpPr/>
          <p:nvPr/>
        </p:nvSpPr>
        <p:spPr>
          <a:xfrm>
            <a:off x="210261" y="304372"/>
            <a:ext cx="11555730" cy="784860"/>
          </a:xfrm>
          <a:prstGeom prst="rect">
            <a:avLst/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單登，缺職稱說明頁面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C5289C-4A0C-4063-A1B7-83B3BE811492}"/>
              </a:ext>
            </a:extLst>
          </p:cNvPr>
          <p:cNvSpPr/>
          <p:nvPr/>
        </p:nvSpPr>
        <p:spPr>
          <a:xfrm>
            <a:off x="210261" y="5178753"/>
            <a:ext cx="11555730" cy="784860"/>
          </a:xfrm>
          <a:prstGeom prst="rect">
            <a:avLst/>
          </a:prstGeom>
          <a:solidFill>
            <a:srgbClr val="B6C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工程角色授權管理</a:t>
            </a:r>
          </a:p>
        </p:txBody>
      </p:sp>
    </p:spTree>
    <p:extLst>
      <p:ext uri="{BB962C8B-B14F-4D97-AF65-F5344CB8AC3E}">
        <p14:creationId xmlns:p14="http://schemas.microsoft.com/office/powerpoint/2010/main" val="46514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hl141ys">
      <a:majorFont>
        <a:latin typeface="微軟正黑體" panose="020B0604020202020204"/>
        <a:ea typeface="微軟正黑體"/>
        <a:cs typeface=""/>
      </a:majorFont>
      <a:minorFont>
        <a:latin typeface="微軟正黑體" panose="020B0604020202020204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6C8E8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20732</TotalTime>
  <Words>1490</Words>
  <Application>Microsoft Office PowerPoint</Application>
  <PresentationFormat>寬螢幕</PresentationFormat>
  <Paragraphs>215</Paragraphs>
  <Slides>29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5" baseType="lpstr">
      <vt:lpstr>Noto Sans TC</vt:lpstr>
      <vt:lpstr>微軟正黑體</vt:lpstr>
      <vt:lpstr>Arial</vt:lpstr>
      <vt:lpstr>Arial Black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妤珊</dc:creator>
  <cp:lastModifiedBy>10140 sunrise</cp:lastModifiedBy>
  <cp:revision>1313</cp:revision>
  <cp:lastPrinted>2020-08-17T01:41:09Z</cp:lastPrinted>
  <dcterms:created xsi:type="dcterms:W3CDTF">2020-05-15T02:43:33Z</dcterms:created>
  <dcterms:modified xsi:type="dcterms:W3CDTF">2022-01-18T08:54:01Z</dcterms:modified>
</cp:coreProperties>
</file>
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8" d="100"/>
          <a:sy n="118" d="100"/>
        </p:scale>
        <p:origin x="610" y="-7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BBC32F-BC28-4221-B6FF-D78B62618E79}" type="datetimeFigureOut">
              <a:rPr lang="zh-TW" altLang="en-US" smtClean="0"/>
              <a:t>2022/1/25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5567D7-AF2A-47BD-9733-53C4274AEA1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84274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674663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18960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80637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11283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24908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88819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76659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73553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322893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21076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C1CDC-CB3F-4C6F-802F-7C071E69026E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881993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3262-28ED-4F8C-8558-DF4C8F8DE18F}" type="datetimeFigureOut">
              <a:rPr lang="zh-TW" altLang="en-US" smtClean="0"/>
              <a:t>2022/1/25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C187F7-9DC5-429A-A246-D93D4F2788C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0967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3262-28ED-4F8C-8558-DF4C8F8DE18F}" type="datetimeFigureOut">
              <a:rPr lang="zh-TW" altLang="en-US" smtClean="0"/>
              <a:t>2022/1/25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C187F7-9DC5-429A-A246-D93D4F2788C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485271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3262-28ED-4F8C-8558-DF4C8F8DE18F}" type="datetimeFigureOut">
              <a:rPr lang="zh-TW" altLang="en-US" smtClean="0"/>
              <a:t>2022/1/25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C187F7-9DC5-429A-A246-D93D4F2788C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29409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3262-28ED-4F8C-8558-DF4C8F8DE18F}" type="datetimeFigureOut">
              <a:rPr lang="zh-TW" altLang="en-US" smtClean="0"/>
              <a:t>2022/1/25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C187F7-9DC5-429A-A246-D93D4F2788C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09092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3262-28ED-4F8C-8558-DF4C8F8DE18F}" type="datetimeFigureOut">
              <a:rPr lang="zh-TW" altLang="en-US" smtClean="0"/>
              <a:t>2022/1/25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C187F7-9DC5-429A-A246-D93D4F2788C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28909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3262-28ED-4F8C-8558-DF4C8F8DE18F}" type="datetimeFigureOut">
              <a:rPr lang="zh-TW" altLang="en-US" smtClean="0"/>
              <a:t>2022/1/25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C187F7-9DC5-429A-A246-D93D4F2788C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950667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3262-28ED-4F8C-8558-DF4C8F8DE18F}" type="datetimeFigureOut">
              <a:rPr lang="zh-TW" altLang="en-US" smtClean="0"/>
              <a:t>2022/1/25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C187F7-9DC5-429A-A246-D93D4F2788C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04064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3262-28ED-4F8C-8558-DF4C8F8DE18F}" type="datetimeFigureOut">
              <a:rPr lang="zh-TW" altLang="en-US" smtClean="0"/>
              <a:t>2022/1/25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C187F7-9DC5-429A-A246-D93D4F2788C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49765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3262-28ED-4F8C-8558-DF4C8F8DE18F}" type="datetimeFigureOut">
              <a:rPr lang="zh-TW" altLang="en-US" smtClean="0"/>
              <a:t>2022/1/25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C187F7-9DC5-429A-A246-D93D4F2788C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5855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3262-28ED-4F8C-8558-DF4C8F8DE18F}" type="datetimeFigureOut">
              <a:rPr lang="zh-TW" altLang="en-US" smtClean="0"/>
              <a:t>2022/1/25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C187F7-9DC5-429A-A246-D93D4F2788C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12717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3262-28ED-4F8C-8558-DF4C8F8DE18F}" type="datetimeFigureOut">
              <a:rPr lang="zh-TW" altLang="en-US" smtClean="0"/>
              <a:t>2022/1/25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C187F7-9DC5-429A-A246-D93D4F2788C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412198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平行四邊形 2">
            <a:extLst>
              <a:ext uri="{FF2B5EF4-FFF2-40B4-BE49-F238E27FC236}">
                <a16:creationId xmlns:a16="http://schemas.microsoft.com/office/drawing/2014/main" id="{91D5AE83-63CE-48B5-A42F-B1CF0405B267}"/>
              </a:ext>
            </a:extLst>
          </p:cNvPr>
          <p:cNvSpPr/>
          <p:nvPr userDrawn="1"/>
        </p:nvSpPr>
        <p:spPr>
          <a:xfrm>
            <a:off x="-6724" y="-17772"/>
            <a:ext cx="9659805" cy="6875771"/>
          </a:xfrm>
          <a:custGeom>
            <a:avLst/>
            <a:gdLst>
              <a:gd name="connsiteX0" fmla="*/ 0 w 9211235"/>
              <a:gd name="connsiteY0" fmla="*/ 6858000 h 6858000"/>
              <a:gd name="connsiteX1" fmla="*/ 1714500 w 9211235"/>
              <a:gd name="connsiteY1" fmla="*/ 0 h 6858000"/>
              <a:gd name="connsiteX2" fmla="*/ 9211235 w 9211235"/>
              <a:gd name="connsiteY2" fmla="*/ 0 h 6858000"/>
              <a:gd name="connsiteX3" fmla="*/ 7496735 w 9211235"/>
              <a:gd name="connsiteY3" fmla="*/ 6858000 h 6858000"/>
              <a:gd name="connsiteX4" fmla="*/ 0 w 9211235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13447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75034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093634 w 9217959"/>
              <a:gd name="connsiteY3" fmla="*/ 68199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5103159 w 9217959"/>
              <a:gd name="connsiteY3" fmla="*/ 6858000 h 6858000"/>
              <a:gd name="connsiteX4" fmla="*/ 6724 w 9217959"/>
              <a:gd name="connsiteY4" fmla="*/ 6858000 h 6858000"/>
              <a:gd name="connsiteX0" fmla="*/ 6724 w 9217959"/>
              <a:gd name="connsiteY0" fmla="*/ 6858000 h 6858000"/>
              <a:gd name="connsiteX1" fmla="*/ 0 w 9217959"/>
              <a:gd name="connsiteY1" fmla="*/ 3922 h 6858000"/>
              <a:gd name="connsiteX2" fmla="*/ 9217959 w 9217959"/>
              <a:gd name="connsiteY2" fmla="*/ 0 h 6858000"/>
              <a:gd name="connsiteX3" fmla="*/ 4845984 w 9217959"/>
              <a:gd name="connsiteY3" fmla="*/ 6848475 h 6858000"/>
              <a:gd name="connsiteX4" fmla="*/ 6724 w 9217959"/>
              <a:gd name="connsiteY4" fmla="*/ 6858000 h 6858000"/>
              <a:gd name="connsiteX0" fmla="*/ 6724 w 9332259"/>
              <a:gd name="connsiteY0" fmla="*/ 6854078 h 6854078"/>
              <a:gd name="connsiteX1" fmla="*/ 0 w 9332259"/>
              <a:gd name="connsiteY1" fmla="*/ 0 h 6854078"/>
              <a:gd name="connsiteX2" fmla="*/ 9332259 w 9332259"/>
              <a:gd name="connsiteY2" fmla="*/ 5603 h 6854078"/>
              <a:gd name="connsiteX3" fmla="*/ 4845984 w 9332259"/>
              <a:gd name="connsiteY3" fmla="*/ 6844553 h 6854078"/>
              <a:gd name="connsiteX4" fmla="*/ 6724 w 9332259"/>
              <a:gd name="connsiteY4" fmla="*/ 6854078 h 6854078"/>
              <a:gd name="connsiteX0" fmla="*/ 6724 w 9659805"/>
              <a:gd name="connsiteY0" fmla="*/ 6875771 h 6875771"/>
              <a:gd name="connsiteX1" fmla="*/ 0 w 9659805"/>
              <a:gd name="connsiteY1" fmla="*/ 21693 h 6875771"/>
              <a:gd name="connsiteX2" fmla="*/ 9659805 w 9659805"/>
              <a:gd name="connsiteY2" fmla="*/ 0 h 6875771"/>
              <a:gd name="connsiteX3" fmla="*/ 4845984 w 9659805"/>
              <a:gd name="connsiteY3" fmla="*/ 6866246 h 6875771"/>
              <a:gd name="connsiteX4" fmla="*/ 6724 w 9659805"/>
              <a:gd name="connsiteY4" fmla="*/ 6875771 h 68757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59805" h="6875771">
                <a:moveTo>
                  <a:pt x="6724" y="6875771"/>
                </a:moveTo>
                <a:cubicBezTo>
                  <a:pt x="4483" y="4594253"/>
                  <a:pt x="2241" y="2303211"/>
                  <a:pt x="0" y="21693"/>
                </a:cubicBezTo>
                <a:lnTo>
                  <a:pt x="9659805" y="0"/>
                </a:lnTo>
                <a:lnTo>
                  <a:pt x="4845984" y="6866246"/>
                </a:lnTo>
                <a:lnTo>
                  <a:pt x="6724" y="6875771"/>
                </a:lnTo>
                <a:close/>
              </a:path>
            </a:pathLst>
          </a:custGeom>
          <a:solidFill>
            <a:srgbClr val="FFC82D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直角三角形 7">
            <a:extLst>
              <a:ext uri="{FF2B5EF4-FFF2-40B4-BE49-F238E27FC236}">
                <a16:creationId xmlns:a16="http://schemas.microsoft.com/office/drawing/2014/main" id="{129AC101-C702-4CAD-8D0F-5F51CAD09064}"/>
              </a:ext>
            </a:extLst>
          </p:cNvPr>
          <p:cNvSpPr/>
          <p:nvPr userDrawn="1"/>
        </p:nvSpPr>
        <p:spPr>
          <a:xfrm rot="10800000" flipH="1">
            <a:off x="-6724" y="0"/>
            <a:ext cx="3993776" cy="5580529"/>
          </a:xfrm>
          <a:prstGeom prst="rtTriangle">
            <a:avLst/>
          </a:prstGeom>
          <a:solidFill>
            <a:srgbClr val="F2B3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D0E8D8B-50AB-4582-82DA-49360B3A9D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0466" y="2249905"/>
            <a:ext cx="6382794" cy="5822548"/>
          </a:xfrm>
          <a:prstGeom prst="rect">
            <a:avLst/>
          </a:prstGeom>
        </p:spPr>
      </p:pic>
      <p:sp>
        <p:nvSpPr>
          <p:cNvPr id="18" name="矩形: 剪去單一角落 17">
            <a:extLst>
              <a:ext uri="{FF2B5EF4-FFF2-40B4-BE49-F238E27FC236}">
                <a16:creationId xmlns:a16="http://schemas.microsoft.com/office/drawing/2014/main" id="{5ADD64BA-5421-4E9B-9A93-97EB2E797B10}"/>
              </a:ext>
            </a:extLst>
          </p:cNvPr>
          <p:cNvSpPr/>
          <p:nvPr userDrawn="1"/>
        </p:nvSpPr>
        <p:spPr>
          <a:xfrm>
            <a:off x="-6726" y="0"/>
            <a:ext cx="12198726" cy="6882634"/>
          </a:xfrm>
          <a:prstGeom prst="snip1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1" name="直角三角形 10">
            <a:extLst>
              <a:ext uri="{FF2B5EF4-FFF2-40B4-BE49-F238E27FC236}">
                <a16:creationId xmlns:a16="http://schemas.microsoft.com/office/drawing/2014/main" id="{B85A7BCC-ACFE-4A9D-9F71-011F8FB51103}"/>
              </a:ext>
            </a:extLst>
          </p:cNvPr>
          <p:cNvSpPr/>
          <p:nvPr userDrawn="1"/>
        </p:nvSpPr>
        <p:spPr>
          <a:xfrm flipH="1">
            <a:off x="10164464" y="4054018"/>
            <a:ext cx="2041965" cy="2853251"/>
          </a:xfrm>
          <a:prstGeom prst="rtTriangle">
            <a:avLst/>
          </a:prstGeom>
          <a:solidFill>
            <a:srgbClr val="F5D66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7998DED-F427-4455-A05C-E7B56412BD0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390" y="6285829"/>
            <a:ext cx="1413933" cy="413323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0027AE0E-B02F-4682-8455-DD002D2D488D}"/>
              </a:ext>
            </a:extLst>
          </p:cNvPr>
          <p:cNvGrpSpPr/>
          <p:nvPr userDrawn="1"/>
        </p:nvGrpSpPr>
        <p:grpSpPr>
          <a:xfrm>
            <a:off x="9392813" y="-24635"/>
            <a:ext cx="2828046" cy="338554"/>
            <a:chOff x="9154688" y="-24635"/>
            <a:chExt cx="2828046" cy="338554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0637A318-5BE2-4A0C-AA7A-60FD8E8BEF7C}"/>
                </a:ext>
              </a:extLst>
            </p:cNvPr>
            <p:cNvSpPr txBox="1"/>
            <p:nvPr userDrawn="1"/>
          </p:nvSpPr>
          <p:spPr>
            <a:xfrm>
              <a:off x="9154688" y="-24635"/>
              <a:ext cx="28280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b="1" dirty="0">
                  <a:solidFill>
                    <a:srgbClr val="00206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工程履約管理資訊系統建置</a:t>
              </a:r>
            </a:p>
          </p:txBody>
        </p: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D9BE1FAC-67A3-4D46-802E-1D6C3B3B981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191863" y="284850"/>
              <a:ext cx="2476262" cy="1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" name="圖片 15">
            <a:extLst>
              <a:ext uri="{FF2B5EF4-FFF2-40B4-BE49-F238E27FC236}">
                <a16:creationId xmlns:a16="http://schemas.microsoft.com/office/drawing/2014/main" id="{31809C49-1534-424B-A6CC-321159C1E27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59" y="6341952"/>
            <a:ext cx="2590800" cy="3810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FA42BB81-D9CF-4756-B45E-08299331D43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6794" y="2249905"/>
            <a:ext cx="6382794" cy="5822548"/>
          </a:xfrm>
          <a:prstGeom prst="rect">
            <a:avLst/>
          </a:prstGeom>
        </p:spPr>
      </p:pic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CBABAB66-FCA0-479B-8E23-99A0AF2B57A9}"/>
              </a:ext>
            </a:extLst>
          </p:cNvPr>
          <p:cNvSpPr/>
          <p:nvPr userDrawn="1"/>
        </p:nvSpPr>
        <p:spPr>
          <a:xfrm>
            <a:off x="11113370" y="6264284"/>
            <a:ext cx="931059" cy="486568"/>
          </a:xfrm>
          <a:prstGeom prst="roundRect">
            <a:avLst>
              <a:gd name="adj" fmla="val 50000"/>
            </a:avLst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投影片編號版面配置區 5">
            <a:extLst>
              <a:ext uri="{FF2B5EF4-FFF2-40B4-BE49-F238E27FC236}">
                <a16:creationId xmlns:a16="http://schemas.microsoft.com/office/drawing/2014/main" id="{C3C53CCB-49FE-47BB-9379-C78E720D13DC}"/>
              </a:ext>
            </a:extLst>
          </p:cNvPr>
          <p:cNvSpPr txBox="1">
            <a:spLocks/>
          </p:cNvSpPr>
          <p:nvPr userDrawn="1"/>
        </p:nvSpPr>
        <p:spPr>
          <a:xfrm>
            <a:off x="11279745" y="6336854"/>
            <a:ext cx="634620" cy="365125"/>
          </a:xfrm>
          <a:prstGeom prst="rect">
            <a:avLst/>
          </a:prstGeom>
        </p:spPr>
        <p:txBody>
          <a:bodyPr/>
          <a:lstStyle>
            <a:defPPr>
              <a:defRPr lang="zh-TW"/>
            </a:defPPr>
            <a:lvl1pPr marL="0" algn="ctr" defTabSz="914400" rtl="0" eaLnBrk="1" latinLnBrk="0" hangingPunct="1">
              <a:defRPr sz="1800" b="1" kern="1200">
                <a:solidFill>
                  <a:schemeClr val="tx2">
                    <a:lumMod val="75000"/>
                  </a:schemeClr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F4685F4-BC46-4A98-BFBE-D12F8F77043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50032333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013262-28ED-4F8C-8558-DF4C8F8DE18F}" type="datetimeFigureOut">
              <a:rPr lang="zh-TW" altLang="en-US" smtClean="0"/>
              <a:t>2022/1/25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C187F7-9DC5-429A-A246-D93D4F2788C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73190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8558569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履約系統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人事管理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進入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4503035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圖片 7"/>
          <p:cNvPicPr>
            <a:picLocks noChangeAspect="1"/>
          </p:cNvPicPr>
          <p:nvPr/>
        </p:nvPicPr>
        <p:blipFill rotWithShape="1">
          <a:blip r:embed="rId3"/>
          <a:srcRect r="977"/>
          <a:stretch/>
        </p:blipFill>
        <p:spPr>
          <a:xfrm>
            <a:off x="136201" y="839922"/>
            <a:ext cx="10903834" cy="5365122"/>
          </a:xfrm>
          <a:prstGeom prst="rect">
            <a:avLst/>
          </a:prstGeom>
        </p:spPr>
      </p:pic>
      <p:sp>
        <p:nvSpPr>
          <p:cNvPr id="9" name="矩形 8"/>
          <p:cNvSpPr/>
          <p:nvPr/>
        </p:nvSpPr>
        <p:spPr>
          <a:xfrm>
            <a:off x="136200" y="1801906"/>
            <a:ext cx="388235" cy="43030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/>
          <p:cNvSpPr txBox="1"/>
          <p:nvPr/>
        </p:nvSpPr>
        <p:spPr>
          <a:xfrm>
            <a:off x="646545" y="1832393"/>
            <a:ext cx="266771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en-US" altLang="zh-TW" dirty="0">
                <a:cs typeface="+mn-ea"/>
                <a:sym typeface="+mn-lt"/>
              </a:rPr>
              <a:t>1.</a:t>
            </a:r>
            <a:r>
              <a:rPr lang="zh-TW" altLang="en-US" dirty="0">
                <a:cs typeface="+mn-ea"/>
                <a:sym typeface="+mn-lt"/>
              </a:rPr>
              <a:t>點擊此處進入工程管理</a:t>
            </a:r>
          </a:p>
        </p:txBody>
      </p:sp>
      <p:cxnSp>
        <p:nvCxnSpPr>
          <p:cNvPr id="16" name="直線接點 15"/>
          <p:cNvCxnSpPr>
            <a:stCxn id="14" idx="1"/>
            <a:endCxn id="9" idx="3"/>
          </p:cNvCxnSpPr>
          <p:nvPr/>
        </p:nvCxnSpPr>
        <p:spPr>
          <a:xfrm flipH="1">
            <a:off x="524435" y="2017059"/>
            <a:ext cx="12211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/>
          <p:cNvSpPr txBox="1"/>
          <p:nvPr/>
        </p:nvSpPr>
        <p:spPr>
          <a:xfrm>
            <a:off x="1980404" y="2817152"/>
            <a:ext cx="3590366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en-US" altLang="zh-TW" dirty="0">
                <a:cs typeface="+mn-ea"/>
                <a:sym typeface="+mn-lt"/>
              </a:rPr>
              <a:t>2.</a:t>
            </a:r>
            <a:r>
              <a:rPr lang="zh-TW" altLang="en-US" dirty="0">
                <a:cs typeface="+mn-ea"/>
                <a:sym typeface="+mn-lt"/>
              </a:rPr>
              <a:t>點擊玉設定標案的人事管理按鈕</a:t>
            </a:r>
          </a:p>
        </p:txBody>
      </p:sp>
      <p:sp>
        <p:nvSpPr>
          <p:cNvPr id="20" name="矩形 19"/>
          <p:cNvSpPr/>
          <p:nvPr/>
        </p:nvSpPr>
        <p:spPr>
          <a:xfrm>
            <a:off x="5726545" y="2881745"/>
            <a:ext cx="951346" cy="24014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cxnSp>
        <p:nvCxnSpPr>
          <p:cNvPr id="22" name="直線接點 21"/>
          <p:cNvCxnSpPr>
            <a:endCxn id="20" idx="1"/>
          </p:cNvCxnSpPr>
          <p:nvPr/>
        </p:nvCxnSpPr>
        <p:spPr>
          <a:xfrm>
            <a:off x="5588118" y="3001818"/>
            <a:ext cx="138427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714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8558569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履約系統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人事管理</a:t>
            </a:r>
            <a:r>
              <a:rPr lang="en-US" altLang="zh-TW" sz="32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3200" b="1" dirty="0">
                <a:solidFill>
                  <a:srgbClr val="39759D"/>
                </a:solidFill>
                <a:cs typeface="+mn-ea"/>
                <a:sym typeface="+mn-lt"/>
              </a:rPr>
              <a:t>主辦機關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5297446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/>
          <a:srcRect b="11393"/>
          <a:stretch/>
        </p:blipFill>
        <p:spPr>
          <a:xfrm>
            <a:off x="136200" y="835400"/>
            <a:ext cx="10766262" cy="5385305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325315" y="1485900"/>
            <a:ext cx="10577147" cy="170570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18" name="矩形 17"/>
          <p:cNvSpPr/>
          <p:nvPr/>
        </p:nvSpPr>
        <p:spPr>
          <a:xfrm>
            <a:off x="325315" y="3330183"/>
            <a:ext cx="10577147" cy="170570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19" name="矩形 18"/>
          <p:cNvSpPr/>
          <p:nvPr/>
        </p:nvSpPr>
        <p:spPr>
          <a:xfrm>
            <a:off x="325315" y="5107404"/>
            <a:ext cx="10577147" cy="102083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11" name="向下箭號 10"/>
          <p:cNvSpPr/>
          <p:nvPr/>
        </p:nvSpPr>
        <p:spPr>
          <a:xfrm>
            <a:off x="5336929" y="3097229"/>
            <a:ext cx="650631" cy="430823"/>
          </a:xfrm>
          <a:prstGeom prst="downArrow">
            <a:avLst/>
          </a:prstGeom>
          <a:solidFill>
            <a:schemeClr val="accent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21" name="向下箭號 20"/>
          <p:cNvSpPr/>
          <p:nvPr/>
        </p:nvSpPr>
        <p:spPr>
          <a:xfrm>
            <a:off x="5336930" y="4884127"/>
            <a:ext cx="650631" cy="430823"/>
          </a:xfrm>
          <a:prstGeom prst="downArrow">
            <a:avLst/>
          </a:prstGeom>
          <a:solidFill>
            <a:schemeClr val="accent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12" name="文字方塊 11"/>
          <p:cNvSpPr txBox="1"/>
          <p:nvPr/>
        </p:nvSpPr>
        <p:spPr>
          <a:xfrm>
            <a:off x="6167803" y="3082395"/>
            <a:ext cx="4108817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只能由業務主管添加業務承辦主管人員</a:t>
            </a:r>
          </a:p>
        </p:txBody>
      </p:sp>
      <p:sp>
        <p:nvSpPr>
          <p:cNvPr id="23" name="文字方塊 22"/>
          <p:cNvSpPr txBox="1"/>
          <p:nvPr/>
        </p:nvSpPr>
        <p:spPr>
          <a:xfrm>
            <a:off x="6167802" y="4829589"/>
            <a:ext cx="433965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只能由業務承辦主管人員添加業務承辦人</a:t>
            </a:r>
          </a:p>
        </p:txBody>
      </p:sp>
      <p:sp>
        <p:nvSpPr>
          <p:cNvPr id="13" name="向下箭號 12"/>
          <p:cNvSpPr/>
          <p:nvPr/>
        </p:nvSpPr>
        <p:spPr>
          <a:xfrm>
            <a:off x="3006970" y="3077308"/>
            <a:ext cx="484632" cy="2237642"/>
          </a:xfrm>
          <a:prstGeom prst="downArrow">
            <a:avLst/>
          </a:prstGeom>
          <a:solidFill>
            <a:schemeClr val="accent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26" name="文字方塊 25"/>
          <p:cNvSpPr txBox="1"/>
          <p:nvPr/>
        </p:nvSpPr>
        <p:spPr>
          <a:xfrm>
            <a:off x="2340074" y="3896728"/>
            <a:ext cx="180049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無法跨層級添加</a:t>
            </a:r>
          </a:p>
        </p:txBody>
      </p:sp>
      <p:cxnSp>
        <p:nvCxnSpPr>
          <p:cNvPr id="24" name="直線接點 23"/>
          <p:cNvCxnSpPr/>
          <p:nvPr/>
        </p:nvCxnSpPr>
        <p:spPr>
          <a:xfrm>
            <a:off x="2857326" y="3652803"/>
            <a:ext cx="738554" cy="92319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接點 24"/>
          <p:cNvCxnSpPr/>
          <p:nvPr/>
        </p:nvCxnSpPr>
        <p:spPr>
          <a:xfrm flipH="1">
            <a:off x="2871043" y="3652803"/>
            <a:ext cx="738554" cy="92319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矩形 26"/>
          <p:cNvSpPr/>
          <p:nvPr/>
        </p:nvSpPr>
        <p:spPr>
          <a:xfrm>
            <a:off x="475129" y="977153"/>
            <a:ext cx="995083" cy="42134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28" name="文字方塊 27"/>
          <p:cNvSpPr txBox="1"/>
          <p:nvPr/>
        </p:nvSpPr>
        <p:spPr>
          <a:xfrm>
            <a:off x="4090434" y="1485900"/>
            <a:ext cx="249299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業務主管由資訊室新增</a:t>
            </a:r>
          </a:p>
        </p:txBody>
      </p:sp>
      <p:sp>
        <p:nvSpPr>
          <p:cNvPr id="29" name="文字方塊 28"/>
          <p:cNvSpPr txBox="1"/>
          <p:nvPr/>
        </p:nvSpPr>
        <p:spPr>
          <a:xfrm>
            <a:off x="7255310" y="975765"/>
            <a:ext cx="3647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主辦機關人員需一層一層換下添加</a:t>
            </a:r>
          </a:p>
        </p:txBody>
      </p:sp>
    </p:spTree>
    <p:extLst>
      <p:ext uri="{BB962C8B-B14F-4D97-AF65-F5344CB8AC3E}">
        <p14:creationId xmlns:p14="http://schemas.microsoft.com/office/powerpoint/2010/main" val="2896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圖片 5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7257" y="4181025"/>
            <a:ext cx="3687180" cy="1853242"/>
          </a:xfrm>
          <a:prstGeom prst="rect">
            <a:avLst/>
          </a:prstGeom>
          <a:ln>
            <a:solidFill>
              <a:schemeClr val="accent1">
                <a:lumMod val="75000"/>
              </a:schemeClr>
            </a:solidFill>
          </a:ln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8558569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履約系統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人事管理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指派人員操作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(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新增業務主管為例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)</a:t>
            </a:r>
            <a:endParaRPr lang="zh-TW" altLang="en-US" sz="2800" b="1" dirty="0">
              <a:solidFill>
                <a:srgbClr val="39759D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8459946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4"/>
          <a:srcRect l="1899" t="10592" b="57843"/>
          <a:stretch/>
        </p:blipFill>
        <p:spPr>
          <a:xfrm>
            <a:off x="340658" y="1479175"/>
            <a:ext cx="10561803" cy="1918449"/>
          </a:xfrm>
          <a:prstGeom prst="rect">
            <a:avLst/>
          </a:prstGeom>
        </p:spPr>
      </p:pic>
      <p:sp>
        <p:nvSpPr>
          <p:cNvPr id="28" name="文字方塊 27"/>
          <p:cNvSpPr txBox="1"/>
          <p:nvPr/>
        </p:nvSpPr>
        <p:spPr>
          <a:xfrm>
            <a:off x="383180" y="902807"/>
            <a:ext cx="272382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業務主管</a:t>
            </a:r>
            <a:r>
              <a:rPr lang="zh-TW" altLang="en-US" dirty="0">
                <a:cs typeface="+mn-ea"/>
                <a:sym typeface="+mn-lt"/>
              </a:rPr>
              <a:t>需由</a:t>
            </a:r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資訊室</a:t>
            </a:r>
            <a:r>
              <a:rPr lang="zh-TW" altLang="en-US" dirty="0">
                <a:cs typeface="+mn-ea"/>
                <a:sym typeface="+mn-lt"/>
              </a:rPr>
              <a:t>新增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315" y="3397624"/>
            <a:ext cx="2781688" cy="3400900"/>
          </a:xfrm>
          <a:prstGeom prst="rect">
            <a:avLst/>
          </a:prstGeom>
          <a:ln>
            <a:solidFill>
              <a:schemeClr val="accent1">
                <a:lumMod val="75000"/>
              </a:schemeClr>
            </a:solidFill>
          </a:ln>
        </p:spPr>
      </p:pic>
      <p:sp>
        <p:nvSpPr>
          <p:cNvPr id="7" name="文字方塊 6"/>
          <p:cNvSpPr txBox="1"/>
          <p:nvPr/>
        </p:nvSpPr>
        <p:spPr>
          <a:xfrm>
            <a:off x="334280" y="6375404"/>
            <a:ext cx="272382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此區塊於畫面右上角顯示</a:t>
            </a:r>
          </a:p>
        </p:txBody>
      </p:sp>
      <p:sp>
        <p:nvSpPr>
          <p:cNvPr id="8" name="矩形 7"/>
          <p:cNvSpPr/>
          <p:nvPr/>
        </p:nvSpPr>
        <p:spPr>
          <a:xfrm>
            <a:off x="475129" y="4276165"/>
            <a:ext cx="2420471" cy="138952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9" name="文字方塊 8"/>
          <p:cNvSpPr txBox="1"/>
          <p:nvPr/>
        </p:nvSpPr>
        <p:spPr>
          <a:xfrm>
            <a:off x="3662947" y="4786263"/>
            <a:ext cx="1107996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指派狀態</a:t>
            </a:r>
          </a:p>
        </p:txBody>
      </p:sp>
      <p:cxnSp>
        <p:nvCxnSpPr>
          <p:cNvPr id="15" name="直線接點 14"/>
          <p:cNvCxnSpPr>
            <a:stCxn id="8" idx="3"/>
            <a:endCxn id="9" idx="1"/>
          </p:cNvCxnSpPr>
          <p:nvPr/>
        </p:nvCxnSpPr>
        <p:spPr>
          <a:xfrm flipV="1">
            <a:off x="2895600" y="4970929"/>
            <a:ext cx="767347" cy="1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矩形 19"/>
          <p:cNvSpPr/>
          <p:nvPr/>
        </p:nvSpPr>
        <p:spPr>
          <a:xfrm>
            <a:off x="1156447" y="1574314"/>
            <a:ext cx="143435" cy="12898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22" name="矩形 21"/>
          <p:cNvSpPr/>
          <p:nvPr/>
        </p:nvSpPr>
        <p:spPr>
          <a:xfrm>
            <a:off x="2268071" y="3566455"/>
            <a:ext cx="699247" cy="28836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cxnSp>
        <p:nvCxnSpPr>
          <p:cNvPr id="31" name="肘形接點 30"/>
          <p:cNvCxnSpPr>
            <a:stCxn id="20" idx="2"/>
            <a:endCxn id="22" idx="0"/>
          </p:cNvCxnSpPr>
          <p:nvPr/>
        </p:nvCxnSpPr>
        <p:spPr>
          <a:xfrm rot="16200000" flipH="1">
            <a:off x="991350" y="1940109"/>
            <a:ext cx="1863161" cy="1389530"/>
          </a:xfrm>
          <a:prstGeom prst="bentConnector3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/>
          <p:cNvSpPr txBox="1"/>
          <p:nvPr/>
        </p:nvSpPr>
        <p:spPr>
          <a:xfrm>
            <a:off x="3358166" y="3525973"/>
            <a:ext cx="4455066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點擊</a:t>
            </a:r>
            <a:r>
              <a:rPr lang="en-US" altLang="zh-TW" dirty="0">
                <a:cs typeface="+mn-ea"/>
                <a:sym typeface="+mn-lt"/>
              </a:rPr>
              <a:t>+</a:t>
            </a:r>
            <a:r>
              <a:rPr lang="zh-TW" altLang="en-US" dirty="0">
                <a:cs typeface="+mn-ea"/>
                <a:sym typeface="+mn-lt"/>
              </a:rPr>
              <a:t>指派人員，或是畫面右上角點擊指派</a:t>
            </a:r>
          </a:p>
        </p:txBody>
      </p:sp>
      <p:cxnSp>
        <p:nvCxnSpPr>
          <p:cNvPr id="36" name="直線接點 35"/>
          <p:cNvCxnSpPr>
            <a:stCxn id="34" idx="1"/>
            <a:endCxn id="22" idx="3"/>
          </p:cNvCxnSpPr>
          <p:nvPr/>
        </p:nvCxnSpPr>
        <p:spPr>
          <a:xfrm flipH="1">
            <a:off x="2967318" y="3710639"/>
            <a:ext cx="390848" cy="1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 36"/>
          <p:cNvSpPr/>
          <p:nvPr/>
        </p:nvSpPr>
        <p:spPr>
          <a:xfrm>
            <a:off x="1371600" y="1574314"/>
            <a:ext cx="179294" cy="12897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38" name="文字方塊 37"/>
          <p:cNvSpPr txBox="1"/>
          <p:nvPr/>
        </p:nvSpPr>
        <p:spPr>
          <a:xfrm>
            <a:off x="1801282" y="1454134"/>
            <a:ext cx="3185487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點擊此處可觀看指派歷史紀錄</a:t>
            </a:r>
          </a:p>
        </p:txBody>
      </p:sp>
      <p:cxnSp>
        <p:nvCxnSpPr>
          <p:cNvPr id="40" name="直線接點 39"/>
          <p:cNvCxnSpPr>
            <a:stCxn id="37" idx="3"/>
            <a:endCxn id="38" idx="1"/>
          </p:cNvCxnSpPr>
          <p:nvPr/>
        </p:nvCxnSpPr>
        <p:spPr>
          <a:xfrm flipV="1">
            <a:off x="1550894" y="1638800"/>
            <a:ext cx="250388" cy="4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 47"/>
          <p:cNvSpPr/>
          <p:nvPr/>
        </p:nvSpPr>
        <p:spPr>
          <a:xfrm>
            <a:off x="9377082" y="2823882"/>
            <a:ext cx="627530" cy="31376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49" name="文字方塊 48"/>
          <p:cNvSpPr txBox="1"/>
          <p:nvPr/>
        </p:nvSpPr>
        <p:spPr>
          <a:xfrm>
            <a:off x="8906017" y="3670158"/>
            <a:ext cx="156966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編輯對應腳色</a:t>
            </a:r>
          </a:p>
        </p:txBody>
      </p:sp>
      <p:cxnSp>
        <p:nvCxnSpPr>
          <p:cNvPr id="51" name="直線接點 50"/>
          <p:cNvCxnSpPr>
            <a:stCxn id="48" idx="2"/>
            <a:endCxn id="49" idx="0"/>
          </p:cNvCxnSpPr>
          <p:nvPr/>
        </p:nvCxnSpPr>
        <p:spPr>
          <a:xfrm>
            <a:off x="9690847" y="3137647"/>
            <a:ext cx="0" cy="532511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向下箭號 51"/>
          <p:cNvSpPr/>
          <p:nvPr/>
        </p:nvSpPr>
        <p:spPr>
          <a:xfrm>
            <a:off x="9484659" y="4061013"/>
            <a:ext cx="412376" cy="215152"/>
          </a:xfrm>
          <a:prstGeom prst="downArrow">
            <a:avLst/>
          </a:prstGeom>
          <a:solidFill>
            <a:schemeClr val="accent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56" name="文字方塊 55"/>
          <p:cNvSpPr txBox="1"/>
          <p:nvPr/>
        </p:nvSpPr>
        <p:spPr>
          <a:xfrm>
            <a:off x="3162742" y="902807"/>
            <a:ext cx="341632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業務承辦主管</a:t>
            </a:r>
            <a:r>
              <a:rPr lang="zh-TW" altLang="en-US" dirty="0">
                <a:cs typeface="+mn-ea"/>
                <a:sym typeface="+mn-lt"/>
              </a:rPr>
              <a:t>需由</a:t>
            </a:r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業務主管</a:t>
            </a:r>
            <a:r>
              <a:rPr lang="zh-TW" altLang="en-US" dirty="0">
                <a:cs typeface="+mn-ea"/>
                <a:sym typeface="+mn-lt"/>
              </a:rPr>
              <a:t>新增</a:t>
            </a:r>
          </a:p>
        </p:txBody>
      </p:sp>
      <p:sp>
        <p:nvSpPr>
          <p:cNvPr id="57" name="文字方塊 56"/>
          <p:cNvSpPr txBox="1"/>
          <p:nvPr/>
        </p:nvSpPr>
        <p:spPr>
          <a:xfrm>
            <a:off x="6643766" y="902807"/>
            <a:ext cx="3647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業務承辦人</a:t>
            </a:r>
            <a:r>
              <a:rPr lang="zh-TW" altLang="en-US" dirty="0">
                <a:cs typeface="+mn-ea"/>
                <a:sym typeface="+mn-lt"/>
              </a:rPr>
              <a:t>需由</a:t>
            </a:r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業務承辦主管</a:t>
            </a:r>
            <a:r>
              <a:rPr lang="zh-TW" altLang="en-US" dirty="0">
                <a:cs typeface="+mn-ea"/>
                <a:sym typeface="+mn-lt"/>
              </a:rPr>
              <a:t>新增</a:t>
            </a:r>
          </a:p>
        </p:txBody>
      </p:sp>
    </p:spTree>
    <p:extLst>
      <p:ext uri="{BB962C8B-B14F-4D97-AF65-F5344CB8AC3E}">
        <p14:creationId xmlns:p14="http://schemas.microsoft.com/office/powerpoint/2010/main" val="2430398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圖片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0514" y="1589147"/>
            <a:ext cx="5351319" cy="3628312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8558569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履約系統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人事管理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指派人員操作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(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新增業務主管為例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)</a:t>
            </a:r>
            <a:endParaRPr lang="zh-TW" altLang="en-US" sz="2800" b="1" dirty="0">
              <a:solidFill>
                <a:srgbClr val="39759D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8459946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字方塊 27"/>
          <p:cNvSpPr txBox="1"/>
          <p:nvPr/>
        </p:nvSpPr>
        <p:spPr>
          <a:xfrm>
            <a:off x="383180" y="902807"/>
            <a:ext cx="272382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業務主管</a:t>
            </a:r>
            <a:r>
              <a:rPr lang="zh-TW" altLang="en-US" dirty="0">
                <a:cs typeface="+mn-ea"/>
                <a:sym typeface="+mn-lt"/>
              </a:rPr>
              <a:t>需由</a:t>
            </a:r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資訊室</a:t>
            </a:r>
            <a:r>
              <a:rPr lang="zh-TW" altLang="en-US" dirty="0">
                <a:cs typeface="+mn-ea"/>
                <a:sym typeface="+mn-lt"/>
              </a:rPr>
              <a:t>新增</a:t>
            </a:r>
          </a:p>
        </p:txBody>
      </p:sp>
      <p:sp>
        <p:nvSpPr>
          <p:cNvPr id="56" name="文字方塊 55"/>
          <p:cNvSpPr txBox="1"/>
          <p:nvPr/>
        </p:nvSpPr>
        <p:spPr>
          <a:xfrm>
            <a:off x="3162742" y="902807"/>
            <a:ext cx="341632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業務承辦主管</a:t>
            </a:r>
            <a:r>
              <a:rPr lang="zh-TW" altLang="en-US" dirty="0">
                <a:cs typeface="+mn-ea"/>
                <a:sym typeface="+mn-lt"/>
              </a:rPr>
              <a:t>需由</a:t>
            </a:r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業務主管</a:t>
            </a:r>
            <a:r>
              <a:rPr lang="zh-TW" altLang="en-US" dirty="0">
                <a:cs typeface="+mn-ea"/>
                <a:sym typeface="+mn-lt"/>
              </a:rPr>
              <a:t>新增</a:t>
            </a:r>
          </a:p>
        </p:txBody>
      </p:sp>
      <p:sp>
        <p:nvSpPr>
          <p:cNvPr id="57" name="文字方塊 56"/>
          <p:cNvSpPr txBox="1"/>
          <p:nvPr/>
        </p:nvSpPr>
        <p:spPr>
          <a:xfrm>
            <a:off x="6643766" y="902807"/>
            <a:ext cx="3647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業務承辦人</a:t>
            </a:r>
            <a:r>
              <a:rPr lang="zh-TW" altLang="en-US" dirty="0">
                <a:cs typeface="+mn-ea"/>
                <a:sym typeface="+mn-lt"/>
              </a:rPr>
              <a:t>需由</a:t>
            </a:r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業務承辦主管</a:t>
            </a:r>
            <a:r>
              <a:rPr lang="zh-TW" altLang="en-US" dirty="0">
                <a:cs typeface="+mn-ea"/>
                <a:sym typeface="+mn-lt"/>
              </a:rPr>
              <a:t>新增</a:t>
            </a: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180" y="1589146"/>
            <a:ext cx="5330191" cy="3628312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5129" y="2088776"/>
            <a:ext cx="5145742" cy="73510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11" name="文字方塊 10"/>
          <p:cNvSpPr txBox="1"/>
          <p:nvPr/>
        </p:nvSpPr>
        <p:spPr>
          <a:xfrm>
            <a:off x="2147753" y="1802633"/>
            <a:ext cx="180049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選擇欲指派人員</a:t>
            </a:r>
          </a:p>
        </p:txBody>
      </p:sp>
      <p:sp>
        <p:nvSpPr>
          <p:cNvPr id="12" name="文字方塊 11"/>
          <p:cNvSpPr txBox="1"/>
          <p:nvPr/>
        </p:nvSpPr>
        <p:spPr>
          <a:xfrm>
            <a:off x="475129" y="5611906"/>
            <a:ext cx="467628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人員類型分為 設計、發包、工程、設計 四種</a:t>
            </a:r>
          </a:p>
        </p:txBody>
      </p:sp>
      <p:sp>
        <p:nvSpPr>
          <p:cNvPr id="13" name="矩形 12"/>
          <p:cNvSpPr/>
          <p:nvPr/>
        </p:nvSpPr>
        <p:spPr>
          <a:xfrm>
            <a:off x="475129" y="2823882"/>
            <a:ext cx="519953" cy="33169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14" name="文字方塊 13"/>
          <p:cNvSpPr txBox="1"/>
          <p:nvPr/>
        </p:nvSpPr>
        <p:spPr>
          <a:xfrm>
            <a:off x="475129" y="3323511"/>
            <a:ext cx="5238241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dirty="0">
                <a:cs typeface="+mn-ea"/>
                <a:sym typeface="+mn-lt"/>
              </a:rPr>
              <a:t>選擇後點擊寫入帶入此區域</a:t>
            </a:r>
          </a:p>
        </p:txBody>
      </p:sp>
      <p:sp>
        <p:nvSpPr>
          <p:cNvPr id="16" name="矩形 15"/>
          <p:cNvSpPr/>
          <p:nvPr/>
        </p:nvSpPr>
        <p:spPr>
          <a:xfrm>
            <a:off x="475129" y="3323511"/>
            <a:ext cx="5238241" cy="158018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cxnSp>
        <p:nvCxnSpPr>
          <p:cNvPr id="18" name="肘形接點 17"/>
          <p:cNvCxnSpPr>
            <a:stCxn id="13" idx="3"/>
            <a:endCxn id="14" idx="0"/>
          </p:cNvCxnSpPr>
          <p:nvPr/>
        </p:nvCxnSpPr>
        <p:spPr>
          <a:xfrm>
            <a:off x="995082" y="2989729"/>
            <a:ext cx="2099168" cy="333782"/>
          </a:xfrm>
          <a:prstGeom prst="bentConnector2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向右箭號 18"/>
          <p:cNvSpPr/>
          <p:nvPr/>
        </p:nvSpPr>
        <p:spPr>
          <a:xfrm>
            <a:off x="5500561" y="2809084"/>
            <a:ext cx="779929" cy="636495"/>
          </a:xfrm>
          <a:prstGeom prst="rightArrow">
            <a:avLst/>
          </a:prstGeom>
          <a:solidFill>
            <a:schemeClr val="accent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23" name="矩形 22"/>
          <p:cNvSpPr/>
          <p:nvPr/>
        </p:nvSpPr>
        <p:spPr>
          <a:xfrm>
            <a:off x="6167718" y="3323511"/>
            <a:ext cx="5136776" cy="63888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24" name="文字方塊 23"/>
          <p:cNvSpPr txBox="1"/>
          <p:nvPr/>
        </p:nvSpPr>
        <p:spPr>
          <a:xfrm>
            <a:off x="7786554" y="2942665"/>
            <a:ext cx="180049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可一次寫入多人</a:t>
            </a:r>
          </a:p>
        </p:txBody>
      </p:sp>
      <p:sp>
        <p:nvSpPr>
          <p:cNvPr id="25" name="矩形 24"/>
          <p:cNvSpPr/>
          <p:nvPr/>
        </p:nvSpPr>
        <p:spPr>
          <a:xfrm>
            <a:off x="8686800" y="4796118"/>
            <a:ext cx="2617694" cy="4213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26" name="文字方塊 25"/>
          <p:cNvSpPr txBox="1"/>
          <p:nvPr/>
        </p:nvSpPr>
        <p:spPr>
          <a:xfrm>
            <a:off x="8979984" y="4426785"/>
            <a:ext cx="203132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點擊完成新增人員</a:t>
            </a:r>
          </a:p>
        </p:txBody>
      </p:sp>
    </p:spTree>
    <p:extLst>
      <p:ext uri="{BB962C8B-B14F-4D97-AF65-F5344CB8AC3E}">
        <p14:creationId xmlns:p14="http://schemas.microsoft.com/office/powerpoint/2010/main" val="663469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8558569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履約系統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人事管理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指派人員操作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(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新增業務主管為例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)</a:t>
            </a:r>
            <a:endParaRPr lang="zh-TW" altLang="en-US" sz="2800" b="1" dirty="0">
              <a:solidFill>
                <a:srgbClr val="39759D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8459946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字方塊 27"/>
          <p:cNvSpPr txBox="1"/>
          <p:nvPr/>
        </p:nvSpPr>
        <p:spPr>
          <a:xfrm>
            <a:off x="383180" y="902807"/>
            <a:ext cx="272382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業務主管</a:t>
            </a:r>
            <a:r>
              <a:rPr lang="zh-TW" altLang="en-US" dirty="0">
                <a:cs typeface="+mn-ea"/>
                <a:sym typeface="+mn-lt"/>
              </a:rPr>
              <a:t>需由</a:t>
            </a:r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資訊室</a:t>
            </a:r>
            <a:r>
              <a:rPr lang="zh-TW" altLang="en-US" dirty="0">
                <a:cs typeface="+mn-ea"/>
                <a:sym typeface="+mn-lt"/>
              </a:rPr>
              <a:t>新增</a:t>
            </a:r>
          </a:p>
        </p:txBody>
      </p:sp>
      <p:sp>
        <p:nvSpPr>
          <p:cNvPr id="56" name="文字方塊 55"/>
          <p:cNvSpPr txBox="1"/>
          <p:nvPr/>
        </p:nvSpPr>
        <p:spPr>
          <a:xfrm>
            <a:off x="3162742" y="902807"/>
            <a:ext cx="341632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業務承辦主管</a:t>
            </a:r>
            <a:r>
              <a:rPr lang="zh-TW" altLang="en-US" dirty="0">
                <a:cs typeface="+mn-ea"/>
                <a:sym typeface="+mn-lt"/>
              </a:rPr>
              <a:t>需由</a:t>
            </a:r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業務主管</a:t>
            </a:r>
            <a:r>
              <a:rPr lang="zh-TW" altLang="en-US" dirty="0">
                <a:cs typeface="+mn-ea"/>
                <a:sym typeface="+mn-lt"/>
              </a:rPr>
              <a:t>新增</a:t>
            </a:r>
          </a:p>
        </p:txBody>
      </p:sp>
      <p:sp>
        <p:nvSpPr>
          <p:cNvPr id="57" name="文字方塊 56"/>
          <p:cNvSpPr txBox="1"/>
          <p:nvPr/>
        </p:nvSpPr>
        <p:spPr>
          <a:xfrm>
            <a:off x="6643766" y="902807"/>
            <a:ext cx="3647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業務承辦人</a:t>
            </a:r>
            <a:r>
              <a:rPr lang="zh-TW" altLang="en-US" dirty="0">
                <a:cs typeface="+mn-ea"/>
                <a:sym typeface="+mn-lt"/>
              </a:rPr>
              <a:t>需由</a:t>
            </a:r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業務承辦主管</a:t>
            </a:r>
            <a:r>
              <a:rPr lang="zh-TW" altLang="en-US" dirty="0">
                <a:cs typeface="+mn-ea"/>
                <a:sym typeface="+mn-lt"/>
              </a:rPr>
              <a:t>新增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180" y="2077049"/>
            <a:ext cx="11460390" cy="3230813"/>
          </a:xfrm>
          <a:prstGeom prst="rect">
            <a:avLst/>
          </a:prstGeom>
        </p:spPr>
      </p:pic>
      <p:sp>
        <p:nvSpPr>
          <p:cNvPr id="4" name="矩形 3"/>
          <p:cNvSpPr/>
          <p:nvPr/>
        </p:nvSpPr>
        <p:spPr>
          <a:xfrm>
            <a:off x="383180" y="3604845"/>
            <a:ext cx="11460390" cy="191004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7" name="矩形 6"/>
          <p:cNvSpPr/>
          <p:nvPr/>
        </p:nvSpPr>
        <p:spPr>
          <a:xfrm>
            <a:off x="11070311" y="2180493"/>
            <a:ext cx="773259" cy="31652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8" name="文字方塊 7"/>
          <p:cNvSpPr txBox="1"/>
          <p:nvPr/>
        </p:nvSpPr>
        <p:spPr>
          <a:xfrm>
            <a:off x="2728336" y="2154088"/>
            <a:ext cx="6770077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完成後人員會暫時放在以下區塊，需點擊人員確定才能確實指派。</a:t>
            </a:r>
          </a:p>
        </p:txBody>
      </p:sp>
      <p:sp>
        <p:nvSpPr>
          <p:cNvPr id="9" name="向下箭號 8"/>
          <p:cNvSpPr/>
          <p:nvPr/>
        </p:nvSpPr>
        <p:spPr>
          <a:xfrm>
            <a:off x="5399272" y="2628900"/>
            <a:ext cx="1107831" cy="1063555"/>
          </a:xfrm>
          <a:prstGeom prst="downArrow">
            <a:avLst/>
          </a:prstGeom>
          <a:solidFill>
            <a:schemeClr val="accent4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cxnSp>
        <p:nvCxnSpPr>
          <p:cNvPr id="17" name="直線單箭頭接點 16"/>
          <p:cNvCxnSpPr>
            <a:stCxn id="8" idx="3"/>
            <a:endCxn id="7" idx="1"/>
          </p:cNvCxnSpPr>
          <p:nvPr/>
        </p:nvCxnSpPr>
        <p:spPr>
          <a:xfrm>
            <a:off x="9498413" y="2338754"/>
            <a:ext cx="1571898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3086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8558569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履約系統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人事管理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指派人員操作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(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新增業務主管為例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)</a:t>
            </a:r>
            <a:endParaRPr lang="zh-TW" altLang="en-US" sz="2800" b="1" dirty="0">
              <a:solidFill>
                <a:srgbClr val="39759D"/>
              </a:solidFill>
              <a:cs typeface="+mn-ea"/>
              <a:sym typeface="+mn-lt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8459946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字方塊 27"/>
          <p:cNvSpPr txBox="1"/>
          <p:nvPr/>
        </p:nvSpPr>
        <p:spPr>
          <a:xfrm>
            <a:off x="383180" y="902807"/>
            <a:ext cx="272382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業務主管</a:t>
            </a:r>
            <a:r>
              <a:rPr lang="zh-TW" altLang="en-US" dirty="0">
                <a:cs typeface="+mn-ea"/>
                <a:sym typeface="+mn-lt"/>
              </a:rPr>
              <a:t>需由</a:t>
            </a:r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資訊室</a:t>
            </a:r>
            <a:r>
              <a:rPr lang="zh-TW" altLang="en-US" dirty="0">
                <a:cs typeface="+mn-ea"/>
                <a:sym typeface="+mn-lt"/>
              </a:rPr>
              <a:t>新增</a:t>
            </a:r>
          </a:p>
        </p:txBody>
      </p:sp>
      <p:sp>
        <p:nvSpPr>
          <p:cNvPr id="56" name="文字方塊 55"/>
          <p:cNvSpPr txBox="1"/>
          <p:nvPr/>
        </p:nvSpPr>
        <p:spPr>
          <a:xfrm>
            <a:off x="3162742" y="902807"/>
            <a:ext cx="341632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業務承辦主管</a:t>
            </a:r>
            <a:r>
              <a:rPr lang="zh-TW" altLang="en-US" dirty="0">
                <a:cs typeface="+mn-ea"/>
                <a:sym typeface="+mn-lt"/>
              </a:rPr>
              <a:t>需由</a:t>
            </a:r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業務主管</a:t>
            </a:r>
            <a:r>
              <a:rPr lang="zh-TW" altLang="en-US" dirty="0">
                <a:cs typeface="+mn-ea"/>
                <a:sym typeface="+mn-lt"/>
              </a:rPr>
              <a:t>新增</a:t>
            </a:r>
          </a:p>
        </p:txBody>
      </p:sp>
      <p:sp>
        <p:nvSpPr>
          <p:cNvPr id="57" name="文字方塊 56"/>
          <p:cNvSpPr txBox="1"/>
          <p:nvPr/>
        </p:nvSpPr>
        <p:spPr>
          <a:xfrm>
            <a:off x="6643766" y="902807"/>
            <a:ext cx="364715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業務承辦人</a:t>
            </a:r>
            <a:r>
              <a:rPr lang="zh-TW" altLang="en-US" dirty="0">
                <a:cs typeface="+mn-ea"/>
                <a:sym typeface="+mn-lt"/>
              </a:rPr>
              <a:t>需由</a:t>
            </a:r>
            <a:r>
              <a:rPr lang="zh-TW" altLang="en-US" dirty="0">
                <a:solidFill>
                  <a:srgbClr val="FF0000"/>
                </a:solidFill>
                <a:cs typeface="+mn-ea"/>
                <a:sym typeface="+mn-lt"/>
              </a:rPr>
              <a:t>業務承辦主管</a:t>
            </a:r>
            <a:r>
              <a:rPr lang="zh-TW" altLang="en-US" dirty="0">
                <a:cs typeface="+mn-ea"/>
                <a:sym typeface="+mn-lt"/>
              </a:rPr>
              <a:t>新增</a:t>
            </a: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394" y="2335385"/>
            <a:ext cx="10567559" cy="219013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744071" y="3030071"/>
            <a:ext cx="10443882" cy="100404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11" name="文字方塊 10"/>
          <p:cNvSpPr txBox="1"/>
          <p:nvPr/>
        </p:nvSpPr>
        <p:spPr>
          <a:xfrm>
            <a:off x="3503516" y="2279585"/>
            <a:ext cx="480131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l"/>
            <a:r>
              <a:rPr lang="zh-TW" altLang="en-US" dirty="0">
                <a:cs typeface="+mn-ea"/>
                <a:sym typeface="+mn-lt"/>
              </a:rPr>
              <a:t>人員確定後，將會移到指派區域，指派完成。</a:t>
            </a:r>
          </a:p>
        </p:txBody>
      </p:sp>
    </p:spTree>
    <p:extLst>
      <p:ext uri="{BB962C8B-B14F-4D97-AF65-F5344CB8AC3E}">
        <p14:creationId xmlns:p14="http://schemas.microsoft.com/office/powerpoint/2010/main" val="1889363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5379DC35-CF3C-440B-B2FE-56B042DAC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41383"/>
            <a:ext cx="12192000" cy="2027626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8558569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履約系統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人事管理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指派設計單位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8459946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/>
        </p:nvSpPr>
        <p:spPr>
          <a:xfrm>
            <a:off x="37577" y="1881333"/>
            <a:ext cx="11815851" cy="11844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11" name="文字方塊 10"/>
          <p:cNvSpPr txBox="1"/>
          <p:nvPr/>
        </p:nvSpPr>
        <p:spPr>
          <a:xfrm>
            <a:off x="2280081" y="1858421"/>
            <a:ext cx="733085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zh-TW" altLang="en-US" dirty="0">
                <a:cs typeface="+mn-ea"/>
                <a:sym typeface="+mn-lt"/>
              </a:rPr>
              <a:t>設計單位聯絡人於預算管理 </a:t>
            </a:r>
            <a:r>
              <a:rPr lang="en-US" altLang="zh-TW" dirty="0">
                <a:cs typeface="+mn-ea"/>
                <a:sym typeface="+mn-lt"/>
              </a:rPr>
              <a:t>&gt; </a:t>
            </a:r>
            <a:r>
              <a:rPr lang="zh-TW" altLang="en-US" dirty="0">
                <a:cs typeface="+mn-ea"/>
                <a:sym typeface="+mn-lt"/>
              </a:rPr>
              <a:t>標案資料內選擇有設計廠商後指派帶入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787E40A-A77A-414E-8455-E23EF2819480}"/>
              </a:ext>
            </a:extLst>
          </p:cNvPr>
          <p:cNvSpPr/>
          <p:nvPr/>
        </p:nvSpPr>
        <p:spPr>
          <a:xfrm>
            <a:off x="1277566" y="1335932"/>
            <a:ext cx="654996" cy="24643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D497D8AC-8B3E-4552-9111-AA724AEF8C4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33332"/>
          <a:stretch/>
        </p:blipFill>
        <p:spPr>
          <a:xfrm>
            <a:off x="5514603" y="3088737"/>
            <a:ext cx="2140910" cy="3761429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2AC4FC5C-CADD-4F58-BE22-0E3BD48F5184}"/>
              </a:ext>
            </a:extLst>
          </p:cNvPr>
          <p:cNvSpPr/>
          <p:nvPr/>
        </p:nvSpPr>
        <p:spPr>
          <a:xfrm>
            <a:off x="6057089" y="4740613"/>
            <a:ext cx="888460" cy="29831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C94383A-06ED-47B1-9839-05787507E6D4}"/>
              </a:ext>
            </a:extLst>
          </p:cNvPr>
          <p:cNvSpPr/>
          <p:nvPr/>
        </p:nvSpPr>
        <p:spPr>
          <a:xfrm>
            <a:off x="5447489" y="3429000"/>
            <a:ext cx="661481" cy="52691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051A8CE-BF6F-49B9-86E0-AF8A81193C1C}"/>
              </a:ext>
            </a:extLst>
          </p:cNvPr>
          <p:cNvSpPr/>
          <p:nvPr/>
        </p:nvSpPr>
        <p:spPr>
          <a:xfrm>
            <a:off x="4280170" y="1835509"/>
            <a:ext cx="1031132" cy="36933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061C63B-85D8-4CF2-86FC-E3B605EC3CFB}"/>
              </a:ext>
            </a:extLst>
          </p:cNvPr>
          <p:cNvSpPr/>
          <p:nvPr/>
        </p:nvSpPr>
        <p:spPr>
          <a:xfrm>
            <a:off x="5447489" y="1835509"/>
            <a:ext cx="940341" cy="36933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7" name="接點: 肘形 16">
            <a:extLst>
              <a:ext uri="{FF2B5EF4-FFF2-40B4-BE49-F238E27FC236}">
                <a16:creationId xmlns:a16="http://schemas.microsoft.com/office/drawing/2014/main" id="{7B695853-3483-4616-8A4C-78897BB45569}"/>
              </a:ext>
            </a:extLst>
          </p:cNvPr>
          <p:cNvCxnSpPr>
            <a:cxnSpLocks/>
            <a:stCxn id="14" idx="2"/>
            <a:endCxn id="13" idx="1"/>
          </p:cNvCxnSpPr>
          <p:nvPr/>
        </p:nvCxnSpPr>
        <p:spPr>
          <a:xfrm rot="16200000" flipH="1">
            <a:off x="4377804" y="2622772"/>
            <a:ext cx="1487617" cy="651753"/>
          </a:xfrm>
          <a:prstGeom prst="bentConnector2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接點: 肘形 18">
            <a:extLst>
              <a:ext uri="{FF2B5EF4-FFF2-40B4-BE49-F238E27FC236}">
                <a16:creationId xmlns:a16="http://schemas.microsoft.com/office/drawing/2014/main" id="{C7CD1C9D-BF46-4179-BEA7-6B1D79465A10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rot="16200000" flipH="1">
            <a:off x="4966983" y="3206277"/>
            <a:ext cx="2512860" cy="555811"/>
          </a:xfrm>
          <a:prstGeom prst="bentConnector3">
            <a:avLst>
              <a:gd name="adj1" fmla="val 17740"/>
            </a:avLst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9298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圖片 22">
            <a:extLst>
              <a:ext uri="{FF2B5EF4-FFF2-40B4-BE49-F238E27FC236}">
                <a16:creationId xmlns:a16="http://schemas.microsoft.com/office/drawing/2014/main" id="{31B36BF2-154F-4871-84C5-1B8D5B9AE4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64703"/>
            <a:ext cx="12192000" cy="2124364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8558569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履約系統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人事管理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指派施工單位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8459946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 6">
            <a:extLst>
              <a:ext uri="{FF2B5EF4-FFF2-40B4-BE49-F238E27FC236}">
                <a16:creationId xmlns:a16="http://schemas.microsoft.com/office/drawing/2014/main" id="{FDC30A9E-7400-4333-87F0-E303222DF6E3}"/>
              </a:ext>
            </a:extLst>
          </p:cNvPr>
          <p:cNvSpPr/>
          <p:nvPr/>
        </p:nvSpPr>
        <p:spPr>
          <a:xfrm>
            <a:off x="2023352" y="1791576"/>
            <a:ext cx="648511" cy="24708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32C44DE4-2BF3-43CE-9469-9995DE2819E6}"/>
              </a:ext>
            </a:extLst>
          </p:cNvPr>
          <p:cNvSpPr txBox="1"/>
          <p:nvPr/>
        </p:nvSpPr>
        <p:spPr>
          <a:xfrm>
            <a:off x="2675031" y="1353243"/>
            <a:ext cx="684193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zh-TW" altLang="en-US" dirty="0">
                <a:cs typeface="+mn-ea"/>
                <a:sym typeface="+mn-lt"/>
              </a:rPr>
              <a:t>專業管理單位連絡人於決標後模組</a:t>
            </a:r>
            <a:r>
              <a:rPr lang="en-US" altLang="zh-TW" dirty="0">
                <a:cs typeface="+mn-ea"/>
                <a:sym typeface="+mn-lt"/>
              </a:rPr>
              <a:t>A5.6</a:t>
            </a:r>
            <a:r>
              <a:rPr lang="zh-TW" altLang="en-US" dirty="0">
                <a:cs typeface="+mn-ea"/>
                <a:sym typeface="+mn-lt"/>
              </a:rPr>
              <a:t>簽訂契約流程指派後帶入</a:t>
            </a:r>
          </a:p>
        </p:txBody>
      </p:sp>
    </p:spTree>
    <p:extLst>
      <p:ext uri="{BB962C8B-B14F-4D97-AF65-F5344CB8AC3E}">
        <p14:creationId xmlns:p14="http://schemas.microsoft.com/office/powerpoint/2010/main" val="4075349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61BAB315-F031-4B0C-97D0-EBE66FA3AF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6" y="695773"/>
            <a:ext cx="12192000" cy="3362017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8558569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履約系統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人事管理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指派施工單位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8459946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/>
        </p:nvSpPr>
        <p:spPr>
          <a:xfrm>
            <a:off x="136199" y="1297673"/>
            <a:ext cx="11815851" cy="11844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11" name="文字方塊 10"/>
          <p:cNvSpPr txBox="1"/>
          <p:nvPr/>
        </p:nvSpPr>
        <p:spPr>
          <a:xfrm>
            <a:off x="3431068" y="1274761"/>
            <a:ext cx="5226111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zh-TW" altLang="en-US" dirty="0">
                <a:cs typeface="+mn-ea"/>
                <a:sym typeface="+mn-lt"/>
              </a:rPr>
              <a:t>聯絡人於決標後模組</a:t>
            </a:r>
            <a:r>
              <a:rPr lang="en-US" altLang="zh-TW" dirty="0">
                <a:cs typeface="+mn-ea"/>
                <a:sym typeface="+mn-lt"/>
              </a:rPr>
              <a:t>A5.6</a:t>
            </a:r>
            <a:r>
              <a:rPr lang="zh-TW" altLang="en-US" dirty="0">
                <a:cs typeface="+mn-ea"/>
                <a:sym typeface="+mn-lt"/>
              </a:rPr>
              <a:t>簽訂契約流程指派後帶入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DC30A9E-7400-4333-87F0-E303222DF6E3}"/>
              </a:ext>
            </a:extLst>
          </p:cNvPr>
          <p:cNvSpPr/>
          <p:nvPr/>
        </p:nvSpPr>
        <p:spPr>
          <a:xfrm>
            <a:off x="2996118" y="834949"/>
            <a:ext cx="648511" cy="24708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0541FD3-83D1-4EAC-B233-09B9CD292AE6}"/>
              </a:ext>
            </a:extLst>
          </p:cNvPr>
          <p:cNvSpPr/>
          <p:nvPr/>
        </p:nvSpPr>
        <p:spPr>
          <a:xfrm>
            <a:off x="136199" y="2592413"/>
            <a:ext cx="11815851" cy="118449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B327AD42-B354-4A24-AD4F-A16B05C96A0F}"/>
              </a:ext>
            </a:extLst>
          </p:cNvPr>
          <p:cNvSpPr txBox="1"/>
          <p:nvPr/>
        </p:nvSpPr>
        <p:spPr>
          <a:xfrm>
            <a:off x="2571938" y="2584296"/>
            <a:ext cx="7064756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zh-TW" altLang="en-US" dirty="0">
                <a:sym typeface="+mn-lt"/>
              </a:rPr>
              <a:t>組織人員於開工前模組</a:t>
            </a:r>
            <a:r>
              <a:rPr lang="en-US" altLang="zh-TW" dirty="0">
                <a:sym typeface="+mn-lt"/>
              </a:rPr>
              <a:t>B1.5</a:t>
            </a:r>
            <a:r>
              <a:rPr lang="zh-TW" altLang="en-US" dirty="0"/>
              <a:t>施工廠商派駐工地人員報核</a:t>
            </a:r>
            <a:r>
              <a:rPr lang="zh-TW" altLang="en-US" dirty="0">
                <a:sym typeface="+mn-lt"/>
              </a:rPr>
              <a:t>指派後帶入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E01F45E-53D5-492C-8E90-06394B2286AE}"/>
              </a:ext>
            </a:extLst>
          </p:cNvPr>
          <p:cNvSpPr/>
          <p:nvPr/>
        </p:nvSpPr>
        <p:spPr>
          <a:xfrm>
            <a:off x="11186809" y="3429000"/>
            <a:ext cx="538263" cy="19617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74A6AF65-F037-4805-A55D-477DDBB65F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7433" y="3887154"/>
            <a:ext cx="5781009" cy="283943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cxnSp>
        <p:nvCxnSpPr>
          <p:cNvPr id="20" name="接點: 肘形 19">
            <a:extLst>
              <a:ext uri="{FF2B5EF4-FFF2-40B4-BE49-F238E27FC236}">
                <a16:creationId xmlns:a16="http://schemas.microsoft.com/office/drawing/2014/main" id="{1F38CEE7-9D09-42EF-AF56-FE07585A3E28}"/>
              </a:ext>
            </a:extLst>
          </p:cNvPr>
          <p:cNvCxnSpPr>
            <a:stCxn id="16" idx="2"/>
            <a:endCxn id="18" idx="3"/>
          </p:cNvCxnSpPr>
          <p:nvPr/>
        </p:nvCxnSpPr>
        <p:spPr>
          <a:xfrm rot="5400000">
            <a:off x="10451343" y="4302274"/>
            <a:ext cx="1681698" cy="327499"/>
          </a:xfrm>
          <a:prstGeom prst="bentConnector2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1122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D9DDD0A3-9A2D-4633-A047-C1C4942F1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77" y="834948"/>
            <a:ext cx="12192000" cy="3182131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8558569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履約系統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人事管理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指派監造單位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8459946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/>
        </p:nvSpPr>
        <p:spPr>
          <a:xfrm>
            <a:off x="136199" y="1297673"/>
            <a:ext cx="11815851" cy="11844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11" name="文字方塊 10"/>
          <p:cNvSpPr txBox="1"/>
          <p:nvPr/>
        </p:nvSpPr>
        <p:spPr>
          <a:xfrm>
            <a:off x="3431068" y="1274761"/>
            <a:ext cx="5226111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zh-TW" altLang="en-US" dirty="0">
                <a:cs typeface="+mn-ea"/>
                <a:sym typeface="+mn-lt"/>
              </a:rPr>
              <a:t>聯絡人於決標後模組</a:t>
            </a:r>
            <a:r>
              <a:rPr lang="en-US" altLang="zh-TW" dirty="0">
                <a:cs typeface="+mn-ea"/>
                <a:sym typeface="+mn-lt"/>
              </a:rPr>
              <a:t>A5.6</a:t>
            </a:r>
            <a:r>
              <a:rPr lang="zh-TW" altLang="en-US" dirty="0">
                <a:cs typeface="+mn-ea"/>
                <a:sym typeface="+mn-lt"/>
              </a:rPr>
              <a:t>簽訂契約流程指派後帶入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DC30A9E-7400-4333-87F0-E303222DF6E3}"/>
              </a:ext>
            </a:extLst>
          </p:cNvPr>
          <p:cNvSpPr/>
          <p:nvPr/>
        </p:nvSpPr>
        <p:spPr>
          <a:xfrm>
            <a:off x="3668350" y="983869"/>
            <a:ext cx="648511" cy="24708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0541FD3-83D1-4EAC-B233-09B9CD292AE6}"/>
              </a:ext>
            </a:extLst>
          </p:cNvPr>
          <p:cNvSpPr/>
          <p:nvPr/>
        </p:nvSpPr>
        <p:spPr>
          <a:xfrm>
            <a:off x="136199" y="2592413"/>
            <a:ext cx="11815851" cy="136998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B327AD42-B354-4A24-AD4F-A16B05C96A0F}"/>
              </a:ext>
            </a:extLst>
          </p:cNvPr>
          <p:cNvSpPr txBox="1"/>
          <p:nvPr/>
        </p:nvSpPr>
        <p:spPr>
          <a:xfrm>
            <a:off x="2571939" y="2584296"/>
            <a:ext cx="7064756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zh-TW" altLang="en-US" dirty="0">
                <a:sym typeface="+mn-lt"/>
              </a:rPr>
              <a:t>組織人員於開工前模組</a:t>
            </a:r>
            <a:r>
              <a:rPr lang="en-US" altLang="zh-TW" dirty="0">
                <a:sym typeface="+mn-lt"/>
              </a:rPr>
              <a:t>B1.4</a:t>
            </a:r>
            <a:r>
              <a:rPr lang="zh-TW" altLang="en-US" dirty="0">
                <a:sym typeface="+mn-lt"/>
              </a:rPr>
              <a:t>監造</a:t>
            </a:r>
            <a:r>
              <a:rPr lang="zh-TW" altLang="en-US" dirty="0"/>
              <a:t>廠商派駐工地人員報核</a:t>
            </a:r>
            <a:r>
              <a:rPr lang="zh-TW" altLang="en-US" dirty="0">
                <a:sym typeface="+mn-lt"/>
              </a:rPr>
              <a:t>指派後帶入</a:t>
            </a:r>
          </a:p>
        </p:txBody>
      </p:sp>
    </p:spTree>
    <p:extLst>
      <p:ext uri="{BB962C8B-B14F-4D97-AF65-F5344CB8AC3E}">
        <p14:creationId xmlns:p14="http://schemas.microsoft.com/office/powerpoint/2010/main" val="1838918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43D3954F-80C2-474C-84F9-11CC1CF594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67005"/>
            <a:ext cx="12192000" cy="2002133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739D8F48-B55E-49DA-9B62-82A3E38C6C22}"/>
              </a:ext>
            </a:extLst>
          </p:cNvPr>
          <p:cNvSpPr/>
          <p:nvPr/>
        </p:nvSpPr>
        <p:spPr>
          <a:xfrm>
            <a:off x="37577" y="30746"/>
            <a:ext cx="8558569" cy="66502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履約系統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人事管理</a:t>
            </a:r>
            <a:r>
              <a:rPr lang="en-US" altLang="zh-TW" sz="2800" b="1" dirty="0">
                <a:solidFill>
                  <a:srgbClr val="39759D"/>
                </a:solidFill>
                <a:cs typeface="+mn-ea"/>
                <a:sym typeface="+mn-lt"/>
              </a:rPr>
              <a:t>_</a:t>
            </a:r>
            <a:r>
              <a:rPr lang="zh-TW" altLang="en-US" sz="2800" b="1" dirty="0">
                <a:solidFill>
                  <a:srgbClr val="39759D"/>
                </a:solidFill>
                <a:cs typeface="+mn-ea"/>
                <a:sym typeface="+mn-lt"/>
              </a:rPr>
              <a:t>指派耐震監督單位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CCC58A9-F8FF-419B-A67A-55D2B959D158}"/>
              </a:ext>
            </a:extLst>
          </p:cNvPr>
          <p:cNvCxnSpPr>
            <a:cxnSpLocks/>
          </p:cNvCxnSpPr>
          <p:nvPr/>
        </p:nvCxnSpPr>
        <p:spPr>
          <a:xfrm>
            <a:off x="136200" y="695773"/>
            <a:ext cx="8459946" cy="0"/>
          </a:xfrm>
          <a:prstGeom prst="line">
            <a:avLst/>
          </a:prstGeom>
          <a:ln w="76200">
            <a:solidFill>
              <a:srgbClr val="3975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/>
        </p:nvSpPr>
        <p:spPr>
          <a:xfrm>
            <a:off x="136199" y="2231528"/>
            <a:ext cx="11815851" cy="11844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11" name="文字方塊 10"/>
          <p:cNvSpPr txBox="1"/>
          <p:nvPr/>
        </p:nvSpPr>
        <p:spPr>
          <a:xfrm>
            <a:off x="2853988" y="2208616"/>
            <a:ext cx="638027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zh-TW" altLang="en-US" dirty="0">
                <a:cs typeface="+mn-ea"/>
                <a:sym typeface="+mn-lt"/>
              </a:rPr>
              <a:t>耐震單位聯絡人於決標後模組</a:t>
            </a:r>
            <a:r>
              <a:rPr lang="en-US" altLang="zh-TW" dirty="0">
                <a:cs typeface="+mn-ea"/>
                <a:sym typeface="+mn-lt"/>
              </a:rPr>
              <a:t>A5.6</a:t>
            </a:r>
            <a:r>
              <a:rPr lang="zh-TW" altLang="en-US" dirty="0">
                <a:cs typeface="+mn-ea"/>
                <a:sym typeface="+mn-lt"/>
              </a:rPr>
              <a:t>簽訂契約流程指派後帶入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48B3DA1-9956-4481-AE38-008D3FF4FF95}"/>
              </a:ext>
            </a:extLst>
          </p:cNvPr>
          <p:cNvSpPr/>
          <p:nvPr/>
        </p:nvSpPr>
        <p:spPr>
          <a:xfrm>
            <a:off x="4565515" y="1763949"/>
            <a:ext cx="862519" cy="21446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95425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rgbClr val="FF0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rgbClr val="FF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solidFill>
          <a:schemeClr val="accent4">
            <a:lumMod val="40000"/>
            <a:lumOff val="60000"/>
          </a:schemeClr>
        </a:solidFill>
        <a:ln>
          <a:solidFill>
            <a:srgbClr val="FF0000"/>
          </a:solidFill>
        </a:ln>
      </a:spPr>
      <a:bodyPr wrap="none" rtlCol="0">
        <a:spAutoFit/>
      </a:bodyPr>
      <a:lstStyle>
        <a:defPPr algn="l">
          <a:defRPr dirty="0" smtClean="0">
            <a:cs typeface="+mn-ea"/>
            <a:sym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505</TotalTime>
  <Words>492</Words>
  <Application>Microsoft Office PowerPoint</Application>
  <PresentationFormat>寬螢幕</PresentationFormat>
  <Paragraphs>60</Paragraphs>
  <Slides>11</Slides>
  <Notes>11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7" baseType="lpstr">
      <vt:lpstr>微軟正黑體</vt:lpstr>
      <vt:lpstr>Arial</vt:lpstr>
      <vt:lpstr>Arial Black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USER</dc:creator>
  <cp:lastModifiedBy>劉 約成</cp:lastModifiedBy>
  <cp:revision>21</cp:revision>
  <dcterms:created xsi:type="dcterms:W3CDTF">2022-01-12T13:46:18Z</dcterms:created>
  <dcterms:modified xsi:type="dcterms:W3CDTF">2022-01-25T06:26:48Z</dcterms:modified>
</cp:coreProperties>
</file>